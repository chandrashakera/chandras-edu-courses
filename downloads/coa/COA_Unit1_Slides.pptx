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slideMasters/slideMaster80.xml" ContentType="application/vnd.openxmlformats-officedocument.presentationml.slideMaster+xml"/>
  <Override PartName="/ppt/slides/slide80.xml" ContentType="application/vnd.openxmlformats-officedocument.presentationml.slide+xml"/>
  <Override PartName="/ppt/slideMasters/slideMaster81.xml" ContentType="application/vnd.openxmlformats-officedocument.presentationml.slideMaster+xml"/>
  <Override PartName="/ppt/slides/slide81.xml" ContentType="application/vnd.openxmlformats-officedocument.presentationml.slide+xml"/>
  <Override PartName="/ppt/slideMasters/slideMaster82.xml" ContentType="application/vnd.openxmlformats-officedocument.presentationml.slideMaster+xml"/>
  <Override PartName="/ppt/slides/slide82.xml" ContentType="application/vnd.openxmlformats-officedocument.presentationml.slide+xml"/>
  <Override PartName="/ppt/slideMasters/slideMaster83.xml" ContentType="application/vnd.openxmlformats-officedocument.presentationml.slideMaster+xml"/>
  <Override PartName="/ppt/slides/slide83.xml" ContentType="application/vnd.openxmlformats-officedocument.presentationml.slide+xml"/>
  <Override PartName="/ppt/slideMasters/slideMaster84.xml" ContentType="application/vnd.openxmlformats-officedocument.presentationml.slideMaster+xml"/>
  <Override PartName="/ppt/slides/slide84.xml" ContentType="application/vnd.openxmlformats-officedocument.presentationml.slide+xml"/>
  <Override PartName="/ppt/slideMasters/slideMaster85.xml" ContentType="application/vnd.openxmlformats-officedocument.presentationml.slideMaster+xml"/>
  <Override PartName="/ppt/slides/slide8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Lst>
  <p:notesMasterIdLst>
    <p:notesMasterId r:id="rId8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e42d324-8c24-75eb-3662-7e1c349ff495}">
          <p14:sldIdLst>
            <p14:sldId id="257"/>
          </p14:sldIdLst>
        </p14:section>
        <p14:section name="1.1 Data Types &amp; Number Systems" id="{be20bc4d-0576-a87a-bedf-9c7725a76168}">
          <p14:sldIdLst>
            <p14:sldId id="258"/>
            <p14:sldId id="259"/>
            <p14:sldId id="260"/>
            <p14:sldId id="261"/>
            <p14:sldId id="262"/>
            <p14:sldId id="263"/>
            <p14:sldId id="264"/>
            <p14:sldId id="265"/>
            <p14:sldId id="266"/>
          </p14:sldIdLst>
        </p14:section>
        <p14:section name="1.2 Complements" id="{892fcf37-b26c-4785-6e3a-9308b07f9363}">
          <p14:sldIdLst>
            <p14:sldId id="267"/>
            <p14:sldId id="268"/>
            <p14:sldId id="269"/>
            <p14:sldId id="270"/>
            <p14:sldId id="271"/>
            <p14:sldId id="272"/>
            <p14:sldId id="273"/>
            <p14:sldId id="274"/>
            <p14:sldId id="275"/>
          </p14:sldIdLst>
        </p14:section>
        <p14:section name="1.3 Fixed-Point Representation" id="{ce6c1fd6-ebf1-e81b-75eb-666f0d198378}">
          <p14:sldIdLst>
            <p14:sldId id="276"/>
            <p14:sldId id="277"/>
            <p14:sldId id="278"/>
            <p14:sldId id="279"/>
            <p14:sldId id="280"/>
            <p14:sldId id="281"/>
            <p14:sldId id="282"/>
            <p14:sldId id="283"/>
            <p14:sldId id="284"/>
            <p14:sldId id="285"/>
          </p14:sldIdLst>
        </p14:section>
        <p14:section name="1.4 Floating-Point Representation" id="{fed53d51-78f8-6159-bceb-d4a4f4cf7759}">
          <p14:sldIdLst>
            <p14:sldId id="286"/>
            <p14:sldId id="287"/>
            <p14:sldId id="288"/>
            <p14:sldId id="289"/>
            <p14:sldId id="290"/>
            <p14:sldId id="291"/>
          </p14:sldIdLst>
        </p14:section>
        <p14:section name="1.5 Binary Codes" id="{7e743fab-e683-a97a-9e01-1dc8b80aafaa}">
          <p14:sldIdLst>
            <p14:sldId id="292"/>
            <p14:sldId id="293"/>
            <p14:sldId id="294"/>
            <p14:sldId id="295"/>
            <p14:sldId id="296"/>
            <p14:sldId id="297"/>
            <p14:sldId id="298"/>
            <p14:sldId id="299"/>
          </p14:sldIdLst>
        </p14:section>
        <p14:section name="1.6 Binary Storage &amp; Registers" id="{e57d71bb-eb29-9bc8-4870-d4540cfd20e2}">
          <p14:sldIdLst>
            <p14:sldId id="300"/>
            <p14:sldId id="301"/>
            <p14:sldId id="302"/>
            <p14:sldId id="303"/>
          </p14:sldIdLst>
        </p14:section>
        <p14:section name="1.7 Binary Logic" id="{01cc34f4-298d-2eae-b056-1bfd20fa4f38}">
          <p14:sldIdLst>
            <p14:sldId id="304"/>
            <p14:sldId id="305"/>
            <p14:sldId id="306"/>
            <p14:sldId id="307"/>
          </p14:sldIdLst>
        </p14:section>
        <p14:section name="1.8 Digital Logic Gates" id="{a9978731-67d5-3aa7-52fe-a2bb755ac321}">
          <p14:sldIdLst>
            <p14:sldId id="308"/>
            <p14:sldId id="309"/>
            <p14:sldId id="310"/>
            <p14:sldId id="311"/>
            <p14:sldId id="312"/>
            <p14:sldId id="313"/>
          </p14:sldIdLst>
        </p14:section>
        <p14:section name="1.9 K-Map Representation" id="{590866d1-449f-c10f-52b2-f737a48793fa}">
          <p14:sldIdLst>
            <p14:sldId id="314"/>
            <p14:sldId id="315"/>
            <p14:sldId id="316"/>
            <p14:sldId id="317"/>
            <p14:sldId id="318"/>
            <p14:sldId id="319"/>
            <p14:sldId id="320"/>
          </p14:sldIdLst>
        </p14:section>
        <p14:section name="1.10 Introduction to Digital Computers" id="{d18db852-8c3d-3d01-ef57-f2d589d73d2d}">
          <p14:sldIdLst>
            <p14:sldId id="321"/>
            <p14:sldId id="322"/>
            <p14:sldId id="323"/>
            <p14:sldId id="324"/>
          </p14:sldIdLst>
        </p14:section>
        <p14:section name="1.11 Block Diagram of a Digital Computer" id="{f9cf0d08-0c49-48cb-e1c7-37549677ddfd}">
          <p14:sldIdLst>
            <p14:sldId id="325"/>
            <p14:sldId id="326"/>
            <p14:sldId id="327"/>
            <p14:sldId id="328"/>
          </p14:sldIdLst>
        </p14:section>
        <p14:section name="1.12 Computer Organization vs Architecture" id="{8a7b213a-fa33-88ef-f08d-f4e0b38f916b}">
          <p14:sldIdLst>
            <p14:sldId id="329"/>
            <p14:sldId id="330"/>
            <p14:sldId id="331"/>
            <p14:sldId id="332"/>
            <p14:sldId id="333"/>
            <p14:sldId id="334"/>
          </p14:sldIdLst>
        </p14:section>
        <p14:section name="1.13 Computer Design" id="{c0e2564f-14a8-7072-6b96-1e39f941cf66}">
          <p14:sldIdLst>
            <p14:sldId id="335"/>
            <p14:sldId id="336"/>
            <p14:sldId id="337"/>
            <p14:sldId id="338"/>
          </p14:sldIdLst>
        </p14:section>
        <p14:section name="Unit summary" id="{32abaf2b-bb57-3c86-5759-8bcb8571dcc8}">
          <p14:sldIdLst>
            <p14:sldId id="339"/>
          </p14:sldIdLst>
        </p14:section>
        <p14:section name="Unit summary (cont.)" id="{8fda9471-f07c-2bb5-b27e-b8d48232a32f}">
          <p14:sldIdLst>
            <p14:sldId id="34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notesMaster" Target="notesMasters/notesMaster1.xml"/><Relationship Id="rId88" Type="http://schemas.openxmlformats.org/officeDocument/2006/relationships/presProps" Target="presProps.xml"/><Relationship Id="rId89" Type="http://schemas.openxmlformats.org/officeDocument/2006/relationships/viewProps" Target="viewProps.xml"/><Relationship Id="rId90" Type="http://schemas.openxmlformats.org/officeDocument/2006/relationships/theme" Target="theme/theme1.xml"/><Relationship Id="rId9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_rels/notesSlide8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0.xml"/>
		</Relationships>
</file>

<file path=ppt/notesSlides/_rels/notesSlide8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1.xml"/>
		</Relationships>
</file>

<file path=ppt/notesSlides/_rels/notesSlide8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2.xml"/>
		</Relationships>
</file>

<file path=ppt/notesSlides/_rels/notesSlide8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3.xml"/>
		</Relationships>
</file>

<file path=ppt/notesSlides/_rels/notesSlide8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4.xml"/>
		</Relationships>
</file>

<file path=ppt/notesSlides/_rels/notesSlide8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Unit 1. We start with number systems, complements and the ways computers represent signed and floating-point numbers. Then we cover binary codes, registers, logic gates and K-maps, and finish with the structure and design of a digital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Thirteen topics. Topics 1.1 to 1.9 cover data representation and logic, and topics 1.10 to 1.13 introduce the digital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1 starts with how numbers, letters and symbols become 0s and 1s. Everything later in the course depends on this.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what a keystroke looks like inside the machine. It is a binary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radix fixes the symbol set. For example, the digit 9 does not exist in octal.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digit contributes its value multiplied by the radix raised to its position. The position index is 0 at the rightmost digit and negative for fractional digits. The formula is value = Σ (digit × radix^position).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through one line at a time. Each term is a digit times the radix to the power of its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Converting 0.1 (decimal) to binary never ends. This is why 0.1 + 0.2 is not exactly 0.3 in programming languages.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remainders from the bottom up for the integer part and the carries from the top down for the fraction. The result is (101001.1011)₂.</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method works for any radix. The fraction terminates after two digits in octal and after one in hexadecimal.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8 = 2³ and 16 = 2⁴, each octal digit is 3 bits and each hex digit is 4 bits, so no arithmetic is needed. Always pad with leading zeros to complete the outermost group, or every digit of the result shifts.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Digital hardware is built to add, and a separate subtractor costs extra silicon. Complements let one adder do both jobs.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 the number of digits first. Padding changes the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 complements need almost no hardware, which is why computers use them. The 2’s complement needs only one extra addition of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examples follow the same rule: the r’s complement is the (r − 1)’s complement plus 1. Check each result by adding the number to its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compute M − N for unsigned n-digit numbers, add M to the r’s complement of N. The end carry decides the sign of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carry logic feels backwards: a carry means the result is already correct and positive. No carry means the result is negative and needs one more complement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carry is dropped and the remaining five digits are the answer. The answer 59282 matches 72532 − 13250.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no end carry, take the complement of the sum and attach a minus sign. The answer −59282 matches 13250 − 72532.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pair of numbers gives +17 one way and −17 the other way. Check each against 84 − 67.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Hardware has only 0s and 1s, so we must agree on how a pattern means negative. There are three methods, and one clear winner.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just an agreement, like knowing that Rs. in front of a number means rupees.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 shows −14 written all three ways in an 8-bit register. Compare the three patterns bit by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in an 8-bit register under all three conventions (compare +14 = 00001110). The sign bit is 1 in all three conventions, but the other seven bits differ.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steps for −20, then check the other two rows the same way. Positive numbers are the same in all three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split the sign bit out before adding in 2’s complement. It is added along with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combination of signs works with the same addition. In the last row the carry out of the leftmost bit is dropped.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standard 2’s complement addition with a dropped carry. The sum has nine bits, and the ninth is discarded.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Overflow checks differ for signed and unsigned numbers. A note on BCD: the sign is stored as 0000 for positive and 1001 for negative, and this returns in the Computer Arithmetic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mismatch between the operands’ signs and the result’s sign is the overflow signal. 150 is outside the range −128 to +127.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Floating point is the same trick as scientific notation, done in binary inside a computer. We work through several examples.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 and the position of the point are agreed, like Rs. meaning rupees. They are never stored as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1 is a familiar decimal number already in mantissa and exponent form. Example 2 shows the same idea in binary.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classic layout stores a signed mantissa and a signed exponent. The IEEE 754 single-precision layout is 1 sign bit, 8 exponent bits and 23 mantissa bits. IEEE 754 stores the exponent with a bias: stored exponent = real exponent + 127, so a stored 127 means exponent zero. This goes a little beyond the textbook and is included only because real hardware uses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step is mechanical: convert, slide the point, then record the mantissa and exponent. The check at the end multiplies the fraction back by 2⁶.</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Zero has no 1 to slide into place, so it gets a special agreement. Normalising means shifting left until the first digit is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things a computer stores are not numbers for arithmetic: a decimal digit on a display, a keystroke, or a shaft position. This topic covers the binary codes made for those jobs.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 compares BCD with straight binary. BCD keeps each decimal digit separate.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decimal digit is coded on its own in BCD, so the BCD form is longer than straight binary. Check that 396 is 0011 1001 0110 in BCD.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subtraction is needed: just a bit flip. Excess-3 and 2421 are two examples of self-complementing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one-bit-change property comes back in the K-map topic. The next slide lists Gray code for 0 to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that each row differs from the one above in exactly one bit of the Gray column. For example, 3 is 0010 and 4 is 0110, which differ only in the second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Binary-to-Gray conversion: the MSB is copied, and every other Gray bit is the XOR of that binary bit and the one immediately to its left. For 1011 the Gray code is 1110.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Parity is the simplest error-detecting code. An odd number of flipped bits changes the parity and is caught.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Earlier topics described how to interpret a pattern of bits. This short topic covers where the bits live.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wire carries a signal only while something drives it. A flip-flop remembers.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register is a group of storage cells; n cells hold one of 2ⁿ possible values. An 8-bit register has bits numbered 7 down to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 transfer gets its own topic later in the course. For now only the vocabulary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Until now we treated bits as numbers. Binary logic reads a bit as a true-or-false statement, which is the foundation for the rest of the course.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next slide shows the three truth tables. Notice that OR gives 1 when at least one input is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basic binary logic operations and their truth tables. AND is 1 only when both inputs are 1, and NOT flips its input.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the logical and arithmetic meanings of the symbols mentally separate. Formal gate symbols come in the next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topic turns the abstract operations into physical circuits. It adds NAND, NOR, XOR, XNOR and DeMorgan’s theorem.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 expression and truth table for each of the seven basic gates. Every gate symbol follows the same visual grammar: the small bubble on an output means “inverted”, which is the entire visual difference between AND and NAND and between OR and NOR. AND, OR and NOT are the three basic operations with formal gate symbols. NAND and NOR are an AND or OR followed by an inversion. XOR is 1 when the inputs differ, and XNOR is 1 when they match.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DeMorgan’s theorem is the most useful algebraic identity in digital design. It lets us turn ANDs into ORs and back, which is used when building circuits from NAND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 construction is DeMorgan’s theorem in physical form. Each construction uses only NAND gates.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AND and OR, each built using only NAND gates. The OR needs two NAND gates that invert the inputs first, then a third NAND.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canonical form is the direct starting point for the K-map on the next topic. The function is 1 for rows 1, 3, 5 and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Canonical SOP is correct but almost never minimal. The Karnaugh map turns simplification into a visual, reliable procedure.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Gray code from the binary codes topic pays off. The K-map cell order 00, 01, 11, 10 is a Gray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Forcing every don’t-care to count as a 1 can give an incorrect, over-general function. A don’t-care may stay outside every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Three-variable K-map for F = Σm(1,3,5,6): F = A′C + B′C + ABC′. Point out the three groups and the cells they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result with the four-term canonical form from the gates topic. Three terms with fewer literals are simpler than four terms of three literals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Four-variable K-map: the four corners wrap around to give B′D′, the centre four give BD; the don’t-cares m3 and m12 are not needed. The groups use wraparound at the map’s edges.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use a don’t-care when it lets a group grow. Here neither don’t-care is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topic is where the earlier building blocks start to assemble into an actual machine.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Components distinguish fewer states more reliably. This is why two states, 0 and 1, are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like the same 26 letters building English and French: the symbols are shared, the interpretation is not. The meaning of a bit pattern depends on the code applied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compiler that translates a high-level language is system software, while the program written in that language is an application program. Hardware alone cannot solve a user’s problem without software.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previous topic said computer hardware has three major parts. This topic draws that division and explains it.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three-part division is the framing used in this course. The next slide draws the three parts and how they connect.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diagram of a digital computer. Adapted from M. Morris Mano, Computer System Architecture, Fig.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CPU can jump straight to any memory location in the same fixed time, whichever location it accessed just before. Sequential media such as tape take longer to reach distant locations.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is named Computer Organization and Architecture, so the two terms must be precise. They are among the most commonly confused ideas in the subject.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 has a verification mindset, design has a construction mindset, and architecture ignores the hardware and asks what the programmer can see. Keep these three definitions precise, since they are often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Organization examines hardware already built and confirms the pieces are connected and operating correctly. Architecture is the contract, and organization is how it is carried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architecture (instruction set) can be realized by many different organizations (hardware implementations). This is a common illustration beyond the textbook’s own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architecture, different cost and performance trade-offs. Ask students for an example of a product family.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the summary of the topic. Design is covered in full in the next topic.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topic is about computer design, the engineering process of building hardware. It closes out Unit 1. Read the box aloud and ask students to restate it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Later in the course you design and program an elementary digital computer step by step, using register transfer language to specify the requirements. This topic gives the general picture before that detailed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Computer design flows top-down. System design uses the block diagram of a digital computer as its map: decisions like how much memory, how many I/O ports and the overall performance target are made here. Logic design is where Boolean algebra, gates and K-maps become the tools used to build real circuits. Circuit design deals with real voltage levels, propagation delays and component tolerances.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decision at the system level, such as supporting 32-bit addition, cascades down to which gates are used at the circuit level. Design therefore balances performance, cost and compatibility at every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data representation topics. Ask students to convert one decimal number to binary and write its 8-bit 2’s complement.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computer structure topics and finish with where these ideas are used. Leave time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14400"/>
          </a:xfrm>
          <a:prstGeom prst="rect">
            <a:avLst/>
          </a:prstGeom>
          <a:solidFill>
            <a:srgbClr val="1565C0"/>
          </a:solidFill>
          <a:ln/>
        </p:spPr>
      </p:sp>
      <p:sp>
        <p:nvSpPr>
          <p:cNvPr id="3" name="Text 1"/>
          <p:cNvSpPr/>
          <p:nvPr/>
        </p:nvSpPr>
        <p:spPr>
          <a:xfrm>
            <a:off x="548640" y="6473952"/>
            <a:ext cx="7315200" cy="274320"/>
          </a:xfrm>
          <a:prstGeom prst="rect">
            <a:avLst/>
          </a:prstGeom>
          <a:noFill/>
          <a:ln/>
        </p:spPr>
        <p:txBody>
          <a:bodyPr wrap="square" lIns="0" tIns="0" rIns="0" bIns="0" rtlCol="0" anchor="ctr"/>
          <a:lstStyle/>
          <a:p>
            <a:pPr algn="l" indent="0" marL="0">
              <a:buNone/>
            </a:pPr>
            <a:r>
              <a:rPr lang="en-US" sz="1200" dirty="0">
                <a:solidFill>
                  <a:srgbClr val="546E7A"/>
                </a:solidFill>
                <a:latin typeface="Calibri" pitchFamily="34" charset="0"/>
                <a:ea typeface="Calibri" pitchFamily="34" charset="-122"/>
                <a:cs typeface="Calibri" pitchFamily="34" charset="-120"/>
              </a:rPr>
              <a:t>CHANDRAS EDU  |  Computer Organization and Architecture  |  Unit 1</a:t>
            </a:r>
            <a:endParaRPr lang="en-US" sz="1200" dirty="0"/>
          </a:p>
        </p:txBody>
      </p:sp>
      <p:sp>
        <p:nvSpPr>
          <p:cNvPr id="4" name="Text 2"/>
          <p:cNvSpPr/>
          <p:nvPr>
            <p:ph idx="102" type="title" hasCustomPrompt="1"/>
          </p:nvPr>
        </p:nvSpPr>
        <p:spPr>
          <a:xfrm>
            <a:off x="548640" y="73152"/>
            <a:ext cx="9326880" cy="768096"/>
          </a:xfrm>
          <a:prstGeom prst="rect">
            <a:avLst/>
          </a:prstGeom>
          <a:noFill/>
          <a:ln/>
        </p:spPr>
        <p:txBody>
          <a:bodyPr wrap="square" rtlCol="0"/>
          <a:lstStyle>
            <a:lvl1pPr algn="l" indent="0" marL="0">
              <a:buNone/>
              <a:defRPr lang="en-US" sz="3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IG">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548640"/>
          </a:xfrm>
          <a:prstGeom prst="rect">
            <a:avLst/>
          </a:prstGeom>
          <a:solidFill>
            <a:srgbClr val="1565C0"/>
          </a:solidFill>
          <a:ln/>
        </p:spPr>
      </p:sp>
      <p:sp>
        <p:nvSpPr>
          <p:cNvPr id="3" name="Text 1"/>
          <p:cNvSpPr/>
          <p:nvPr>
            <p:ph idx="101" type="title" hasCustomPrompt="1"/>
          </p:nvPr>
        </p:nvSpPr>
        <p:spPr>
          <a:xfrm>
            <a:off x="411480" y="36576"/>
            <a:ext cx="9509760" cy="475488"/>
          </a:xfrm>
          <a:prstGeom prst="rect">
            <a:avLst/>
          </a:prstGeom>
          <a:noFill/>
          <a:ln/>
        </p:spPr>
        <p:txBody>
          <a:bodyPr wrap="square" rtlCol="0"/>
          <a:lstStyle>
            <a:lvl1pPr algn="l" indent="0" marL="0">
              <a:buNone/>
              <a:defRPr lang="en-US" sz="28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AND">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2103120"/>
            <a:ext cx="12191695" cy="2651760"/>
          </a:xfrm>
          <a:prstGeom prst="rect">
            <a:avLst/>
          </a:prstGeom>
          <a:solidFill>
            <a:srgbClr val="1565C0"/>
          </a:solidFill>
          <a:ln/>
        </p:spPr>
      </p:sp>
      <p:sp>
        <p:nvSpPr>
          <p:cNvPr id="3" name="Text 1"/>
          <p:cNvSpPr/>
          <p:nvPr>
            <p:ph idx="101" type="title" hasCustomPrompt="1"/>
          </p:nvPr>
        </p:nvSpPr>
        <p:spPr>
          <a:xfrm>
            <a:off x="2651760" y="2286000"/>
            <a:ext cx="8961120" cy="1371600"/>
          </a:xfrm>
          <a:prstGeom prst="rect">
            <a:avLst/>
          </a:prstGeom>
          <a:noFill/>
          <a:ln/>
        </p:spPr>
        <p:txBody>
          <a:bodyPr wrap="square" rtlCol="0"/>
          <a:lstStyle>
            <a:lvl1pPr algn="l" indent="0" marL="0">
              <a:buNone/>
              <a:defRPr lang="en-US" sz="4000" b="1" dirty="0">
                <a:solidFill>
                  <a:srgbClr val="FFFFFF"/>
                </a:solidFill>
                <a:latin typeface="Calibri" pitchFamily="34" charset="0"/>
                <a:ea typeface="Calibri" pitchFamily="34" charset="-122"/>
                <a:cs typeface="Calibri" pitchFamily="34" charset="-120"/>
              </a:defRPr>
            </a:lvl1pPr>
          </a:lstStyle>
          <a:p>
            <a:pPr algn="l" indent="0" marL="0">
              <a:buNone/>
            </a:pPr>
            <a:endParaRPr lang="en-US" sz="4000" dirty="0"/>
          </a:p>
        </p:txBody>
      </p:sp>
      <p:sp>
        <p:nvSpPr>
          <p:cNvPr id="4" name="Text 1"/>
          <p:cNvSpPr/>
          <p:nvPr>
            <p:ph idx="102" type="body" hasCustomPrompt="1"/>
          </p:nvPr>
        </p:nvSpPr>
        <p:spPr>
          <a:xfrm>
            <a:off x="2651760" y="3657600"/>
            <a:ext cx="8961120" cy="822960"/>
          </a:xfrm>
          <a:prstGeom prst="rect">
            <a:avLst/>
          </a:prstGeom>
          <a:noFill/>
          <a:ln/>
        </p:spPr>
        <p:txBody>
          <a:bodyPr wrap="square" rtlCol="0"/>
          <a:lstStyle>
            <a:lvl1pPr algn="l" indent="0" marL="0">
              <a:buNone/>
              <a:defRPr lang="en-US" sz="2400" dirty="0">
                <a:solidFill>
                  <a:srgbClr val="FFFFFF"/>
                </a:solidFill>
                <a:latin typeface="Calibri" pitchFamily="34" charset="0"/>
                <a:ea typeface="Calibri" pitchFamily="34" charset="-122"/>
                <a:cs typeface="Calibri" pitchFamily="34" charset="-120"/>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image" Target="../media/image-62-1.png"/><Relationship Id="rId2" Type="http://schemas.openxmlformats.org/officeDocument/2006/relationships/slideLayout" Target="../slideLayouts/slideLayout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slideLayout" Target="../slideLayouts/slideLayout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image" Target="../media/image-72-1.png"/><Relationship Id="rId2" Type="http://schemas.openxmlformats.org/officeDocument/2006/relationships/slideLayout" Target="../slideLayouts/slideLayout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slideLayout" Target="../slideLayouts/slideLayout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image" Target="../media/image-82-1.png"/><Relationship Id="rId2" Type="http://schemas.openxmlformats.org/officeDocument/2006/relationships/slideLayout" Target="../slideLayouts/slideLayout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p:nvPr>
            <p:ph idx="101" type="title" hasCustomPrompt="1"/>
          </p:nvPr>
        </p:nvSpPr>
        <p:spPr>
          <a:xfrm>
            <a:off x="2651760" y="2286000"/>
            <a:ext cx="8961120" cy="1371600"/>
          </a:xfrm>
          <a:prstGeom prst="rect">
            <a:avLst/>
          </a:prstGeom>
          <a:noFill/>
          <a:ln/>
        </p:spPr>
        <p:txBody>
          <a:bodyPr wrap="square" lIns="0" tIns="0" rIns="0" bIns="0" rtlCol="0" anchor="ctr"/>
          <a:lstStyle/>
          <a:p>
            <a:pPr algn="l" indent="0" marL="0">
              <a:buNone/>
            </a:pPr>
            <a:r>
              <a:rPr lang="en-US" sz="4000" b="1" dirty="0">
                <a:solidFill>
                  <a:srgbClr val="FFFFFF"/>
                </a:solidFill>
                <a:latin typeface="Calibri" pitchFamily="34" charset="0"/>
                <a:ea typeface="Calibri" pitchFamily="34" charset="-122"/>
                <a:cs typeface="Calibri" pitchFamily="34" charset="-120"/>
              </a:rPr>
              <a:t>Unit 1: Data Representation and Digital Fundamentals</a:t>
            </a:r>
            <a:endParaRPr lang="en-US" sz="4000" dirty="0"/>
          </a:p>
        </p:txBody>
      </p:sp>
      <p:sp>
        <p:nvSpPr>
          <p:cNvPr id="3" name="Text 1"/>
          <p:cNvSpPr/>
          <p:nvPr>
            <p:ph idx="102" type="body" hasCustomPrompt="1"/>
          </p:nvPr>
        </p:nvSpPr>
        <p:spPr>
          <a:xfrm>
            <a:off x="2651760" y="3657600"/>
            <a:ext cx="8961120" cy="822960"/>
          </a:xfrm>
          <a:prstGeom prst="rect">
            <a:avLst/>
          </a:prstGeom>
          <a:noFill/>
          <a:ln/>
        </p:spPr>
        <p:txBody>
          <a:bodyPr wrap="square" lIns="0" tIns="0" rIns="0" bIns="0" rtlCol="0" anchor="t"/>
          <a:lstStyle/>
          <a:p>
            <a:pPr algn="l" indent="0" marL="0">
              <a:buNone/>
            </a:pPr>
            <a:r>
              <a:rPr lang="en-US" sz="2400" dirty="0">
                <a:solidFill>
                  <a:srgbClr val="FFFFFF"/>
                </a:solidFill>
                <a:latin typeface="Calibri" pitchFamily="34" charset="0"/>
                <a:ea typeface="Calibri" pitchFamily="34" charset="-122"/>
                <a:cs typeface="Calibri" pitchFamily="34" charset="-120"/>
              </a:rPr>
              <a:t>Computer Organization and Architecture</a:t>
            </a:r>
            <a:endParaRPr lang="en-US" sz="2400" dirty="0"/>
          </a:p>
        </p:txBody>
      </p:sp>
      <p:sp>
        <p:nvSpPr>
          <p:cNvPr id="4" name="Text 2"/>
          <p:cNvSpPr txBox="1"/>
          <p:nvPr/>
        </p:nvSpPr>
        <p:spPr>
          <a:xfrm>
            <a:off x="2651760" y="5120640"/>
            <a:ext cx="5486400" cy="457200"/>
          </a:xfrm>
          <a:prstGeom prst="rect">
            <a:avLst/>
          </a:prstGeom>
          <a:noFill/>
          <a:ln/>
        </p:spPr>
        <p:txBody>
          <a:bodyPr wrap="square" lIns="0" tIns="0" rIns="0" bIns="0" rtlCol="0" anchor="ctr"/>
          <a:lstStyle/>
          <a:p>
            <a:pPr indent="0" marL="0">
              <a:buNone/>
            </a:pPr>
            <a:r>
              <a:rPr lang="en-US" sz="2400" b="1" dirty="0">
                <a:solidFill>
                  <a:srgbClr val="1565C0"/>
                </a:solidFill>
                <a:latin typeface="Calibri" pitchFamily="34" charset="0"/>
                <a:ea typeface="Calibri" pitchFamily="34" charset="-122"/>
                <a:cs typeface="Calibri" pitchFamily="34" charset="-120"/>
              </a:rPr>
              <a:t>CHANDRAS EDU</a:t>
            </a:r>
            <a:endParaRPr lang="en-US" sz="2400" dirty="0"/>
          </a:p>
        </p:txBody>
      </p:sp>
      <p:sp>
        <p:nvSpPr>
          <p:cNvPr id="5" name="Text 3"/>
          <p:cNvSpPr txBox="1"/>
          <p:nvPr/>
        </p:nvSpPr>
        <p:spPr>
          <a:xfrm>
            <a:off x="2651760" y="5577840"/>
            <a:ext cx="5486400" cy="365760"/>
          </a:xfrm>
          <a:prstGeom prst="rect">
            <a:avLst/>
          </a:prstGeom>
          <a:noFill/>
          <a:ln/>
        </p:spPr>
        <p:txBody>
          <a:bodyPr wrap="square" lIns="0" tIns="0" rIns="0" bIns="0" rtlCol="0" anchor="ctr"/>
          <a:lstStyle/>
          <a:p>
            <a:pPr indent="0" marL="0">
              <a:buNone/>
            </a:pPr>
            <a:r>
              <a:rPr lang="en-US" sz="1800" dirty="0">
                <a:solidFill>
                  <a:srgbClr val="546E7A"/>
                </a:solidFill>
                <a:latin typeface="Calibri" pitchFamily="34" charset="0"/>
                <a:ea typeface="Calibri" pitchFamily="34" charset="-122"/>
                <a:cs typeface="Calibri" pitchFamily="34" charset="-120"/>
              </a:rPr>
              <a:t>Never stop learning</a:t>
            </a:r>
            <a:endParaRPr lang="en-US" sz="1800" dirty="0"/>
          </a:p>
        </p:txBody>
      </p:sp>
      <p:sp>
        <p:nvSpPr>
          <p:cNvPr id="6" name="Shape 4"/>
          <p:cNvSpPr/>
          <p:nvPr/>
        </p:nvSpPr>
        <p:spPr>
          <a:xfrm>
            <a:off x="731520" y="2697480"/>
            <a:ext cx="1463040" cy="1463040"/>
          </a:xfrm>
          <a:prstGeom prst="roundRect">
            <a:avLst>
              <a:gd name="adj" fmla="val 7500"/>
            </a:avLst>
          </a:prstGeom>
          <a:solidFill>
            <a:srgbClr val="FF8F00"/>
          </a:solidFill>
          <a:ln w="6350">
            <a:solidFill>
              <a:srgbClr val="FF8F00"/>
            </a:solidFill>
            <a:prstDash val="solid"/>
          </a:ln>
        </p:spPr>
      </p:sp>
      <p:sp>
        <p:nvSpPr>
          <p:cNvPr id="7" name="Text 5"/>
          <p:cNvSpPr txBox="1"/>
          <p:nvPr/>
        </p:nvSpPr>
        <p:spPr>
          <a:xfrm>
            <a:off x="731520" y="2697480"/>
            <a:ext cx="1463040" cy="1463040"/>
          </a:xfrm>
          <a:prstGeom prst="rect">
            <a:avLst/>
          </a:prstGeom>
          <a:noFill/>
          <a:ln/>
        </p:spPr>
        <p:txBody>
          <a:bodyPr wrap="square" lIns="0" tIns="0" rIns="0" bIns="0" rtlCol="0" anchor="ctr"/>
          <a:lstStyle/>
          <a:p>
            <a:pPr algn="ctr" indent="0" marL="0">
              <a:buNone/>
            </a:pPr>
            <a:r>
              <a:rPr lang="en-US" sz="6000" b="1" dirty="0">
                <a:solidFill>
                  <a:srgbClr val="1F2937"/>
                </a:solidFill>
                <a:latin typeface="Calibri" pitchFamily="34" charset="0"/>
                <a:ea typeface="Calibri" pitchFamily="34" charset="-122"/>
                <a:cs typeface="Calibri" pitchFamily="34" charset="-120"/>
              </a:rPr>
              <a:t>1</a:t>
            </a:r>
            <a:endParaRPr lang="en-US" sz="6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Agenda</a:t>
            </a:r>
            <a:endParaRPr lang="en-US" sz="3000" dirty="0"/>
          </a:p>
        </p:txBody>
      </p:sp>
      <p:sp>
        <p:nvSpPr>
          <p:cNvPr id="4" name="Text 1"/>
          <p:cNvSpPr txBox="1"/>
          <p:nvPr/>
        </p:nvSpPr>
        <p:spPr>
          <a:xfrm>
            <a:off x="640080" y="1280160"/>
            <a:ext cx="5577840" cy="5029200"/>
          </a:xfrm>
          <a:prstGeom prst="rect">
            <a:avLst/>
          </a:prstGeom>
          <a:noFill/>
          <a:ln/>
        </p:spPr>
        <p:txBody>
          <a:bodyPr wrap="square" lIns="0" tIns="0" rIns="0" bIns="0" rtlCol="0" anchor="t"/>
          <a:lstStyle/>
          <a:p>
            <a:pPr indent="0" marL="0">
              <a:buNone/>
            </a:pPr>
            <a:r>
              <a:rPr lang="en-US" sz="2000" b="1" dirty="0">
                <a:solidFill>
                  <a:srgbClr val="1565C0"/>
                </a:solidFill>
                <a:latin typeface="Calibri" pitchFamily="34" charset="0"/>
                <a:ea typeface="Calibri" pitchFamily="34" charset="-122"/>
                <a:cs typeface="Calibri" pitchFamily="34" charset="-120"/>
              </a:rPr>
              <a:t>1.1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Data Types &amp; Number Systems</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1.2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Complements</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1.3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Fixed-Point Representation</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1.4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Floating-Point Representation</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1.5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Binary Codes</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1.6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Binary Storage &amp; Registers</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1.7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Binary Logic</a:t>
            </a:r>
            <a:endParaRPr lang="en-US" sz="2000" dirty="0"/>
          </a:p>
        </p:txBody>
      </p:sp>
      <p:sp>
        <p:nvSpPr>
          <p:cNvPr id="5" name="Text 2"/>
          <p:cNvSpPr txBox="1"/>
          <p:nvPr/>
        </p:nvSpPr>
        <p:spPr>
          <a:xfrm>
            <a:off x="6309360" y="1280160"/>
            <a:ext cx="5577840" cy="5029200"/>
          </a:xfrm>
          <a:prstGeom prst="rect">
            <a:avLst/>
          </a:prstGeom>
          <a:noFill/>
          <a:ln/>
        </p:spPr>
        <p:txBody>
          <a:bodyPr wrap="square" lIns="0" tIns="0" rIns="0" bIns="0" rtlCol="0" anchor="t"/>
          <a:lstStyle/>
          <a:p>
            <a:pPr indent="0" marL="0">
              <a:buNone/>
            </a:pPr>
            <a:r>
              <a:rPr lang="en-US" sz="2000" b="1" dirty="0">
                <a:solidFill>
                  <a:srgbClr val="1565C0"/>
                </a:solidFill>
                <a:latin typeface="Calibri" pitchFamily="34" charset="0"/>
                <a:ea typeface="Calibri" pitchFamily="34" charset="-122"/>
                <a:cs typeface="Calibri" pitchFamily="34" charset="-120"/>
              </a:rPr>
              <a:t>1.8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Digital Logic Gates</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1.9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K-Map Representation</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1.10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Introduction to Digital Computers</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1.11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Block Diagram of a Digital Computer</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1.12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Computer Organization vs Architecture</a:t>
            </a:r>
            <a:endParaRPr lang="en-US" sz="2000" dirty="0"/>
          </a:p>
          <a:p>
            <a:pPr indent="0" marL="0">
              <a:buNone/>
            </a:pPr>
            <a:r>
              <a:rPr lang="en-US" sz="2000" b="1" dirty="0">
                <a:solidFill>
                  <a:srgbClr val="1565C0"/>
                </a:solidFill>
                <a:latin typeface="Calibri" pitchFamily="34" charset="0"/>
                <a:ea typeface="Calibri" pitchFamily="34" charset="-122"/>
                <a:cs typeface="Calibri" pitchFamily="34" charset="-120"/>
              </a:rPr>
              <a:t>1.13   </a:t>
            </a:r>
            <a:pPr indent="0" marL="0">
              <a:spcAft>
                <a:spcPts val="900"/>
              </a:spcAft>
              <a:buNone/>
            </a:pPr>
            <a:r>
              <a:rPr lang="en-US" sz="2000" dirty="0">
                <a:solidFill>
                  <a:srgbClr val="1F2937"/>
                </a:solidFill>
                <a:latin typeface="Calibri" pitchFamily="34" charset="0"/>
                <a:ea typeface="Calibri" pitchFamily="34" charset="-122"/>
                <a:cs typeface="Calibri" pitchFamily="34" charset="-120"/>
              </a:rPr>
              <a:t>Computer Design</a:t>
            </a:r>
            <a:endParaRPr lang="en-US" sz="2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1.1  Data Types &amp; Number Systems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Every number system works the same way: each digit is multiplied by the base raised to its position. Octal and hex are just short ways of writing groups of 3 or 4 bits.</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data does a computer store?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Registers hold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control information</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(bits that sequence the hardware’s operations) or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data</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Data falls into three categories: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numbers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for arithmetic,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letters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for text, and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other discrete symbols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(punctuation, control characters)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Except for numbers already in pure binary, everything is stored in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binary-coded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form: an agreed mapping from bit patterns to symbols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Common number systems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A number system of </a:t>
            </a:r>
            <a:pPr indent="0" marL="0">
              <a:buNone/>
            </a:pPr>
            <a:r>
              <a:rPr lang="en-US" sz="2200" b="1" dirty="0">
                <a:solidFill>
                  <a:srgbClr val="1F2937"/>
                </a:solidFill>
                <a:latin typeface="Calibri" pitchFamily="34" charset="0"/>
                <a:ea typeface="Calibri" pitchFamily="34" charset="-122"/>
                <a:cs typeface="Calibri" pitchFamily="34" charset="-120"/>
              </a:rPr>
              <a:t>radix</a:t>
            </a:r>
            <a:pPr indent="0" marL="0">
              <a:buNone/>
            </a:pPr>
            <a:r>
              <a:rPr lang="en-US" sz="2200" dirty="0">
                <a:solidFill>
                  <a:srgbClr val="1F2937"/>
                </a:solidFill>
                <a:latin typeface="Calibri" pitchFamily="34" charset="0"/>
                <a:ea typeface="Calibri" pitchFamily="34" charset="-122"/>
                <a:cs typeface="Calibri" pitchFamily="34" charset="-120"/>
              </a:rPr>
              <a:t> (base) r uses r distinct digit symbols, 0 through r − 1.</a:t>
            </a:r>
            <a:endParaRPr lang="en-US" sz="2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3728" y="1874520"/>
          <a:ext cx="11064240" cy="914400"/>
        </p:xfrm>
        <a:graphic>
          <a:graphicData uri="http://schemas.openxmlformats.org/drawingml/2006/table">
            <a:tbl>
              <a:tblPr/>
              <a:tblGrid>
                <a:gridCol w="2743200"/>
                <a:gridCol w="1828800"/>
                <a:gridCol w="2743200"/>
                <a:gridCol w="3749040"/>
              </a:tblGrid>
              <a:tr h="463296">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System</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Radix (r)</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Digit symbols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Used for</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63296">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Decimal</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10</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 – 9</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Human input/output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63296">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Binary</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2</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0, 1</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Hardware storage</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63296">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Octal</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8</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 – 7</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Shorthand for binary</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63296">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Hexadecimal</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16</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F2937"/>
                          </a:solidFill>
                          <a:latin typeface="Calibri" pitchFamily="34" charset="0"/>
                          <a:ea typeface="Calibri" pitchFamily="34" charset="-122"/>
                          <a:cs typeface="Calibri" pitchFamily="34" charset="-120"/>
                        </a:rPr>
                        <a:t>0–9, A–F</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Compact binary shorthand</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Positional notation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a:t>
            </a:r>
            <a:endParaRPr lang="en-US" sz="1600" dirty="0"/>
          </a:p>
        </p:txBody>
      </p:sp>
      <p:pic>
        <p:nvPicPr>
          <p:cNvPr id="5" name="Image 0" descr="/home/claude/figs1/1.1_data-types-number-systems_fig1.png">    </p:cNvPr>
          <p:cNvPicPr>
            <a:picLocks noChangeAspect="1"/>
          </p:cNvPicPr>
          <p:nvPr/>
        </p:nvPicPr>
        <p:blipFill>
          <a:blip r:embed="rId1"/>
          <a:stretch>
            <a:fillRect/>
          </a:stretch>
        </p:blipFill>
        <p:spPr>
          <a:xfrm>
            <a:off x="274320" y="989683"/>
            <a:ext cx="11643055" cy="4933498"/>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Positional notation — same rule, different radix.</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Any radix → decimal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a:t>
            </a:r>
            <a:endParaRPr lang="en-US" sz="1600" dirty="0"/>
          </a:p>
        </p:txBody>
      </p:sp>
      <p:sp>
        <p:nvSpPr>
          <p:cNvPr id="5" name="Text 2"/>
          <p:cNvSpPr txBox="1"/>
          <p:nvPr/>
        </p:nvSpPr>
        <p:spPr>
          <a:xfrm>
            <a:off x="548640" y="1280160"/>
            <a:ext cx="11094415" cy="1615440"/>
          </a:xfrm>
          <a:prstGeom prst="roundRect">
            <a:avLst>
              <a:gd name="adj" fmla="val 5660"/>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(101101)₂ = 1×2⁵+0×2⁴+1×2³+1×2²+0×2¹+1×2⁰ = 32+8+4+1 = (45)₁₀</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(736.4)₈  = 7×8²+3×8¹+6×8⁰+4×8⁻¹ = 448+24+6+0.5 = (478.5)₁₀</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(F3)₁₆   = 15×16¹+3×16⁰ = 240+3 = (243)₁₀</a:t>
            </a:r>
            <a:endParaRPr lang="en-US" sz="2000" dirty="0"/>
          </a:p>
        </p:txBody>
      </p:sp>
      <p:sp>
        <p:nvSpPr>
          <p:cNvPr id="6" name="Text 3"/>
          <p:cNvSpPr txBox="1"/>
          <p:nvPr/>
        </p:nvSpPr>
        <p:spPr>
          <a:xfrm>
            <a:off x="640080" y="3215640"/>
            <a:ext cx="10911535" cy="291084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Expand the positional-notation formula and add up the terms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Decimal → any radix</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Integer part: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divide repeatedly by r; read the remainders from last to first (bottom to top)</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Fractional part: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multiply repeatedly by r; read the carry digits from first to last (top to bottom)</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fractional conversion may not terminate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Convert (41.6875)₁₀ to binary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(41.6875)₁₀ = (101001.1011)₂</a:t>
            </a:r>
            <a:endParaRPr lang="en-US" sz="2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792328" y="1874520"/>
          <a:ext cx="10607040" cy="914400"/>
        </p:xfrm>
        <a:graphic>
          <a:graphicData uri="http://schemas.openxmlformats.org/drawingml/2006/table">
            <a:tbl>
              <a:tblPr/>
              <a:tblGrid>
                <a:gridCol w="2926080"/>
                <a:gridCol w="2194560"/>
                <a:gridCol w="3657600"/>
                <a:gridCol w="1828800"/>
              </a:tblGrid>
              <a:tr h="432816">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Integer ÷ 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Remainder ↑</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Fraction × 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Carry ↓</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41 ÷ 2 = 20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0.6875 × 2 = 1.375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20 ÷ 2 = 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0.375 × 2 = 0.75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10 ÷ 2 = 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0.75 × 2 = 1.5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5 ÷ 2 = 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0.5 × 2 = 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2 ÷ 2 = 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(terminates)</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 ÷ 2 = 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 ← MSB</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Convert (41.6875)₁₀ to octal and hexadecimal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a:t>
            </a:r>
            <a:endParaRPr lang="en-US" sz="1600" dirty="0"/>
          </a:p>
        </p:txBody>
      </p:sp>
      <p:sp>
        <p:nvSpPr>
          <p:cNvPr id="5" name="Text 2"/>
          <p:cNvSpPr txBox="1"/>
          <p:nvPr/>
        </p:nvSpPr>
        <p:spPr>
          <a:xfrm>
            <a:off x="548640" y="1280160"/>
            <a:ext cx="11094415" cy="3108960"/>
          </a:xfrm>
          <a:prstGeom prst="roundRect">
            <a:avLst>
              <a:gd name="adj" fmla="val 2941"/>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1800" dirty="0">
                <a:solidFill>
                  <a:srgbClr val="1F2937"/>
                </a:solidFill>
                <a:latin typeface="Courier New" pitchFamily="34" charset="0"/>
                <a:ea typeface="Courier New" pitchFamily="34" charset="-122"/>
                <a:cs typeface="Courier New" pitchFamily="34" charset="-120"/>
              </a:rPr>
              <a:t>Octal:</a:t>
            </a:r>
            <a:endParaRPr lang="en-US" sz="1800" dirty="0"/>
          </a:p>
          <a:p>
            <a:pPr indent="0" marL="0">
              <a:spcAft>
                <a:spcPts val="400"/>
              </a:spcAft>
              <a:buNone/>
            </a:pPr>
            <a:r>
              <a:rPr lang="en-US" sz="1800" dirty="0">
                <a:solidFill>
                  <a:srgbClr val="1F2937"/>
                </a:solidFill>
                <a:latin typeface="Courier New" pitchFamily="34" charset="0"/>
                <a:ea typeface="Courier New" pitchFamily="34" charset="-122"/>
                <a:cs typeface="Courier New" pitchFamily="34" charset="-120"/>
              </a:rPr>
              <a:t>Integer: 41 ÷ 8 = 5 rem 1; 5 ÷ 8 = 0 rem 5 → integer = 51</a:t>
            </a:r>
            <a:endParaRPr lang="en-US" sz="1800" dirty="0"/>
          </a:p>
          <a:p>
            <a:pPr indent="0" marL="0">
              <a:spcAft>
                <a:spcPts val="400"/>
              </a:spcAft>
              <a:buNone/>
            </a:pPr>
            <a:r>
              <a:rPr lang="en-US" sz="1800" dirty="0">
                <a:solidFill>
                  <a:srgbClr val="1F2937"/>
                </a:solidFill>
                <a:latin typeface="Courier New" pitchFamily="34" charset="0"/>
                <a:ea typeface="Courier New" pitchFamily="34" charset="-122"/>
                <a:cs typeface="Courier New" pitchFamily="34" charset="-120"/>
              </a:rPr>
              <a:t>Fraction: 0.6875 × 8 = 5.5 → 5; 0.5 × 8 = 4.0 → 4</a:t>
            </a:r>
            <a:endParaRPr lang="en-US" sz="1800" dirty="0"/>
          </a:p>
          <a:p>
            <a:pPr indent="0" marL="0">
              <a:spcAft>
                <a:spcPts val="400"/>
              </a:spcAft>
              <a:buNone/>
            </a:pPr>
            <a:r>
              <a:rPr lang="en-US" sz="1800" dirty="0">
                <a:solidFill>
                  <a:srgbClr val="1F2937"/>
                </a:solidFill>
                <a:latin typeface="Courier New" pitchFamily="34" charset="0"/>
                <a:ea typeface="Courier New" pitchFamily="34" charset="-122"/>
                <a:cs typeface="Courier New" pitchFamily="34" charset="-120"/>
              </a:rPr>
              <a:t>Result: (51.54)₈</a:t>
            </a:r>
            <a:endParaRPr lang="en-US" sz="1800" dirty="0"/>
          </a:p>
          <a:p>
            <a:pPr indent="0" marL="0">
              <a:spcAft>
                <a:spcPts val="400"/>
              </a:spcAft>
              <a:buNone/>
            </a:pPr>
            <a:r>
              <a:rPr lang="en-US" sz="1800" dirty="0">
                <a:solidFill>
                  <a:srgbClr val="1F2937"/>
                </a:solidFill>
                <a:latin typeface="Courier New" pitchFamily="34" charset="0"/>
                <a:ea typeface="Courier New" pitchFamily="34" charset="-122"/>
                <a:cs typeface="Courier New" pitchFamily="34" charset="-120"/>
              </a:rPr>
              <a:t>Hexadecimal:</a:t>
            </a:r>
            <a:endParaRPr lang="en-US" sz="1800" dirty="0"/>
          </a:p>
          <a:p>
            <a:pPr indent="0" marL="0">
              <a:spcAft>
                <a:spcPts val="400"/>
              </a:spcAft>
              <a:buNone/>
            </a:pPr>
            <a:r>
              <a:rPr lang="en-US" sz="1800" dirty="0">
                <a:solidFill>
                  <a:srgbClr val="1F2937"/>
                </a:solidFill>
                <a:latin typeface="Courier New" pitchFamily="34" charset="0"/>
                <a:ea typeface="Courier New" pitchFamily="34" charset="-122"/>
                <a:cs typeface="Courier New" pitchFamily="34" charset="-120"/>
              </a:rPr>
              <a:t>Integer: 41 ÷ 16 = 2 rem 9; 2 ÷ 16 = 0 rem 2 → integer = 29</a:t>
            </a:r>
            <a:endParaRPr lang="en-US" sz="1800" dirty="0"/>
          </a:p>
          <a:p>
            <a:pPr indent="0" marL="0">
              <a:spcAft>
                <a:spcPts val="400"/>
              </a:spcAft>
              <a:buNone/>
            </a:pPr>
            <a:r>
              <a:rPr lang="en-US" sz="1800" dirty="0">
                <a:solidFill>
                  <a:srgbClr val="1F2937"/>
                </a:solidFill>
                <a:latin typeface="Courier New" pitchFamily="34" charset="0"/>
                <a:ea typeface="Courier New" pitchFamily="34" charset="-122"/>
                <a:cs typeface="Courier New" pitchFamily="34" charset="-120"/>
              </a:rPr>
              <a:t>Fraction: 0.6875 × 16 = 11.0 → B (terminates)</a:t>
            </a:r>
            <a:endParaRPr lang="en-US" sz="1800" dirty="0"/>
          </a:p>
          <a:p>
            <a:pPr indent="0" marL="0">
              <a:spcAft>
                <a:spcPts val="400"/>
              </a:spcAft>
              <a:buNone/>
            </a:pPr>
            <a:r>
              <a:rPr lang="en-US" sz="1800" dirty="0">
                <a:solidFill>
                  <a:srgbClr val="1F2937"/>
                </a:solidFill>
                <a:latin typeface="Courier New" pitchFamily="34" charset="0"/>
                <a:ea typeface="Courier New" pitchFamily="34" charset="-122"/>
                <a:cs typeface="Courier New" pitchFamily="34" charset="-120"/>
              </a:rPr>
              <a:t>Result: (29.B)₁₆</a:t>
            </a:r>
            <a:endParaRPr lang="en-US" sz="1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Bit grouping: binary ↔ octal and hexadecimal</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a:t>
            </a:r>
            <a:endParaRPr lang="en-US" sz="1600" dirty="0"/>
          </a:p>
        </p:txBody>
      </p:sp>
      <p:pic>
        <p:nvPicPr>
          <p:cNvPr id="5" name="Image 0" descr="/home/claude/figs1/1.1_data-types-number-systems_fig2.png">    </p:cNvPr>
          <p:cNvPicPr>
            <a:picLocks noChangeAspect="1"/>
          </p:cNvPicPr>
          <p:nvPr/>
        </p:nvPicPr>
        <p:blipFill>
          <a:blip r:embed="rId1"/>
          <a:stretch>
            <a:fillRect/>
          </a:stretch>
        </p:blipFill>
        <p:spPr>
          <a:xfrm>
            <a:off x="274320" y="933770"/>
            <a:ext cx="11643055" cy="5045324"/>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Bit grouping — binary ↔ octal (3 bits) and hexadecimal (4 bits).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1.2  Complements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1.2</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400" dirty="0">
                <a:solidFill>
                  <a:srgbClr val="1F2937"/>
                </a:solidFill>
                <a:latin typeface="Calibri" pitchFamily="34" charset="0"/>
                <a:ea typeface="Calibri" pitchFamily="34" charset="-122"/>
                <a:cs typeface="Calibri" pitchFamily="34" charset="-120"/>
              </a:rPr>
              <a:t>A complement lets a computer subtract by adding: add the complement of the number you want to take away, then look at the end carry.</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are complements?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complement is defined relative to the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radix 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and a fixed number of digits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n</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Every radix has two: the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 − 1)’s complement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and the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r’s complement</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 − 1)’s complement of N = (r</a:t>
            </a:r>
            <a:pPr algn="l" marL="304800" indent="-304800">
              <a:spcAft>
                <a:spcPts val="1000"/>
              </a:spcAft>
              <a:buSzPct val="100000"/>
              <a:buChar char="•"/>
            </a:pPr>
            <a:r>
              <a:rPr lang="en-US" sz="3000" b="1" baseline="3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 − 1) − N</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r’s complement of N = r</a:t>
            </a:r>
            <a:pPr algn="l" marL="304800" indent="-304800">
              <a:spcAft>
                <a:spcPts val="1000"/>
              </a:spcAft>
              <a:buSzPct val="100000"/>
              <a:buChar char="•"/>
            </a:pPr>
            <a:r>
              <a:rPr lang="en-US" sz="3000" b="1" baseline="3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 − N</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 (r − 1)’s complement + 1</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second formula is the first plus 1: the key to computing either quickly</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Complements in decimal and binary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Decimal 9’s complement: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subtract each digit from 9, or (10</a:t>
            </a:r>
            <a:pPr algn="l" marL="304800" indent="-304800">
              <a:spcAft>
                <a:spcPts val="1000"/>
              </a:spcAft>
              <a:buSzPct val="100000"/>
              <a:buChar char="•"/>
            </a:pPr>
            <a:r>
              <a:rPr lang="en-US" sz="3000" baseline="3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− 1) − N</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Decimal 10’s complement: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9’s complement plus 1</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Binary 1’s complement: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flip every bit: just inverters, the fastest complement in hardware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Binary 2’s complement: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1’s complement plus 1; used universally for signed integers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Examples: finding complements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1.2</a:t>
            </a:r>
            <a:endParaRPr lang="en-US" sz="1600" dirty="0"/>
          </a:p>
        </p:txBody>
      </p:sp>
      <p:sp>
        <p:nvSpPr>
          <p:cNvPr id="5" name="Text 2"/>
          <p:cNvSpPr txBox="1"/>
          <p:nvPr/>
        </p:nvSpPr>
        <p:spPr>
          <a:xfrm>
            <a:off x="548640" y="1280160"/>
            <a:ext cx="11094415" cy="2895600"/>
          </a:xfrm>
          <a:prstGeom prst="roundRect">
            <a:avLst>
              <a:gd name="adj" fmla="val 3158"/>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Decimal, N = 546700:</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9’s complement  = 999999 − 546700 = 453299</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10’s complement = 453299 + 1      = 453300</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Binary, N = 1011001:</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1’s complement: flip every bit → 0100110</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2’s complement: 0100110 + 1    → 0100111</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Subtraction with the r’s complement</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1.2</a:t>
            </a:r>
            <a:endParaRPr lang="en-US" sz="1600" dirty="0"/>
          </a:p>
        </p:txBody>
      </p:sp>
      <p:pic>
        <p:nvPicPr>
          <p:cNvPr id="5" name="Image 0" descr="/home/claude/figs1/1.2_complements_fig1.png">    </p:cNvPr>
          <p:cNvPicPr>
            <a:picLocks noChangeAspect="1"/>
          </p:cNvPicPr>
          <p:nvPr/>
        </p:nvPicPr>
        <p:blipFill>
          <a:blip r:embed="rId1"/>
          <a:stretch>
            <a:fillRect/>
          </a:stretch>
        </p:blipFill>
        <p:spPr>
          <a:xfrm>
            <a:off x="2127352" y="621792"/>
            <a:ext cx="7936992"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Subtraction of unsigned numbers using the r's complement: the end carry decides the sign of the result.</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end carry decides the sign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1.2</a:t>
            </a:r>
            <a:endParaRPr lang="en-US" sz="16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194560"/>
                <a:gridCol w="3840480"/>
                <a:gridCol w="5029200"/>
              </a:tblGrid>
              <a:tr h="463296">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End carry?</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Meaning</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Action</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63296">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 Yes</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M ≥ N → positive result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Discard the carry. Result is M − N.</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98576">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 No</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M &lt; N → negative result</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200" dirty="0">
                          <a:solidFill>
                            <a:srgbClr val="1F2937"/>
                          </a:solidFill>
                          <a:latin typeface="Calibri" pitchFamily="34" charset="0"/>
                          <a:ea typeface="Calibri" pitchFamily="34" charset="-122"/>
                          <a:cs typeface="Calibri" pitchFamily="34" charset="-120"/>
                        </a:rPr>
                        <a:t>Take the r’s complement of the sum and attach a minus sign.</a:t>
                      </a:r>
                      <a:endParaRPr lang="en-US" sz="22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Example 1: decimal, carry produced (M ≥ 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1.2</a:t>
            </a:r>
            <a:endParaRPr lang="en-US" sz="1600" dirty="0"/>
          </a:p>
        </p:txBody>
      </p:sp>
      <p:sp>
        <p:nvSpPr>
          <p:cNvPr id="5" name="Text 2"/>
          <p:cNvSpPr txBox="1"/>
          <p:nvPr/>
        </p:nvSpPr>
        <p:spPr>
          <a:xfrm>
            <a:off x="548640" y="1280160"/>
            <a:ext cx="11094415" cy="2255520"/>
          </a:xfrm>
          <a:prstGeom prst="roundRect">
            <a:avLst>
              <a:gd name="adj" fmla="val 4054"/>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72532 − 13250:</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  10’s complement of 13250 = 86750</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  Sum = 72532 + 86750     = 159282</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  End carry → discard it  → 59282  ✓ (positive)</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Example 2: decimal, no carry (M &lt; 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1.2</a:t>
            </a:r>
            <a:endParaRPr lang="en-US" sz="1600" dirty="0"/>
          </a:p>
        </p:txBody>
      </p:sp>
      <p:sp>
        <p:nvSpPr>
          <p:cNvPr id="5" name="Text 2"/>
          <p:cNvSpPr txBox="1"/>
          <p:nvPr/>
        </p:nvSpPr>
        <p:spPr>
          <a:xfrm>
            <a:off x="548640" y="1280160"/>
            <a:ext cx="11094415" cy="3108960"/>
          </a:xfrm>
          <a:prstGeom prst="roundRect">
            <a:avLst>
              <a:gd name="adj" fmla="val 2941"/>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13250 − 72532:</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  10’s complement of 72532 = 27468</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  Sum = 13250 + 27468     = 40718</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  No end carry → negative</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  10’s complement of 40718 = 59282</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  Answer = −59282  ✓</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Example 3: binary, X = 1010100 (84), Y = 1000011 (67)</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1.2</a:t>
            </a:r>
            <a:endParaRPr lang="en-US" sz="1600" dirty="0"/>
          </a:p>
        </p:txBody>
      </p:sp>
      <p:sp>
        <p:nvSpPr>
          <p:cNvPr id="5" name="Text 2"/>
          <p:cNvSpPr txBox="1"/>
          <p:nvPr/>
        </p:nvSpPr>
        <p:spPr>
          <a:xfrm>
            <a:off x="548640" y="1280160"/>
            <a:ext cx="11094415" cy="3749040"/>
          </a:xfrm>
          <a:prstGeom prst="roundRect">
            <a:avLst>
              <a:gd name="adj" fmla="val 2439"/>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X − Y:</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2’s complement of Y = 0111101</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Sum = 1010100 + 0111101 = 10010001</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End carry → discard → 0010001 = +17  ✓</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Y − X:</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2’s complement of X = 0101100</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Sum = 1000011 + 0101100 = 1101111</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No end carry → take 2’s complement → 0010001</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Answer = −17  ✓</a:t>
            </a:r>
            <a:endParaRPr lang="en-US" sz="2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1.3  Fixed-Point Representation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A computer has no minus sign, so the leftmost bit becomes the sign. Two’s complement is used because adding and subtracting then work with one simple adder.</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No minus sign in hardware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leftmost bit is 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sign flag</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0 means positive, 1 means negative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In an 8-bit number that leaves 7 bits for the value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Fixed-point: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everyone agrees in advance where the binary point goes, and it never moves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Point at the far left → every number is a fraction; point at the far right → every number is a whole number</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This course uses whole numbers; the point is never stored as a bit</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Three ways to write a negative number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All three agree on positive numbers; they differ only when negative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Signed-magnitude: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keep ordinary binary and flip only the sign bit to 1</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Signed-1’s-complement: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flip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every</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bit of the positive version</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Signed-2’s-complement: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take the 1’s complement, then add 1</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−14 in an 8-bit register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pic>
        <p:nvPicPr>
          <p:cNvPr id="5" name="Image 0" descr="/home/claude/figs1/1.3_fixed-point-representation_fig1.png">    </p:cNvPr>
          <p:cNvPicPr>
            <a:picLocks noChangeAspect="1"/>
          </p:cNvPicPr>
          <p:nvPr/>
        </p:nvPicPr>
        <p:blipFill>
          <a:blip r:embed="rId1"/>
          <a:stretch>
            <a:fillRect/>
          </a:stretch>
        </p:blipFill>
        <p:spPr>
          <a:xfrm>
            <a:off x="274320" y="1065447"/>
            <a:ext cx="11643055" cy="4781969"/>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−14 in an 8-bit register under all three conventions (compare +14 = 00001110).</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Writing −20, −50 and −100 in 8 bits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sp>
        <p:nvSpPr>
          <p:cNvPr id="5" name="Text 2"/>
          <p:cNvSpPr txBox="1"/>
          <p:nvPr/>
        </p:nvSpPr>
        <p:spPr>
          <a:xfrm>
            <a:off x="548640" y="1188720"/>
            <a:ext cx="11094415" cy="822960"/>
          </a:xfrm>
          <a:prstGeom prst="rect">
            <a:avLst/>
          </a:prstGeom>
          <a:noFill/>
          <a:ln/>
        </p:spPr>
        <p:txBody>
          <a:bodyPr wrap="square" lIns="0" tIns="0" rIns="0" bIns="0" rtlCol="0" anchor="t"/>
          <a:lstStyle/>
          <a:p>
            <a:pPr indent="0" marL="0">
              <a:buNone/>
            </a:pPr>
            <a:r>
              <a:rPr lang="en-US" sz="2200" dirty="0">
                <a:solidFill>
                  <a:srgbClr val="1F2937"/>
                </a:solidFill>
                <a:latin typeface="Calibri" pitchFamily="34" charset="0"/>
                <a:ea typeface="Calibri" pitchFamily="34" charset="-122"/>
                <a:cs typeface="Calibri" pitchFamily="34" charset="-120"/>
              </a:rPr>
              <a:t>Steps for −20: 1) write +20 as 00010100  2) signed-magnitude: flip only the sign bit → 10010100  3) 1’s complement: flip every bit → 11101011  4) 2’s complement: add 1 → 11101100</a:t>
            </a:r>
            <a:endParaRPr lang="en-US" sz="22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3728" y="2606040"/>
          <a:ext cx="11064240" cy="914400"/>
        </p:xfrm>
        <a:graphic>
          <a:graphicData uri="http://schemas.openxmlformats.org/drawingml/2006/table">
            <a:tbl>
              <a:tblPr/>
              <a:tblGrid>
                <a:gridCol w="1463040"/>
                <a:gridCol w="2377440"/>
                <a:gridCol w="2468880"/>
                <a:gridCol w="2377440"/>
                <a:gridCol w="237744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Number</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Positive version</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Signed-magnitude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1’s complement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2’s complement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−20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00010100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10010100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11101011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11101100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−50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00110010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10110010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11001101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11001110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01100100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11100100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10011011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10011100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Adding signed numbers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Signed-magnitude:</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same signs → add magnitudes, keep the sign; different signs → subtract the smaller from the larger, keep the bigger’s sign</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hardware needs a comparator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and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 subtractor, on top of an adder</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2’s complement:</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add the two numbers, sign bits included, like normal addition</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If a carry pops out of the leftmost position, throw it away</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One rule, one piece of hardware: the reason 2’s complement is used in every real computer</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2’s complement addition (8 bits)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560320"/>
                <a:gridCol w="3291840"/>
                <a:gridCol w="2926080"/>
                <a:gridCol w="2286000"/>
              </a:tblGrid>
              <a:tr h="432816">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What we are adding</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In 8-bit binary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2000" b="1" dirty="0">
                          <a:solidFill>
                            <a:srgbClr val="FFFFFF"/>
                          </a:solidFill>
                          <a:latin typeface="Calibri" pitchFamily="34" charset="0"/>
                          <a:ea typeface="Calibri" pitchFamily="34" charset="-122"/>
                          <a:cs typeface="Calibri" pitchFamily="34" charset="-120"/>
                        </a:rPr>
                        <a:t>Result</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Matches normal math?</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(+6) + (+13)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00000110 + 00001101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00010011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 +19 ✓</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(−6) + (+13)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11111010 + 00001101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00000111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 +7 ✓</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(+6) + (−13)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00000110 + 11110011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11111001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 −7 ✓</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737616">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(−6) + (−13)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11111010 + 11110011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2000" dirty="0">
                          <a:solidFill>
                            <a:srgbClr val="1F2937"/>
                          </a:solidFill>
                          <a:latin typeface="Calibri" pitchFamily="34" charset="0"/>
                          <a:ea typeface="Calibri" pitchFamily="34" charset="-122"/>
                          <a:cs typeface="Calibri" pitchFamily="34" charset="-120"/>
                        </a:rPr>
                        <a:t>11101101 (carry dropped)</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 −19 ✓</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Example: (+30) + (−12)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sp>
        <p:nvSpPr>
          <p:cNvPr id="5" name="Text 2"/>
          <p:cNvSpPr txBox="1"/>
          <p:nvPr/>
        </p:nvSpPr>
        <p:spPr>
          <a:xfrm>
            <a:off x="548640" y="1280160"/>
            <a:ext cx="11094415" cy="2504440"/>
          </a:xfrm>
          <a:prstGeom prst="roundRect">
            <a:avLst>
              <a:gd name="adj" fmla="val 3651"/>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+30  =  00011110</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−12  =  11110100</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sum  =  100010010    ← 9 bits! drop the leading carry</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keep =  00010010     =  +18</a:t>
            </a:r>
            <a:endParaRPr lang="en-US" sz="2200" dirty="0"/>
          </a:p>
        </p:txBody>
      </p:sp>
      <p:sp>
        <p:nvSpPr>
          <p:cNvPr id="6" name="Text 3"/>
          <p:cNvSpPr txBox="1"/>
          <p:nvPr/>
        </p:nvSpPr>
        <p:spPr>
          <a:xfrm>
            <a:off x="640080" y="4104640"/>
            <a:ext cx="10911535" cy="202184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Check: 30 − 12 = 18. It matches, using nothing but plain addition</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Overflow: when the answer does not fit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An 8-bit signed register holds −128 to +127; an answer outside that range is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overflow</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Unsigned: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overflow shows as an extra carry out of the last bit</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Signed: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overflow happens exactly when the carry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into</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sign bit differs from the carry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out of</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it</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Positive + negative can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never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overflow; only two positives or two negatives can</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Using the unsigned carry trick on signed numbers gives the wrong answer</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Example: overflow, (+70) + (+80)</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1.3</a:t>
            </a:r>
            <a:endParaRPr lang="en-US" sz="1600" dirty="0"/>
          </a:p>
        </p:txBody>
      </p:sp>
      <p:sp>
        <p:nvSpPr>
          <p:cNvPr id="5" name="Text 2"/>
          <p:cNvSpPr txBox="1"/>
          <p:nvPr/>
        </p:nvSpPr>
        <p:spPr>
          <a:xfrm>
            <a:off x="548640" y="1280160"/>
            <a:ext cx="11094415" cy="2113280"/>
          </a:xfrm>
          <a:prstGeom prst="roundRect">
            <a:avLst>
              <a:gd name="adj" fmla="val 4327"/>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+70  =  01000110</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+80  =  01010000</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sum  =  10010110   ← looks negative!</a:t>
            </a:r>
            <a:endParaRPr lang="en-US" sz="2200" dirty="0"/>
          </a:p>
        </p:txBody>
      </p:sp>
      <p:sp>
        <p:nvSpPr>
          <p:cNvPr id="6" name="Text 3"/>
          <p:cNvSpPr txBox="1"/>
          <p:nvPr/>
        </p:nvSpPr>
        <p:spPr>
          <a:xfrm>
            <a:off x="640080" y="3713480"/>
            <a:ext cx="10911535" cy="241300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It looks negative, but we added two positives: this signals overflow</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150 does not fit in 8 signed bits (maximum is +127)</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1.4  Floating-Point Representation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1.4</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Floating point is scientific notation in binary: a fraction (the digits) and an exponent (where the point goes), so very large and very small numbers fit in the same register.</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not fixed-point? Mantissa and exponent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Fixed-point: a huge number needs many bits before the point; a tiny precise fraction needs many after; a fixed register cannot give both</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Floating point lets the point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float</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and stores where it moved to</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Mantissa (fraction):</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the meaningful digits, as a signed value</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Exponent:</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a power of the base (2 for binary): how far and which way to slide the point</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value = mantissa × (base)</a:t>
            </a:r>
            <a:pPr algn="l" marL="304800" indent="-304800">
              <a:spcAft>
                <a:spcPts val="1000"/>
              </a:spcAft>
              <a:buSzPct val="100000"/>
              <a:buChar char="•"/>
            </a:pPr>
            <a:r>
              <a:rPr lang="en-US" sz="2600" b="1" baseline="30000" dirty="0">
                <a:solidFill>
                  <a:srgbClr val="1F2937"/>
                </a:solidFill>
                <a:latin typeface="Calibri" pitchFamily="34" charset="0"/>
                <a:ea typeface="Calibri" pitchFamily="34" charset="-122"/>
                <a:cs typeface="Calibri" pitchFamily="34" charset="-120"/>
              </a:rPr>
              <a:t>exponent</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Only the mantissa and exponent are stored; the base and the point position are conventions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Examples 1 and 2</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1.4</a:t>
            </a:r>
            <a:endParaRPr lang="en-US" sz="1600" dirty="0"/>
          </a:p>
        </p:txBody>
      </p:sp>
      <p:sp>
        <p:nvSpPr>
          <p:cNvPr id="5" name="Text 2"/>
          <p:cNvSpPr txBox="1"/>
          <p:nvPr/>
        </p:nvSpPr>
        <p:spPr>
          <a:xfrm>
            <a:off x="548640" y="1280160"/>
            <a:ext cx="11094415" cy="2326640"/>
          </a:xfrm>
          <a:prstGeom prst="roundRect">
            <a:avLst>
              <a:gd name="adj" fmla="val 3930"/>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Example 1:  +6132.789 = 0.6132789 × 10⁺⁴</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Mantissa = +0.6132789, Exponent = +04</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Example 2:  binary +1001.11, 8-bit fraction, 6-bit exponent</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Mantissa = 01001110, Exponent = 000100</a:t>
            </a:r>
            <a:endParaRPr lang="en-US" sz="2000" dirty="0"/>
          </a:p>
          <a:p>
            <a:pPr indent="0" marL="0">
              <a:spcAft>
                <a:spcPts val="400"/>
              </a:spcAft>
              <a:buNone/>
            </a:pPr>
            <a:r>
              <a:rPr lang="en-US" sz="2000" dirty="0">
                <a:solidFill>
                  <a:srgbClr val="1F2937"/>
                </a:solidFill>
                <a:latin typeface="Courier New" pitchFamily="34" charset="0"/>
                <a:ea typeface="Courier New" pitchFamily="34" charset="-122"/>
                <a:cs typeface="Courier New" pitchFamily="34" charset="-120"/>
              </a:rPr>
              <a:t>            representing +(.1001110)₂ × 2⁺⁴</a:t>
            </a:r>
            <a:endParaRPr lang="en-US" sz="2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Classic floating-point layout vs. IEEE 754 single precision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1.4</a:t>
            </a:r>
            <a:endParaRPr lang="en-US" sz="1600" dirty="0"/>
          </a:p>
        </p:txBody>
      </p:sp>
      <p:pic>
        <p:nvPicPr>
          <p:cNvPr id="5" name="Image 0" descr="/home/claude/figs1/1.4_floating-point-representation_fig1.png">    </p:cNvPr>
          <p:cNvPicPr>
            <a:picLocks noChangeAspect="1"/>
          </p:cNvPicPr>
          <p:nvPr/>
        </p:nvPicPr>
        <p:blipFill>
          <a:blip r:embed="rId1"/>
          <a:stretch>
            <a:fillRect/>
          </a:stretch>
        </p:blipFill>
        <p:spPr>
          <a:xfrm>
            <a:off x="274320" y="733459"/>
            <a:ext cx="11643055" cy="5445945"/>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Classic floating-point layout vs. IEEE 754 single precision.</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Example 3: converting +37.25 step by step</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1.4</a:t>
            </a:r>
            <a:endParaRPr lang="en-US" sz="1600" dirty="0"/>
          </a:p>
        </p:txBody>
      </p:sp>
      <p:sp>
        <p:nvSpPr>
          <p:cNvPr id="5" name="Text 2"/>
          <p:cNvSpPr txBox="1"/>
          <p:nvPr/>
        </p:nvSpPr>
        <p:spPr>
          <a:xfrm>
            <a:off x="548640" y="1280160"/>
            <a:ext cx="11094415" cy="2113280"/>
          </a:xfrm>
          <a:prstGeom prst="roundRect">
            <a:avLst>
              <a:gd name="adj" fmla="val 4327"/>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Step 1: 37.25 in binary is 100101.01</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Step 2: slide the point left until only a 1 is before it:</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100101.01 → 0.10010101  (slid 6 places)</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Step 3: Mantissa = 10010101, Exponent = +6 (000110)</a:t>
            </a:r>
            <a:endParaRPr lang="en-US" sz="2200" dirty="0"/>
          </a:p>
        </p:txBody>
      </p:sp>
      <p:sp>
        <p:nvSpPr>
          <p:cNvPr id="6" name="Text 3"/>
          <p:cNvSpPr txBox="1"/>
          <p:nvPr/>
        </p:nvSpPr>
        <p:spPr>
          <a:xfrm>
            <a:off x="640080" y="3713480"/>
            <a:ext cx="10911535" cy="241300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Check: 0.10010101₂ = 0.58203125, and 0.58203125 × 2⁶ (= 64) = 37.25 ✓</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Normalization and zero</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1.4</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number is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normalized</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when the first digit of the mantissa is 1, not 0</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This squeezes the most precision out of a fixed-size mantissa: no bits wasted on leading zeros</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Rule:</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however many places you slide the mantissa left, subtract the same number from the exponent</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Example A: 00011010 has 3 leading zeros → shift left 3 → 11010000; exponent reduced by 3</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Example B: 00000101 has 5 leading zeros → shift left 5 → 10100000; exponent reduced by 5</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Zero</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cannot be normalized: it is stored as all-zero mantissa and all-zero exponent</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1.5  Binary Codes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1.5</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A binary code just gives each symbol a pattern of bits. BCD codes decimal digits, ASCII codes characters, and Gray code changes only one bit between neighbours.</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Binary codes and BCD</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binary code assigns a group of n bits (up to 2</a:t>
            </a:r>
            <a:pPr algn="l" marL="304800" indent="-304800">
              <a:spcAft>
                <a:spcPts val="1000"/>
              </a:spcAft>
              <a:buSzPct val="100000"/>
              <a:buChar char="•"/>
            </a:pPr>
            <a:r>
              <a:rPr lang="en-US" sz="3000" baseline="3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patterns) to represent a digit, character or position</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code need not use every pattern</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BCD (8421):</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each decimal digit 0–9 is coded separately in 4 bits, with weights 8, 4, 2, 1</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Six patterns (1010–1111) are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unused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in BCD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BCD is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not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same as converting the whole decimal number to binary</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BCD versus straight binary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1.5</a:t>
            </a:r>
            <a:endParaRPr lang="en-US" sz="160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194560"/>
                <a:gridCol w="4389120"/>
                <a:gridCol w="4480560"/>
              </a:tblGrid>
              <a:tr h="493776">
                <a:tc>
                  <a:txBody>
                    <a:bodyPr/>
                    <a:lstStyle/>
                    <a:p>
                      <a:pPr algn="ctr" indent="0" marL="0">
                        <a:buNone/>
                      </a:pPr>
                      <a:r>
                        <a:rPr lang="en-US" sz="2400" b="1" dirty="0">
                          <a:solidFill>
                            <a:srgbClr val="FFFFFF"/>
                          </a:solidFill>
                          <a:latin typeface="Calibri" pitchFamily="34" charset="0"/>
                          <a:ea typeface="Calibri" pitchFamily="34" charset="-122"/>
                          <a:cs typeface="Calibri" pitchFamily="34" charset="-120"/>
                        </a:rPr>
                        <a:t>Decimal</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400" b="1" dirty="0">
                          <a:solidFill>
                            <a:srgbClr val="FFFFFF"/>
                          </a:solidFill>
                          <a:latin typeface="Calibri" pitchFamily="34" charset="0"/>
                          <a:ea typeface="Calibri" pitchFamily="34" charset="-122"/>
                          <a:cs typeface="Calibri" pitchFamily="34" charset="-120"/>
                        </a:rPr>
                        <a:t>BCD (digit by digit)</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400" b="1" dirty="0">
                          <a:solidFill>
                            <a:srgbClr val="FFFFFF"/>
                          </a:solidFill>
                          <a:latin typeface="Calibri" pitchFamily="34" charset="0"/>
                          <a:ea typeface="Calibri" pitchFamily="34" charset="-122"/>
                          <a:cs typeface="Calibri" pitchFamily="34" charset="-120"/>
                        </a:rPr>
                        <a:t>Straight binary (whole number)</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93776">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396</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0011 1001 0110</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110001100</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93776">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99</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1001 1001</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400" dirty="0">
                          <a:solidFill>
                            <a:srgbClr val="1F2937"/>
                          </a:solidFill>
                          <a:latin typeface="Calibri" pitchFamily="34" charset="0"/>
                          <a:ea typeface="Calibri" pitchFamily="34" charset="-122"/>
                          <a:cs typeface="Calibri" pitchFamily="34" charset="-120"/>
                        </a:rPr>
                        <a:t>1100011</a:t>
                      </a:r>
                      <a:endParaRPr lang="en-US" sz="24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Self-complementing codes: Excess-3</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1.5</a:t>
            </a:r>
            <a:endParaRPr lang="en-US" sz="1600" dirty="0"/>
          </a:p>
        </p:txBody>
      </p:sp>
      <p:sp>
        <p:nvSpPr>
          <p:cNvPr id="5" name="Text 2"/>
          <p:cNvSpPr txBox="1"/>
          <p:nvPr/>
        </p:nvSpPr>
        <p:spPr>
          <a:xfrm>
            <a:off x="548640" y="1280160"/>
            <a:ext cx="11094415" cy="1722120"/>
          </a:xfrm>
          <a:prstGeom prst="roundRect">
            <a:avLst>
              <a:gd name="adj" fmla="val 5310"/>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Digit 6 → BCD 0110 → Excess-3 = 0110 + 0011 = 1001</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Flip every bit of 1001 → 0110</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Decode as Excess-3 (subtract 3): 0110 − 0011 = 0011 = digit 3</a:t>
            </a:r>
            <a:endParaRPr lang="en-US" sz="2200" dirty="0"/>
          </a:p>
        </p:txBody>
      </p:sp>
      <p:sp>
        <p:nvSpPr>
          <p:cNvPr id="6" name="Text 3"/>
          <p:cNvSpPr txBox="1"/>
          <p:nvPr/>
        </p:nvSpPr>
        <p:spPr>
          <a:xfrm>
            <a:off x="640080" y="3322320"/>
            <a:ext cx="10911535" cy="2804160"/>
          </a:xfrm>
          <a:prstGeom prst="rect">
            <a:avLst/>
          </a:prstGeom>
          <a:noFill/>
          <a:ln/>
        </p:spPr>
        <p:txBody>
          <a:bodyPr wrap="square" lIns="0" tIns="0" rIns="0" bIns="0" rtlCol="0" anchor="t"/>
          <a:lstStyle/>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Self-complementing:</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the 9’s complement of a digit is found just by flipping every bit</a:t>
            </a:r>
            <a:endParaRPr lang="en-US" sz="2600" dirty="0"/>
          </a:p>
          <a:p>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Excess-3:</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the BCD value plus 3; the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2421</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code (weights 2, 4, 2, 1) is also self-complementing</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Check: the 9’s complement of 6 is 9 − 6 = 3 ✓</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Gray code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Gray code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(reflected binary, unit-distance code): consecutive values differ in exactly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one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bit</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Ordinary binary does not: 0111 → 1000 flips all four bits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Bits can change at slightly different instants; in binary this can give a wildly wrong intermediate value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In Gray code at most one bit is mid-transition: the worst case is one step off</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Used in rotary position encoders (motor controllers, robotics, old mechanical mice)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Binary and Gray code, 0 to 7</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1.5</a:t>
            </a:r>
            <a:endParaRPr lang="en-US" sz="1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1889608" y="1188720"/>
          <a:ext cx="8412480" cy="914400"/>
        </p:xfrm>
        <a:graphic>
          <a:graphicData uri="http://schemas.openxmlformats.org/drawingml/2006/table">
            <a:tbl>
              <a:tblPr/>
              <a:tblGrid>
                <a:gridCol w="2194560"/>
                <a:gridCol w="3108960"/>
                <a:gridCol w="3108960"/>
              </a:tblGrid>
              <a:tr h="432816">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Decimal</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Binary</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ctr" indent="0" marL="0">
                        <a:buNone/>
                      </a:pPr>
                      <a:r>
                        <a:rPr lang="en-US" sz="2000" b="1" dirty="0">
                          <a:solidFill>
                            <a:srgbClr val="FFFFFF"/>
                          </a:solidFill>
                          <a:latin typeface="Calibri" pitchFamily="34" charset="0"/>
                          <a:ea typeface="Calibri" pitchFamily="34" charset="-122"/>
                          <a:cs typeface="Calibri" pitchFamily="34" charset="-120"/>
                        </a:rPr>
                        <a:t>Gray code</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2</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3</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0010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4</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5</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6</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432816">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7</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0111</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ctr" indent="0" marL="0">
                        <a:buNone/>
                      </a:pPr>
                      <a:r>
                        <a:rPr lang="en-US" sz="2000" dirty="0">
                          <a:solidFill>
                            <a:srgbClr val="1F2937"/>
                          </a:solidFill>
                          <a:latin typeface="Calibri" pitchFamily="34" charset="0"/>
                          <a:ea typeface="Calibri" pitchFamily="34" charset="-122"/>
                          <a:cs typeface="Calibri" pitchFamily="34" charset="-120"/>
                        </a:rPr>
                        <a:t>0100</a:t>
                      </a:r>
                      <a:endParaRPr lang="en-US" sz="20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Binary-to-Gray conversion</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1.5</a:t>
            </a:r>
            <a:endParaRPr lang="en-US" sz="1600" dirty="0"/>
          </a:p>
        </p:txBody>
      </p:sp>
      <p:pic>
        <p:nvPicPr>
          <p:cNvPr id="5" name="Image 0" descr="/home/claude/figs1/1.5_binary-codes_fig1.png">    </p:cNvPr>
          <p:cNvPicPr>
            <a:picLocks noChangeAspect="1"/>
          </p:cNvPicPr>
          <p:nvPr/>
        </p:nvPicPr>
        <p:blipFill>
          <a:blip r:embed="rId1"/>
          <a:stretch>
            <a:fillRect/>
          </a:stretch>
        </p:blipFill>
        <p:spPr>
          <a:xfrm>
            <a:off x="274320" y="881526"/>
            <a:ext cx="11643055" cy="5149813"/>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Binary-to-Gray conversion — MSB copied, every other bit is an XOR with its neighbor.</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ASCII and parity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1.5</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ASCII</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is the standard alphanumeric code: 7 bits, 128 characters (letters, digits, punctuation, control characters)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parity bit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is one extra bit appended so the total count of 1s follows a fixed rule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Even parity:</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total is even;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odd parity:</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total is odd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It catches a single flipped bit but cannot say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which</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bit flipped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It misses an even number of simultaneous flips</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1.6  Binary Storage &amp; Registers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1.6</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400" dirty="0">
                <a:solidFill>
                  <a:srgbClr val="1F2937"/>
                </a:solidFill>
                <a:latin typeface="Calibri" pitchFamily="34" charset="0"/>
                <a:ea typeface="Calibri" pitchFamily="34" charset="-122"/>
                <a:cs typeface="Calibri" pitchFamily="34" charset="-120"/>
              </a:rPr>
              <a:t>A register is a row of one-bit storage cells; n cells can hold any one of 2ⁿ values.</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storage cell</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binary storage cell</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is 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flip-flop</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 circuit with exactly two stable electrical states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state it sits in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is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bit: one state means 0 and the other means 1</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It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holds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its state without continuous input, unlike a plain wire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Treat it as a labelled box that stores one bit; how it is built comes in the Sequential Circuits unit</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A register of storage cells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1.6</a:t>
            </a:r>
            <a:endParaRPr lang="en-US" sz="1600" dirty="0"/>
          </a:p>
        </p:txBody>
      </p:sp>
      <p:pic>
        <p:nvPicPr>
          <p:cNvPr id="5" name="Image 0" descr="/home/claude/figs1/1.6_binary-storage-registers_fig1.png">    </p:cNvPr>
          <p:cNvPicPr>
            <a:picLocks noChangeAspect="1"/>
          </p:cNvPicPr>
          <p:nvPr/>
        </p:nvPicPr>
        <p:blipFill>
          <a:blip r:embed="rId1"/>
          <a:stretch>
            <a:fillRect/>
          </a:stretch>
        </p:blipFill>
        <p:spPr>
          <a:xfrm>
            <a:off x="274320" y="1377315"/>
            <a:ext cx="11643055" cy="4158234"/>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A register is a group of storage cells; n cells hold one of 2ⁿ possible values.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Registers and register transfer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1.6</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register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is an ordered group of storage cells acting together; an 8-bit register is 8 flip-flops side by side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n cells hold any one of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2</a:t>
            </a:r>
            <a:pPr algn="l" marL="304800" indent="-304800">
              <a:spcAft>
                <a:spcPts val="1000"/>
              </a:spcAft>
              <a:buSzPct val="100000"/>
              <a:buChar char="•"/>
            </a:pPr>
            <a:r>
              <a:rPr lang="en-US" sz="3000" b="1" baseline="3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values: 2</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⁸</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 256; 2</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³²</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is over 4 billion</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register transfer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moves or copies a value from one register to another</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transfer does not necessarily destroy the original</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1.7  Binary Logic</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1.7</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400" dirty="0">
                <a:solidFill>
                  <a:srgbClr val="1F2937"/>
                </a:solidFill>
                <a:latin typeface="Calibri" pitchFamily="34" charset="0"/>
                <a:ea typeface="Calibri" pitchFamily="34" charset="-122"/>
                <a:cs typeface="Calibri" pitchFamily="34" charset="-120"/>
              </a:rPr>
              <a:t>Binary logic has just three basic operations: AND (all must be 1), OR (any can be 1) and NOT (flip it).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Binary variables and three operations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binary variable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takes exactly one of two values: 0 or 1</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In binary logic read them as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truth values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1 = true, 0 = false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AND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(A·B or AB): 1 only when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both</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 and B are 1</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OR</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(A+B): 1 when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at least one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of A or B is 1</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NOT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 or Ā): flips the value: 1 becomes 0 and 0 becomes 1</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Three basic operations and truth tables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1.7</a:t>
            </a:r>
            <a:endParaRPr lang="en-US" sz="1600" dirty="0"/>
          </a:p>
        </p:txBody>
      </p:sp>
      <p:pic>
        <p:nvPicPr>
          <p:cNvPr id="5" name="Image 0" descr="/home/claude/figs1/1.7_binary-logic_fig1.png">    </p:cNvPr>
          <p:cNvPicPr>
            <a:picLocks noChangeAspect="1"/>
          </p:cNvPicPr>
          <p:nvPr/>
        </p:nvPicPr>
        <p:blipFill>
          <a:blip r:embed="rId1"/>
          <a:stretch>
            <a:fillRect/>
          </a:stretch>
        </p:blipFill>
        <p:spPr>
          <a:xfrm>
            <a:off x="274320" y="649624"/>
            <a:ext cx="11643055" cy="5613616"/>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The three basic binary logic operations and their truth tables.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Gates, and a warning about symbols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1.7</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logic gate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is the physical circuit that carries out one of these operations electronically</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AND, OR and NOT map onto the AND gate, the OR gate and the NOT gate (inverter)</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Warning:</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 does not mean addition and · does not mean multiplication here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In binary logic 1 + 1 = 1 (OR), not 2</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1.8  Digital Logic Gates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1.8</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400" dirty="0">
                <a:solidFill>
                  <a:srgbClr val="1F2937"/>
                </a:solidFill>
                <a:latin typeface="Calibri" pitchFamily="34" charset="0"/>
                <a:ea typeface="Calibri" pitchFamily="34" charset="-122"/>
                <a:cs typeface="Calibri" pitchFamily="34" charset="-120"/>
              </a:rPr>
              <a:t>Each gate is a tiny circuit for one logic operation; NAND or NOR alone can build every other gate.</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The seven basic gates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1.8</a:t>
            </a:r>
            <a:endParaRPr lang="en-US" sz="1600" dirty="0"/>
          </a:p>
        </p:txBody>
      </p:sp>
      <p:pic>
        <p:nvPicPr>
          <p:cNvPr id="5" name="Image 0" descr="/home/claude/figs1/1.8_digital-logic-gates_fig1.png">    </p:cNvPr>
          <p:cNvPicPr>
            <a:picLocks noChangeAspect="1"/>
          </p:cNvPicPr>
          <p:nvPr/>
        </p:nvPicPr>
        <p:blipFill>
          <a:blip r:embed="rId1"/>
          <a:stretch>
            <a:fillRect/>
          </a:stretch>
        </p:blipFill>
        <p:spPr>
          <a:xfrm>
            <a:off x="2138048" y="621792"/>
            <a:ext cx="7915598"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Symbol, expression, and truth table for each of the seven basic gates.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DeMorgan’s theorem</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1.8</a:t>
            </a:r>
            <a:endParaRPr lang="en-US" sz="1600" dirty="0"/>
          </a:p>
        </p:txBody>
      </p:sp>
      <p:sp>
        <p:nvSpPr>
          <p:cNvPr id="5" name="Text 2"/>
          <p:cNvSpPr txBox="1"/>
          <p:nvPr/>
        </p:nvSpPr>
        <p:spPr>
          <a:xfrm>
            <a:off x="548640" y="1280160"/>
            <a:ext cx="11094415" cy="1686560"/>
          </a:xfrm>
          <a:prstGeom prst="roundRect">
            <a:avLst>
              <a:gd name="adj" fmla="val 5422"/>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3200" dirty="0">
                <a:solidFill>
                  <a:srgbClr val="1F2937"/>
                </a:solidFill>
                <a:latin typeface="Courier New" pitchFamily="34" charset="0"/>
                <a:ea typeface="Courier New" pitchFamily="34" charset="-122"/>
                <a:cs typeface="Courier New" pitchFamily="34" charset="-120"/>
              </a:rPr>
              <a:t>(A + B)′ = A′ · B′</a:t>
            </a:r>
            <a:endParaRPr lang="en-US" sz="3200" dirty="0"/>
          </a:p>
          <a:p>
            <a:pPr indent="0" marL="0">
              <a:spcAft>
                <a:spcPts val="400"/>
              </a:spcAft>
              <a:buNone/>
            </a:pPr>
            <a:r>
              <a:rPr lang="en-US" sz="3200" dirty="0">
                <a:solidFill>
                  <a:srgbClr val="1F2937"/>
                </a:solidFill>
                <a:latin typeface="Courier New" pitchFamily="34" charset="0"/>
                <a:ea typeface="Courier New" pitchFamily="34" charset="-122"/>
                <a:cs typeface="Courier New" pitchFamily="34" charset="-120"/>
              </a:rPr>
              <a:t>(A · B)′ = A′ + B′</a:t>
            </a:r>
            <a:endParaRPr lang="en-US" sz="3200" dirty="0"/>
          </a:p>
        </p:txBody>
      </p:sp>
      <p:sp>
        <p:nvSpPr>
          <p:cNvPr id="6" name="Text 3"/>
          <p:cNvSpPr txBox="1"/>
          <p:nvPr/>
        </p:nvSpPr>
        <p:spPr>
          <a:xfrm>
            <a:off x="640080" y="3286760"/>
            <a:ext cx="10911535" cy="283972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Complementing an expression flips the operator (+ becomes ·, and vice versa)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and</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complements every literal</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Check for A = 0, B = 1: (A+B)′ = (0+1)′ = 1′ = 0 and A′·B′ = 1·0 = 0: match</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True for all 4 input combinations, which is what makes it a theorem</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NAND and NOR are universal gates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1.8</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Either one alone can build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every</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other gate, NOT, AND and OR included</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Real chips are built almost entirely from NAND (or NOR): one gate type made repeatedly is far cheaper</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NOT from NAND: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tie both inputs together: NAND(A,A) = (A·A)′ = A′</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AND from NAND: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 NAND followed by a second NAND wired as a NOT</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OR from NAND:</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invert both inputs, then NAND: (A′·B′)′ = A + B</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NOT, AND and OR from NAND gates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1.8</a:t>
            </a:r>
            <a:endParaRPr lang="en-US" sz="1600" dirty="0"/>
          </a:p>
        </p:txBody>
      </p:sp>
      <p:pic>
        <p:nvPicPr>
          <p:cNvPr id="5" name="Image 0" descr="/home/claude/figs1/1.8_digital-logic-gates_fig2.png">    </p:cNvPr>
          <p:cNvPicPr>
            <a:picLocks noChangeAspect="1"/>
          </p:cNvPicPr>
          <p:nvPr/>
        </p:nvPicPr>
        <p:blipFill>
          <a:blip r:embed="rId1"/>
          <a:stretch>
            <a:fillRect/>
          </a:stretch>
        </p:blipFill>
        <p:spPr>
          <a:xfrm>
            <a:off x="274320" y="1959468"/>
            <a:ext cx="11643055" cy="2993928"/>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NOT, AND, and OR, each built using only NAND gates.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Canonical form: minterms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1.8</a:t>
            </a:r>
            <a:endParaRPr lang="en-US" sz="1600" dirty="0"/>
          </a:p>
        </p:txBody>
      </p:sp>
      <p:sp>
        <p:nvSpPr>
          <p:cNvPr id="5" name="Text 2"/>
          <p:cNvSpPr txBox="1"/>
          <p:nvPr/>
        </p:nvSpPr>
        <p:spPr>
          <a:xfrm>
            <a:off x="548640" y="1280160"/>
            <a:ext cx="11094415" cy="1402080"/>
          </a:xfrm>
          <a:prstGeom prst="roundRect">
            <a:avLst>
              <a:gd name="adj" fmla="val 6522"/>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F(A,B,C) is 1 for rows 1, 3, 5, 6  →  F = Σm(1,3,5,6)</a:t>
            </a:r>
            <a:endParaRPr lang="en-US" sz="2400" dirty="0"/>
          </a:p>
          <a:p>
            <a:pPr indent="0" marL="0">
              <a:spcAft>
                <a:spcPts val="400"/>
              </a:spcAft>
              <a:buNone/>
            </a:pPr>
            <a:r>
              <a:rPr lang="en-US" sz="2400" dirty="0">
                <a:solidFill>
                  <a:srgbClr val="1F2937"/>
                </a:solidFill>
                <a:latin typeface="Courier New" pitchFamily="34" charset="0"/>
                <a:ea typeface="Courier New" pitchFamily="34" charset="-122"/>
                <a:cs typeface="Courier New" pitchFamily="34" charset="-120"/>
              </a:rPr>
              <a:t>F = A′B′C + A′BC + AB′C + ABC′</a:t>
            </a:r>
            <a:endParaRPr lang="en-US" sz="2400" dirty="0"/>
          </a:p>
        </p:txBody>
      </p:sp>
      <p:sp>
        <p:nvSpPr>
          <p:cNvPr id="6" name="Text 3"/>
          <p:cNvSpPr txBox="1"/>
          <p:nvPr/>
        </p:nvSpPr>
        <p:spPr>
          <a:xfrm>
            <a:off x="640080" y="3002280"/>
            <a:ext cx="10911535" cy="312420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minterm</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is an AND term containing every variable exactly once: uncomplemented if the variable is 1 in that row, complemented if 0</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Writing a function as the OR of all its minterms is the </a:t>
            </a:r>
            <a:pPr algn="l" marL="304800" indent="-304800">
              <a:spcAft>
                <a:spcPts val="1000"/>
              </a:spcAft>
              <a:buSzPct val="100000"/>
              <a:buChar char="•"/>
            </a:pPr>
            <a:r>
              <a:rPr lang="en-US" sz="2600" b="1" dirty="0">
                <a:solidFill>
                  <a:srgbClr val="1F2937"/>
                </a:solidFill>
                <a:latin typeface="Calibri" pitchFamily="34" charset="0"/>
                <a:ea typeface="Calibri" pitchFamily="34" charset="-122"/>
                <a:cs typeface="Calibri" pitchFamily="34" charset="-120"/>
              </a:rPr>
              <a:t>canonical sum-of-products (SOP)</a:t>
            </a:r>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 form</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Guaranteed correct but rarely minimal: the starting point for Karnaugh maps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1.9  K-Map Representation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1.9</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200" dirty="0">
                <a:solidFill>
                  <a:srgbClr val="1F2937"/>
                </a:solidFill>
                <a:latin typeface="Calibri" pitchFamily="34" charset="0"/>
                <a:ea typeface="Calibri" pitchFamily="34" charset="-122"/>
                <a:cs typeface="Calibri" pitchFamily="34" charset="-120"/>
              </a:rPr>
              <a:t>A K-map lays out the truth table so that neighbouring cells differ in one bit; circling neighbouring 1s in groups of 1, 2, 4 or 8 gives the simplest expression.</a:t>
            </a:r>
            <a:endParaRPr lang="en-US" sz="3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a grid works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K-map places truth-table rows in a grid so physically adjacent cells differ in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exactly one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variable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This reuses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Gray code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headers are written 00, 01, 11, 10, never 00, 01, 10, 11</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Neighbours are one bit-flip apart across, down, and even wrapping around the edges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Two cells that differ in one variable combine algebraically: the differing variable cancels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 K-map lets you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see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which cells qualify</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Grouping rules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Group adjacent 1s in powers of two: 1, 2, 4, 8, … cells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Groups must be rectangular, including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wraparound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across top/bottom and left/right edges</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Bigger groups are better: doubling a group removes one more variable from its term</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Every 1 must be covered by at least one group, using as few groups as possible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Don’t-care cells (X)</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may join a group only if that makes the group larger</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Three-variable K-map</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1.9</a:t>
            </a:r>
            <a:endParaRPr lang="en-US" sz="1600" dirty="0"/>
          </a:p>
        </p:txBody>
      </p:sp>
      <p:pic>
        <p:nvPicPr>
          <p:cNvPr id="5" name="Image 0" descr="/home/claude/figs1/1.9_k-map-representation_fig1.png">    </p:cNvPr>
          <p:cNvPicPr>
            <a:picLocks noChangeAspect="1"/>
          </p:cNvPicPr>
          <p:nvPr/>
        </p:nvPicPr>
        <p:blipFill>
          <a:blip r:embed="rId1"/>
          <a:stretch>
            <a:fillRect/>
          </a:stretch>
        </p:blipFill>
        <p:spPr>
          <a:xfrm>
            <a:off x="880110" y="621792"/>
            <a:ext cx="10431475"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Three-variable K-map for F = Σm(1,3,5,6): F = A′C + B′C + ABC′.</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Worked example: 3 variables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F(A,B,C) = Σm(1,3,5,6), the function from the previous topic</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m1 and m3 (adjacent across BC = 01/11 in row A = 0): B differs and cancels →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A′C</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m5 pairs with m1 (same column, BC = 01) →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B′C</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m6 has no neighbouring 1 → it stays alone as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ABC′</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Minimal result: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F = A′C + B′C + ABC′</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three terms with fewer literals than the four-term canonical SOP</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Four-variable K-map with don’t-cares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1.9</a:t>
            </a:r>
            <a:endParaRPr lang="en-US" sz="1600" dirty="0"/>
          </a:p>
        </p:txBody>
      </p:sp>
      <p:pic>
        <p:nvPicPr>
          <p:cNvPr id="5" name="Image 0" descr="/home/claude/figs1/1.9_k-map-representation_fig2.png">    </p:cNvPr>
          <p:cNvPicPr>
            <a:picLocks noChangeAspect="1"/>
          </p:cNvPicPr>
          <p:nvPr/>
        </p:nvPicPr>
        <p:blipFill>
          <a:blip r:embed="rId1"/>
          <a:stretch>
            <a:fillRect/>
          </a:stretch>
        </p:blipFill>
        <p:spPr>
          <a:xfrm>
            <a:off x="2135232" y="621792"/>
            <a:ext cx="7921230" cy="5636260"/>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Four-variable K-map: the four corners wrap around to give B′D′, the centre four give BD; the don't-cares m3 and m12 are not needed.</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Worked example: 4 variables with don’t-cares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1.9</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four corner cells (m0, m2, m8, m10) are mutually adjacent through wraparound</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Left edge connects to right edge, and top edge to bottom edge</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Grouped together they simplify to the single term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B′D′</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centre four 1s (m5, m7, m13, m15) form a second group: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BD</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Neither don’t-care enlarges any group, so both are left out</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F = B′D′ + BD</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1.10  Introduction to Digital Computers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1.10</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400" dirty="0">
                <a:solidFill>
                  <a:srgbClr val="1F2937"/>
                </a:solidFill>
                <a:latin typeface="Calibri" pitchFamily="34" charset="0"/>
                <a:ea typeface="Calibri" pitchFamily="34" charset="-122"/>
                <a:cs typeface="Calibri" pitchFamily="34" charset="-120"/>
              </a:rPr>
              <a:t>A digital computer works with just two values, 0 and 1; groups of bits stand for numbers, letters and instructions.</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What “digital” means, and why binary</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1.10</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digital computer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is a digital system that performs computational tasks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Digital:</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information is represented by variables with a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limited number of discrete values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e.g. the decimal digits 0–9</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earliest digital computers (late 1940s) were used mainly for numerical computation</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Two states are more reliable than ten, and human logic is binary (true/false): components with two values are called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binary</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 single binary digit is a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bit</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information is stored in groups of bits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same bits can mean different things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1.10</a:t>
            </a:r>
            <a:endParaRPr lang="en-US" sz="1600" dirty="0"/>
          </a:p>
        </p:txBody>
      </p:sp>
      <p:sp>
        <p:nvSpPr>
          <p:cNvPr id="5" name="Text 2"/>
          <p:cNvSpPr txBox="1"/>
          <p:nvPr/>
        </p:nvSpPr>
        <p:spPr>
          <a:xfrm>
            <a:off x="548640" y="1280160"/>
            <a:ext cx="11094415" cy="1722120"/>
          </a:xfrm>
          <a:prstGeom prst="roundRect">
            <a:avLst>
              <a:gd name="adj" fmla="val 5310"/>
            </a:avLst>
          </a:prstGeom>
          <a:solidFill>
            <a:srgbClr val="F4F6F8"/>
          </a:solidFill>
          <a:ln w="25400">
            <a:solidFill>
              <a:srgbClr val="FF8F00"/>
            </a:solidFill>
          </a:ln>
        </p:spPr>
        <p:txBody>
          <a:bodyPr wrap="square" lIns="152400" tIns="279400" rIns="279400" bIns="152400" rtlCol="0" anchor="ctr"/>
          <a:lstStyle/>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Binary 1001011 as a number:</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1×2⁶ + 0×2⁵ + 0×2⁴ + 1×2³ + 0×2² + 1×2¹ + 1×2⁰</a:t>
            </a:r>
            <a:endParaRPr lang="en-US" sz="2200" dirty="0"/>
          </a:p>
          <a:p>
            <a:pPr indent="0" marL="0">
              <a:spcAft>
                <a:spcPts val="400"/>
              </a:spcAft>
              <a:buNone/>
            </a:pPr>
            <a:r>
              <a:rPr lang="en-US" sz="2200" dirty="0">
                <a:solidFill>
                  <a:srgbClr val="1F2937"/>
                </a:solidFill>
                <a:latin typeface="Courier New" pitchFamily="34" charset="0"/>
                <a:ea typeface="Courier New" pitchFamily="34" charset="-122"/>
                <a:cs typeface="Courier New" pitchFamily="34" charset="-120"/>
              </a:rPr>
              <a:t>= 64 + 0 + 0 + 8 + 0 + 2 + 1  =  75</a:t>
            </a:r>
            <a:endParaRPr lang="en-US" sz="2200" dirty="0"/>
          </a:p>
        </p:txBody>
      </p:sp>
      <p:sp>
        <p:nvSpPr>
          <p:cNvPr id="6" name="Text 3"/>
          <p:cNvSpPr txBox="1"/>
          <p:nvPr/>
        </p:nvSpPr>
        <p:spPr>
          <a:xfrm>
            <a:off x="640080" y="3322320"/>
            <a:ext cx="10911535" cy="2804160"/>
          </a:xfrm>
          <a:prstGeom prst="rect">
            <a:avLst/>
          </a:prstGeom>
          <a:noFill/>
          <a:ln/>
        </p:spPr>
        <p:txBody>
          <a:bodyPr wrap="square" lIns="0" tIns="0" rIns="0" bIns="0" rtlCol="0" anchor="t"/>
          <a:lstStyle/>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Those same seven bits could just as easily represent the letter “K” under a binary code for the alphabet</a:t>
            </a:r>
            <a:endParaRPr lang="en-US" sz="2600" dirty="0"/>
          </a:p>
          <a:p>
            <a:pPr algn="l" marL="304800" indent="-304800">
              <a:spcAft>
                <a:spcPts val="1000"/>
              </a:spcAft>
              <a:buSzPct val="100000"/>
              <a:buChar char="•"/>
            </a:pPr>
            <a:r>
              <a:rPr lang="en-US" sz="2600" dirty="0">
                <a:solidFill>
                  <a:srgbClr val="1F2937"/>
                </a:solidFill>
                <a:latin typeface="Calibri" pitchFamily="34" charset="0"/>
                <a:ea typeface="Calibri" pitchFamily="34" charset="-122"/>
                <a:cs typeface="Calibri" pitchFamily="34" charset="-120"/>
              </a:rPr>
              <a:t>Meaning comes entirely from the coding scheme applied to the bits</a:t>
            </a:r>
            <a:endParaRPr lang="en-US" sz="26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Hardware and software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1.10</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Hardware:</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all the electronic components and electromechanical devices that make up the physical machine</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Software:</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the instructions and data the computer manipulates for data processing</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sequence of instructions is a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program</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the data it manipulates is its </a:t>
            </a:r>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data base</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System software</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(the operating system) helps make more effective use of the computer; e.g. a compiler</a:t>
            </a:r>
            <a:endParaRPr lang="en-US" sz="2400" dirty="0"/>
          </a:p>
          <a:p>
            <a:pPr algn="l" marL="304800" indent="-304800">
              <a:spcAft>
                <a:spcPts val="1000"/>
              </a:spcAft>
              <a:buSzPct val="100000"/>
              <a:buChar char="•"/>
            </a:pPr>
            <a:r>
              <a:rPr lang="en-US" sz="2400" b="1" dirty="0">
                <a:solidFill>
                  <a:srgbClr val="1F2937"/>
                </a:solidFill>
                <a:latin typeface="Calibri" pitchFamily="34" charset="0"/>
                <a:ea typeface="Calibri" pitchFamily="34" charset="-122"/>
                <a:cs typeface="Calibri" pitchFamily="34" charset="-120"/>
              </a:rPr>
              <a:t>Application programs</a:t>
            </a:r>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 are written by users to solve their own problems</a:t>
            </a:r>
            <a:endParaRPr lang="en-US" sz="2400" dirty="0"/>
          </a:p>
          <a:p>
            <a:pPr algn="l" marL="304800" indent="-304800">
              <a:spcAft>
                <a:spcPts val="1000"/>
              </a:spcAft>
              <a:buSzPct val="100000"/>
              <a:buChar char="•"/>
            </a:pPr>
            <a:r>
              <a:rPr lang="en-US" sz="2400" dirty="0">
                <a:solidFill>
                  <a:srgbClr val="1F2937"/>
                </a:solidFill>
                <a:latin typeface="Calibri" pitchFamily="34" charset="0"/>
                <a:ea typeface="Calibri" pitchFamily="34" charset="-122"/>
                <a:cs typeface="Calibri" pitchFamily="34" charset="-120"/>
              </a:rPr>
              <a:t>A buyer needs both: hardware alone is useless without system software</a:t>
            </a:r>
            <a:endParaRPr lang="en-US" sz="2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1.11  Block Diagram of a Digital Computer</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1.11</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400" dirty="0">
                <a:solidFill>
                  <a:srgbClr val="1F2937"/>
                </a:solidFill>
                <a:latin typeface="Calibri" pitchFamily="34" charset="0"/>
                <a:ea typeface="Calibri" pitchFamily="34" charset="-122"/>
                <a:cs typeface="Calibri" pitchFamily="34" charset="-120"/>
              </a:rPr>
              <a:t>Every computer has three parts: memory to hold programs and data, a CPU to process them, and an input-output processor to talk to the outside world.</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The three major hardware parts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Central Processing Unit (CPU):</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an arithmetic and logic unit, registers for storing data, and control circuits for fetching and executing instructions, all in one package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Memory:</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storage for instructions and data</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Input-Output Processor (IOP):</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circuits for communicating with and controlling transfers to the outside world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Keyboards, printers, terminals and disk drives connect to the computer through the IOP</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Block diagram of a digital computer</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1.11</a:t>
            </a:r>
            <a:endParaRPr lang="en-US" sz="1600" dirty="0"/>
          </a:p>
        </p:txBody>
      </p:sp>
      <p:pic>
        <p:nvPicPr>
          <p:cNvPr id="5" name="Image 0" descr="/home/claude/figs1/1.11_block-diagram-digital-computer_fig1.png">    </p:cNvPr>
          <p:cNvPicPr>
            <a:picLocks noChangeAspect="1"/>
          </p:cNvPicPr>
          <p:nvPr/>
        </p:nvPicPr>
        <p:blipFill>
          <a:blip r:embed="rId1"/>
          <a:stretch>
            <a:fillRect/>
          </a:stretch>
        </p:blipFill>
        <p:spPr>
          <a:xfrm>
            <a:off x="1285549" y="621792"/>
            <a:ext cx="9620596" cy="5669280"/>
          </a:xfrm>
          <a:prstGeom prst="rect">
            <a:avLst/>
          </a:prstGeom>
        </p:spPr>
      </p:pic>
      <p:sp>
        <p:nvSpPr>
          <p:cNvPr id="6" name="Text 2"/>
          <p:cNvSpPr txBox="1"/>
          <p:nvPr/>
        </p:nvSpPr>
        <p:spPr>
          <a:xfrm>
            <a:off x="411480" y="6327648"/>
            <a:ext cx="10424160" cy="45720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Block diagram of a digital computer. Adapted from M. Morris Mano, Computer System Architecture, Fig. 1-1.</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Inside the CPU, and why “random-access”?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1.11</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ALU:</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manipulates data with the arithmetic and logic operations built from logic gates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Registers: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small, extremely fast storage inside the CPU, for data being worked on</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Control circuits: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fetch instructions from memory and execute them in the correct sequence</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RAM:</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CPU can access any location at random in a fixed interval of time, whichever location it is</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The name is about the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access pattern</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not random data; contrast with sequential tape</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1.12  Computer Organization vs Architecture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1.12</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400" dirty="0">
                <a:solidFill>
                  <a:srgbClr val="1F2937"/>
                </a:solidFill>
                <a:latin typeface="Calibri" pitchFamily="34" charset="0"/>
                <a:ea typeface="Calibri" pitchFamily="34" charset="-122"/>
                <a:cs typeface="Calibri" pitchFamily="34" charset="-120"/>
              </a:rPr>
              <a:t>Architecture is what the programmer sees (the instruction set); organization is how the hardware actually carries it out.</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Three perspectives on computer hardware</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Computer organization:</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how the hardware components operate and are connected; the components are assumed already in place, and the task is to verify that they operate as intended</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Computer design:</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hardware design; once specifications exist, determine what hardware to use and how to connect it (also called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computer implementation</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Computer architecture:</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the structure and behaviour of the computer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as seen by the user</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information formats, the instruction set, and addressing techniques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Architecture: the “what”</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The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instruction set: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operations the machine understands (add, load, jump, compare…)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Information formats: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data types the hardware directly supports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Addressing modes:</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the techniques for addressing memory</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Architecture is a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specification</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 contract</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Two machines with the same architecture run the same programs, even if built completely differently inside</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Same architecture, many organizations</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1.12</a:t>
            </a:r>
            <a:endParaRPr lang="en-US" sz="1600" dirty="0"/>
          </a:p>
        </p:txBody>
      </p:sp>
      <p:pic>
        <p:nvPicPr>
          <p:cNvPr id="5" name="Image 0" descr="/home/claude/figs1/1.12_computer-organization-vs-architecture_fig1.png">    </p:cNvPr>
          <p:cNvPicPr>
            <a:picLocks noChangeAspect="1"/>
          </p:cNvPicPr>
          <p:nvPr/>
        </p:nvPicPr>
        <p:blipFill>
          <a:blip r:embed="rId1"/>
          <a:stretch>
            <a:fillRect/>
          </a:stretch>
        </p:blipFill>
        <p:spPr>
          <a:xfrm>
            <a:off x="274320" y="1092532"/>
            <a:ext cx="11643055" cy="4694780"/>
          </a:xfrm>
          <a:prstGeom prst="rect">
            <a:avLst/>
          </a:prstGeom>
        </p:spPr>
      </p:pic>
      <p:sp>
        <p:nvSpPr>
          <p:cNvPr id="6" name="Text 2"/>
          <p:cNvSpPr txBox="1"/>
          <p:nvPr/>
        </p:nvSpPr>
        <p:spPr>
          <a:xfrm>
            <a:off x="411480" y="6294628"/>
            <a:ext cx="10424160" cy="490220"/>
          </a:xfrm>
          <a:prstGeom prst="rect">
            <a:avLst/>
          </a:prstGeom>
          <a:noFill/>
          <a:ln/>
        </p:spPr>
        <p:txBody>
          <a:bodyPr wrap="square" lIns="0" tIns="0" rIns="0" bIns="0" rtlCol="0" anchor="t"/>
          <a:lstStyle/>
          <a:p>
            <a:pPr algn="ctr" indent="0" marL="0">
              <a:buNone/>
            </a:pPr>
            <a:r>
              <a:rPr lang="en-US" sz="1400" dirty="0">
                <a:solidFill>
                  <a:srgbClr val="546E7A"/>
                </a:solidFill>
                <a:latin typeface="Calibri" pitchFamily="34" charset="0"/>
                <a:ea typeface="Calibri" pitchFamily="34" charset="-122"/>
                <a:cs typeface="Calibri" pitchFamily="34" charset="-120"/>
              </a:rPr>
              <a:t>The same architecture (instruction set) can be realized by many different organizations (hardware implementations) — a common illustration beyond the textbook's own examples.</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Why the distinction matters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1.12</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Every chip implementing the same instruction set shares the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same architecture</a:t>
            </a:r>
            <a:endParaRPr lang="en-US" sz="2800" dirty="0"/>
          </a:p>
          <a:p>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Different models have different </a:t>
            </a:r>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organizations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clock speeds, cache sizes, numbers of execution units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Software portability:</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architecture is a stable contract, so software keeps working across hardware generations</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Hardware innovation:</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organization can change without breaking the architecture</a:t>
            </a:r>
            <a:endParaRPr lang="en-US" sz="2800" dirty="0"/>
          </a:p>
          <a:p>
            <a:pPr algn="l" marL="304800" indent="-304800">
              <a:spcAft>
                <a:spcPts val="1000"/>
              </a:spcAft>
              <a:buSzPct val="100000"/>
              <a:buChar char="•"/>
            </a:pPr>
            <a:r>
              <a:rPr lang="en-US" sz="2800" b="1" dirty="0">
                <a:solidFill>
                  <a:srgbClr val="1F2937"/>
                </a:solidFill>
                <a:latin typeface="Calibri" pitchFamily="34" charset="0"/>
                <a:ea typeface="Calibri" pitchFamily="34" charset="-122"/>
                <a:cs typeface="Calibri" pitchFamily="34" charset="-120"/>
              </a:rPr>
              <a:t>Careers:</a:t>
            </a:r>
            <a:pPr algn="l" marL="304800" indent="-304800">
              <a:spcAft>
                <a:spcPts val="1000"/>
              </a:spcAft>
              <a:buSzPct val="100000"/>
              <a:buChar char="•"/>
            </a:pPr>
            <a:r>
              <a:rPr lang="en-US" sz="2800" dirty="0">
                <a:solidFill>
                  <a:srgbClr val="1F2937"/>
                </a:solidFill>
                <a:latin typeface="Calibri" pitchFamily="34" charset="0"/>
                <a:ea typeface="Calibri" pitchFamily="34" charset="-122"/>
                <a:cs typeface="Calibri" pitchFamily="34" charset="-120"/>
              </a:rPr>
              <a:t> architecture work and organization work are different specializations</a:t>
            </a:r>
            <a:endParaRPr lang="en-US" sz="28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Architecture, organization and design compared</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1.12</a:t>
            </a:r>
            <a:endParaRPr lang="en-US" sz="1600" dirty="0"/>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63728" y="1188720"/>
          <a:ext cx="11064240" cy="914400"/>
        </p:xfrm>
        <a:graphic>
          <a:graphicData uri="http://schemas.openxmlformats.org/drawingml/2006/table">
            <a:tbl>
              <a:tblPr/>
              <a:tblGrid>
                <a:gridCol w="2103120"/>
                <a:gridCol w="2926080"/>
                <a:gridCol w="3108960"/>
                <a:gridCol w="2926080"/>
              </a:tblGrid>
              <a:tr h="402336">
                <a:tc>
                  <a:txBody>
                    <a:bodyPr/>
                    <a:lstStyle/>
                    <a:p>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Architecture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Organization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Design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1565C0"/>
                    </a:solidFill>
                  </a:tcPr>
                </a:tc>
              </a:tr>
              <a:tr h="67665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Question answered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What does the machine do?</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Does the built hardware operate as intended?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What hardware should be built, and how connected?</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67665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Visible to</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The programmer (user)</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The hardware engineer verifying it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The hardware designer building it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r h="67665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Mindset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Specification / contract</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Verification of components already in place</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Construction from a specification</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5F8FC"/>
                    </a:solidFill>
                  </a:tcPr>
                </a:tc>
              </a:tr>
              <a:tr h="950976">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Includes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Instruction set, information formats, addressing modes</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Control signals, interfaces, memory technology</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F2937"/>
                          </a:solidFill>
                          <a:latin typeface="Calibri" pitchFamily="34" charset="0"/>
                          <a:ea typeface="Calibri" pitchFamily="34" charset="-122"/>
                          <a:cs typeface="Calibri" pitchFamily="34" charset="-120"/>
                        </a:rPr>
                        <a:t>Covered in the next topic</a:t>
                      </a:r>
                      <a:endParaRPr lang="en-US" sz="1800" dirty="0">
                        <a:latin typeface="Calibri" charset="0"/>
                        <a:ea typeface="Calibri" charset="0"/>
                        <a:cs typeface="Calibri" charset="0"/>
                      </a:endParaRPr>
                    </a:p>
                  </a:txBody>
                  <a:tcPr marL="91440" marR="91440" marT="36576" marB="36576" anchor="ctr">
                    <a:lnL w="12700" cap="flat" cmpd="sng" algn="ctr">
                      <a:solidFill>
                        <a:srgbClr val="B0BEC5"/>
                      </a:solidFill>
                      <a:prstDash val="solid"/>
                      <a:round/>
                      <a:headEnd type="none" w="med" len="med"/>
                      <a:tailEnd type="none" w="med" len="med"/>
                    </a:lnL>
                    <a:lnR w="12700" cap="flat" cmpd="sng" algn="ctr">
                      <a:solidFill>
                        <a:srgbClr val="B0BEC5"/>
                      </a:solidFill>
                      <a:prstDash val="solid"/>
                      <a:round/>
                      <a:headEnd type="none" w="med" len="med"/>
                      <a:tailEnd type="none" w="med" len="med"/>
                    </a:lnR>
                    <a:lnT w="12700" cap="flat" cmpd="sng" algn="ctr">
                      <a:solidFill>
                        <a:srgbClr val="B0BEC5"/>
                      </a:solidFill>
                      <a:prstDash val="solid"/>
                      <a:round/>
                      <a:headEnd type="none" w="med" len="med"/>
                      <a:tailEnd type="none" w="med" len="med"/>
                    </a:lnT>
                    <a:lnB w="12700" cap="flat" cmpd="sng" algn="ctr">
                      <a:solidFill>
                        <a:srgbClr val="B0BEC5"/>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79</a:t>
            </a:fld>
            <a:endParaRPr lang="en-US"/>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1.13  Computer Design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1.13</a:t>
            </a:r>
            <a:endParaRPr lang="en-US" sz="1600" dirty="0"/>
          </a:p>
        </p:txBody>
      </p:sp>
      <p:sp>
        <p:nvSpPr>
          <p:cNvPr id="5" name="Text 2"/>
          <p:cNvSpPr txBox="1"/>
          <p:nvPr/>
        </p:nvSpPr>
        <p:spPr>
          <a:xfrm>
            <a:off x="914400" y="1417320"/>
            <a:ext cx="5486400" cy="365760"/>
          </a:xfrm>
          <a:prstGeom prst="rect">
            <a:avLst/>
          </a:prstGeom>
          <a:noFill/>
          <a:ln/>
        </p:spPr>
        <p:txBody>
          <a:bodyPr wrap="square" lIns="0" tIns="0" rIns="0" bIns="0" rtlCol="0" anchor="ctr"/>
          <a:lstStyle/>
          <a:p>
            <a:pPr indent="0" marL="0">
              <a:buNone/>
            </a:pPr>
            <a:r>
              <a:rPr lang="en-US" sz="2000" b="1" dirty="0">
                <a:solidFill>
                  <a:srgbClr val="1565C0"/>
                </a:solidFill>
                <a:latin typeface="Calibri" pitchFamily="34" charset="0"/>
                <a:ea typeface="Calibri" pitchFamily="34" charset="-122"/>
                <a:cs typeface="Calibri" pitchFamily="34" charset="-120"/>
              </a:rPr>
              <a:t>IN SIMPLE TERMS</a:t>
            </a:r>
            <a:endParaRPr lang="en-US" sz="2000" dirty="0"/>
          </a:p>
        </p:txBody>
      </p:sp>
      <p:sp>
        <p:nvSpPr>
          <p:cNvPr id="6" name="Text 3"/>
          <p:cNvSpPr txBox="1"/>
          <p:nvPr/>
        </p:nvSpPr>
        <p:spPr>
          <a:xfrm>
            <a:off x="914400" y="1920240"/>
            <a:ext cx="10362895" cy="3566160"/>
          </a:xfrm>
          <a:prstGeom prst="roundRect">
            <a:avLst>
              <a:gd name="adj" fmla="val 3846"/>
            </a:avLst>
          </a:prstGeom>
          <a:solidFill>
            <a:srgbClr val="FFF3E0"/>
          </a:solidFill>
          <a:ln w="31750">
            <a:solidFill>
              <a:srgbClr val="FF8F00"/>
            </a:solidFill>
          </a:ln>
        </p:spPr>
        <p:txBody>
          <a:bodyPr wrap="square" lIns="304800" tIns="457200" rIns="457200" bIns="304800" rtlCol="0" anchor="ctr"/>
          <a:lstStyle/>
          <a:p>
            <a:pPr algn="l" indent="0" marL="0">
              <a:buNone/>
            </a:pPr>
            <a:r>
              <a:rPr lang="en-US" sz="3400" dirty="0">
                <a:solidFill>
                  <a:srgbClr val="1F2937"/>
                </a:solidFill>
                <a:latin typeface="Calibri" pitchFamily="34" charset="0"/>
                <a:ea typeface="Calibri" pitchFamily="34" charset="-122"/>
                <a:cs typeface="Calibri" pitchFamily="34" charset="-120"/>
              </a:rPr>
              <a:t>Computer design goes from the big picture to the details: system blocks first, then the logic inside them, then the circuits.</a:t>
            </a:r>
            <a:endParaRPr lang="en-US" sz="3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80</a:t>
            </a:fld>
            <a:endParaRPr 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Computer design</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Computer design is concerned with the hardware design of the computer</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Once specifications are formulated, the designer develops the hardware</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It determines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what hardware should be used</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and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how the parts should be connected</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Also called </a:t>
            </a:r>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computer implementation</a:t>
            </a:r>
            <a:endParaRPr lang="en-US" sz="3000" dirty="0"/>
          </a:p>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Organization examines existing hardware; design starts from a specification and builds hardware to satisfy it</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1"/>
          <p:cNvSpPr/>
          <p:nvPr>
            <p:ph idx="101" type="title" hasCustomPrompt="1"/>
          </p:nvPr>
        </p:nvSpPr>
        <p:spPr>
          <a:xfrm>
            <a:off x="411480" y="36576"/>
            <a:ext cx="9509760" cy="475488"/>
          </a:xfrm>
          <a:prstGeom prst="rect">
            <a:avLst/>
          </a:prstGeom>
          <a:noFill/>
          <a:ln/>
        </p:spPr>
        <p:txBody>
          <a:bodyPr wrap="square" lIns="0" tIns="0" rIns="0" bIns="0" rtlCol="0" anchor="ctr"/>
          <a:lstStyle/>
          <a:p>
            <a:pPr algn="l" indent="0" marL="0">
              <a:buNone/>
            </a:pPr>
            <a:r>
              <a:rPr lang="en-US" sz="2800" b="1" dirty="0">
                <a:solidFill>
                  <a:srgbClr val="FFFFFF"/>
                </a:solidFill>
                <a:latin typeface="Calibri" pitchFamily="34" charset="0"/>
                <a:ea typeface="Calibri" pitchFamily="34" charset="-122"/>
                <a:cs typeface="Calibri" pitchFamily="34" charset="-120"/>
              </a:rPr>
              <a:t>Three levels of design detail</a:t>
            </a:r>
            <a:endParaRPr lang="en-US" sz="2800" dirty="0"/>
          </a:p>
        </p:txBody>
      </p:sp>
      <p:sp>
        <p:nvSpPr>
          <p:cNvPr id="3" name="Text 1"/>
          <p:cNvSpPr txBox="1"/>
          <p:nvPr/>
        </p:nvSpPr>
        <p:spPr>
          <a:xfrm>
            <a:off x="9966960" y="137160"/>
            <a:ext cx="1810512" cy="27432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1.13</a:t>
            </a:r>
            <a:endParaRPr lang="en-US" sz="1600" dirty="0"/>
          </a:p>
        </p:txBody>
      </p:sp>
      <p:pic>
        <p:nvPicPr>
          <p:cNvPr id="5" name="Image 0" descr="/home/claude/figs1/1.13_computer-design_fig1.png">    </p:cNvPr>
          <p:cNvPicPr>
            <a:picLocks noChangeAspect="1"/>
          </p:cNvPicPr>
          <p:nvPr/>
        </p:nvPicPr>
        <p:blipFill>
          <a:blip r:embed="rId1"/>
          <a:stretch>
            <a:fillRect/>
          </a:stretch>
        </p:blipFill>
        <p:spPr>
          <a:xfrm>
            <a:off x="411480" y="621792"/>
            <a:ext cx="7902633" cy="5669280"/>
          </a:xfrm>
          <a:prstGeom prst="rect">
            <a:avLst/>
          </a:prstGeom>
        </p:spPr>
      </p:pic>
      <p:sp>
        <p:nvSpPr>
          <p:cNvPr id="6" name="Text 2"/>
          <p:cNvSpPr txBox="1"/>
          <p:nvPr/>
        </p:nvSpPr>
        <p:spPr>
          <a:xfrm>
            <a:off x="8679873" y="713232"/>
            <a:ext cx="3100342" cy="5486400"/>
          </a:xfrm>
          <a:prstGeom prst="roundRect">
            <a:avLst>
              <a:gd name="adj" fmla="val 3539"/>
            </a:avLst>
          </a:prstGeom>
          <a:solidFill>
            <a:srgbClr val="E3F0FB"/>
          </a:solidFill>
          <a:ln w="6350">
            <a:solidFill>
              <a:srgbClr val="E3F0FB"/>
            </a:solidFill>
          </a:ln>
        </p:spPr>
        <p:txBody>
          <a:bodyPr wrap="square" lIns="203200" tIns="279400" rIns="279400" bIns="203200" rtlCol="0" anchor="ctr"/>
          <a:lstStyle/>
          <a:p>
            <a:pPr algn="l" marL="304800" indent="-304800">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System design:</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how CPU, memory, I/O and buses fit together</a:t>
            </a:r>
            <a:endParaRPr lang="en-US" sz="2000" dirty="0"/>
          </a:p>
          <a:p>
            <a:pPr algn="l" marL="304800" indent="-304800">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Logic design:</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circuits for arithmetic, logic, control and register transfers</a:t>
            </a:r>
            <a:endParaRPr lang="en-US" sz="2000" dirty="0"/>
          </a:p>
          <a:p>
            <a:pPr algn="l" marL="304800" indent="-304800">
              <a:spcAft>
                <a:spcPts val="1000"/>
              </a:spcAft>
              <a:buSzPct val="100000"/>
              <a:buChar char="•"/>
            </a:pPr>
            <a:r>
              <a:rPr lang="en-US" sz="2000" b="1" dirty="0">
                <a:solidFill>
                  <a:srgbClr val="1F2937"/>
                </a:solidFill>
                <a:latin typeface="Calibri" pitchFamily="34" charset="0"/>
                <a:ea typeface="Calibri" pitchFamily="34" charset="-122"/>
                <a:cs typeface="Calibri" pitchFamily="34" charset="-120"/>
              </a:rPr>
              <a:t>Circuit design:</a:t>
            </a:r>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 gates, flip-flops and timing</a:t>
            </a:r>
            <a:endParaRPr lang="en-US" sz="2000" dirty="0"/>
          </a:p>
          <a:p>
            <a:pPr algn="l" marL="304800" indent="-304800">
              <a:spcAft>
                <a:spcPts val="1000"/>
              </a:spcAft>
              <a:buSzPct val="100000"/>
              <a:buChar char="•"/>
            </a:pPr>
            <a:r>
              <a:rPr lang="en-US" sz="2000" dirty="0">
                <a:solidFill>
                  <a:srgbClr val="1F2937"/>
                </a:solidFill>
                <a:latin typeface="Calibri" pitchFamily="34" charset="0"/>
                <a:ea typeface="Calibri" pitchFamily="34" charset="-122"/>
                <a:cs typeface="Calibri" pitchFamily="34" charset="-120"/>
              </a:rPr>
              <a:t>Top-down: requirements flow from system to logic to circuits</a:t>
            </a:r>
            <a:endParaRPr lang="en-US" sz="2000" dirty="0"/>
          </a:p>
        </p:txBody>
      </p:sp>
      <p:sp>
        <p:nvSpPr>
          <p:cNvPr id="7" name="Text 3"/>
          <p:cNvSpPr txBox="1"/>
          <p:nvPr/>
        </p:nvSpPr>
        <p:spPr>
          <a:xfrm>
            <a:off x="411480" y="6327648"/>
            <a:ext cx="10424160" cy="457200"/>
          </a:xfrm>
          <a:prstGeom prst="rect">
            <a:avLst/>
          </a:prstGeom>
          <a:noFill/>
          <a:ln/>
        </p:spPr>
        <p:txBody>
          <a:bodyPr wrap="square" lIns="0" tIns="0" rIns="0" bIns="0" rtlCol="0" anchor="t"/>
          <a:lstStyle/>
          <a:p>
            <a:pPr algn="l" indent="0" marL="0">
              <a:buNone/>
            </a:pPr>
            <a:r>
              <a:rPr lang="en-US" sz="1400" dirty="0">
                <a:solidFill>
                  <a:srgbClr val="546E7A"/>
                </a:solidFill>
                <a:latin typeface="Calibri" pitchFamily="34" charset="0"/>
                <a:ea typeface="Calibri" pitchFamily="34" charset="-122"/>
                <a:cs typeface="Calibri" pitchFamily="34" charset="-120"/>
              </a:rPr>
              <a:t>Computer design flows top-down — system requirements shape logic design, which shapes circuit design.</a:t>
            </a:r>
            <a:endParaRPr lang="en-US" sz="14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82</a:t>
            </a:fld>
            <a:endParaRPr lang="en-US"/>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Design considerations</a:t>
            </a:r>
            <a:endParaRPr lang="en-US" sz="3000" dirty="0"/>
          </a:p>
        </p:txBody>
      </p:sp>
      <p:sp>
        <p:nvSpPr>
          <p:cNvPr id="3" name="Text 1"/>
          <p:cNvSpPr txBox="1"/>
          <p:nvPr/>
        </p:nvSpPr>
        <p:spPr>
          <a:xfrm>
            <a:off x="9966960" y="274320"/>
            <a:ext cx="1673352" cy="365760"/>
          </a:xfrm>
          <a:prstGeom prst="rect">
            <a:avLst/>
          </a:prstGeom>
          <a:noFill/>
          <a:ln/>
        </p:spPr>
        <p:txBody>
          <a:bodyPr wrap="square" lIns="0" tIns="0" rIns="0" bIns="0" rtlCol="0" anchor="ctr"/>
          <a:lstStyle/>
          <a:p>
            <a:pPr algn="r" indent="0" marL="0">
              <a:buNone/>
            </a:pPr>
            <a:r>
              <a:rPr lang="en-US" sz="1600" dirty="0">
                <a:solidFill>
                  <a:srgbClr val="FFFFFF"/>
                </a:solidFill>
                <a:latin typeface="Calibri" pitchFamily="34" charset="0"/>
                <a:ea typeface="Calibri" pitchFamily="34" charset="-122"/>
                <a:cs typeface="Calibri" pitchFamily="34" charset="-120"/>
              </a:rPr>
              <a:t>Topic 1.13</a:t>
            </a:r>
            <a:endParaRPr lang="en-US" sz="1600" dirty="0"/>
          </a:p>
        </p:txBody>
      </p:sp>
      <p:sp>
        <p:nvSpPr>
          <p:cNvPr id="5" name="Text 2"/>
          <p:cNvSpPr txBox="1"/>
          <p:nvPr/>
        </p:nvSpPr>
        <p:spPr>
          <a:xfrm>
            <a:off x="640080" y="1280160"/>
            <a:ext cx="10911535" cy="4937760"/>
          </a:xfrm>
          <a:prstGeom prst="rect">
            <a:avLst/>
          </a:prstGeom>
          <a:noFill/>
          <a:ln/>
        </p:spPr>
        <p:txBody>
          <a:bodyPr wrap="square" lIns="0" tIns="0" rIns="0" bIns="0" rtlCol="0" anchor="t"/>
          <a:lstStyle/>
          <a:p>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At every level, computer design balances competing goals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Performance:</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how fast the resulting hardware runs</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Cost:</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how expensive it is to manufacture, which often trades against performance</a:t>
            </a:r>
            <a:endParaRPr lang="en-US" sz="3000" dirty="0"/>
          </a:p>
          <a:p>
            <a:pPr algn="l" marL="304800" indent="-304800">
              <a:spcAft>
                <a:spcPts val="1000"/>
              </a:spcAft>
              <a:buSzPct val="100000"/>
              <a:buChar char="•"/>
            </a:pPr>
            <a:r>
              <a:rPr lang="en-US" sz="3000" b="1" dirty="0">
                <a:solidFill>
                  <a:srgbClr val="1F2937"/>
                </a:solidFill>
                <a:latin typeface="Calibri" pitchFamily="34" charset="0"/>
                <a:ea typeface="Calibri" pitchFamily="34" charset="-122"/>
                <a:cs typeface="Calibri" pitchFamily="34" charset="-120"/>
              </a:rPr>
              <a:t>Compatibility:</a:t>
            </a:r>
            <a:pPr algn="l" marL="304800" indent="-304800">
              <a:spcAft>
                <a:spcPts val="1000"/>
              </a:spcAft>
              <a:buSzPct val="100000"/>
              <a:buChar char="•"/>
            </a:pPr>
            <a:r>
              <a:rPr lang="en-US" sz="3000" dirty="0">
                <a:solidFill>
                  <a:srgbClr val="1F2937"/>
                </a:solidFill>
                <a:latin typeface="Calibri" pitchFamily="34" charset="0"/>
                <a:ea typeface="Calibri" pitchFamily="34" charset="-122"/>
                <a:cs typeface="Calibri" pitchFamily="34" charset="-120"/>
              </a:rPr>
              <a:t> whether the design correctly implements the required architecture, so existing software keeps working</a:t>
            </a:r>
            <a:endParaRPr lang="en-US" sz="30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Unit 1 summary (1 of 2)</a:t>
            </a:r>
            <a:endParaRPr lang="en-US" sz="3000" dirty="0"/>
          </a:p>
        </p:txBody>
      </p:sp>
      <p:sp>
        <p:nvSpPr>
          <p:cNvPr id="4" name="Text 1"/>
          <p:cNvSpPr txBox="1"/>
          <p:nvPr/>
        </p:nvSpPr>
        <p:spPr>
          <a:xfrm>
            <a:off x="640080" y="1188720"/>
            <a:ext cx="10911535" cy="5120640"/>
          </a:xfrm>
          <a:prstGeom prst="rect">
            <a:avLst/>
          </a:prstGeom>
          <a:noFill/>
          <a:ln/>
        </p:spPr>
        <p:txBody>
          <a:bodyPr wrap="square" lIns="0" tIns="0" rIns="0" bIns="0" rtlCol="0" anchor="t"/>
          <a:lstStyle/>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1.1 Number systems: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positional notation with radix r; repeated division or multiplication to convert; group bits for octal and hex</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1.2 Complements: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(r − 1)’s and r’s complements let one adder subtract; the end carry decides the sign</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1.3 Fixed-point:</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a sign bit; signed-2’s-complement adds with one rule; overflow when the carries into and out of the sign bit differ</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1.4 Floating-point:</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mantissa × 2</a:t>
            </a:r>
            <a:pPr algn="l" marL="304800" indent="-304800">
              <a:spcAft>
                <a:spcPts val="1000"/>
              </a:spcAft>
              <a:buSzPct val="100000"/>
              <a:buChar char="•"/>
            </a:pPr>
            <a:r>
              <a:rPr lang="en-US" sz="2200" baseline="30000" dirty="0">
                <a:solidFill>
                  <a:srgbClr val="1F2937"/>
                </a:solidFill>
                <a:latin typeface="Calibri" pitchFamily="34" charset="0"/>
                <a:ea typeface="Calibri" pitchFamily="34" charset="-122"/>
                <a:cs typeface="Calibri" pitchFamily="34" charset="-120"/>
              </a:rPr>
              <a:t>exponent</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normalise the mantissa; zero is all zeros</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1.5 Binary codes: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BCD, Excess-3, Gray code (one bit changes), ASCII and parity</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1.6 Storage and registers: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a flip-flop stores one bit; n cells hold 2</a:t>
            </a:r>
            <a:pPr algn="l" marL="304800" indent="-304800">
              <a:spcAft>
                <a:spcPts val="1000"/>
              </a:spcAft>
              <a:buSzPct val="100000"/>
              <a:buChar char="•"/>
            </a:pPr>
            <a:r>
              <a:rPr lang="en-US" sz="2200" baseline="30000" dirty="0">
                <a:solidFill>
                  <a:srgbClr val="1F2937"/>
                </a:solidFill>
                <a:latin typeface="Calibri" pitchFamily="34" charset="0"/>
                <a:ea typeface="Calibri" pitchFamily="34" charset="-122"/>
                <a:cs typeface="Calibri" pitchFamily="34" charset="-120"/>
              </a:rPr>
              <a:t>n</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values</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1.7 Binary logic:</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AND, OR and NOT on truth values</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84</a:t>
            </a:fld>
            <a:endParaRPr lang="en-US"/>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2"/>
          <p:cNvSpPr/>
          <p:nvPr>
            <p:ph idx="102" type="title" hasCustomPrompt="1"/>
          </p:nvPr>
        </p:nvSpPr>
        <p:spPr>
          <a:xfrm>
            <a:off x="548640" y="73152"/>
            <a:ext cx="9326880" cy="768096"/>
          </a:xfrm>
          <a:prstGeom prst="rect">
            <a:avLst/>
          </a:prstGeom>
          <a:noFill/>
          <a:ln/>
        </p:spPr>
        <p:txBody>
          <a:bodyPr wrap="square" lIns="0" tIns="0" rIns="0" bIns="0" rtlCol="0" anchor="ctr"/>
          <a:lstStyle/>
          <a:p>
            <a:pPr algn="l" indent="0" marL="0">
              <a:buNone/>
            </a:pPr>
            <a:r>
              <a:rPr lang="en-US" sz="3000" b="1" dirty="0">
                <a:solidFill>
                  <a:srgbClr val="FFFFFF"/>
                </a:solidFill>
                <a:latin typeface="Calibri" pitchFamily="34" charset="0"/>
                <a:ea typeface="Calibri" pitchFamily="34" charset="-122"/>
                <a:cs typeface="Calibri" pitchFamily="34" charset="-120"/>
              </a:rPr>
              <a:t>Unit 1 summary (2 of 2)</a:t>
            </a:r>
            <a:endParaRPr lang="en-US" sz="3000" dirty="0"/>
          </a:p>
        </p:txBody>
      </p:sp>
      <p:sp>
        <p:nvSpPr>
          <p:cNvPr id="4" name="Text 1"/>
          <p:cNvSpPr txBox="1"/>
          <p:nvPr/>
        </p:nvSpPr>
        <p:spPr>
          <a:xfrm>
            <a:off x="640080" y="1188720"/>
            <a:ext cx="10911535" cy="5120640"/>
          </a:xfrm>
          <a:prstGeom prst="rect">
            <a:avLst/>
          </a:prstGeom>
          <a:noFill/>
          <a:ln/>
        </p:spPr>
        <p:txBody>
          <a:bodyPr wrap="square" lIns="0" tIns="0" rIns="0" bIns="0" rtlCol="0" anchor="t"/>
          <a:lstStyle/>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1.8 Logic gates: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seven basic gates, DeMorgan’s theorem, NAND and NOR are universal, canonical SOP</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1.9 K-maps: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Gray-code headers; group adjacent 1s in powers of two to simplify</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1.10 Digital computers: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binary digits; the same bits mean different things under different codes; hardware and software</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1.11 Block diagram:</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CPU (ALU, registers, control), memory (RAM) and the input-output processor</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1.12 Organization vs architecture:</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architecture is what the programmer sees; organization is how the hardware works</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1.13 Computer design:</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system, logic and circuit design, balancing performance, cost and compatibility</a:t>
            </a:r>
            <a:endParaRPr lang="en-US" sz="2200" dirty="0"/>
          </a:p>
          <a:p>
            <a:pPr algn="l" marL="304800" indent="-304800">
              <a:spcAft>
                <a:spcPts val="1000"/>
              </a:spcAft>
              <a:buSzPct val="100000"/>
              <a:buChar char="•"/>
            </a:pPr>
            <a:r>
              <a:rPr lang="en-US" sz="2200" b="1" dirty="0">
                <a:solidFill>
                  <a:srgbClr val="1F2937"/>
                </a:solidFill>
                <a:latin typeface="Calibri" pitchFamily="34" charset="0"/>
                <a:ea typeface="Calibri" pitchFamily="34" charset="-122"/>
                <a:cs typeface="Calibri" pitchFamily="34" charset="-120"/>
              </a:rPr>
              <a:t>Key applications:</a:t>
            </a:r>
            <a:pPr algn="l" marL="304800" indent="-304800">
              <a:spcAft>
                <a:spcPts val="1000"/>
              </a:spcAft>
              <a:buSzPct val="100000"/>
              <a:buChar char="•"/>
            </a:pPr>
            <a:r>
              <a:rPr lang="en-US" sz="2200" dirty="0">
                <a:solidFill>
                  <a:srgbClr val="1F2937"/>
                </a:solidFill>
                <a:latin typeface="Calibri" pitchFamily="34" charset="0"/>
                <a:ea typeface="Calibri" pitchFamily="34" charset="-122"/>
                <a:cs typeface="Calibri" pitchFamily="34" charset="-120"/>
              </a:rPr>
              <a:t> 2’s complement in every CPU; hex for addresses, colour codes and networking; Gray code in rotary encoders</a:t>
            </a:r>
            <a:endParaRPr lang="en-US" sz="2200" dirty="0"/>
          </a:p>
        </p:txBody>
      </p:sp>
      <p:sp>
        <p:nvSpPr>
          <p:cNvPr id="25" name="Slide Number Placeholder 0"/>
          <p:cNvSpPr>
            <a:spLocks noGrp="1"/>
          </p:cNvSpPr>
          <p:nvPr>
            <p:ph type="sldNum" sz="quarter" idx="4294967295"/>
          </p:nvPr>
        </p:nvSpPr>
        <p:spPr>
          <a:xfrm>
            <a:off x="11155680" y="6473952"/>
            <a:ext cx="502920" cy="274320"/>
          </a:xfrm>
          <a:prstGeom prst="rect">
            <a:avLst/>
          </a:prstGeom>
          <a:extLst>
            <a:ext uri="{C572A759-6A51-4108-AA02-DFA0A04FC94B}">
              <ma14:wrappingTextBoxFlag xmlns:ma14="http://schemas.microsoft.com/office/mac/drawingml/2011/main" val="0"/>
            </a:ext>
          </a:extLst>
        </p:spPr>
        <p:txBody>
          <a:bodyPr/>
          <a:lstStyle>
            <a:lvl1pPr>
              <a:defRPr sz="1200">
                <a:solidFill>
                  <a:srgbClr val="546E7A"/>
                </a:solidFill>
                <a:latin typeface="Calibri"/>
                <a:ea typeface="Calibri"/>
                <a:cs typeface="Calibri"/>
              </a:defRPr>
            </a:lvl1pPr>
          </a:lstStyle>
          <a:p>
            <a:pPr algn="r"/>
            <a:fld id="{F7021451-1387-4CA6-816F-3879F97B5CBC}" type="slidenum">
              <a:rPr b="0" lang="en-US"/>
              <a:t>85</a:t>
            </a:fld>
            <a:endParaRPr lang="en-US"/>
          </a:p>
        </p:txBody>
      </p:sp>
    </p:spTree>
  </p:cSld>
  <p:clrMapOvr>
    <a:masterClrMapping/>
  </p:clrMapOvr>
</p:sld>
</file>

<file path=ppt/theme/theme1.xml><?xml version="1.0" encoding="utf-8"?>
<a:theme xmlns:a="http://schemas.openxmlformats.org/drawingml/2006/main" name="Chandras Edu">
  <a:themeElements>
    <a:clrScheme name="Chandras Edu">
      <a:dk1>
        <a:srgbClr val="1F2937"/>
      </a:dk1>
      <a:lt1>
        <a:srgbClr val="FFFFFF"/>
      </a:lt1>
      <a:dk2>
        <a:srgbClr val="1565C0"/>
      </a:dk2>
      <a:lt2>
        <a:srgbClr val="F5F8FC"/>
      </a:lt2>
      <a:accent1>
        <a:srgbClr val="1565C0"/>
      </a:accent1>
      <a:accent2>
        <a:srgbClr val="FF8F00"/>
      </a:accent2>
      <a:accent3>
        <a:srgbClr val="546E7A"/>
      </a:accent3>
      <a:accent4>
        <a:srgbClr val="90CAF9"/>
      </a:accent4>
      <a:accent5>
        <a:srgbClr val="FFE0B2"/>
      </a:accent5>
      <a:accent6>
        <a:srgbClr val="2E7D32"/>
      </a:accent6>
      <a:hlink>
        <a:srgbClr val="1565C0"/>
      </a:hlink>
      <a:folHlink>
        <a:srgbClr val="546E7A"/>
      </a:folHlink>
    </a:clrScheme>
    <a:fontScheme name="Chandras Edu">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85</Slides>
  <Notes>85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85</vt:i4>
      </vt:variant>
    </vt:vector>
  </HeadingPairs>
  <TitlesOfParts>
    <vt:vector size="8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COA Unit 1</dc:title>
  <dc:subject>PptxGenJS Presentation</dc:subject>
  <dc:creator>CHANDRAS EDU</dc:creator>
  <cp:lastModifiedBy>CHANDRAS EDU</cp:lastModifiedBy>
  <cp:revision>1</cp:revision>
  <dcterms:created xsi:type="dcterms:W3CDTF">2026-10-24T12:28:11Z</dcterms:created>
  <dcterms:modified xsi:type="dcterms:W3CDTF">2026-10-24T12:28:11Z</dcterms:modified>
</cp:coreProperties>
</file>