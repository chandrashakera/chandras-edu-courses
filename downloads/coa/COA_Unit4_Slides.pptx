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Lst>
  <p:notesMasterIdLst>
    <p:notesMasterId r:id="rId10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fe88844-013a-506d-8eb5-91c566979e99}">
          <p14:sldIdLst>
            <p14:sldId id="257"/>
          </p14:sldIdLst>
        </p14:section>
        <p14:section name="4.1 Control Memory" id="{a86977b7-0b06-0082-6538-120c0df8965c}">
          <p14:sldIdLst>
            <p14:sldId id="258"/>
            <p14:sldId id="259"/>
            <p14:sldId id="260"/>
            <p14:sldId id="261"/>
            <p14:sldId id="262"/>
            <p14:sldId id="263"/>
            <p14:sldId id="264"/>
          </p14:sldIdLst>
        </p14:section>
        <p14:section name="4.2 Address Sequencing" id="{263035f8-889b-a70d-ef81-833a7faff931}">
          <p14:sldIdLst>
            <p14:sldId id="265"/>
            <p14:sldId id="266"/>
            <p14:sldId id="267"/>
            <p14:sldId id="268"/>
            <p14:sldId id="269"/>
            <p14:sldId id="270"/>
          </p14:sldIdLst>
        </p14:section>
        <p14:section name="4.3 General Register Organization" id="{43418d56-5dcf-6317-c77a-50cfce4516d2}">
          <p14:sldIdLst>
            <p14:sldId id="271"/>
            <p14:sldId id="272"/>
            <p14:sldId id="273"/>
            <p14:sldId id="274"/>
            <p14:sldId id="275"/>
            <p14:sldId id="276"/>
            <p14:sldId id="277"/>
          </p14:sldIdLst>
        </p14:section>
        <p14:section name="4.4 Stack Organization" id="{a937eef8-1617-712e-915f-899398c5e5f9}">
          <p14:sldIdLst>
            <p14:sldId id="278"/>
            <p14:sldId id="279"/>
            <p14:sldId id="280"/>
            <p14:sldId id="281"/>
            <p14:sldId id="282"/>
            <p14:sldId id="283"/>
            <p14:sldId id="284"/>
          </p14:sldIdLst>
        </p14:section>
        <p14:section name="4.5 Instruction Formats" id="{4064923f-dd72-74da-f12d-ffcd5f50163c}">
          <p14:sldIdLst>
            <p14:sldId id="285"/>
            <p14:sldId id="286"/>
            <p14:sldId id="287"/>
            <p14:sldId id="288"/>
            <p14:sldId id="289"/>
            <p14:sldId id="290"/>
            <p14:sldId id="291"/>
          </p14:sldIdLst>
        </p14:section>
        <p14:section name="4.6 Addressing Modes" id="{ce97de46-ae94-f5bf-fac7-3579ee07018a}">
          <p14:sldIdLst>
            <p14:sldId id="292"/>
            <p14:sldId id="293"/>
            <p14:sldId id="294"/>
            <p14:sldId id="295"/>
            <p14:sldId id="296"/>
            <p14:sldId id="297"/>
            <p14:sldId id="298"/>
            <p14:sldId id="299"/>
          </p14:sldIdLst>
        </p14:section>
        <p14:section name="4.7 Data Transfer and Manipulation" id="{540d8186-9021-4463-17c7-5ef9e24eaf39}">
          <p14:sldIdLst>
            <p14:sldId id="300"/>
            <p14:sldId id="301"/>
            <p14:sldId id="302"/>
            <p14:sldId id="303"/>
            <p14:sldId id="304"/>
            <p14:sldId id="305"/>
            <p14:sldId id="306"/>
            <p14:sldId id="307"/>
            <p14:sldId id="308"/>
          </p14:sldIdLst>
        </p14:section>
        <p14:section name="4.8 Program Control" id="{c879dd02-7a7b-b7c7-7616-3d8240288f64}">
          <p14:sldIdLst>
            <p14:sldId id="309"/>
            <p14:sldId id="310"/>
            <p14:sldId id="311"/>
            <p14:sldId id="312"/>
            <p14:sldId id="313"/>
            <p14:sldId id="314"/>
            <p14:sldId id="315"/>
            <p14:sldId id="316"/>
            <p14:sldId id="317"/>
            <p14:sldId id="318"/>
          </p14:sldIdLst>
        </p14:section>
        <p14:section name="4.9 Addition and Subtraction" id="{6975104d-2696-8846-63c3-228fa23bb98d}">
          <p14:sldIdLst>
            <p14:sldId id="319"/>
            <p14:sldId id="320"/>
            <p14:sldId id="321"/>
            <p14:sldId id="322"/>
            <p14:sldId id="323"/>
            <p14:sldId id="324"/>
          </p14:sldIdLst>
        </p14:section>
        <p14:section name="4.10 Multiplication Algorithms" id="{421c8c80-bccf-401d-5e32-409d78ab9001}">
          <p14:sldIdLst>
            <p14:sldId id="325"/>
            <p14:sldId id="326"/>
            <p14:sldId id="327"/>
            <p14:sldId id="328"/>
            <p14:sldId id="329"/>
            <p14:sldId id="330"/>
            <p14:sldId id="331"/>
            <p14:sldId id="332"/>
            <p14:sldId id="333"/>
          </p14:sldIdLst>
        </p14:section>
        <p14:section name="4.11 Division Algorithms" id="{081818ec-06f5-5b6c-3f18-3c79069bbac6}">
          <p14:sldIdLst>
            <p14:sldId id="334"/>
            <p14:sldId id="335"/>
            <p14:sldId id="336"/>
            <p14:sldId id="337"/>
            <p14:sldId id="338"/>
            <p14:sldId id="339"/>
          </p14:sldIdLst>
        </p14:section>
        <p14:section name="4.12 Floating-Point Arithmetic Operations" id="{895e1811-39d4-e389-d16f-1d9057da0975}">
          <p14:sldIdLst>
            <p14:sldId id="340"/>
            <p14:sldId id="341"/>
            <p14:sldId id="342"/>
            <p14:sldId id="343"/>
            <p14:sldId id="344"/>
            <p14:sldId id="345"/>
            <p14:sldId id="346"/>
            <p14:sldId id="347"/>
            <p14:sldId id="348"/>
            <p14:sldId id="349"/>
            <p14:sldId id="350"/>
            <p14:sldId id="351"/>
          </p14:sldIdLst>
        </p14:section>
        <p14:section name="Unit summary" id="{77ea29bc-b6ce-c45c-e0da-184c197b80b7}">
          <p14:sldIdLst>
            <p14:sldId id="352"/>
          </p14:sldIdLst>
        </p14:section>
        <p14:section name="Unit summary (cont.)" id="{a4b680ff-c8f7-f34f-bb9b-a320f69fc4d6}">
          <p14:sldIdLst>
            <p14:sldId id="35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notesMaster" Target="notesMasters/notesMaster1.xml"/><Relationship Id="rId101" Type="http://schemas.openxmlformats.org/officeDocument/2006/relationships/presProps" Target="presProps.xml"/><Relationship Id="rId102" Type="http://schemas.openxmlformats.org/officeDocument/2006/relationships/viewProps" Target="viewProps.xml"/><Relationship Id="rId103" Type="http://schemas.openxmlformats.org/officeDocument/2006/relationships/theme" Target="theme/theme1.xml"/><Relationship Id="rId10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Unit 4. We start with microprogrammed control, then the CPU: registers, stacks, instruction formats, addressing modes, data manipulation and program control. We finish with computer arithmetic: addition, subtraction, multiplication, division and floating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topics. The first two cover microprogrammed control, the next six cover the CPU, and the last four cover computer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4 begins with how the control unit itself can be built from a memory. Read the box aloud and ask what a "program inside the CPU" might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two approaches: a network of logic gates versus a memory of control words. Hardwired is fast but inflexible, while a microprogram is stored and can be changed by changing the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microinstruction is to the control unit what a machine instruction is to the CPU. Because the microprogram is fixed, a ROM is enough in most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blocks from left to right: the CAR holds the current address, the ROM outputs the microinstruction, the sequencer computes the next address. The CDR (pipeline register) holds the fetched word while the next address is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block is the "program counter" of the microprogram. The CAR is that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 bits are divided into six fields. The AD field is exactly wide enough to address every location in the control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three nine-bit F fields, then CD, BR and AD. If the control memory size changes, the AD field width changes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 needs a new address after every microinstruction. This topic shows the four ways it can get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sequencer is the heart of this topic. Its four capabilities are listed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operations the sequencer must support. The figure on the next slide shows the hardware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sources feed the multiplexers: the incrementer (CAR + 1), the branch address from AD, the mapping logic and the SBR. The SBR (subroutine register) saves the return address. The branch logic tests the status bit selected by CD and drives the MUX select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 selects the kind of address transition. Together with CD it decides what the CAR loads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 answers "which status bit?" and BR answers "what kind of transition?". Both fields act together for a conditional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CPU needs fast temporary storage inside the chip. This topic shows a small register file wired to one shared 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not keep all intermediate values in main memory. The answer is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shared ALU serves all the registers, which keeps the wiring small. Only the register chosen by the decoder loads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diagram is on top and the 14-bit control word below. Both multiplexers drive the ALU. The ALU result is placed on the output bus, which reaches all registers, and only the register chosen by SELD loads it at the clock edge. When SELD = 000 the result is available on the external output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word is just four numbers packed together. Next we see some of the OPR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are among the eleven named operations. For single-operand operations such as COMA or the shifts, the ALU uses only bus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four fields one at a time. Then write them together as the 14-bit control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 is last-in, first-out. This topic covers a register stack, a memory stack and the reverse Polish notation that makes a stack so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LIFO with the pile-of-plates example. Note the spelling EMTY, used throughout the textbook.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SP wraps around from 63 back to 0 in 6-bit arithmetic, the stack is full. The first item pushed goes to address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increments SP first and then writes. Pop reads first and then decrements SP. Each ends by updating the FULL and EMTY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CPUs use a memory stack: a segment of main memory with a processor register as SP. Three registers provide addresses to memory: PC for instructions, AR for operands, SP for the stack. Here the stack grows downward, so the order of the two microoperations is reversed compared with the register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RPN removes the need for brackets. For subtraction and division the first operand popped is the right operand.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stack column from top to bottom. The answer, 42, is left on top of the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instruction format is the binary layout of an instruction. We compare how many address fields an instruction carries.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computers use one of three CPU organisations. The number of explicit address fields depends on which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four formats shown. The more address fields an instruction has, the wider the instruction word becomes.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Three-address programs are short in instruction count, but each instruction word is wider because it holds three addresses. Ask students to count the instructions: there are only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two-address format MOV R1, A means R1 ← M[A]: the register is the destination. We follow the textbook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of A+B must be stored in T before computing C+D, because LOAD C overwrites AC. That is why one-address programs need a temporary memory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Zero-address programs have more instructions, but each word is narrower. PUSH and POP still carry a memory address; zero-address refers to arithmetic instructions such as ADD and MUL.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address field can mean different things depending on the mode. We end with a numerical example of all nine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instruction goes through fetch, decode and execute. During decode the control unit reads the mode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opcode, mode and address fields in the instruction word. Some computers use a distinct mode field, others fold opcode and mode into one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modes need no memory access for the operand itself. Implied and immediate use no address field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Autoincrement steps forward through a table, while autodecrement steps backward or builds a stack. Autoincrement changes the register after the access, and autodecrement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relative mode the PC has already been incremented when the effective address is computed. Base register mode is calculated like indexed mode but is used for relocation.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instruction at address 200 is "Load to AC" with address part 500. The registers and memory values shown on the right are used for all nine modes in the next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down the table with the memory values from the previous slide. Check the relative row: PC is 202 after fetch, not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instruction set divides into four groups: data transfer, arithmetic, logic and bit manipulation, and shift. We go through the typical mnemonics of each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can occur with a variety of addressing modes. For example, load in immediate mode is sometimes written LDI, and mnemonic conventions vary between architectures.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they are absent, software subroutines perform them. Many computers have variants for different data types, such as ADDI for integers, ADDF for floating point and ADDD for BCD decimal. Add with carry supports double-precision arithmetic by including the carry from the lower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is also called a mask, because ANDing with a pattern of 0s clears those bit positions and leaves the rest unchanged. OR sets selected bits and XOR complements them, all without disturbing the other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carry and interrupt control instructions work on single flag flip-flops rather than whole registers. They complete the list of ten logical and bit manipulation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last column: it is the only thing that distinguishes the four types of shift. Each type has both a left and a right 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Applying a logical right shift to a negative signed number gives a wrong result. Use the arithmetic right shift for signed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slide shows the five fields of this format in the figure. With such a format a single instruction can specify the shift type, direction and count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five fields from left to right: OP, REG, TYPE, RL and COUNT. TYPE is 2 bits, RL is 1 bit and COUNT is k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Normally the PC just increments. This topic covers the instructions that change it, and the status bits that conditional branches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must change in the CPU for a branch to happen. The answer is the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and test do not change the flow directly. They update the status bits, and the original operands are preserved.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8-bit ALU with a 4-bit status register. The four bits are C, S, Z and V, set or cleared after each ALU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is relevant for unsigned arithmetic and V for signed arithmetic. They are independent of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group tests the status bits directly. Each mnemonic starts with B for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CMP A, B these instructions treat A and B as unsigned numbers. Higher and lower are the words used for unsigned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bit patterns can give different results for BHI and BGT when the values are negative. For signed comparison both V and S must be considered.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subroutine can be called from many points, so the return address must be saved. Using a stack means nested and recursive calls are handled automatically, since each return pops the most recent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is similar to a subroutine call. The extra step is that the PSW is saved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unit has to handle two ways of storing negative numbers: signed-magnitude and signed-2’s complement. This topic develops the hardware and algorithms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reduces to two cases. Try an example with opposite signs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is that subtraction of magnitudes is done by 2’s complement addition, so no separate subtractor circuit is needed. Follow B through the complementer, into the parallel adder and then to A and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components in the figure. M is the single control bit that selects addition or subtraction.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columns are the subtract and add operations. They share the same END node, since both place the result in A and A_s.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Overflow flip-flop V is set when the XOR of the last two carries equals 1. This is the same rule used earlier for the status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Multiplying two n-bit numbers gives a 2n-bit product. This topic covers the signed-magnitude hardware algorithm, Booth’s algorithm and the array multiplier.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extends the add/subtract hardware with a Q register for the multiplier. The SC counts down from n − 1 to control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extends the add/subtract hardware with the Q register and the sequence counter SC. The combined register EAQ is shifted right after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iteration tests Q_n, adds B to A if it is 1, then shifts EAQ right and decrements SC. After n steps SC = 0 and the product is in AQ: A holds the most significant half and Q the least significant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Booth looks at two bits at a time: the current multiplier bit and the bit shifted out before it. This reduces the number of additions when the multiplier has long runs of 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runs n times. Each pass inspects Q_n and Q_n+1, performs the action from the table, then does ashr (AC &amp; QR) and decrements SC.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each ashr step. The AC and QR move right together, and the bit shifted out of QR becomes the new Q_n+1.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SC reaches 0 the product 0001110101 is in AC and QR. It equals +117, which is (−9) ×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trades hardware for speed. The sequential method uses little hardware but takes n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division is simpler than decimal because each quotient digit is 0 or 1. This topic develops the hardware algorithm for signed-magnitude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quotient bit is just the carry E from a trial subtraction. After n steps the quotient is in Q and the remainder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 costs one extra trial subtraction, which is why SC starts at n − 1. Hardware typically generates an interrupt when DVF is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initialise step, the overflow check, and then the divide-magnitudes loop. In the overflow check A is restored in both cases (EA ← A + B), and DVF is set or cleared depending on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of rows is one step: shift left, then a trial subtraction. E = 1 means the divisor fits and the quotient bit becomes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steps 3 and 5 the divisor does not fit, so A is restored and the quotient bit stays 0. After step 5, Q = 11010 is 26 and A = 00110 is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Floating-point numbers appear wherever a program uses real numbers. This topic develops the hardware algorithms for all four floating-point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Normalising puts the largest possible number of significant digits in the mantissa. Zero is the one number that cannot be normalised.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bias turns every stored exponent into a non-negative number, which is easy to compare. No sign bit is needed for the exponent.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register has a mantissa part (uppercase B, A, Q) and an exponent part (lowercase b, a, q). The sign of the mantissa is kept separately as B_s, A_s and Q_s.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register naming in mind for the next slides. Uppercase letters are the mantissa parts and lowercase letters are the exponent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Shifting right rather than left preserves the most significant digits. Left shifts would lose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flowchart shows the four phases from top to bottom. The first phase checks for zeros, the second compares the exponents and aligns, the third adds or subtracts, and the fourth normalises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inputs were normalised, so the product can have at most one leading zero. That is why at most one left shift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flowchart: zero check, add the exponents and subtract the bias, multiply the mantissas, then normalise. The panel explains why the bias is subtracted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Dividend alignment guarantees that the mantissa quotient is a fraction less than 1. So division needs no separate normalisation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five steps in the flowchart. The dividend alignment step is the one that is special to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to compare the four operations. All four share the same registers BR, AC and QR and the same mantissa adder as fixed-point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control and CPU topics. Ask students to explain one of the six in a single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arithmetic topics and finish with where these ideas are used. Leave time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565C0"/>
          </a:solidFill>
          <a:ln/>
        </p:spPr>
      </p:sp>
      <p:sp>
        <p:nvSpPr>
          <p:cNvPr id="3" name="Text 1"/>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1200" dirty="0">
                <a:solidFill>
                  <a:srgbClr val="546E7A"/>
                </a:solidFill>
                <a:latin typeface="Calibri" pitchFamily="34" charset="0"/>
                <a:ea typeface="Calibri" pitchFamily="34" charset="-122"/>
                <a:cs typeface="Calibri" pitchFamily="34" charset="-120"/>
              </a:rPr>
              <a:t>CHANDRAS EDU  |  Computer Organization and Architecture  |  Unit 4</a:t>
            </a:r>
            <a:endParaRPr lang="en-US" sz="1200" dirty="0"/>
          </a:p>
        </p:txBody>
      </p:sp>
      <p:sp>
        <p:nvSpPr>
          <p:cNvPr id="4" name="Text 2"/>
          <p:cNvSpPr/>
          <p:nvPr>
            <p:ph idx="102" type="title" hasCustomPrompt="1"/>
          </p:nvPr>
        </p:nvSpPr>
        <p:spPr>
          <a:xfrm>
            <a:off x="548640" y="73152"/>
            <a:ext cx="9326880" cy="768096"/>
          </a:xfrm>
          <a:prstGeom prst="rect">
            <a:avLst/>
          </a:prstGeom>
          <a:noFill/>
          <a:ln/>
        </p:spPr>
        <p:txBody>
          <a:bodyPr wrap="square" rtlCol="0"/>
          <a:lstStyle>
            <a:lvl1pPr algn="l" indent="0" marL="0">
              <a:buNone/>
              <a:defRPr lang="en-US" sz="3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I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565C0"/>
          </a:solidFill>
          <a:ln/>
        </p:spPr>
      </p:sp>
      <p:sp>
        <p:nvSpPr>
          <p:cNvPr id="3" name="Text 1"/>
          <p:cNvSpPr/>
          <p:nvPr>
            <p:ph idx="101" type="title" hasCustomPrompt="1"/>
          </p:nvPr>
        </p:nvSpPr>
        <p:spPr>
          <a:xfrm>
            <a:off x="411480" y="36576"/>
            <a:ext cx="9509760" cy="475488"/>
          </a:xfrm>
          <a:prstGeom prst="rect">
            <a:avLst/>
          </a:prstGeom>
          <a:noFill/>
          <a:ln/>
        </p:spPr>
        <p:txBody>
          <a:bodyPr wrap="square" rtlCol="0"/>
          <a:lstStyle>
            <a:lvl1pPr algn="l" indent="0" marL="0">
              <a:buNone/>
              <a:defRPr lang="en-US" sz="28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103120"/>
            <a:ext cx="12191695" cy="2651760"/>
          </a:xfrm>
          <a:prstGeom prst="rect">
            <a:avLst/>
          </a:prstGeom>
          <a:solidFill>
            <a:srgbClr val="1565C0"/>
          </a:solidFill>
          <a:ln/>
        </p:spPr>
      </p:sp>
      <p:sp>
        <p:nvSpPr>
          <p:cNvPr id="3" name="Text 1"/>
          <p:cNvSpPr/>
          <p:nvPr>
            <p:ph idx="101" type="title" hasCustomPrompt="1"/>
          </p:nvPr>
        </p:nvSpPr>
        <p:spPr>
          <a:xfrm>
            <a:off x="2651760" y="2286000"/>
            <a:ext cx="8961120" cy="1371600"/>
          </a:xfrm>
          <a:prstGeom prst="rect">
            <a:avLst/>
          </a:prstGeom>
          <a:noFill/>
          <a:ln/>
        </p:spPr>
        <p:txBody>
          <a:bodyPr wrap="square" rtlCol="0"/>
          <a:lstStyle>
            <a:lvl1pPr algn="l" indent="0" marL="0">
              <a:buNone/>
              <a:defRPr lang="en-US" sz="4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000" dirty="0"/>
          </a:p>
        </p:txBody>
      </p:sp>
      <p:sp>
        <p:nvSpPr>
          <p:cNvPr id="4" name="Text 1"/>
          <p:cNvSpPr/>
          <p:nvPr>
            <p:ph idx="102" type="body" hasCustomPrompt="1"/>
          </p:nvPr>
        </p:nvSpPr>
        <p:spPr>
          <a:xfrm>
            <a:off x="2651760" y="3657600"/>
            <a:ext cx="8961120" cy="822960"/>
          </a:xfrm>
          <a:prstGeom prst="rect">
            <a:avLst/>
          </a:prstGeom>
          <a:noFill/>
          <a:ln/>
        </p:spPr>
        <p:txBody>
          <a:bodyPr wrap="square" rtlCol="0"/>
          <a:lstStyle>
            <a:lvl1pPr algn="l" indent="0" marL="0">
              <a:buNone/>
              <a:defRPr lang="en-US" sz="2400" dirty="0">
                <a:solidFill>
                  <a:srgbClr val="FFFFFF"/>
                </a:solidFill>
                <a:latin typeface="Calibri" pitchFamily="34" charset="0"/>
                <a:ea typeface="Calibri" pitchFamily="34" charset="-122"/>
                <a:cs typeface="Calibri" pitchFamily="34" charset="-120"/>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2651760" y="2286000"/>
            <a:ext cx="8961120" cy="137160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Unit 4: Microprogrammed Control, CPU and Computer Arithmetic</a:t>
            </a:r>
            <a:endParaRPr lang="en-US" sz="4000" dirty="0"/>
          </a:p>
        </p:txBody>
      </p:sp>
      <p:sp>
        <p:nvSpPr>
          <p:cNvPr id="3" name="Text 1"/>
          <p:cNvSpPr/>
          <p:nvPr>
            <p:ph idx="102" type="body" hasCustomPrompt="1"/>
          </p:nvPr>
        </p:nvSpPr>
        <p:spPr>
          <a:xfrm>
            <a:off x="2651760" y="3657600"/>
            <a:ext cx="8961120" cy="822960"/>
          </a:xfrm>
          <a:prstGeom prst="rect">
            <a:avLst/>
          </a:prstGeom>
          <a:noFill/>
          <a:ln/>
        </p:spPr>
        <p:txBody>
          <a:bodyPr wrap="square" lIns="0" tIns="0" rIns="0" bIns="0" rtlCol="0" anchor="t"/>
          <a:lstStyle/>
          <a:p>
            <a:pPr algn="l" indent="0" marL="0">
              <a:buNone/>
            </a:pPr>
            <a:r>
              <a:rPr lang="en-US" sz="2400" dirty="0">
                <a:solidFill>
                  <a:srgbClr val="FFFFFF"/>
                </a:solidFill>
                <a:latin typeface="Calibri" pitchFamily="34" charset="0"/>
                <a:ea typeface="Calibri" pitchFamily="34" charset="-122"/>
                <a:cs typeface="Calibri" pitchFamily="34" charset="-120"/>
              </a:rPr>
              <a:t>Computer Organization and Architecture</a:t>
            </a:r>
            <a:endParaRPr lang="en-US" sz="2400" dirty="0"/>
          </a:p>
        </p:txBody>
      </p:sp>
      <p:sp>
        <p:nvSpPr>
          <p:cNvPr id="4" name="Text 2"/>
          <p:cNvSpPr txBox="1"/>
          <p:nvPr/>
        </p:nvSpPr>
        <p:spPr>
          <a:xfrm>
            <a:off x="2651760" y="5120640"/>
            <a:ext cx="5486400" cy="457200"/>
          </a:xfrm>
          <a:prstGeom prst="rect">
            <a:avLst/>
          </a:prstGeom>
          <a:noFill/>
          <a:ln/>
        </p:spPr>
        <p:txBody>
          <a:bodyPr wrap="square" lIns="0" tIns="0" rIns="0" bIns="0" rtlCol="0" anchor="ctr"/>
          <a:lstStyle/>
          <a:p>
            <a:pPr indent="0" marL="0">
              <a:buNone/>
            </a:pPr>
            <a:r>
              <a:rPr lang="en-US" sz="2400" b="1" dirty="0">
                <a:solidFill>
                  <a:srgbClr val="1565C0"/>
                </a:solidFill>
                <a:latin typeface="Calibri" pitchFamily="34" charset="0"/>
                <a:ea typeface="Calibri" pitchFamily="34" charset="-122"/>
                <a:cs typeface="Calibri" pitchFamily="34" charset="-120"/>
              </a:rPr>
              <a:t>CHANDRAS EDU</a:t>
            </a:r>
            <a:endParaRPr lang="en-US" sz="2400" dirty="0"/>
          </a:p>
        </p:txBody>
      </p:sp>
      <p:sp>
        <p:nvSpPr>
          <p:cNvPr id="5" name="Text 3"/>
          <p:cNvSpPr txBox="1"/>
          <p:nvPr/>
        </p:nvSpPr>
        <p:spPr>
          <a:xfrm>
            <a:off x="2651760" y="5577840"/>
            <a:ext cx="5486400" cy="365760"/>
          </a:xfrm>
          <a:prstGeom prst="rect">
            <a:avLst/>
          </a:prstGeom>
          <a:noFill/>
          <a:ln/>
        </p:spPr>
        <p:txBody>
          <a:bodyPr wrap="square" lIns="0" tIns="0" rIns="0" bIns="0" rtlCol="0" anchor="ctr"/>
          <a:lstStyle/>
          <a:p>
            <a:pPr indent="0" marL="0">
              <a:buNone/>
            </a:pPr>
            <a:r>
              <a:rPr lang="en-US" sz="1800" dirty="0">
                <a:solidFill>
                  <a:srgbClr val="546E7A"/>
                </a:solidFill>
                <a:latin typeface="Calibri" pitchFamily="34" charset="0"/>
                <a:ea typeface="Calibri" pitchFamily="34" charset="-122"/>
                <a:cs typeface="Calibri" pitchFamily="34" charset="-120"/>
              </a:rPr>
              <a:t>Never stop learning</a:t>
            </a:r>
            <a:endParaRPr lang="en-US" sz="1800" dirty="0"/>
          </a:p>
        </p:txBody>
      </p:sp>
      <p:sp>
        <p:nvSpPr>
          <p:cNvPr id="6" name="Shape 4"/>
          <p:cNvSpPr/>
          <p:nvPr/>
        </p:nvSpPr>
        <p:spPr>
          <a:xfrm>
            <a:off x="731520" y="2697480"/>
            <a:ext cx="1463040" cy="1463040"/>
          </a:xfrm>
          <a:prstGeom prst="roundRect">
            <a:avLst>
              <a:gd name="adj" fmla="val 7500"/>
            </a:avLst>
          </a:prstGeom>
          <a:solidFill>
            <a:srgbClr val="FF8F00"/>
          </a:solidFill>
          <a:ln w="6350">
            <a:solidFill>
              <a:srgbClr val="FF8F00"/>
            </a:solidFill>
            <a:prstDash val="solid"/>
          </a:ln>
        </p:spPr>
      </p:sp>
      <p:sp>
        <p:nvSpPr>
          <p:cNvPr id="7" name="Text 5"/>
          <p:cNvSpPr txBox="1"/>
          <p:nvPr/>
        </p:nvSpPr>
        <p:spPr>
          <a:xfrm>
            <a:off x="731520" y="2697480"/>
            <a:ext cx="1463040" cy="1463040"/>
          </a:xfrm>
          <a:prstGeom prst="rect">
            <a:avLst/>
          </a:prstGeom>
          <a:noFill/>
          <a:ln/>
        </p:spPr>
        <p:txBody>
          <a:bodyPr wrap="square" lIns="0" tIns="0" rIns="0" bIns="0" rtlCol="0" anchor="ctr"/>
          <a:lstStyle/>
          <a:p>
            <a:pPr algn="ctr" indent="0" marL="0">
              <a:buNone/>
            </a:pPr>
            <a:r>
              <a:rPr lang="en-US" sz="6000" b="1" dirty="0">
                <a:solidFill>
                  <a:srgbClr val="1F2937"/>
                </a:solidFill>
                <a:latin typeface="Calibri" pitchFamily="34" charset="0"/>
                <a:ea typeface="Calibri" pitchFamily="34" charset="-122"/>
                <a:cs typeface="Calibri" pitchFamily="34" charset="-120"/>
              </a:rPr>
              <a:t>4</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1"/>
          <p:cNvSpPr txBox="1"/>
          <p:nvPr/>
        </p:nvSpPr>
        <p:spPr>
          <a:xfrm>
            <a:off x="640080" y="1463040"/>
            <a:ext cx="5486400" cy="4572000"/>
          </a:xfrm>
          <a:prstGeom prst="rect">
            <a:avLst/>
          </a:prstGeom>
          <a:noFill/>
          <a:ln/>
        </p:spPr>
        <p:txBody>
          <a:bodyPr wrap="square" lIns="0" tIns="0" rIns="0" bIns="0" rtlCol="0" anchor="t"/>
          <a:lstStyle/>
          <a:p>
            <a:pPr indent="0" marL="0">
              <a:buNone/>
            </a:pPr>
            <a:r>
              <a:rPr lang="en-US" sz="2200" b="1" dirty="0">
                <a:solidFill>
                  <a:srgbClr val="1565C0"/>
                </a:solidFill>
                <a:latin typeface="Calibri" pitchFamily="34" charset="0"/>
                <a:ea typeface="Calibri" pitchFamily="34" charset="-122"/>
                <a:cs typeface="Calibri" pitchFamily="34" charset="-120"/>
              </a:rPr>
              <a:t>4.1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Control Memory</a:t>
            </a:r>
            <a:endParaRPr lang="en-US" sz="2200" dirty="0"/>
          </a:p>
          <a:p>
            <a:pPr indent="0" marL="0">
              <a:buNone/>
            </a:pPr>
            <a:r>
              <a:rPr lang="en-US" sz="2200" b="1" dirty="0">
                <a:solidFill>
                  <a:srgbClr val="1565C0"/>
                </a:solidFill>
                <a:latin typeface="Calibri" pitchFamily="34" charset="0"/>
                <a:ea typeface="Calibri" pitchFamily="34" charset="-122"/>
                <a:cs typeface="Calibri" pitchFamily="34" charset="-120"/>
              </a:rPr>
              <a:t>4.2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Address Sequencing</a:t>
            </a:r>
            <a:endParaRPr lang="en-US" sz="2200" dirty="0"/>
          </a:p>
          <a:p>
            <a:pPr indent="0" marL="0">
              <a:buNone/>
            </a:pPr>
            <a:r>
              <a:rPr lang="en-US" sz="2200" b="1" dirty="0">
                <a:solidFill>
                  <a:srgbClr val="1565C0"/>
                </a:solidFill>
                <a:latin typeface="Calibri" pitchFamily="34" charset="0"/>
                <a:ea typeface="Calibri" pitchFamily="34" charset="-122"/>
                <a:cs typeface="Calibri" pitchFamily="34" charset="-120"/>
              </a:rPr>
              <a:t>4.3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General Register Organization</a:t>
            </a:r>
            <a:endParaRPr lang="en-US" sz="2200" dirty="0"/>
          </a:p>
          <a:p>
            <a:pPr indent="0" marL="0">
              <a:buNone/>
            </a:pPr>
            <a:r>
              <a:rPr lang="en-US" sz="2200" b="1" dirty="0">
                <a:solidFill>
                  <a:srgbClr val="1565C0"/>
                </a:solidFill>
                <a:latin typeface="Calibri" pitchFamily="34" charset="0"/>
                <a:ea typeface="Calibri" pitchFamily="34" charset="-122"/>
                <a:cs typeface="Calibri" pitchFamily="34" charset="-120"/>
              </a:rPr>
              <a:t>4.4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Stack Organization</a:t>
            </a:r>
            <a:endParaRPr lang="en-US" sz="2200" dirty="0"/>
          </a:p>
          <a:p>
            <a:pPr indent="0" marL="0">
              <a:buNone/>
            </a:pPr>
            <a:r>
              <a:rPr lang="en-US" sz="2200" b="1" dirty="0">
                <a:solidFill>
                  <a:srgbClr val="1565C0"/>
                </a:solidFill>
                <a:latin typeface="Calibri" pitchFamily="34" charset="0"/>
                <a:ea typeface="Calibri" pitchFamily="34" charset="-122"/>
                <a:cs typeface="Calibri" pitchFamily="34" charset="-120"/>
              </a:rPr>
              <a:t>4.5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Instruction Formats</a:t>
            </a:r>
            <a:endParaRPr lang="en-US" sz="2200" dirty="0"/>
          </a:p>
          <a:p>
            <a:pPr indent="0" marL="0">
              <a:buNone/>
            </a:pPr>
            <a:r>
              <a:rPr lang="en-US" sz="2200" b="1" dirty="0">
                <a:solidFill>
                  <a:srgbClr val="1565C0"/>
                </a:solidFill>
                <a:latin typeface="Calibri" pitchFamily="34" charset="0"/>
                <a:ea typeface="Calibri" pitchFamily="34" charset="-122"/>
                <a:cs typeface="Calibri" pitchFamily="34" charset="-120"/>
              </a:rPr>
              <a:t>4.6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Addressing Modes</a:t>
            </a:r>
            <a:endParaRPr lang="en-US" sz="2200" dirty="0"/>
          </a:p>
        </p:txBody>
      </p:sp>
      <p:sp>
        <p:nvSpPr>
          <p:cNvPr id="5" name="Text 2"/>
          <p:cNvSpPr txBox="1"/>
          <p:nvPr/>
        </p:nvSpPr>
        <p:spPr>
          <a:xfrm>
            <a:off x="6309360" y="1463040"/>
            <a:ext cx="5486400" cy="4572000"/>
          </a:xfrm>
          <a:prstGeom prst="rect">
            <a:avLst/>
          </a:prstGeom>
          <a:noFill/>
          <a:ln/>
        </p:spPr>
        <p:txBody>
          <a:bodyPr wrap="square" lIns="0" tIns="0" rIns="0" bIns="0" rtlCol="0" anchor="t"/>
          <a:lstStyle/>
          <a:p>
            <a:pPr indent="0" marL="0">
              <a:buNone/>
            </a:pPr>
            <a:r>
              <a:rPr lang="en-US" sz="2200" b="1" dirty="0">
                <a:solidFill>
                  <a:srgbClr val="1565C0"/>
                </a:solidFill>
                <a:latin typeface="Calibri" pitchFamily="34" charset="0"/>
                <a:ea typeface="Calibri" pitchFamily="34" charset="-122"/>
                <a:cs typeface="Calibri" pitchFamily="34" charset="-120"/>
              </a:rPr>
              <a:t>4.7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Data Transfer and Manipulation</a:t>
            </a:r>
            <a:endParaRPr lang="en-US" sz="2200" dirty="0"/>
          </a:p>
          <a:p>
            <a:pPr indent="0" marL="0">
              <a:buNone/>
            </a:pPr>
            <a:r>
              <a:rPr lang="en-US" sz="2200" b="1" dirty="0">
                <a:solidFill>
                  <a:srgbClr val="1565C0"/>
                </a:solidFill>
                <a:latin typeface="Calibri" pitchFamily="34" charset="0"/>
                <a:ea typeface="Calibri" pitchFamily="34" charset="-122"/>
                <a:cs typeface="Calibri" pitchFamily="34" charset="-120"/>
              </a:rPr>
              <a:t>4.8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Program Control</a:t>
            </a:r>
            <a:endParaRPr lang="en-US" sz="2200" dirty="0"/>
          </a:p>
          <a:p>
            <a:pPr indent="0" marL="0">
              <a:buNone/>
            </a:pPr>
            <a:r>
              <a:rPr lang="en-US" sz="2200" b="1" dirty="0">
                <a:solidFill>
                  <a:srgbClr val="1565C0"/>
                </a:solidFill>
                <a:latin typeface="Calibri" pitchFamily="34" charset="0"/>
                <a:ea typeface="Calibri" pitchFamily="34" charset="-122"/>
                <a:cs typeface="Calibri" pitchFamily="34" charset="-120"/>
              </a:rPr>
              <a:t>4.9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Addition and Subtraction</a:t>
            </a:r>
            <a:endParaRPr lang="en-US" sz="2200" dirty="0"/>
          </a:p>
          <a:p>
            <a:pPr indent="0" marL="0">
              <a:buNone/>
            </a:pPr>
            <a:r>
              <a:rPr lang="en-US" sz="2200" b="1" dirty="0">
                <a:solidFill>
                  <a:srgbClr val="1565C0"/>
                </a:solidFill>
                <a:latin typeface="Calibri" pitchFamily="34" charset="0"/>
                <a:ea typeface="Calibri" pitchFamily="34" charset="-122"/>
                <a:cs typeface="Calibri" pitchFamily="34" charset="-120"/>
              </a:rPr>
              <a:t>4.10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Multiplication Algorithms</a:t>
            </a:r>
            <a:endParaRPr lang="en-US" sz="2200" dirty="0"/>
          </a:p>
          <a:p>
            <a:pPr indent="0" marL="0">
              <a:buNone/>
            </a:pPr>
            <a:r>
              <a:rPr lang="en-US" sz="2200" b="1" dirty="0">
                <a:solidFill>
                  <a:srgbClr val="1565C0"/>
                </a:solidFill>
                <a:latin typeface="Calibri" pitchFamily="34" charset="0"/>
                <a:ea typeface="Calibri" pitchFamily="34" charset="-122"/>
                <a:cs typeface="Calibri" pitchFamily="34" charset="-120"/>
              </a:rPr>
              <a:t>4.11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Division Algorithms</a:t>
            </a:r>
            <a:endParaRPr lang="en-US" sz="2200" dirty="0"/>
          </a:p>
          <a:p>
            <a:pPr indent="0" marL="0">
              <a:buNone/>
            </a:pPr>
            <a:r>
              <a:rPr lang="en-US" sz="2200" b="1" dirty="0">
                <a:solidFill>
                  <a:srgbClr val="1565C0"/>
                </a:solidFill>
                <a:latin typeface="Calibri" pitchFamily="34" charset="0"/>
                <a:ea typeface="Calibri" pitchFamily="34" charset="-122"/>
                <a:cs typeface="Calibri" pitchFamily="34" charset="-120"/>
              </a:rPr>
              <a:t>4.12   </a:t>
            </a:r>
            <a:pPr indent="0" marL="0">
              <a:spcAft>
                <a:spcPts val="1600"/>
              </a:spcAft>
              <a:buNone/>
            </a:pPr>
            <a:r>
              <a:rPr lang="en-US" sz="2200" dirty="0">
                <a:solidFill>
                  <a:srgbClr val="1F2937"/>
                </a:solidFill>
                <a:latin typeface="Calibri" pitchFamily="34" charset="0"/>
                <a:ea typeface="Calibri" pitchFamily="34" charset="-122"/>
                <a:cs typeface="Calibri" pitchFamily="34" charset="-120"/>
              </a:rPr>
              <a:t>Floating-Point Arithmetic Operations</a:t>
            </a:r>
            <a:endParaRPr lang="en-US" sz="2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4.1  Control Memory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A microprogrammed control unit is a tiny computer inside the CPU. Its program (the microprogram) lives in a ROM called control memory. Each word it reads out (a microinstruction) switches on the control signals for one clock cycle.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Microprogrammed control</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Every machine instruction triggers an ordered sequence of register transfers and ALU operations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Hardwired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control (logic gates alone) is fast but inflexible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Microprogrammed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control stores the control signals as binary patterns in the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control memory</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control unit reads them out one word at a time, like a processor reading instructions from main memory</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Microinstructions and the microprogram</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Each word in control memory is a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microinstruction</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the microoperations (register transfers, ALU selections, memory-access signals) active in one clock cycle</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sequence of microinstructions that implements one machine instruction is a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microprogram</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microprogram never changes, so control memory can be a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ROM</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ROM is combinational: address in, word out; no clock edge is needed to read it</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Dynamic microprogramming:</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a writable control memory (RAM) lets a new microprogram be loaded from disk at boot, so one processor can emulate another</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Microprogrammed control organization</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a:t>
            </a:r>
            <a:endParaRPr lang="en-US" sz="1600" dirty="0"/>
          </a:p>
        </p:txBody>
      </p:sp>
      <p:pic>
        <p:nvPicPr>
          <p:cNvPr id="5" name="Image 0" descr="Microprogrammed control organization">    </p:cNvPr>
          <p:cNvPicPr>
            <a:picLocks noChangeAspect="1"/>
          </p:cNvPicPr>
          <p:nvPr/>
        </p:nvPicPr>
        <p:blipFill>
          <a:blip r:embed="rId1"/>
          <a:stretch>
            <a:fillRect/>
          </a:stretch>
        </p:blipFill>
        <p:spPr>
          <a:xfrm>
            <a:off x="274320" y="1985294"/>
            <a:ext cx="11643055" cy="2978852"/>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Microprogrammed control organization. Adapted from M. Morris Mano, Computer System Architecture, Fig. 7-1.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four components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CAR</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(control address register): the address of the current microinstruction</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Sequencer:</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computes the next address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ROM:</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outputs the microinstruction at the CAR address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CDR</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(pipeline register): holds the fetched microinstruction while the next address is computed</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Mano’s Chapter 7 example omits the CDR and uses a single-phase clock, reading the control word straight from the ROM output</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microinstruction format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Mano’s example control memory is 128 × 20: 128 microinstructions, each 20 bits wide, in six fields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F1, F2, F3</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(nine bits): select up to three simultaneous microoperations; code 000 means no operation in that field</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AD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(7 bits): the address field; 2</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⁷</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 128 matches the control memory size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CD: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selects which status bit to test</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BR:</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specifies the type of address transition</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Microinstruction code format (20 bits)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a:t>
            </a:r>
            <a:endParaRPr lang="en-US" sz="1600" dirty="0"/>
          </a:p>
        </p:txBody>
      </p:sp>
      <p:pic>
        <p:nvPicPr>
          <p:cNvPr id="5" name="Image 0" descr="Microinstruction code format (20 bits)">    </p:cNvPr>
          <p:cNvPicPr>
            <a:picLocks noChangeAspect="1"/>
          </p:cNvPicPr>
          <p:nvPr/>
        </p:nvPicPr>
        <p:blipFill>
          <a:blip r:embed="rId1"/>
          <a:stretch>
            <a:fillRect/>
          </a:stretch>
        </p:blipFill>
        <p:spPr>
          <a:xfrm>
            <a:off x="556182" y="621792"/>
            <a:ext cx="11079332"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Microinstruction code format (20 bits). Adapted from M. Morris Mano, Computer System Architecture, Fig. 7-6.</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4.2  Address Sequencing</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4.2</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After each microinstruction the CAR must get a new address. It can step to the next one, jump to the AD address, jump to the start of the routine for the current machine instruction (mapping), or jump into and back from a subroutine.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microprogram sequencer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microprogram is not executed strictly from beginning to end</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Each machine instruction maps to its own microprogram routine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routines share a common fetch sequence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Conditional branches may take different paths, depending on status bits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hardware that computes the next CAR address is the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microprogram sequencer</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Four required capabilities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1. Increment the CAR: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execute the next microinstruction in sequence</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2. Branch:</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jump to the AD address, always (unconditional) or only when a tested status bit has a given value (conditional)</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3. Map:</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at the start of each execute phase, jump to the routine for the current machine instruction (opcode → control memory address)</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4. Subroutine call and return:</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jump to a shared microprogram subroutine and return to the calling address</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Selection of address for control memory</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4.2</a:t>
            </a:r>
            <a:endParaRPr lang="en-US" sz="1600" dirty="0"/>
          </a:p>
        </p:txBody>
      </p:sp>
      <p:pic>
        <p:nvPicPr>
          <p:cNvPr id="5" name="Image 0" descr="Selection of address for control memory">    </p:cNvPr>
          <p:cNvPicPr>
            <a:picLocks noChangeAspect="1"/>
          </p:cNvPicPr>
          <p:nvPr/>
        </p:nvPicPr>
        <p:blipFill>
          <a:blip r:embed="rId1"/>
          <a:stretch>
            <a:fillRect/>
          </a:stretch>
        </p:blipFill>
        <p:spPr>
          <a:xfrm>
            <a:off x="411480" y="621792"/>
            <a:ext cx="5705856" cy="5705856"/>
          </a:xfrm>
          <a:prstGeom prst="rect">
            <a:avLst/>
          </a:prstGeom>
        </p:spPr>
      </p:pic>
      <p:sp>
        <p:nvSpPr>
          <p:cNvPr id="6" name="Text 2"/>
          <p:cNvSpPr txBox="1"/>
          <p:nvPr/>
        </p:nvSpPr>
        <p:spPr>
          <a:xfrm>
            <a:off x="6483096" y="713232"/>
            <a:ext cx="5297119" cy="5522976"/>
          </a:xfrm>
          <a:prstGeom prst="roundRect">
            <a:avLst>
              <a:gd name="adj" fmla="val 2071"/>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multiplexers choose the next address from four sources: CAR + 1, the AD field, the mapping logic and the SBR</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incrementer output also feeds the SBR during a subroutine call</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branch logic tests the status bit chosen by CD and drives the MUX selects</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mapping logic turns the opcode into a starting address</a:t>
            </a:r>
            <a:endParaRPr lang="en-US" sz="24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Selection of address for control memory. Adapted from M. Morris Mano, Computer System Architecture, Fig. 7-2.</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BR field</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4.2</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1188720"/>
                <a:gridCol w="1645920"/>
                <a:gridCol w="8229600"/>
              </a:tblGrid>
              <a:tr h="463296">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BR</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Symbol</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Function</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63296">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JMP</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CAR ← AD if condition = 1; CAR ← CAR + 1 if condition = 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798576">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CALL</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CAR ← AD and SBR ← CAR + 1 if condition = 1; CAR ← CAR + 1 if condition = 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63296">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RET</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CAR ← SBR (return from subroutine)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63296">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MAP</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CAR(2–5) ← DR(11–14), CAR(0, 1, 6) ← 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Adapted from M. Morris Mano, Computer System Architecture, Table 7-1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CD field and the mapping logic</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CD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selects the condition: 00 = U (always 1), 01 = I (DR(15), the indirect bit), 10 = S (AC(15), the sign), 11 = Z (AC = 0)</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With CD = 00, JMP and CALL always take the branch</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mapping logic is a PLD or a small ROM that turns opcode bits into a control memory address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Nested subroutine calls need a hardware stack in the SBR, since one register saves only one return address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4.3  General Register Organization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4.3</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200" dirty="0">
                <a:solidFill>
                  <a:srgbClr val="1F2937"/>
                </a:solidFill>
                <a:latin typeface="Calibri" pitchFamily="34" charset="0"/>
                <a:ea typeface="Calibri" pitchFamily="34" charset="-122"/>
                <a:cs typeface="Calibri" pitchFamily="34" charset="-120"/>
              </a:rPr>
              <a:t>Pick two registers (SELA, SELB), pick an operation (OPR), pick where the answer goes (SELD). Those four choices, 14 bits in total, make one control word.</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Why a register file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Processors need fast temporary storage: partial products, pointer values, return addresses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Main memory is too slow for this: a memory access is the slowest operation a CPU performs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Solution: a small register file inside the CPU, connected through a shared bus and a single ALU</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This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general register organisation</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is the internal datapath most modern CPUs are built around</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bus-organised register file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Seven registers R1–R7 plus an external input path</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Every register output goes to two multiplexers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single ALU output goes back to all seven registers and to the external output</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3×8 decoder decides which one register loads the result</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Sharing one ALU needs far less wiring than connecting every register to every other</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Register set with common ALU</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4.3</a:t>
            </a:r>
            <a:endParaRPr lang="en-US" sz="1600" dirty="0"/>
          </a:p>
        </p:txBody>
      </p:sp>
      <p:pic>
        <p:nvPicPr>
          <p:cNvPr id="5" name="Image 0" descr="Register set with common ALU">    </p:cNvPr>
          <p:cNvPicPr>
            <a:picLocks noChangeAspect="1"/>
          </p:cNvPicPr>
          <p:nvPr/>
        </p:nvPicPr>
        <p:blipFill>
          <a:blip r:embed="rId1"/>
          <a:stretch>
            <a:fillRect/>
          </a:stretch>
        </p:blipFill>
        <p:spPr>
          <a:xfrm>
            <a:off x="411480" y="621792"/>
            <a:ext cx="4992624" cy="5705856"/>
          </a:xfrm>
          <a:prstGeom prst="rect">
            <a:avLst/>
          </a:prstGeom>
        </p:spPr>
      </p:pic>
      <p:sp>
        <p:nvSpPr>
          <p:cNvPr id="6" name="Text 2"/>
          <p:cNvSpPr txBox="1"/>
          <p:nvPr/>
        </p:nvSpPr>
        <p:spPr>
          <a:xfrm>
            <a:off x="5769864" y="713232"/>
            <a:ext cx="6010351" cy="5522976"/>
          </a:xfrm>
          <a:prstGeom prst="roundRect">
            <a:avLst>
              <a:gd name="adj" fmla="val 1987"/>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MUX A</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(SELA) and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MUX B</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(SELB) pick the source registers for buses A and B</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ALU</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performs the operation chosen by OPR</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3×8 decoder</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(SELD) loads exactly one destination register</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Code 000 means external Input (SELA, SELB) or no destination (SELD)</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Register set with common ALU (block diagram and 14-bit control word). Adapted from M. Morris Mano, Computer System Architecture, Fig. 8-2.</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14-bit control word</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Four selector fields: SELA (3 bits) + SELB (3 bits) + SELD (3 bits) + OPR (5 bits) = 14 bits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Code 000 selects the external Input (SELA/SELB) or no destination (SELD)</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Codes 001–111 select R1–R7</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There are eleven named ALU operations; some of them are listed on the next slide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Some ALU operation codes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4.3</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895448" y="1188720"/>
          <a:ext cx="6400800" cy="914400"/>
        </p:xfrm>
        <a:graphic>
          <a:graphicData uri="http://schemas.openxmlformats.org/drawingml/2006/table">
            <a:tbl>
              <a:tblPr/>
              <a:tblGrid>
                <a:gridCol w="2743200"/>
                <a:gridCol w="3657600"/>
              </a:tblGrid>
              <a:tr h="432816">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OPR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Operation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ADD</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SUB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AND</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OR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XOR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COMA</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10000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SHRA</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11000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SHLA</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Worked example: R1 ← R2 + R3</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4.3</a:t>
            </a:r>
            <a:endParaRPr lang="en-US" sz="1600" dirty="0"/>
          </a:p>
        </p:txBody>
      </p:sp>
      <p:sp>
        <p:nvSpPr>
          <p:cNvPr id="5" name="Text 2"/>
          <p:cNvSpPr txBox="1"/>
          <p:nvPr/>
        </p:nvSpPr>
        <p:spPr>
          <a:xfrm>
            <a:off x="548640" y="1280160"/>
            <a:ext cx="11094415" cy="2682240"/>
          </a:xfrm>
          <a:prstGeom prst="roundRect">
            <a:avLst>
              <a:gd name="adj" fmla="val 3409"/>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SELA = 010   (R2 on bus A)</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SELB = 011   (R3 on bus B)</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OPR  = 00010 (ADD)</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SELD = 001   (result into R1)</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Control word:  010 011 001 00010</a:t>
            </a:r>
            <a:endParaRPr lang="en-US" sz="2400" dirty="0"/>
          </a:p>
        </p:txBody>
      </p:sp>
      <p:sp>
        <p:nvSpPr>
          <p:cNvPr id="6" name="Text 3"/>
          <p:cNvSpPr txBox="1"/>
          <p:nvPr/>
        </p:nvSpPr>
        <p:spPr>
          <a:xfrm>
            <a:off x="640080" y="4282440"/>
            <a:ext cx="10911535" cy="184404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On the clock edge the ALU result is loaded into R1</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4.4  Stack Organization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4.4</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200" dirty="0">
                <a:solidFill>
                  <a:srgbClr val="1F2937"/>
                </a:solidFill>
                <a:latin typeface="Calibri" pitchFamily="34" charset="0"/>
                <a:ea typeface="Calibri" pitchFamily="34" charset="-122"/>
                <a:cs typeface="Calibri" pitchFamily="34" charset="-120"/>
              </a:rPr>
              <a:t>A stack works like a pile of plates: the last item put on top is the first one taken off. The stack pointer (SP) always holds the address of the top item; push adds an item, pop removes one.</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Stack basics and the register stack</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stack is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last-in, first-out (LIFO)</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most recently stored item is retrieved first</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It is a memory unit paired with a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stack pointer (SP)</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that points to the top item</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Register stack:</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 64-word unit; SP is a 6-bit address (2</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⁶</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 64)</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FULL</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 1 when the stack holds 64 items;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EMTY</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 1 when it is empty (Mano spells it EMTY)</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data register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DR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is the channel through which all words enter and leave</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Register stack</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4.4</a:t>
            </a:r>
            <a:endParaRPr lang="en-US" sz="1600" dirty="0"/>
          </a:p>
        </p:txBody>
      </p:sp>
      <p:pic>
        <p:nvPicPr>
          <p:cNvPr id="5" name="Image 0" descr="Register stack">    </p:cNvPr>
          <p:cNvPicPr>
            <a:picLocks noChangeAspect="1"/>
          </p:cNvPicPr>
          <p:nvPr/>
        </p:nvPicPr>
        <p:blipFill>
          <a:blip r:embed="rId1"/>
          <a:stretch>
            <a:fillRect/>
          </a:stretch>
        </p:blipFill>
        <p:spPr>
          <a:xfrm>
            <a:off x="411480" y="621792"/>
            <a:ext cx="7362395" cy="5705856"/>
          </a:xfrm>
          <a:prstGeom prst="rect">
            <a:avLst/>
          </a:prstGeom>
        </p:spPr>
      </p:pic>
      <p:sp>
        <p:nvSpPr>
          <p:cNvPr id="6" name="Text 2"/>
          <p:cNvSpPr txBox="1"/>
          <p:nvPr/>
        </p:nvSpPr>
        <p:spPr>
          <a:xfrm>
            <a:off x="8139635" y="713232"/>
            <a:ext cx="3640580" cy="5522976"/>
          </a:xfrm>
          <a:prstGeom prst="roundRect">
            <a:avLst>
              <a:gd name="adj" fmla="val 3014"/>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SP (6 bits) points to the top item</a:t>
            </a:r>
            <a:endParaRPr lang="en-US" sz="2200" dirty="0"/>
          </a:p>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FULL = 1 when the stack holds 64 items; EMTY = 1 when it is empty</a:t>
            </a:r>
            <a:endParaRPr lang="en-US" sz="2200" dirty="0"/>
          </a:p>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DR is the channel for every word entering or leaving</a:t>
            </a:r>
            <a:endParaRPr lang="en-US" sz="2200" dirty="0"/>
          </a:p>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Initially SP = 0, EMTY = 1, FULL = 0; the first item goes to address 1</a:t>
            </a:r>
            <a:endParaRPr lang="en-US" sz="22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Adapted from M. Morris Mano, Computer System Architecture, Fig. 8-3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Push and pop RTL</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4.4</a:t>
            </a:r>
            <a:endParaRPr lang="en-US" sz="1600" dirty="0"/>
          </a:p>
        </p:txBody>
      </p:sp>
      <p:sp>
        <p:nvSpPr>
          <p:cNvPr id="5" name="Text 2"/>
          <p:cNvSpPr txBox="1"/>
          <p:nvPr/>
        </p:nvSpPr>
        <p:spPr>
          <a:xfrm>
            <a:off x="548640" y="1280160"/>
            <a:ext cx="11094415" cy="3931920"/>
          </a:xfrm>
          <a:prstGeom prst="roundRect">
            <a:avLst>
              <a:gd name="adj" fmla="val 2326"/>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1900" dirty="0">
                <a:solidFill>
                  <a:srgbClr val="1F2937"/>
                </a:solidFill>
                <a:latin typeface="Courier New" pitchFamily="34" charset="0"/>
                <a:ea typeface="Courier New" pitchFamily="34" charset="-122"/>
                <a:cs typeface="Courier New" pitchFamily="34" charset="-120"/>
              </a:rPr>
              <a:t>Push (when FULL = 0):</a:t>
            </a:r>
            <a:endParaRPr lang="en-US" sz="1900" dirty="0"/>
          </a:p>
          <a:p>
            <a:pPr indent="0" marL="0">
              <a:spcAft>
                <a:spcPts val="400"/>
              </a:spcAft>
              <a:buNone/>
            </a:pPr>
            <a:r>
              <a:rPr lang="en-US" sz="1900" dirty="0">
                <a:solidFill>
                  <a:srgbClr val="1F2937"/>
                </a:solidFill>
                <a:latin typeface="Courier New" pitchFamily="34" charset="0"/>
                <a:ea typeface="Courier New" pitchFamily="34" charset="-122"/>
                <a:cs typeface="Courier New" pitchFamily="34" charset="-120"/>
              </a:rPr>
              <a:t>SP ← SP + 1                    Increment stack pointer</a:t>
            </a:r>
            <a:endParaRPr lang="en-US" sz="1900" dirty="0"/>
          </a:p>
          <a:p>
            <a:pPr indent="0" marL="0">
              <a:spcAft>
                <a:spcPts val="400"/>
              </a:spcAft>
              <a:buNone/>
            </a:pPr>
            <a:r>
              <a:rPr lang="en-US" sz="1900" dirty="0">
                <a:solidFill>
                  <a:srgbClr val="1F2937"/>
                </a:solidFill>
                <a:latin typeface="Courier New" pitchFamily="34" charset="0"/>
                <a:ea typeface="Courier New" pitchFamily="34" charset="-122"/>
                <a:cs typeface="Courier New" pitchFamily="34" charset="-120"/>
              </a:rPr>
              <a:t>M[SP] ← DR                     Write item on top of stack</a:t>
            </a:r>
            <a:endParaRPr lang="en-US" sz="1900" dirty="0"/>
          </a:p>
          <a:p>
            <a:pPr indent="0" marL="0">
              <a:spcAft>
                <a:spcPts val="400"/>
              </a:spcAft>
              <a:buNone/>
            </a:pPr>
            <a:r>
              <a:rPr lang="en-US" sz="1900" dirty="0">
                <a:solidFill>
                  <a:srgbClr val="1F2937"/>
                </a:solidFill>
                <a:latin typeface="Courier New" pitchFamily="34" charset="0"/>
                <a:ea typeface="Courier New" pitchFamily="34" charset="-122"/>
                <a:cs typeface="Courier New" pitchFamily="34" charset="-120"/>
              </a:rPr>
              <a:t>If (SP = 0) then (FULL ← 1)    Check if stack is full</a:t>
            </a:r>
            <a:endParaRPr lang="en-US" sz="1900" dirty="0"/>
          </a:p>
          <a:p>
            <a:pPr indent="0" marL="0">
              <a:spcAft>
                <a:spcPts val="400"/>
              </a:spcAft>
              <a:buNone/>
            </a:pPr>
            <a:r>
              <a:rPr lang="en-US" sz="1900" dirty="0">
                <a:solidFill>
                  <a:srgbClr val="1F2937"/>
                </a:solidFill>
                <a:latin typeface="Courier New" pitchFamily="34" charset="0"/>
                <a:ea typeface="Courier New" pitchFamily="34" charset="-122"/>
                <a:cs typeface="Courier New" pitchFamily="34" charset="-120"/>
              </a:rPr>
              <a:t>EMTY ← 0                       Mark stack not empty</a:t>
            </a:r>
            <a:endParaRPr lang="en-US" sz="1900" dirty="0"/>
          </a:p>
          <a:p>
            <a:pPr indent="0" marL="0">
              <a:spcAft>
                <a:spcPts val="400"/>
              </a:spcAft>
              <a:buNone/>
            </a:pPr>
            <a:r>
              <a:rPr lang="en-US" sz="1900" dirty="0">
                <a:solidFill>
                  <a:srgbClr val="000000"/>
                </a:solidFill>
                <a:latin typeface="Courier New" pitchFamily="34" charset="0"/>
                <a:ea typeface="Courier New" pitchFamily="34" charset="-122"/>
                <a:cs typeface="Courier New" pitchFamily="34" charset="-120"/>
              </a:rPr>
              <a:t> </a:t>
            </a:r>
            <a:endParaRPr lang="en-US" sz="1900" dirty="0"/>
          </a:p>
          <a:p>
            <a:pPr indent="0" marL="0">
              <a:spcAft>
                <a:spcPts val="400"/>
              </a:spcAft>
              <a:buNone/>
            </a:pPr>
            <a:r>
              <a:rPr lang="en-US" sz="1900" dirty="0">
                <a:solidFill>
                  <a:srgbClr val="1F2937"/>
                </a:solidFill>
                <a:latin typeface="Courier New" pitchFamily="34" charset="0"/>
                <a:ea typeface="Courier New" pitchFamily="34" charset="-122"/>
                <a:cs typeface="Courier New" pitchFamily="34" charset="-120"/>
              </a:rPr>
              <a:t>Pop (when EMTY = 0):</a:t>
            </a:r>
            <a:endParaRPr lang="en-US" sz="1900" dirty="0"/>
          </a:p>
          <a:p>
            <a:pPr indent="0" marL="0">
              <a:spcAft>
                <a:spcPts val="400"/>
              </a:spcAft>
              <a:buNone/>
            </a:pPr>
            <a:r>
              <a:rPr lang="en-US" sz="1900" dirty="0">
                <a:solidFill>
                  <a:srgbClr val="1F2937"/>
                </a:solidFill>
                <a:latin typeface="Courier New" pitchFamily="34" charset="0"/>
                <a:ea typeface="Courier New" pitchFamily="34" charset="-122"/>
                <a:cs typeface="Courier New" pitchFamily="34" charset="-120"/>
              </a:rPr>
              <a:t>DR ← M[SP]                     Read item from top of stack</a:t>
            </a:r>
            <a:endParaRPr lang="en-US" sz="1900" dirty="0"/>
          </a:p>
          <a:p>
            <a:pPr indent="0" marL="0">
              <a:spcAft>
                <a:spcPts val="400"/>
              </a:spcAft>
              <a:buNone/>
            </a:pPr>
            <a:r>
              <a:rPr lang="en-US" sz="1900" dirty="0">
                <a:solidFill>
                  <a:srgbClr val="1F2937"/>
                </a:solidFill>
                <a:latin typeface="Courier New" pitchFamily="34" charset="0"/>
                <a:ea typeface="Courier New" pitchFamily="34" charset="-122"/>
                <a:cs typeface="Courier New" pitchFamily="34" charset="-120"/>
              </a:rPr>
              <a:t>SP ← SP − 1                    Decrement stack pointer</a:t>
            </a:r>
            <a:endParaRPr lang="en-US" sz="1900" dirty="0"/>
          </a:p>
          <a:p>
            <a:pPr indent="0" marL="0">
              <a:spcAft>
                <a:spcPts val="400"/>
              </a:spcAft>
              <a:buNone/>
            </a:pPr>
            <a:r>
              <a:rPr lang="en-US" sz="1900" dirty="0">
                <a:solidFill>
                  <a:srgbClr val="1F2937"/>
                </a:solidFill>
                <a:latin typeface="Courier New" pitchFamily="34" charset="0"/>
                <a:ea typeface="Courier New" pitchFamily="34" charset="-122"/>
                <a:cs typeface="Courier New" pitchFamily="34" charset="-120"/>
              </a:rPr>
              <a:t>If (SP = 0) then (EMTY ← 1)    Check if stack is empty</a:t>
            </a:r>
            <a:endParaRPr lang="en-US" sz="1900" dirty="0"/>
          </a:p>
          <a:p>
            <a:pPr indent="0" marL="0">
              <a:spcAft>
                <a:spcPts val="400"/>
              </a:spcAft>
              <a:buNone/>
            </a:pPr>
            <a:r>
              <a:rPr lang="en-US" sz="1900" dirty="0">
                <a:solidFill>
                  <a:srgbClr val="1F2937"/>
                </a:solidFill>
                <a:latin typeface="Courier New" pitchFamily="34" charset="0"/>
                <a:ea typeface="Courier New" pitchFamily="34" charset="-122"/>
                <a:cs typeface="Courier New" pitchFamily="34" charset="-120"/>
              </a:rPr>
              <a:t>FULL ← 0                       Mark stack not full</a:t>
            </a:r>
            <a:endParaRPr lang="en-US" sz="19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Memory stack</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4.4</a:t>
            </a:r>
            <a:endParaRPr lang="en-US" sz="1600" dirty="0"/>
          </a:p>
        </p:txBody>
      </p:sp>
      <p:pic>
        <p:nvPicPr>
          <p:cNvPr id="5" name="Image 0" descr="Memory stack">    </p:cNvPr>
          <p:cNvPicPr>
            <a:picLocks noChangeAspect="1"/>
          </p:cNvPicPr>
          <p:nvPr/>
        </p:nvPicPr>
        <p:blipFill>
          <a:blip r:embed="rId1"/>
          <a:stretch>
            <a:fillRect/>
          </a:stretch>
        </p:blipFill>
        <p:spPr>
          <a:xfrm>
            <a:off x="411480" y="621792"/>
            <a:ext cx="5827257" cy="5705856"/>
          </a:xfrm>
          <a:prstGeom prst="rect">
            <a:avLst/>
          </a:prstGeom>
        </p:spPr>
      </p:pic>
      <p:sp>
        <p:nvSpPr>
          <p:cNvPr id="6" name="Text 2"/>
          <p:cNvSpPr txBox="1"/>
          <p:nvPr/>
        </p:nvSpPr>
        <p:spPr>
          <a:xfrm>
            <a:off x="6604497" y="713232"/>
            <a:ext cx="5175718" cy="5522976"/>
          </a:xfrm>
          <a:prstGeom prst="roundRect">
            <a:avLst>
              <a:gd name="adj" fmla="val 2120"/>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segment of main memory; SP is a processor register; PC, AR and SP supply addresses</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SP starts at 4001; the stack grows by decreasing address; lowest usable address is 3000</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Push: decrement SP, then write M[SP]. Pop: read M[SP], then increment SP</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Software checks the limits using two registers for the bounds</a:t>
            </a:r>
            <a:endParaRPr lang="en-US" sz="24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Adapted from M. Morris Mano, Computer System Architecture, Fig. 8-4</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Reverse Polish notation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Infix puts the operator between operands (A + B);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reverse Polish notation (RPN)</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also called postfix, puts it after: AB+</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RPN suits a stack: scan left to right and push each operand</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At an operator, pop the top two operands, apply it and push the result</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final result stays on top of the stack</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Compilers routinely convert infix to RPN: it is the most efficient way to translate arithmetic into machine instructions</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RPN evaluation: (3 × 4) + (5 × 6)</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4.4</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In RPN the expression is: 3 4 * 5 6 * +</a:t>
            </a:r>
            <a:endParaRPr lang="en-US" sz="2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3728" y="1874520"/>
          <a:ext cx="11064240" cy="914400"/>
        </p:xfrm>
        <a:graphic>
          <a:graphicData uri="http://schemas.openxmlformats.org/drawingml/2006/table">
            <a:tbl>
              <a:tblPr/>
              <a:tblGrid>
                <a:gridCol w="1645920"/>
                <a:gridCol w="3474720"/>
                <a:gridCol w="5943600"/>
              </a:tblGrid>
              <a:tr h="432816">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Symbol</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Stack (bottom → top)</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Action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Push 3</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3, 4</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Push 4</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12</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Pop 4 and 3; push 3×4 = 12</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12, 5</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Push 5</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6</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12, 5, 6</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Push 6</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12, 30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Pop 6 and 5; push 5×6 = 30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42</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Pop 30 and 12; push 12+30 = 42</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4.5  Instruction Formats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4.5</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An instruction is a row of bits split into fields: what to do (opcode), where the data is (address) and how to find it (mode). Fewer address fields make each instruction shorter but the program longer.</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Fields in an instruction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4.5</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An instruction format is the binary layout of a machine instruction, divided into fields</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Opcode field:</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specifies the operation</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Address field:</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a memory address or a processor register; a k-bit register address selects one of 2</a:t>
            </a:r>
            <a:pPr algn="l" marL="304800" indent="-304800">
              <a:spcAft>
                <a:spcPts val="1000"/>
              </a:spcAft>
              <a:buSzPct val="100000"/>
              <a:buChar char="•"/>
            </a:pPr>
            <a:r>
              <a:rPr lang="en-US" sz="2400" baseline="30000" dirty="0">
                <a:solidFill>
                  <a:srgbClr val="1F2937"/>
                </a:solidFill>
                <a:latin typeface="Calibri" pitchFamily="34" charset="0"/>
                <a:ea typeface="Calibri" pitchFamily="34" charset="-122"/>
                <a:cs typeface="Calibri" pitchFamily="34" charset="-120"/>
              </a:rPr>
              <a:t>k</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registers (16 registers need 4 bits)</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Mode field:</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how the operand or effective address is determined</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Special fields exist, e.g. a shift-count field in a shift instruction</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number of address fields sets the CPU organisation: single accumulator, general register or stack</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Instruction format types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4.5</a:t>
            </a:r>
            <a:endParaRPr lang="en-US" sz="1600" dirty="0"/>
          </a:p>
        </p:txBody>
      </p:sp>
      <p:pic>
        <p:nvPicPr>
          <p:cNvPr id="5" name="Image 0" descr="Instruction format types">    </p:cNvPr>
          <p:cNvPicPr>
            <a:picLocks noChangeAspect="1"/>
          </p:cNvPicPr>
          <p:nvPr/>
        </p:nvPicPr>
        <p:blipFill>
          <a:blip r:embed="rId1"/>
          <a:stretch>
            <a:fillRect/>
          </a:stretch>
        </p:blipFill>
        <p:spPr>
          <a:xfrm>
            <a:off x="389992" y="621792"/>
            <a:ext cx="11411712"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Adapted from M. Morris Mano, Computer System Architecture, §8-4</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X = (A+B)*(C+D): three-address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4.5</a:t>
            </a:r>
            <a:endParaRPr lang="en-US" sz="1600" dirty="0"/>
          </a:p>
        </p:txBody>
      </p:sp>
      <p:sp>
        <p:nvSpPr>
          <p:cNvPr id="5" name="Text 2"/>
          <p:cNvSpPr txBox="1"/>
          <p:nvPr/>
        </p:nvSpPr>
        <p:spPr>
          <a:xfrm>
            <a:off x="548640" y="1280160"/>
            <a:ext cx="11094415" cy="1935480"/>
          </a:xfrm>
          <a:prstGeom prst="roundRect">
            <a:avLst>
              <a:gd name="adj" fmla="val 4724"/>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600" dirty="0">
                <a:solidFill>
                  <a:srgbClr val="1F2937"/>
                </a:solidFill>
                <a:latin typeface="Courier New" pitchFamily="34" charset="0"/>
                <a:ea typeface="Courier New" pitchFamily="34" charset="-122"/>
                <a:cs typeface="Courier New" pitchFamily="34" charset="-120"/>
              </a:rPr>
              <a:t>ADD R1, A, B     R1 ← M[A] + M[B]</a:t>
            </a:r>
            <a:endParaRPr lang="en-US" sz="2600" dirty="0"/>
          </a:p>
          <a:p>
            <a:pPr indent="0" marL="0">
              <a:spcAft>
                <a:spcPts val="400"/>
              </a:spcAft>
              <a:buNone/>
            </a:pPr>
            <a:r>
              <a:rPr lang="en-US" sz="2600" dirty="0">
                <a:solidFill>
                  <a:srgbClr val="1F2937"/>
                </a:solidFill>
                <a:latin typeface="Courier New" pitchFamily="34" charset="0"/>
                <a:ea typeface="Courier New" pitchFamily="34" charset="-122"/>
                <a:cs typeface="Courier New" pitchFamily="34" charset="-120"/>
              </a:rPr>
              <a:t>ADD R2, C, D     R2 ← M[C] + M[D]</a:t>
            </a:r>
            <a:endParaRPr lang="en-US" sz="2600" dirty="0"/>
          </a:p>
          <a:p>
            <a:pPr indent="0" marL="0">
              <a:spcAft>
                <a:spcPts val="400"/>
              </a:spcAft>
              <a:buNone/>
            </a:pPr>
            <a:r>
              <a:rPr lang="en-US" sz="2600" dirty="0">
                <a:solidFill>
                  <a:srgbClr val="1F2937"/>
                </a:solidFill>
                <a:latin typeface="Courier New" pitchFamily="34" charset="0"/>
                <a:ea typeface="Courier New" pitchFamily="34" charset="-122"/>
                <a:cs typeface="Courier New" pitchFamily="34" charset="-120"/>
              </a:rPr>
              <a:t>MUL X, R1, R2    M[X] ← R1 * R2</a:t>
            </a:r>
            <a:endParaRPr lang="en-US" sz="2600" dirty="0"/>
          </a:p>
        </p:txBody>
      </p:sp>
      <p:sp>
        <p:nvSpPr>
          <p:cNvPr id="6" name="Text 3"/>
          <p:cNvSpPr txBox="1"/>
          <p:nvPr/>
        </p:nvSpPr>
        <p:spPr>
          <a:xfrm>
            <a:off x="640080" y="3535680"/>
            <a:ext cx="10911535" cy="259080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Operands are in memory at A, B, C, D; the result is stored at X</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Three instructions in total</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X = (A+B)*(C+D): two-address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4.5</a:t>
            </a:r>
            <a:endParaRPr lang="en-US" sz="1600" dirty="0"/>
          </a:p>
        </p:txBody>
      </p:sp>
      <p:sp>
        <p:nvSpPr>
          <p:cNvPr id="5" name="Text 2"/>
          <p:cNvSpPr txBox="1"/>
          <p:nvPr/>
        </p:nvSpPr>
        <p:spPr>
          <a:xfrm>
            <a:off x="548640" y="1280160"/>
            <a:ext cx="11094415" cy="3108960"/>
          </a:xfrm>
          <a:prstGeom prst="roundRect">
            <a:avLst>
              <a:gd name="adj" fmla="val 2941"/>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MOV R1, A     R1 ← M[A]</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ADD R1, B     R1 ← R1 + M[B]</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MOV R2, C     R2 ← M[C]</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ADD R2, D     R2 ← R2 + M[D]</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MUL R1, R2    R1 ← R1 * R2</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MOV X, R1     M[X] ← R1</a:t>
            </a:r>
            <a:endParaRPr lang="en-US" sz="2400" dirty="0"/>
          </a:p>
        </p:txBody>
      </p:sp>
      <p:sp>
        <p:nvSpPr>
          <p:cNvPr id="6" name="Text 3"/>
          <p:cNvSpPr txBox="1"/>
          <p:nvPr/>
        </p:nvSpPr>
        <p:spPr>
          <a:xfrm>
            <a:off x="640080" y="4709160"/>
            <a:ext cx="10911535" cy="141732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MOV is needed to set up the registers</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X = (A+B)*(C+D): one-address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4.5</a:t>
            </a:r>
            <a:endParaRPr lang="en-US" sz="1600" dirty="0"/>
          </a:p>
        </p:txBody>
      </p:sp>
      <p:sp>
        <p:nvSpPr>
          <p:cNvPr id="5" name="Text 2"/>
          <p:cNvSpPr txBox="1"/>
          <p:nvPr/>
        </p:nvSpPr>
        <p:spPr>
          <a:xfrm>
            <a:off x="548640" y="1280160"/>
            <a:ext cx="11094415" cy="3286760"/>
          </a:xfrm>
          <a:prstGeom prst="roundRect">
            <a:avLst>
              <a:gd name="adj" fmla="val 2782"/>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LOAD A     AC ← M[A]</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ADD B      AC ← AC + M[B]</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STORE T    M[T] ← AC</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LOAD C     AC ← M[C]</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ADD D      AC ← AC + M[D]</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MUL T      AC ← AC * M[T]</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STORE X    M[X] ← AC</a:t>
            </a:r>
            <a:endParaRPr lang="en-US" sz="2200" dirty="0"/>
          </a:p>
        </p:txBody>
      </p:sp>
      <p:sp>
        <p:nvSpPr>
          <p:cNvPr id="6" name="Text 3"/>
          <p:cNvSpPr txBox="1"/>
          <p:nvPr/>
        </p:nvSpPr>
        <p:spPr>
          <a:xfrm>
            <a:off x="640080" y="4886960"/>
            <a:ext cx="10911535" cy="123952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All operations go through the implied accumulator AC</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X = (A+B)*(C+D): zero-address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4.5</a:t>
            </a:r>
            <a:endParaRPr lang="en-US" sz="1600" dirty="0"/>
          </a:p>
        </p:txBody>
      </p:sp>
      <p:sp>
        <p:nvSpPr>
          <p:cNvPr id="5" name="Text 2"/>
          <p:cNvSpPr txBox="1"/>
          <p:nvPr/>
        </p:nvSpPr>
        <p:spPr>
          <a:xfrm>
            <a:off x="548640" y="1280160"/>
            <a:ext cx="11094415" cy="3535680"/>
          </a:xfrm>
          <a:prstGeom prst="roundRect">
            <a:avLst>
              <a:gd name="adj" fmla="val 2586"/>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100" dirty="0">
                <a:solidFill>
                  <a:srgbClr val="1F2937"/>
                </a:solidFill>
                <a:latin typeface="Courier New" pitchFamily="34" charset="0"/>
                <a:ea typeface="Courier New" pitchFamily="34" charset="-122"/>
                <a:cs typeface="Courier New" pitchFamily="34" charset="-120"/>
              </a:rPr>
              <a:t>PUSH A    TOS ← A</a:t>
            </a:r>
            <a:endParaRPr lang="en-US" sz="2100" dirty="0"/>
          </a:p>
          <a:p>
            <a:pPr indent="0" marL="0">
              <a:spcAft>
                <a:spcPts val="400"/>
              </a:spcAft>
              <a:buNone/>
            </a:pPr>
            <a:r>
              <a:rPr lang="en-US" sz="2100" dirty="0">
                <a:solidFill>
                  <a:srgbClr val="1F2937"/>
                </a:solidFill>
                <a:latin typeface="Courier New" pitchFamily="34" charset="0"/>
                <a:ea typeface="Courier New" pitchFamily="34" charset="-122"/>
                <a:cs typeface="Courier New" pitchFamily="34" charset="-120"/>
              </a:rPr>
              <a:t>PUSH B    TOS ← B</a:t>
            </a:r>
            <a:endParaRPr lang="en-US" sz="2100" dirty="0"/>
          </a:p>
          <a:p>
            <a:pPr indent="0" marL="0">
              <a:spcAft>
                <a:spcPts val="400"/>
              </a:spcAft>
              <a:buNone/>
            </a:pPr>
            <a:r>
              <a:rPr lang="en-US" sz="2100" dirty="0">
                <a:solidFill>
                  <a:srgbClr val="1F2937"/>
                </a:solidFill>
                <a:latin typeface="Courier New" pitchFamily="34" charset="0"/>
                <a:ea typeface="Courier New" pitchFamily="34" charset="-122"/>
                <a:cs typeface="Courier New" pitchFamily="34" charset="-120"/>
              </a:rPr>
              <a:t>ADD       TOS ← (A + B)</a:t>
            </a:r>
            <a:endParaRPr lang="en-US" sz="2100" dirty="0"/>
          </a:p>
          <a:p>
            <a:pPr indent="0" marL="0">
              <a:spcAft>
                <a:spcPts val="400"/>
              </a:spcAft>
              <a:buNone/>
            </a:pPr>
            <a:r>
              <a:rPr lang="en-US" sz="2100" dirty="0">
                <a:solidFill>
                  <a:srgbClr val="1F2937"/>
                </a:solidFill>
                <a:latin typeface="Courier New" pitchFamily="34" charset="0"/>
                <a:ea typeface="Courier New" pitchFamily="34" charset="-122"/>
                <a:cs typeface="Courier New" pitchFamily="34" charset="-120"/>
              </a:rPr>
              <a:t>PUSH C    TOS ← C</a:t>
            </a:r>
            <a:endParaRPr lang="en-US" sz="2100" dirty="0"/>
          </a:p>
          <a:p>
            <a:pPr indent="0" marL="0">
              <a:spcAft>
                <a:spcPts val="400"/>
              </a:spcAft>
              <a:buNone/>
            </a:pPr>
            <a:r>
              <a:rPr lang="en-US" sz="2100" dirty="0">
                <a:solidFill>
                  <a:srgbClr val="1F2937"/>
                </a:solidFill>
                <a:latin typeface="Courier New" pitchFamily="34" charset="0"/>
                <a:ea typeface="Courier New" pitchFamily="34" charset="-122"/>
                <a:cs typeface="Courier New" pitchFamily="34" charset="-120"/>
              </a:rPr>
              <a:t>PUSH D    TOS ← D</a:t>
            </a:r>
            <a:endParaRPr lang="en-US" sz="2100" dirty="0"/>
          </a:p>
          <a:p>
            <a:pPr indent="0" marL="0">
              <a:spcAft>
                <a:spcPts val="400"/>
              </a:spcAft>
              <a:buNone/>
            </a:pPr>
            <a:r>
              <a:rPr lang="en-US" sz="2100" dirty="0">
                <a:solidFill>
                  <a:srgbClr val="1F2937"/>
                </a:solidFill>
                <a:latin typeface="Courier New" pitchFamily="34" charset="0"/>
                <a:ea typeface="Courier New" pitchFamily="34" charset="-122"/>
                <a:cs typeface="Courier New" pitchFamily="34" charset="-120"/>
              </a:rPr>
              <a:t>ADD       TOS ← (C + D)</a:t>
            </a:r>
            <a:endParaRPr lang="en-US" sz="2100" dirty="0"/>
          </a:p>
          <a:p>
            <a:pPr indent="0" marL="0">
              <a:spcAft>
                <a:spcPts val="400"/>
              </a:spcAft>
              <a:buNone/>
            </a:pPr>
            <a:r>
              <a:rPr lang="en-US" sz="2100" dirty="0">
                <a:solidFill>
                  <a:srgbClr val="1F2937"/>
                </a:solidFill>
                <a:latin typeface="Courier New" pitchFamily="34" charset="0"/>
                <a:ea typeface="Courier New" pitchFamily="34" charset="-122"/>
                <a:cs typeface="Courier New" pitchFamily="34" charset="-120"/>
              </a:rPr>
              <a:t>MUL       TOS ← (C+D)*(A+B)</a:t>
            </a:r>
            <a:endParaRPr lang="en-US" sz="2100" dirty="0"/>
          </a:p>
          <a:p>
            <a:pPr indent="0" marL="0">
              <a:spcAft>
                <a:spcPts val="400"/>
              </a:spcAft>
              <a:buNone/>
            </a:pPr>
            <a:r>
              <a:rPr lang="en-US" sz="2100" dirty="0">
                <a:solidFill>
                  <a:srgbClr val="1F2937"/>
                </a:solidFill>
                <a:latin typeface="Courier New" pitchFamily="34" charset="0"/>
                <a:ea typeface="Courier New" pitchFamily="34" charset="-122"/>
                <a:cs typeface="Courier New" pitchFamily="34" charset="-120"/>
              </a:rPr>
              <a:t>POP X     M[X] ← TOS</a:t>
            </a:r>
            <a:endParaRPr lang="en-US" sz="2100" dirty="0"/>
          </a:p>
        </p:txBody>
      </p:sp>
      <p:sp>
        <p:nvSpPr>
          <p:cNvPr id="6" name="Text 3"/>
          <p:cNvSpPr txBox="1"/>
          <p:nvPr/>
        </p:nvSpPr>
        <p:spPr>
          <a:xfrm>
            <a:off x="640080" y="5135880"/>
            <a:ext cx="10911535" cy="99060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Stack computer; TOS = top of stack</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4.6  Addressing Modes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4.6</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200" dirty="0">
                <a:solidFill>
                  <a:srgbClr val="1F2937"/>
                </a:solidFill>
                <a:latin typeface="Calibri" pitchFamily="34" charset="0"/>
                <a:ea typeface="Calibri" pitchFamily="34" charset="-122"/>
                <a:cs typeface="Calibri" pitchFamily="34" charset="-120"/>
              </a:rPr>
              <a:t>An addressing mode is the rule the CPU uses to find the data. The operand may be inside the instruction, in a register, in memory, or at an address the CPU must first calculate.</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idea of an addressing mode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mode gives the rule for interpreting or modifying the address field before the operand is referenced</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Two purposes: programmer flexibility (pointers, loop counters, array indexing, relocation) and fewer address bits</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effective address</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is the final memory address computed by the mode</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mode may be a separate field next to the opcode, or folded into one code with the opcode</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control unit reads the mode during decode to locate the operand</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Two modes need no address field (implied, immediate); the other seven interpret it differently</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Instruction format with mode field</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4.6</a:t>
            </a:r>
            <a:endParaRPr lang="en-US" sz="1600" dirty="0"/>
          </a:p>
        </p:txBody>
      </p:sp>
      <p:pic>
        <p:nvPicPr>
          <p:cNvPr id="5" name="Image 0" descr="Instruction format with mode field">    </p:cNvPr>
          <p:cNvPicPr>
            <a:picLocks noChangeAspect="1"/>
          </p:cNvPicPr>
          <p:nvPr/>
        </p:nvPicPr>
        <p:blipFill>
          <a:blip r:embed="rId1"/>
          <a:stretch>
            <a:fillRect/>
          </a:stretch>
        </p:blipFill>
        <p:spPr>
          <a:xfrm>
            <a:off x="274320" y="2361781"/>
            <a:ext cx="11643055" cy="2225878"/>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Adapted from M. Morris Mano, Computer System Architecture, Fig. 8-6</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Modes 1–3</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1. Implied: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operand is implicit in the instruction definition; no address field. Accumulator instructions and zero-address stack instructions are implied-mode</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2. Immediate:</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operand field holds the actual operand, not its address; no memory access. The effective address is the address of the instruction’s second word (201 in the example)</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3. Register: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address field names a processor register that holds the operand; no memory access; a k-bit field selects one of 2</a:t>
            </a:r>
            <a:pPr algn="l" marL="304800" indent="-304800">
              <a:spcAft>
                <a:spcPts val="1000"/>
              </a:spcAft>
              <a:buSzPct val="100000"/>
              <a:buChar char="•"/>
            </a:pPr>
            <a:r>
              <a:rPr lang="en-US" sz="2800" baseline="30000" dirty="0">
                <a:solidFill>
                  <a:srgbClr val="1F2937"/>
                </a:solidFill>
                <a:latin typeface="Calibri" pitchFamily="34" charset="0"/>
                <a:ea typeface="Calibri" pitchFamily="34" charset="-122"/>
                <a:cs typeface="Calibri" pitchFamily="34" charset="-120"/>
              </a:rPr>
              <a:t>k</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registers</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Modes 4–6</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4. Register indirect:</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register’s contents give the memory address of the operand; fewer bits than a direct address; the programmer loads the address into the register first</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5. Autoincrement or autodecrement:</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like register indirect, but the register is incremented after (autoincrement) or decremented before (autodecrement) the access; good for stepping through a table or implementing a stack</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6. Direct address: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address field is the effective address; one access fetches the operand; in branches it is the branch target</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Modes 7–9</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7. Indirect address: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the address field points to a memory word that holds the effective address; two memory accesses beyond the instruction fetch</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8. Relative address: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EA = address field (a signed displacement) + PC, already incremented past the instruction; gives position-independent code with few address bits</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9. Indexed:</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EA = address field + index register XR; the field holds the array base and XR the element offset; XR can be incremented to reach successive elements</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Base register</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mode is computed like indexed, but the register is used for program relocation; it is not a separate row in the table</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Numerical example of addressing modes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4.6</a:t>
            </a:r>
            <a:endParaRPr lang="en-US" sz="1600" dirty="0"/>
          </a:p>
        </p:txBody>
      </p:sp>
      <p:pic>
        <p:nvPicPr>
          <p:cNvPr id="5" name="Image 0" descr="Numerical example of addressing modes">    </p:cNvPr>
          <p:cNvPicPr>
            <a:picLocks noChangeAspect="1"/>
          </p:cNvPicPr>
          <p:nvPr/>
        </p:nvPicPr>
        <p:blipFill>
          <a:blip r:embed="rId1"/>
          <a:stretch>
            <a:fillRect/>
          </a:stretch>
        </p:blipFill>
        <p:spPr>
          <a:xfrm>
            <a:off x="411480" y="621792"/>
            <a:ext cx="7953617" cy="5705856"/>
          </a:xfrm>
          <a:prstGeom prst="rect">
            <a:avLst/>
          </a:prstGeom>
        </p:spPr>
      </p:pic>
      <p:sp>
        <p:nvSpPr>
          <p:cNvPr id="6" name="Text 2"/>
          <p:cNvSpPr txBox="1"/>
          <p:nvPr/>
        </p:nvSpPr>
        <p:spPr>
          <a:xfrm>
            <a:off x="8730857" y="713232"/>
            <a:ext cx="3049358" cy="5522976"/>
          </a:xfrm>
          <a:prstGeom prst="roundRect">
            <a:avLst>
              <a:gd name="adj" fmla="val 3598"/>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Instruction at address 200: “Load to AC”, address part = 500</a:t>
            </a:r>
            <a:endParaRPr lang="en-US" sz="2200" dirty="0"/>
          </a:p>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After fetch: PC = 202, R1 = 400, XR = 100</a:t>
            </a:r>
            <a:endParaRPr lang="en-US" sz="2200" dirty="0"/>
          </a:p>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M[500] = 800, M[800] = 300, M[400] = 700</a:t>
            </a:r>
            <a:endParaRPr lang="en-US" sz="2200" dirty="0"/>
          </a:p>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M[702] = 325, M[600] = 900, M[399] = 450</a:t>
            </a:r>
            <a:endParaRPr lang="en-US" sz="22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Adapted from M. Morris Mano, Computer System Architecture, Fig. 8-7</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Effective address and operand for the nine modes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4.6</a:t>
            </a:r>
            <a:endParaRPr lang="en-US" sz="1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377440"/>
                <a:gridCol w="1828800"/>
                <a:gridCol w="1737360"/>
                <a:gridCol w="5120640"/>
              </a:tblGrid>
              <a:tr h="402336">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Mode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Effective address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Operand (AC)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How computed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Direct address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500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800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EA = address part = 500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Immediate operand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201</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500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Operand = address part itself; EA = 201</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Indirect address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800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300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EA = M[500] = 800; operand = M[800] = 300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Relative address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702</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325</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EA = PC + 500 = 202 + 500 = 702</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Indexed address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600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900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EA = XR + 500 = 100 + 500 = 600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Register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400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Operand = R1 = 400; no memory EA</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Register indirect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400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700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EA = R1 = 400; operand = M[400] = 700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67665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Autoincrement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400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700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EA = R1 = 400; R1 incremented to 401 after access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Autodecrement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399</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450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R1 decremented to 399 before access; EA = 399</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6" name="Text 2"/>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Adapted from M. Morris Mano, Computer System Architecture, Table 8-4</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4.7  Data Transfer and Manipulation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4.7</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400" dirty="0">
                <a:solidFill>
                  <a:srgbClr val="1F2937"/>
                </a:solidFill>
                <a:latin typeface="Calibri" pitchFamily="34" charset="0"/>
                <a:ea typeface="Calibri" pitchFamily="34" charset="-122"/>
                <a:cs typeface="Calibri" pitchFamily="34" charset="-120"/>
              </a:rPr>
              <a:t>Most instructions either move data (load, store, move) or change it (add, AND, shift). This topic lists the typical instructions in each group.</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Data transfer instructions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4.7</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8 instructions. No arithmetic is performed: only the location of the data changes.</a:t>
            </a:r>
            <a:endParaRPr lang="en-US" sz="2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63728" y="1874520"/>
          <a:ext cx="11064240" cy="914400"/>
        </p:xfrm>
        <a:graphic>
          <a:graphicData uri="http://schemas.openxmlformats.org/drawingml/2006/table">
            <a:tbl>
              <a:tblPr/>
              <a:tblGrid>
                <a:gridCol w="2194560"/>
                <a:gridCol w="1737360"/>
                <a:gridCol w="7132320"/>
              </a:tblGrid>
              <a:tr h="402336">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Name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Mnemonic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Typical action</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Load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LD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Memory → processor register (usually the accumulator)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Store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ST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Processor register → memory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Move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MOV</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Register → register (or memory ↔ memory on some architectures)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Exchange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XCH</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Swap two registers, or a register and a memory word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Input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IN</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I/O terminal → processor register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Output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OUT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Processor register → I/O terminal</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Push</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PUSH</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Processor register → top of memory stack</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Pop</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POP</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Top of memory stack → processor register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Typical data transfer instructions. Adapted from M. Morris Mano, Computer System Architecture, Table 8-5.</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Arithmetic instructions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4.7</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9 instructions. Multiply and divide may be absent on small processors.</a:t>
            </a:r>
            <a:endParaRPr lang="en-US" sz="2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2621128" y="1874520"/>
          <a:ext cx="6949440" cy="914400"/>
        </p:xfrm>
        <a:graphic>
          <a:graphicData uri="http://schemas.openxmlformats.org/drawingml/2006/table">
            <a:tbl>
              <a:tblPr/>
              <a:tblGrid>
                <a:gridCol w="4572000"/>
                <a:gridCol w="2377440"/>
              </a:tblGrid>
              <a:tr h="402336">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Name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Mnemonic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Increment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INC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Decrement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DEC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Add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ADD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Subtract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SUB</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Multiply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MUL</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Divide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DIV</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Add with carry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ADDC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Subtract with borrow</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SUBB</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Negate (2’s complement)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NEG</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Typical arithmetic instructions. Adapted from M. Morris Mano, Computer System Architecture, Table 8-7.</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Logical and bit manipulation instructions (1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4.7</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10 instructions in total. AND clears selected bits, OR sets them, XOR complements them.</a:t>
            </a:r>
            <a:endParaRPr lang="en-US" sz="2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63728" y="2240280"/>
          <a:ext cx="11064240" cy="914400"/>
        </p:xfrm>
        <a:graphic>
          <a:graphicData uri="http://schemas.openxmlformats.org/drawingml/2006/table">
            <a:tbl>
              <a:tblPr/>
              <a:tblGrid>
                <a:gridCol w="2560320"/>
                <a:gridCol w="1737360"/>
                <a:gridCol w="6766560"/>
              </a:tblGrid>
              <a:tr h="432816">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Name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Mnemonic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Effect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Clear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CLR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All bits of operand → 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Complement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COM</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1’s complement of operand</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AND</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AND</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Bit-by-bit AND: used to clear selected bits (mask)</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OR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OR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Bit-by-bit OR: used to set selected bits</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Exclusive-OR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XOR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Bit-by-bit XOR: used to complement selected bits</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Typical logical and bit manipulation instructions. Adapted from M. Morris Mano, Computer System Architecture, Table 8-8.</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Logical and bit manipulation instructions (2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4.7</a:t>
            </a:r>
            <a:endParaRPr lang="en-US" sz="1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560320"/>
                <a:gridCol w="1737360"/>
                <a:gridCol w="6766560"/>
              </a:tblGrid>
              <a:tr h="432816">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Name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Mnemonic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Effect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Clear carry</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CLRC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Carry flag → 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Set carry</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SETC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Carry flag → 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Complement carry</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COMC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Carry flag ← NOT carry</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Enable interrupt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EI</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Interrupt flip-flop → 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Disable interrupt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DI</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Interrupt flip-flop → 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6" name="Text 2"/>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Typical logical and bit manipulation instructions. Adapted from M. Morris Mano, Computer System Architecture, Table 8-8.</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Shift instructions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4.7</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8 instructions covering 4 types: logical, arithmetic, rotate and rotate-through-carry; each has a left and a right variant.</a:t>
            </a:r>
            <a:endParaRPr lang="en-US" sz="2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3728" y="2240280"/>
          <a:ext cx="11064240" cy="914400"/>
        </p:xfrm>
        <a:graphic>
          <a:graphicData uri="http://schemas.openxmlformats.org/drawingml/2006/table">
            <a:tbl>
              <a:tblPr/>
              <a:tblGrid>
                <a:gridCol w="3840480"/>
                <a:gridCol w="1554480"/>
                <a:gridCol w="5669280"/>
              </a:tblGrid>
              <a:tr h="402336">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Name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Mnemonic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Bit shifted in at the vacated end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Logical shift right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SHR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Logical shift left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SHL</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Arithmetic shift right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SHRA</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Sign bit (leftmost bit preserved)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Arithmetic shift left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SHLA</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0 (same as logical shift left)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Rotate right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ROR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Rightmost bit wraps to leftmost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Rotate left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ROL</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Leftmost bit wraps to rightmost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Rotate right through carry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RORC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Carry bit; rightmost bit → carry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Rotate left through carry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ROLC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Carry bit; leftmost bit → carry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Typical shift instructions. Adapted from M. Morris Mano, Computer System Architecture, Table 8-9.</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Shift types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4.7</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Logical shift:</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inserts 0 at the vacated end; useful for unsigned multiplication or division by powers of 2</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Arithmetic shift right:</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preserves the sign bit, keeping the sign correct in 2’s complement arithmetic</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Arithmetic shift left:</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inserts 0; identical to logical shift left</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Rotate:</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circular; no bit is lost, the bit shifted out reappears at the other end</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Rotate through carry:</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carry flag acts as an extra bit, giving a 9-bit (17-bit on a 16-bit machine) circular shift</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Shift instruction format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4.7</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Some processors encode all shift information in one multi-field instruction</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Five fields: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OP, REG, TYPE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(2 bits),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RL</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(1 bit),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COUNT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(k bits)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TYPE (2 bits) encodes the four shift variants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RL (1 bit) selects the direction</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COUNT allows up to 2</a:t>
            </a:r>
            <a:pPr algn="l" marL="304800" indent="-304800">
              <a:spcAft>
                <a:spcPts val="1000"/>
              </a:spcAft>
              <a:buSzPct val="100000"/>
              <a:buChar char="•"/>
            </a:pPr>
            <a:r>
              <a:rPr lang="en-US" sz="3000" baseline="30000" dirty="0">
                <a:solidFill>
                  <a:srgbClr val="1F2937"/>
                </a:solidFill>
                <a:latin typeface="Calibri" pitchFamily="34" charset="0"/>
                <a:ea typeface="Calibri" pitchFamily="34" charset="-122"/>
                <a:cs typeface="Calibri" pitchFamily="34" charset="-120"/>
              </a:rPr>
              <a:t>k</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− 1 positions in one instruction</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One instruction specifies the type, direction and count together</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Shift instruction format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4.7</a:t>
            </a:r>
            <a:endParaRPr lang="en-US" sz="1600" dirty="0"/>
          </a:p>
        </p:txBody>
      </p:sp>
      <p:pic>
        <p:nvPicPr>
          <p:cNvPr id="5" name="Image 0" descr="Shift instruction format">    </p:cNvPr>
          <p:cNvPicPr>
            <a:picLocks noChangeAspect="1"/>
          </p:cNvPicPr>
          <p:nvPr/>
        </p:nvPicPr>
        <p:blipFill>
          <a:blip r:embed="rId1"/>
          <a:stretch>
            <a:fillRect/>
          </a:stretch>
        </p:blipFill>
        <p:spPr>
          <a:xfrm>
            <a:off x="274320" y="1291647"/>
            <a:ext cx="11643055" cy="436614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Shift instruction format. Adapted from M. Morris Mano, Computer System Architecture, §8-6.</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4.8  Program Control</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4.8</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The CPU normally runs instructions one after another. Program control instructions change that order by branching, calling a subroutine or handling an interrupt, often based on status bits set by the last ALU operation.</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Changing the program flow</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4.8</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Normally the PC is incremented after every fetch, so instructions run in memory order</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Program control instructions load a new value into the PC, so the CPU branches elsewhere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They cover branches, calls, returns and interrupts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Compare and test instructions update status bits; a later conditional branch then tests them</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Program control instructions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4.8</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7 instructions. Branch and jump are used interchangeably in many architectures.</a:t>
            </a:r>
            <a:endParaRPr lang="en-US" sz="2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63728" y="1874520"/>
          <a:ext cx="11064240" cy="914400"/>
        </p:xfrm>
        <a:graphic>
          <a:graphicData uri="http://schemas.openxmlformats.org/drawingml/2006/table">
            <a:tbl>
              <a:tblPr/>
              <a:tblGrid>
                <a:gridCol w="3108960"/>
                <a:gridCol w="1463040"/>
                <a:gridCol w="6492240"/>
              </a:tblGrid>
              <a:tr h="402336">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Name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Mnemonic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Action</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Branch</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BR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PC ← branch address (conditional or unconditional)</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Jump</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JMP</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Unconditional transfer to specified address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67665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Skip</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SKP</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Increment PC by 1 extra if condition is met (skip next instruction)</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Call</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CALL</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Save return address; transfer to subroutine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Return</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RET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Restore return address into PC; resume caller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Compare (by subtraction)</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CMP</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Set status bits from A − B; result discarded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Test (by ANDing)</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TST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Set status bits from A AND B; result discarded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Typical program control instructions. Adapted from M. Morris Mano, Computer System Architecture, Table 8-10.</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Status register bits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4.8</a:t>
            </a:r>
            <a:endParaRPr lang="en-US" sz="1600" dirty="0"/>
          </a:p>
        </p:txBody>
      </p:sp>
      <p:pic>
        <p:nvPicPr>
          <p:cNvPr id="5" name="Image 0" descr="Status register bits">    </p:cNvPr>
          <p:cNvPicPr>
            <a:picLocks noChangeAspect="1"/>
          </p:cNvPicPr>
          <p:nvPr/>
        </p:nvPicPr>
        <p:blipFill>
          <a:blip r:embed="rId1"/>
          <a:stretch>
            <a:fillRect/>
          </a:stretch>
        </p:blipFill>
        <p:spPr>
          <a:xfrm>
            <a:off x="1932115" y="621792"/>
            <a:ext cx="8327466"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Status register bits. Adapted from M. Morris Mano, Computer System Architecture, Fig. 8-8.</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four status bits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4.8</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C (carry):</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1 if the end carry C₈ is 1 after an addition; otherwise 0</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 (sign):</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1 if the highest-order bit F₇ of the result is 1 (negative in 2’s complement)</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Z (zero):</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1 if all bits of the ALU output are 0</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V (overflow):</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1 if C₇ ⊕ C₈ = 1: 2’s complement overflow</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For an 8-bit ALU, V = 1 means the result is greater than +127 or less than −128</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Overflow occurs exactly when the carry into the sign bit differs from the carry out of it</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Conditional branch instructions (1 of 3)</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4.8</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Each mnemonic starts with B (branch), followed by an abbreviation of the condition.</a:t>
            </a:r>
            <a:endParaRPr lang="en-US" sz="2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1158088" y="1874520"/>
          <a:ext cx="9875520" cy="914400"/>
        </p:xfrm>
        <a:graphic>
          <a:graphicData uri="http://schemas.openxmlformats.org/drawingml/2006/table">
            <a:tbl>
              <a:tblPr/>
              <a:tblGrid>
                <a:gridCol w="2011680"/>
                <a:gridCol w="4754880"/>
                <a:gridCol w="3108960"/>
              </a:tblGrid>
              <a:tr h="402336">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Mnemonic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Branch condition</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Tested condition</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02336">
                <a:tc gridSpan="3">
                  <a:txBody>
                    <a:bodyPr/>
                    <a:lstStyle/>
                    <a:p>
                      <a:pPr algn="ctr" indent="0" marL="0">
                        <a:buNone/>
                      </a:pPr>
                      <a:r>
                        <a:rPr lang="en-US" sz="1800" b="1" dirty="0">
                          <a:solidFill>
                            <a:srgbClr val="1F2937"/>
                          </a:solidFill>
                          <a:latin typeface="Calibri" pitchFamily="34" charset="0"/>
                          <a:ea typeface="Calibri" pitchFamily="34" charset="-122"/>
                          <a:cs typeface="Calibri" pitchFamily="34" charset="-120"/>
                        </a:rPr>
                        <a:t>Flag-based conditions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3F0FB"/>
                    </a:solidFill>
                  </a:tcPr>
                </a:tc>
                <a:tc hMerge="1">
                  <a:tcPr/>
                </a:tc>
                <a:tc hMerge="1">
                  <a:tcPr/>
                </a:tc>
              </a:tr>
              <a:tr h="402336">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BZ</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Branch if zero</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Z = 1</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BNZ</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Branch if not zero</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Z = 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BC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Branch if carry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C = 1</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BNC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Branch if no carry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C = 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BP</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Branch if plus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S = 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BM</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Branch if minus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S = 1</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02336">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BV</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Branch if overflow</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V = 1</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02336">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BNV</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Branch if no overflow</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1800" dirty="0">
                          <a:solidFill>
                            <a:srgbClr val="1F2937"/>
                          </a:solidFill>
                          <a:latin typeface="Calibri" pitchFamily="34" charset="0"/>
                          <a:ea typeface="Calibri" pitchFamily="34" charset="-122"/>
                          <a:cs typeface="Calibri" pitchFamily="34" charset="-120"/>
                        </a:rPr>
                        <a:t>V = 0</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Conditional branch instructions. Adapted from M. Morris Mano, Computer System Architecture, Table 8-11.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Conditional branch instructions (2 of 3)</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4.8</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The words higher and lower apply to unsigned comparison.</a:t>
            </a:r>
            <a:endParaRPr lang="en-US" sz="22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1158088" y="1874520"/>
          <a:ext cx="9875520" cy="914400"/>
        </p:xfrm>
        <a:graphic>
          <a:graphicData uri="http://schemas.openxmlformats.org/drawingml/2006/table">
            <a:tbl>
              <a:tblPr/>
              <a:tblGrid>
                <a:gridCol w="2011680"/>
                <a:gridCol w="4754880"/>
                <a:gridCol w="3108960"/>
              </a:tblGrid>
              <a:tr h="432816">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Mnemonic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Branch condition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Tested condition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gridSpan="3">
                  <a:txBody>
                    <a:bodyPr/>
                    <a:lstStyle/>
                    <a:p>
                      <a:pPr algn="ctr" indent="0" marL="0">
                        <a:buNone/>
                      </a:pPr>
                      <a:r>
                        <a:rPr lang="en-US" sz="2000" b="1" dirty="0">
                          <a:solidFill>
                            <a:srgbClr val="1F2937"/>
                          </a:solidFill>
                          <a:latin typeface="Calibri" pitchFamily="34" charset="0"/>
                          <a:ea typeface="Calibri" pitchFamily="34" charset="-122"/>
                          <a:cs typeface="Calibri" pitchFamily="34" charset="-120"/>
                        </a:rPr>
                        <a:t>Unsigned compare conditions (A −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3F0FB"/>
                    </a:solidFill>
                  </a:tcPr>
                </a:tc>
                <a:tc hMerge="1">
                  <a:tcPr/>
                </a:tc>
                <a:tc hMerge="1">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BHI</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higher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&gt;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BHE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higher or equal</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BLO</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lower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&lt;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BLOE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lower or equal</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equal</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BNE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not equal</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Conditional branch instructions. Adapted from M. Morris Mano, Computer System Architecture, Table 8-11.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Conditional branch instructions (3 of 3)</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4.8</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Greater than and less than apply to signed comparison, where V and S must both be considered. BE and BNE appear in both groups: the equality test (Z = 1) is the same.</a:t>
            </a:r>
            <a:endParaRPr lang="en-US" sz="22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1158088" y="2240280"/>
          <a:ext cx="9875520" cy="914400"/>
        </p:xfrm>
        <a:graphic>
          <a:graphicData uri="http://schemas.openxmlformats.org/drawingml/2006/table">
            <a:tbl>
              <a:tblPr/>
              <a:tblGrid>
                <a:gridCol w="2011680"/>
                <a:gridCol w="4754880"/>
                <a:gridCol w="3108960"/>
              </a:tblGrid>
              <a:tr h="432816">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Mnemonic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Branch condition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Tested condition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gridSpan="3">
                  <a:txBody>
                    <a:bodyPr/>
                    <a:lstStyle/>
                    <a:p>
                      <a:pPr algn="ctr" indent="0" marL="0">
                        <a:buNone/>
                      </a:pPr>
                      <a:r>
                        <a:rPr lang="en-US" sz="2000" b="1" dirty="0">
                          <a:solidFill>
                            <a:srgbClr val="1F2937"/>
                          </a:solidFill>
                          <a:latin typeface="Calibri" pitchFamily="34" charset="0"/>
                          <a:ea typeface="Calibri" pitchFamily="34" charset="-122"/>
                          <a:cs typeface="Calibri" pitchFamily="34" charset="-120"/>
                        </a:rPr>
                        <a:t>Signed compare conditions (A −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3F0FB"/>
                    </a:solidFill>
                  </a:tcPr>
                </a:tc>
                <a:tc hMerge="1">
                  <a:tcPr/>
                </a:tc>
                <a:tc hMerge="1">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BGT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greater than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&gt;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BGE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greater or equal</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BLT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less than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&lt;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BLE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less or equal</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equal</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BNE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Branch if not equal</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A ≠ 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Conditional branch instructions. Adapted from M. Morris Mano, Computer System Architecture, Table 8-11.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Subroutine call and return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4.8</a:t>
            </a:r>
            <a:endParaRPr lang="en-US" sz="1600" dirty="0"/>
          </a:p>
        </p:txBody>
      </p:sp>
      <p:sp>
        <p:nvSpPr>
          <p:cNvPr id="5" name="Text 2"/>
          <p:cNvSpPr txBox="1"/>
          <p:nvPr/>
        </p:nvSpPr>
        <p:spPr>
          <a:xfrm>
            <a:off x="548640" y="1280160"/>
            <a:ext cx="11094415" cy="3677920"/>
          </a:xfrm>
          <a:prstGeom prst="roundRect">
            <a:avLst>
              <a:gd name="adj" fmla="val 2486"/>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CALL subroutine:</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SP ← SP − 1               Decrement stack pointer</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M[SP] ← PC                Push return address onto stack</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PC ← effective address    Transfer control to subroutine</a:t>
            </a:r>
            <a:endParaRPr lang="en-US" sz="2200" dirty="0"/>
          </a:p>
          <a:p>
            <a:pPr indent="0" marL="0">
              <a:spcAft>
                <a:spcPts val="400"/>
              </a:spcAft>
              <a:buNone/>
            </a:pPr>
            <a:r>
              <a:rPr lang="en-US" sz="2200" dirty="0">
                <a:solidFill>
                  <a:srgbClr val="000000"/>
                </a:solidFill>
                <a:latin typeface="Courier New" pitchFamily="34" charset="0"/>
                <a:ea typeface="Courier New" pitchFamily="34" charset="-122"/>
                <a:cs typeface="Courier New" pitchFamily="34" charset="-120"/>
              </a:rPr>
              <a:t> </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Return from subroutine (RET):</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PC ← M[SP]     Pop return address into PC</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SP ← SP + 1    Increment stack pointer</a:t>
            </a:r>
            <a:endParaRPr lang="en-US" sz="2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Program interrupt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4.8</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An interrupt transfers control to a service routine in response to an asynchronous event or an error</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External:</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from I/O devices, timing circuits or power-failure detectors; asynchronous</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Internal (traps):</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illegal or erroneous instructions, such as overflow, division by zero, invalid opcode, stack overflow, protection violation; synchronous</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Software:</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a special instruction (supervisor call), e.g. to switch from user mode to supervisor mode</a:t>
            </a:r>
            <a:endParaRPr lang="en-US" sz="2200" dirty="0"/>
          </a:p>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The CPU pushes the PC and the program status word (PSW) on the stack and loads the service routine’s address into the PC</a:t>
            </a:r>
            <a:endParaRPr lang="en-US" sz="2200" dirty="0"/>
          </a:p>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Return from interrupt pops the PSW and PC, restoring the CPU state exactly</a:t>
            </a:r>
            <a:endParaRPr lang="en-US" sz="2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4.9  Addition and Subtraction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4.9</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With signs stored separately, the hardware first looks at the operation and the two signs, then either adds the magnitudes or subtracts them. Subtraction is done by adding the 2’s complement, so one adder handles both.</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Signed-magnitude addition and subtraction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signed-magnitude number is a magnitude plus a separate sign bit</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operation on the magnitudes depends on the operation and on both signs: 8 combinations</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Add magnitudes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when the signs are identical (addition) or different (subtraction); the result takes the sign of A</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Subtract magnitudes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otherwise: if A ≥ B the result has the sign of A; if A &lt; B the result is B − A with the complement of A’s sign</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zero result must get a positive sign (+0, not −0)</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Hardware for signed-magnitude addition and subtraction</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4.9</a:t>
            </a:r>
            <a:endParaRPr lang="en-US" sz="1600" dirty="0"/>
          </a:p>
        </p:txBody>
      </p:sp>
      <p:pic>
        <p:nvPicPr>
          <p:cNvPr id="5" name="Image 0" descr="Hardware for signed-magnitude addition and subtraction">    </p:cNvPr>
          <p:cNvPicPr>
            <a:picLocks noChangeAspect="1"/>
          </p:cNvPicPr>
          <p:nvPr/>
        </p:nvPicPr>
        <p:blipFill>
          <a:blip r:embed="rId1"/>
          <a:stretch>
            <a:fillRect/>
          </a:stretch>
        </p:blipFill>
        <p:spPr>
          <a:xfrm>
            <a:off x="586745" y="621792"/>
            <a:ext cx="11018205"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Hardware for signed-magnitude addition and subtraction. Adapted from M. Morris Mano, Computer System Architecture, Fig. 10-1.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Hardware components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B register:</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holds the magnitude of the second operand</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Complementer</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(mode bit M): M = 0 passes B; M = 1 passes the 1’s complement of B and sets the input carry to 1, so the adder computes A + B′ + 1 = A − B</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Parallel adder:</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computes the sum; its output carry goes to flip-flop E, showing A ≥ B after a subtraction</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A register:</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receives the result</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Sign flip-flops</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A</a:t>
            </a:r>
            <a:pPr algn="l" marL="304800" indent="-304800">
              <a:spcAft>
                <a:spcPts val="1000"/>
              </a:spcAft>
              <a:buSzPct val="100000"/>
              <a:buChar char="•"/>
            </a:pPr>
            <a:r>
              <a:rPr lang="en-US" sz="24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and B</a:t>
            </a:r>
            <a:pPr algn="l" marL="304800" indent="-304800">
              <a:spcAft>
                <a:spcPts val="1000"/>
              </a:spcAft>
              <a:buSzPct val="100000"/>
              <a:buChar char="•"/>
            </a:pPr>
            <a:r>
              <a:rPr lang="en-US" sz="24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their XOR decides whether to add or subtract magnitudes</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AVF</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(add-overflow flip-flop): captures E when magnitudes are added; signals overflow</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Add and subtract flowchart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4.9</a:t>
            </a:r>
            <a:endParaRPr lang="en-US" sz="1600" dirty="0"/>
          </a:p>
        </p:txBody>
      </p:sp>
      <p:pic>
        <p:nvPicPr>
          <p:cNvPr id="5" name="Image 0" descr="Add and subtract flowchart">    </p:cNvPr>
          <p:cNvPicPr>
            <a:picLocks noChangeAspect="1"/>
          </p:cNvPicPr>
          <p:nvPr/>
        </p:nvPicPr>
        <p:blipFill>
          <a:blip r:embed="rId1"/>
          <a:stretch>
            <a:fillRect/>
          </a:stretch>
        </p:blipFill>
        <p:spPr>
          <a:xfrm>
            <a:off x="411480" y="621792"/>
            <a:ext cx="4665165" cy="5705856"/>
          </a:xfrm>
          <a:prstGeom prst="rect">
            <a:avLst/>
          </a:prstGeom>
        </p:spPr>
      </p:pic>
      <p:sp>
        <p:nvSpPr>
          <p:cNvPr id="6" name="Text 2"/>
          <p:cNvSpPr txBox="1"/>
          <p:nvPr/>
        </p:nvSpPr>
        <p:spPr>
          <a:xfrm>
            <a:off x="5442405" y="713232"/>
            <a:ext cx="6337810" cy="5522976"/>
          </a:xfrm>
          <a:prstGeom prst="roundRect">
            <a:avLst>
              <a:gd name="adj" fmla="val 1987"/>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Compute A</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B</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0 means subtract magnitudes (EA ← A + B′ + 1, AVF ← 0); 1 means add magnitudes (EA ← A + B, AVF ← E)</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Subtract path, E = 1: A ≥ B; if A = 0 force A</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0 to avoid −0</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Subtract path, E = 0: A &lt; B; take the 2’s complement of A and complement the sign</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Both columns share the same END node</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Flowchart for add and subtract operations. Adapted from M. Morris Mano, Computer System Architecture, Fig. 10-2.</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Signed-2’s complement arithmetic</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Most computers use signed-2’s complement; the algorithm is much simpler</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Addition:</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add the numbers including the sign bits; discard the carry out of the sign position</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Subtraction:</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take the 2’s complement of the subtrahend and add it to the minuend</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Same complementer-adder, but no separate sign flip-flops; the registers are AC and BR</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Overflow rule:</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adding two numbers of the same sign gives a result of the opposite sign</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V = C₇ ⊕ C₈, where C₇ is the carry into the sign bit and C₈ the carry out of it</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4.10  Multiplication Algorithms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4.10</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The computer multiplies the way you do on paper: add the multiplicand when the multiplier bit is 1, then shift. But it shifts the partial product right instead of shifting the multiplicand left. Booth’s method does the same for signed numbers by subtracting at the start of a run of 1s and adding at its end.</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Signed-magnitude multiplication: hardware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4.10</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Paper and pencil: add shifted copies of the multiplicand whenever the multiplier bit is 1</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Hardware: shift the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partial product</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right after each addition, so everything stays in fixed-width registers</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B:</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multiplicand (magnitude);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A:</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partial product, cleared to 0 initially</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Q:</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multiplier; its rightmost bit Q</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n</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is tested each step</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E:</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carry extension left of A, cleared initially;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SC:</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counts down from n − 1 to 0</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Sign flip-flops: the product sign is A</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Q</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B</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s</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Hardware for multiply operation</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4.10</a:t>
            </a:r>
            <a:endParaRPr lang="en-US" sz="1600" dirty="0"/>
          </a:p>
        </p:txBody>
      </p:sp>
      <p:pic>
        <p:nvPicPr>
          <p:cNvPr id="5" name="Image 0" descr="Hardware for multiply operation">    </p:cNvPr>
          <p:cNvPicPr>
            <a:picLocks noChangeAspect="1"/>
          </p:cNvPicPr>
          <p:nvPr/>
        </p:nvPicPr>
        <p:blipFill>
          <a:blip r:embed="rId1"/>
          <a:stretch>
            <a:fillRect/>
          </a:stretch>
        </p:blipFill>
        <p:spPr>
          <a:xfrm>
            <a:off x="1150772" y="621792"/>
            <a:ext cx="9890150"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Hardware for multiply operation. Adapted from M. Morris Mano, Computer System Architecture, Fig. 10-5.</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Multiply flowchart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4.10</a:t>
            </a:r>
            <a:endParaRPr lang="en-US" sz="1600" dirty="0"/>
          </a:p>
        </p:txBody>
      </p:sp>
      <p:pic>
        <p:nvPicPr>
          <p:cNvPr id="5" name="Image 0" descr="Multiply flowchart">    </p:cNvPr>
          <p:cNvPicPr>
            <a:picLocks noChangeAspect="1"/>
          </p:cNvPicPr>
          <p:nvPr/>
        </p:nvPicPr>
        <p:blipFill>
          <a:blip r:embed="rId1"/>
          <a:stretch>
            <a:fillRect/>
          </a:stretch>
        </p:blipFill>
        <p:spPr>
          <a:xfrm>
            <a:off x="411480" y="621792"/>
            <a:ext cx="4075611" cy="5705856"/>
          </a:xfrm>
          <a:prstGeom prst="rect">
            <a:avLst/>
          </a:prstGeom>
        </p:spPr>
      </p:pic>
      <p:sp>
        <p:nvSpPr>
          <p:cNvPr id="6" name="Text 2"/>
          <p:cNvSpPr txBox="1"/>
          <p:nvPr/>
        </p:nvSpPr>
        <p:spPr>
          <a:xfrm>
            <a:off x="4852851" y="713232"/>
            <a:ext cx="6927364" cy="5522976"/>
          </a:xfrm>
          <a:prstGeom prst="roundRect">
            <a:avLst>
              <a:gd name="adj" fmla="val 1987"/>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If Q</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n</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1 (rightmost bit of Q), EA ← A + B</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Then shr EAQ and SC ← SC − 1</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After n steps (SC = 0) the product is in AQ</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SC starts at n − 1: the first partial product is added before the first shift</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Flowchart for multiply operation. Adapted from M. Morris Mano, Computer System Architecture, Fig. 10-6.</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Booth’s algorithm: action for each bit pair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4.10</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Booth multiplies signed 2’s complement numbers directly. A string of 1s is replaced by a subtraction at its low end and an addition at its high end. After any arithmetic, ashr is applied to AC and QR together, preserving the sign of AC.</a:t>
            </a:r>
            <a:endParaRPr lang="en-US" sz="22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63728" y="2606040"/>
          <a:ext cx="11064240" cy="914400"/>
        </p:xfrm>
        <a:graphic>
          <a:graphicData uri="http://schemas.openxmlformats.org/drawingml/2006/table">
            <a:tbl>
              <a:tblPr/>
              <a:tblGrid>
                <a:gridCol w="1188720"/>
                <a:gridCol w="1371600"/>
                <a:gridCol w="4754880"/>
                <a:gridCol w="3749040"/>
              </a:tblGrid>
              <a:tr h="432816">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Q</a:t>
                      </a:r>
                      <a:pPr algn="ctr" indent="0" marL="0">
                        <a:buNone/>
                      </a:pPr>
                      <a:r>
                        <a:rPr lang="en-US" sz="2000" b="1" baseline="-40000" dirty="0">
                          <a:solidFill>
                            <a:srgbClr val="FFFFFF"/>
                          </a:solidFill>
                          <a:latin typeface="Calibri" pitchFamily="34" charset="0"/>
                          <a:ea typeface="Calibri" pitchFamily="34" charset="-122"/>
                          <a:cs typeface="Calibri" pitchFamily="34" charset="-120"/>
                        </a:rPr>
                        <a:t>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Q</a:t>
                      </a:r>
                      <a:pPr algn="ctr" indent="0" marL="0">
                        <a:buNone/>
                      </a:pPr>
                      <a:r>
                        <a:rPr lang="en-US" sz="2000" b="1" baseline="-40000" dirty="0">
                          <a:solidFill>
                            <a:srgbClr val="FFFFFF"/>
                          </a:solidFill>
                          <a:latin typeface="Calibri" pitchFamily="34" charset="0"/>
                          <a:ea typeface="Calibri" pitchFamily="34" charset="-122"/>
                          <a:cs typeface="Calibri" pitchFamily="34" charset="-120"/>
                        </a:rPr>
                        <a:t>n+1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Action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AC ← AC + BR′ + 1 (subtract BR)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Beginning of a string of 1s</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AC ← AC + BR (add BR)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End of a string of 1s</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No arithmetic (shift only)</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Middle of a string of 0s</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No arithmetic (shift only)</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Middle of a string of 1s</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Booth algorithm: action for each bit pair</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Booth algorithm flowchart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4.10</a:t>
            </a:r>
            <a:endParaRPr lang="en-US" sz="1600" dirty="0"/>
          </a:p>
        </p:txBody>
      </p:sp>
      <p:pic>
        <p:nvPicPr>
          <p:cNvPr id="5" name="Image 0" descr="Booth algorithm flowchart">    </p:cNvPr>
          <p:cNvPicPr>
            <a:picLocks noChangeAspect="1"/>
          </p:cNvPicPr>
          <p:nvPr/>
        </p:nvPicPr>
        <p:blipFill>
          <a:blip r:embed="rId1"/>
          <a:stretch>
            <a:fillRect/>
          </a:stretch>
        </p:blipFill>
        <p:spPr>
          <a:xfrm>
            <a:off x="411480" y="621792"/>
            <a:ext cx="4525334" cy="5705856"/>
          </a:xfrm>
          <a:prstGeom prst="rect">
            <a:avLst/>
          </a:prstGeom>
        </p:spPr>
      </p:pic>
      <p:sp>
        <p:nvSpPr>
          <p:cNvPr id="6" name="Text 2"/>
          <p:cNvSpPr txBox="1"/>
          <p:nvPr/>
        </p:nvSpPr>
        <p:spPr>
          <a:xfrm>
            <a:off x="5302574" y="713232"/>
            <a:ext cx="6477641" cy="5522976"/>
          </a:xfrm>
          <a:prstGeom prst="roundRect">
            <a:avLst>
              <a:gd name="adj" fmla="val 1987"/>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Initialise: AC ← 0, Q</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n+1</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0, SC ← n</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Repeat n times: inspect Q</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n</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Q</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n+1</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and do the action from the table</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Then ashr (AC &amp; QR) and decrement SC</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When SC = 0 the product is in AC and QR</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Booth algorithm for multiplication of signed-2's complement numbers. Adapted from M. Morris Mano, Computer System Architecture, Fig. 10-8.</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Booth example: (−9) × (−13), n = 5 (1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4.10</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BR = 10111 (−9), QR = 10011 (−13), BR′ + 1 = 01001</a:t>
            </a:r>
            <a:endParaRPr lang="en-US" sz="22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63728" y="1874520"/>
          <a:ext cx="11064240" cy="914400"/>
        </p:xfrm>
        <a:graphic>
          <a:graphicData uri="http://schemas.openxmlformats.org/drawingml/2006/table">
            <a:tbl>
              <a:tblPr/>
              <a:tblGrid>
                <a:gridCol w="1920240"/>
                <a:gridCol w="2377440"/>
                <a:gridCol w="2468880"/>
                <a:gridCol w="1737360"/>
                <a:gridCol w="1371600"/>
                <a:gridCol w="1188720"/>
              </a:tblGrid>
              <a:tr h="432816">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Q</a:t>
                      </a:r>
                      <a:pPr algn="ctr" indent="0" marL="0">
                        <a:buNone/>
                      </a:pPr>
                      <a:r>
                        <a:rPr lang="en-US" sz="2000" b="1" baseline="-40000" dirty="0">
                          <a:solidFill>
                            <a:srgbClr val="FFFFFF"/>
                          </a:solidFill>
                          <a:latin typeface="Calibri" pitchFamily="34" charset="0"/>
                          <a:ea typeface="Calibri" pitchFamily="34" charset="-122"/>
                          <a:cs typeface="Calibri" pitchFamily="34" charset="-120"/>
                        </a:rPr>
                        <a:t>n</a:t>
                      </a:r>
                      <a:pPr algn="ctr" indent="0" marL="0">
                        <a:buNone/>
                      </a:pPr>
                      <a:r>
                        <a:rPr lang="en-US" sz="2000" b="1" dirty="0">
                          <a:solidFill>
                            <a:srgbClr val="FFFFFF"/>
                          </a:solidFill>
                          <a:latin typeface="Calibri" pitchFamily="34" charset="0"/>
                          <a:ea typeface="Calibri" pitchFamily="34" charset="-122"/>
                          <a:cs typeface="Calibri" pitchFamily="34" charset="-120"/>
                        </a:rPr>
                        <a:t> Q</a:t>
                      </a:r>
                      <a:pPr algn="ctr" indent="0" marL="0">
                        <a:buNone/>
                      </a:pPr>
                      <a:r>
                        <a:rPr lang="en-US" sz="2000" b="1" baseline="-40000" dirty="0">
                          <a:solidFill>
                            <a:srgbClr val="FFFFFF"/>
                          </a:solidFill>
                          <a:latin typeface="Calibri" pitchFamily="34" charset="0"/>
                          <a:ea typeface="Calibri" pitchFamily="34" charset="-122"/>
                          <a:cs typeface="Calibri" pitchFamily="34" charset="-120"/>
                        </a:rPr>
                        <a:t>n+1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Operation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AC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QR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Q</a:t>
                      </a:r>
                      <a:pPr algn="ctr" indent="0" marL="0">
                        <a:buNone/>
                      </a:pPr>
                      <a:r>
                        <a:rPr lang="en-US" sz="2000" b="1" baseline="-40000" dirty="0">
                          <a:solidFill>
                            <a:srgbClr val="FFFFFF"/>
                          </a:solidFill>
                          <a:latin typeface="Calibri" pitchFamily="34" charset="0"/>
                          <a:ea typeface="Calibri" pitchFamily="34" charset="-122"/>
                          <a:cs typeface="Calibri" pitchFamily="34" charset="-120"/>
                        </a:rPr>
                        <a:t>n+1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SC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gridSpan="2">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Initial</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hMerge="1">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1 0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Subtract BR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ashr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11001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1 1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ashr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0 1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Add BR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10111 → 11001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ashr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Booth algorithm trace: BR = 10111 (−9), QR = 10011 (−13), product = +117. Adapted from M. Morris Mano, Computer System Architecture, Table 10-3.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Booth example: (−9) × (−13), n = 5 (2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4.10</a:t>
            </a:r>
            <a:endParaRPr lang="en-US" sz="16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1920240"/>
                <a:gridCol w="2377440"/>
                <a:gridCol w="2468880"/>
                <a:gridCol w="1737360"/>
                <a:gridCol w="1371600"/>
                <a:gridCol w="1188720"/>
              </a:tblGrid>
              <a:tr h="432816">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Q</a:t>
                      </a:r>
                      <a:pPr algn="ctr" indent="0" marL="0">
                        <a:buNone/>
                      </a:pPr>
                      <a:r>
                        <a:rPr lang="en-US" sz="2000" b="1" baseline="-40000" dirty="0">
                          <a:solidFill>
                            <a:srgbClr val="FFFFFF"/>
                          </a:solidFill>
                          <a:latin typeface="Calibri" pitchFamily="34" charset="0"/>
                          <a:ea typeface="Calibri" pitchFamily="34" charset="-122"/>
                          <a:cs typeface="Calibri" pitchFamily="34" charset="-120"/>
                        </a:rPr>
                        <a:t>n</a:t>
                      </a:r>
                      <a:pPr algn="ctr" indent="0" marL="0">
                        <a:buNone/>
                      </a:pPr>
                      <a:r>
                        <a:rPr lang="en-US" sz="2000" b="1" dirty="0">
                          <a:solidFill>
                            <a:srgbClr val="FFFFFF"/>
                          </a:solidFill>
                          <a:latin typeface="Calibri" pitchFamily="34" charset="0"/>
                          <a:ea typeface="Calibri" pitchFamily="34" charset="-122"/>
                          <a:cs typeface="Calibri" pitchFamily="34" charset="-120"/>
                        </a:rPr>
                        <a:t> Q</a:t>
                      </a:r>
                      <a:pPr algn="ctr" indent="0" marL="0">
                        <a:buNone/>
                      </a:pPr>
                      <a:r>
                        <a:rPr lang="en-US" sz="2000" b="1" baseline="-40000" dirty="0">
                          <a:solidFill>
                            <a:srgbClr val="FFFFFF"/>
                          </a:solidFill>
                          <a:latin typeface="Calibri" pitchFamily="34" charset="0"/>
                          <a:ea typeface="Calibri" pitchFamily="34" charset="-122"/>
                          <a:cs typeface="Calibri" pitchFamily="34" charset="-120"/>
                        </a:rPr>
                        <a:t>n+1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Operation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AC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QR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Q</a:t>
                      </a:r>
                      <a:pPr algn="ctr" indent="0" marL="0">
                        <a:buNone/>
                      </a:pPr>
                      <a:r>
                        <a:rPr lang="en-US" sz="2000" b="1" baseline="-40000" dirty="0">
                          <a:solidFill>
                            <a:srgbClr val="FFFFFF"/>
                          </a:solidFill>
                          <a:latin typeface="Calibri" pitchFamily="34" charset="0"/>
                          <a:ea typeface="Calibri" pitchFamily="34" charset="-122"/>
                          <a:cs typeface="Calibri" pitchFamily="34" charset="-120"/>
                        </a:rPr>
                        <a:t>n+1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SC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0 0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ashr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1 0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Subtract BR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01001 → 00111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ashr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10101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gridSpan="2">
                  <a:txBody>
                    <a:bodyPr/>
                    <a:lstStyle/>
                    <a:p>
                      <a:pPr algn="ctr" indent="0" marL="0">
                        <a:buNone/>
                      </a:pPr>
                      <a:r>
                        <a:rPr lang="en-US" sz="2000" b="1" dirty="0">
                          <a:solidFill>
                            <a:srgbClr val="1F2937"/>
                          </a:solidFill>
                          <a:latin typeface="Calibri" pitchFamily="34" charset="0"/>
                          <a:ea typeface="Calibri" pitchFamily="34" charset="-122"/>
                          <a:cs typeface="Calibri" pitchFamily="34" charset="-120"/>
                        </a:rPr>
                        <a:t>Product in AC·QR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hMerge="1">
                  <a:tcPr/>
                </a:tc>
                <a:tc gridSpan="4">
                  <a:txBody>
                    <a:bodyPr/>
                    <a:lstStyle/>
                    <a:p>
                      <a:pPr algn="ctr" indent="0" marL="0">
                        <a:buNone/>
                      </a:pPr>
                      <a:r>
                        <a:rPr lang="en-US" sz="2000" b="1" dirty="0">
                          <a:solidFill>
                            <a:srgbClr val="1F2937"/>
                          </a:solidFill>
                          <a:latin typeface="Calibri" pitchFamily="34" charset="0"/>
                          <a:ea typeface="Calibri" pitchFamily="34" charset="-122"/>
                          <a:cs typeface="Calibri" pitchFamily="34" charset="-120"/>
                        </a:rPr>
                        <a:t>0001110101 = +117 ✓</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hMerge="1">
                  <a:tcPr/>
                </a:tc>
                <a:tc hMerge="1">
                  <a:tcPr/>
                </a:tc>
                <a:tc hMerge="1">
                  <a:tcPr/>
                </a:tc>
              </a:tr>
            </a:tbl>
          </a:graphicData>
        </a:graphic>
      </p:graphicFrame>
      <p:sp>
        <p:nvSpPr>
          <p:cNvPr id="6" name="Text 2"/>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Booth algorithm trace: BR = 10111 (−9), QR = 10011 (−13), product = +117. Adapted from M. Morris Mano, Computer System Architecture, Table 10-3.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Array multiplier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4.10</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sequential algorithm needs n clock cycles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combinational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array multiplier</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produces the product in a single step, using parallel hardware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For j multiplier bits and k multiplicand bits it needs j × k AND gates and (j − 1) k-bit adders, producing a product of j + k bits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Combinational (single step) but expensive in hardware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4.11  Division Algorithms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4.11</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The hardware divides like long division in binary. Each step shifts the partial remainder left and tries subtracting the divisor; if it fits, the quotient bit is 1, otherwise the remainder is restored and the bit is 0.</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Division hardware: overview</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hardware reuses the complementer-and-adder used for add, subtract and multiply</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double-length dividend is in registers A and Q; the divisor is in B</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Each step: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1.</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shl EAQ (shift the partial remainder left);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2.</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EA ← A + B′ + 1 (trial subtraction)</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3.</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If E = 1 (A ≥ B), Q</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n</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1; if E = 0 (A &lt; B), restore A by adding B back and the quotient bit stays 0</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4.</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Decrement SC</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After n steps the quotient is in Q and the remainder is in A</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Divide overflow</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Overflow: the quotient needs more bits than the register holds</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It is detected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before</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main loop: if the high half of the dividend (initial A) is ≥ the divisor B, the quotient would exceed n bits</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Then the divide-overflow flip-flop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DVF</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is set to 1 and the operation is aborted; hardware typically raises an interrupt</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Condition:</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DVF ← 1 when E = 1 after the first EA ← A + B′ + 1, i.e. A ≥ B before any shift</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Division by zero is also caught here, since any dividend is greater than zero</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Divide flowchart (signed-magnitude)</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4.11</a:t>
            </a:r>
            <a:endParaRPr lang="en-US" sz="1600" dirty="0"/>
          </a:p>
        </p:txBody>
      </p:sp>
      <p:pic>
        <p:nvPicPr>
          <p:cNvPr id="5" name="Image 0" descr="Divide flowchart (signed-magnitude)">    </p:cNvPr>
          <p:cNvPicPr>
            <a:picLocks noChangeAspect="1"/>
          </p:cNvPicPr>
          <p:nvPr/>
        </p:nvPicPr>
        <p:blipFill>
          <a:blip r:embed="rId1"/>
          <a:stretch>
            <a:fillRect/>
          </a:stretch>
        </p:blipFill>
        <p:spPr>
          <a:xfrm>
            <a:off x="411480" y="621792"/>
            <a:ext cx="4841332" cy="5705856"/>
          </a:xfrm>
          <a:prstGeom prst="rect">
            <a:avLst/>
          </a:prstGeom>
        </p:spPr>
      </p:pic>
      <p:sp>
        <p:nvSpPr>
          <p:cNvPr id="6" name="Text 2"/>
          <p:cNvSpPr txBox="1"/>
          <p:nvPr/>
        </p:nvSpPr>
        <p:spPr>
          <a:xfrm>
            <a:off x="5618572" y="713232"/>
            <a:ext cx="6161643" cy="5522976"/>
          </a:xfrm>
          <a:prstGeom prst="roundRect">
            <a:avLst>
              <a:gd name="adj" fmla="val 1987"/>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Initialise: Q</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A</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B</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SC ← n − 1</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Overflow check: EA ← A + B′ + 1; E = 1 sets DVF ← 1 and ends, E = 0 enters the loop</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Loop n times: shl EAQ, trial subtract; E = 1 sets Q</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n</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1, E = 0 restores A; SC ← SC − 1</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SC starts at n − 1: the overflow-check step counts as one</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Flowchart for divide operation (signed-magnitude). Adapted from M. Morris Mano, Computer System Architecture, Fig. 10-13.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Division example: 448 ÷ 17 (1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4.11</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Dividing 0111000000 (448) by B = 10001 (17), following the steps of the book’s worked example.</a:t>
            </a:r>
            <a:endParaRPr lang="en-US" sz="22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609448" y="2240280"/>
          <a:ext cx="10972800" cy="914400"/>
        </p:xfrm>
        <a:graphic>
          <a:graphicData uri="http://schemas.openxmlformats.org/drawingml/2006/table">
            <a:tbl>
              <a:tblPr/>
              <a:tblGrid>
                <a:gridCol w="1005840"/>
                <a:gridCol w="5394960"/>
                <a:gridCol w="731520"/>
                <a:gridCol w="1463040"/>
                <a:gridCol w="1463040"/>
                <a:gridCol w="914400"/>
              </a:tblGrid>
              <a:tr h="432816">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Step</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Operation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Q</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SC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7376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Init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Dividend in AQ, divisor B = 10001, B′ + 1 = 01111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shl EAQ</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Add B′ + 1 → E = 1: set Q</a:t>
                      </a:r>
                      <a:pPr algn="l" indent="0" marL="0">
                        <a:buNone/>
                      </a:pPr>
                      <a:r>
                        <a:rPr lang="en-US" sz="2000" baseline="-40000" dirty="0">
                          <a:solidFill>
                            <a:srgbClr val="1F2937"/>
                          </a:solidFill>
                          <a:latin typeface="Calibri" pitchFamily="34" charset="0"/>
                          <a:ea typeface="Calibri" pitchFamily="34" charset="-122"/>
                          <a:cs typeface="Calibri" pitchFamily="34" charset="-120"/>
                        </a:rPr>
                        <a:t>n</a:t>
                      </a:r>
                      <a:pPr algn="l" indent="0" marL="0">
                        <a:buNone/>
                      </a:pPr>
                      <a:r>
                        <a:rPr lang="en-US" sz="2000" dirty="0">
                          <a:solidFill>
                            <a:srgbClr val="1F2937"/>
                          </a:solidFill>
                          <a:latin typeface="Calibri" pitchFamily="34" charset="0"/>
                          <a:ea typeface="Calibri" pitchFamily="34" charset="-122"/>
                          <a:cs typeface="Calibri" pitchFamily="34" charset="-120"/>
                        </a:rPr>
                        <a:t> = 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shl EAQ</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Add B′ + 1 → E = 1: set Q</a:t>
                      </a:r>
                      <a:pPr algn="l" indent="0" marL="0">
                        <a:buNone/>
                      </a:pPr>
                      <a:r>
                        <a:rPr lang="en-US" sz="2000" baseline="-40000" dirty="0">
                          <a:solidFill>
                            <a:srgbClr val="1F2937"/>
                          </a:solidFill>
                          <a:latin typeface="Calibri" pitchFamily="34" charset="0"/>
                          <a:ea typeface="Calibri" pitchFamily="34" charset="-122"/>
                          <a:cs typeface="Calibri" pitchFamily="34" charset="-120"/>
                        </a:rPr>
                        <a:t>n</a:t>
                      </a:r>
                      <a:pPr algn="l" indent="0" marL="0">
                        <a:buNone/>
                      </a:pPr>
                      <a:r>
                        <a:rPr lang="en-US" sz="2000" dirty="0">
                          <a:solidFill>
                            <a:srgbClr val="1F2937"/>
                          </a:solidFill>
                          <a:latin typeface="Calibri" pitchFamily="34" charset="0"/>
                          <a:ea typeface="Calibri" pitchFamily="34" charset="-122"/>
                          <a:cs typeface="Calibri" pitchFamily="34" charset="-120"/>
                        </a:rPr>
                        <a:t> = 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Binary division with digital hardware (Dividend = 01110 00000, Divisor B = 10001). Adapted from M. Morris Mano, Computer System Architecture, Fig. 10-12.</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Division example: 448 ÷ 17 (2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4.11</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Quotient in Q = 11010 (26), remainder in A = 00110 (6): 448 ÷ 17 = 26 remainder 6.</a:t>
            </a:r>
            <a:endParaRPr lang="en-US" sz="22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609448" y="1874520"/>
          <a:ext cx="10972800" cy="914400"/>
        </p:xfrm>
        <a:graphic>
          <a:graphicData uri="http://schemas.openxmlformats.org/drawingml/2006/table">
            <a:tbl>
              <a:tblPr/>
              <a:tblGrid>
                <a:gridCol w="1005840"/>
                <a:gridCol w="5394960"/>
                <a:gridCol w="731520"/>
                <a:gridCol w="1463040"/>
                <a:gridCol w="1463040"/>
                <a:gridCol w="914400"/>
              </a:tblGrid>
              <a:tr h="432816">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Step</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Operation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Q</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SC</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shl EAQ</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737616">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Add B′ + 1 → E = 0: leave Q</a:t>
                      </a:r>
                      <a:pPr algn="l" indent="0" marL="0">
                        <a:buNone/>
                      </a:pPr>
                      <a:r>
                        <a:rPr lang="en-US" sz="2000" baseline="-40000" dirty="0">
                          <a:solidFill>
                            <a:srgbClr val="1F2937"/>
                          </a:solidFill>
                          <a:latin typeface="Calibri" pitchFamily="34" charset="0"/>
                          <a:ea typeface="Calibri" pitchFamily="34" charset="-122"/>
                          <a:cs typeface="Calibri" pitchFamily="34" charset="-120"/>
                        </a:rPr>
                        <a:t>n</a:t>
                      </a:r>
                      <a:pPr algn="l" indent="0" marL="0">
                        <a:buNone/>
                      </a:pPr>
                      <a:r>
                        <a:rPr lang="en-US" sz="2000" dirty="0">
                          <a:solidFill>
                            <a:srgbClr val="1F2937"/>
                          </a:solidFill>
                          <a:latin typeface="Calibri" pitchFamily="34" charset="0"/>
                          <a:ea typeface="Calibri" pitchFamily="34" charset="-122"/>
                          <a:cs typeface="Calibri" pitchFamily="34" charset="-120"/>
                        </a:rPr>
                        <a:t> = 0, add B (restore)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shl EAQ</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Add B′ + 1 → E = 1: set Q</a:t>
                      </a:r>
                      <a:pPr algn="l" indent="0" marL="0">
                        <a:buNone/>
                      </a:pPr>
                      <a:r>
                        <a:rPr lang="en-US" sz="2000" baseline="-40000" dirty="0">
                          <a:solidFill>
                            <a:srgbClr val="1F2937"/>
                          </a:solidFill>
                          <a:latin typeface="Calibri" pitchFamily="34" charset="0"/>
                          <a:ea typeface="Calibri" pitchFamily="34" charset="-122"/>
                          <a:cs typeface="Calibri" pitchFamily="34" charset="-120"/>
                        </a:rPr>
                        <a:t>n</a:t>
                      </a:r>
                      <a:pPr algn="l" indent="0" marL="0">
                        <a:buNone/>
                      </a:pPr>
                      <a:r>
                        <a:rPr lang="en-US" sz="2000" dirty="0">
                          <a:solidFill>
                            <a:srgbClr val="1F2937"/>
                          </a:solidFill>
                          <a:latin typeface="Calibri" pitchFamily="34" charset="0"/>
                          <a:ea typeface="Calibri" pitchFamily="34" charset="-122"/>
                          <a:cs typeface="Calibri" pitchFamily="34" charset="-120"/>
                        </a:rPr>
                        <a:t> = 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shl EAQ</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737616">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Add B′ + 1 → E = 0: leave Q</a:t>
                      </a:r>
                      <a:pPr algn="l" indent="0" marL="0">
                        <a:buNone/>
                      </a:pPr>
                      <a:r>
                        <a:rPr lang="en-US" sz="2000" baseline="-40000" dirty="0">
                          <a:solidFill>
                            <a:srgbClr val="1F2937"/>
                          </a:solidFill>
                          <a:latin typeface="Calibri" pitchFamily="34" charset="0"/>
                          <a:ea typeface="Calibri" pitchFamily="34" charset="-122"/>
                          <a:cs typeface="Calibri" pitchFamily="34" charset="-120"/>
                        </a:rPr>
                        <a:t>n</a:t>
                      </a:r>
                      <a:pPr algn="l" indent="0" marL="0">
                        <a:buNone/>
                      </a:pPr>
                      <a:r>
                        <a:rPr lang="en-US" sz="2000" dirty="0">
                          <a:solidFill>
                            <a:srgbClr val="1F2937"/>
                          </a:solidFill>
                          <a:latin typeface="Calibri" pitchFamily="34" charset="0"/>
                          <a:ea typeface="Calibri" pitchFamily="34" charset="-122"/>
                          <a:cs typeface="Calibri" pitchFamily="34" charset="-120"/>
                        </a:rPr>
                        <a:t> = 0, add B (restore)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Binary division with digital hardware (Dividend = 01110 00000, Divisor B = 10001). Adapted from M. Morris Mano, Computer System Architecture, Fig. 10-12.</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4.12  Floating-Point Arithmetic Operations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A floating-point number is a mantissa times a power of 2. To add, first make the exponents equal by shifting a mantissa; to multiply, add the exponents and multiply the mantissas; to divide, subtract the exponents and divide the mantissas. Then normalise.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Floating-point basics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floating-point number has a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mantissa</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m and an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exponent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e: the value is m × r</a:t>
            </a:r>
            <a:pPr algn="l" marL="304800" indent="-304800">
              <a:spcAft>
                <a:spcPts val="1000"/>
              </a:spcAft>
              <a:buSzPct val="100000"/>
              <a:buChar char="•"/>
            </a:pPr>
            <a:r>
              <a:rPr lang="en-US" sz="3000" baseline="30000" dirty="0">
                <a:solidFill>
                  <a:srgbClr val="1F2937"/>
                </a:solidFill>
                <a:latin typeface="Calibri" pitchFamily="34" charset="0"/>
                <a:ea typeface="Calibri" pitchFamily="34" charset="-122"/>
                <a:cs typeface="Calibri" pitchFamily="34" charset="-120"/>
              </a:rPr>
              <a:t>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with radix r</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radix and the radix point are implied, not stored; here r = 2 and the mantissa is a fraction</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number is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normalised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when the most significant digit of the mantissa is nonzero; this maximises the significant digits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Zero cannot be normalised: it is all 0s in both the mantissa and exponent fields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Biased exponent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exponent can be stored as signed-magnitude, signed-2’s complement, signed-1’s complement or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biased</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Biased is the most common: a positive bias is added to every exponent before storing</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Example: bias 50, exponent range −50 to +49, stored values 0 to 99: all positive, no sign bit</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Advantage: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all stored exponents are positive, so a magnitude comparator can compare them; this simplifies the mantissa alignment hardware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Register configuration for floating-point operations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pic>
        <p:nvPicPr>
          <p:cNvPr id="5" name="Image 0" descr="Register configuration for floating-point operations">    </p:cNvPr>
          <p:cNvPicPr>
            <a:picLocks noChangeAspect="1"/>
          </p:cNvPicPr>
          <p:nvPr/>
        </p:nvPicPr>
        <p:blipFill>
          <a:blip r:embed="rId1"/>
          <a:stretch>
            <a:fillRect/>
          </a:stretch>
        </p:blipFill>
        <p:spPr>
          <a:xfrm>
            <a:off x="846460" y="621792"/>
            <a:ext cx="10498775"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Register configuration for floating-point arithmetic operations. Adapted from M. Morris Mano, Computer System Architecture, Fig. 10-14.</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registers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BR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(B</a:t>
            </a:r>
            <a:pPr algn="l" marL="304800" indent="-304800">
              <a:spcAft>
                <a:spcPts val="1000"/>
              </a:spcAft>
              <a:buSzPct val="100000"/>
              <a:buChar char="•"/>
            </a:pPr>
            <a:r>
              <a:rPr lang="en-US" sz="28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B, b): one operand: its sign, mantissa and biased exponent</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AC</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a:t>
            </a:r>
            <a:pPr algn="l" marL="304800" indent="-304800">
              <a:spcAft>
                <a:spcPts val="1000"/>
              </a:spcAft>
              <a:buSzPct val="100000"/>
              <a:buChar char="•"/>
            </a:pPr>
            <a:r>
              <a:rPr lang="en-US" sz="28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A₁, A, a): the accumulator; A₁ is the MSB of the mantissa and must be 1 for a normalised number</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QR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(Q</a:t>
            </a:r>
            <a:pPr algn="l" marL="304800" indent="-304800">
              <a:spcAft>
                <a:spcPts val="1000"/>
              </a:spcAft>
              <a:buSzPct val="100000"/>
              <a:buChar char="•"/>
            </a:pPr>
            <a:r>
              <a:rPr lang="en-US" sz="28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Q, q): the multiplier/quotient register in multiplication and division</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parallel adder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handles the mantissa arithmetic, the same circuit as fixed point</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separate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parallel adder and comparator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handles the exponents</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Addition and subtraction: four phases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1. Check for zeros: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if BR = 0 the result is already in AC; if AC = 0, AC ← BR (for subtraction the sign of AC is complemented)</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2. Align mantissas: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shift the mantissa with the smaller exponent right, incrementing its exponent, until the exponents are equal</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3. Add or subtract mantissas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by the signed-magnitude algorithm; if the carry E = 1 after addition, shift the sum right and increment the exponent</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4. Normalise:</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shift left and decrement the exponent until A₁ = 1; if the mantissa is all zeros, clear AC</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Addition and subtraction of floating-point numbers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pic>
        <p:nvPicPr>
          <p:cNvPr id="5" name="Image 0" descr="Addition and subtraction of floating-point numbers">    </p:cNvPr>
          <p:cNvPicPr>
            <a:picLocks noChangeAspect="1"/>
          </p:cNvPicPr>
          <p:nvPr/>
        </p:nvPicPr>
        <p:blipFill>
          <a:blip r:embed="rId1"/>
          <a:stretch>
            <a:fillRect/>
          </a:stretch>
        </p:blipFill>
        <p:spPr>
          <a:xfrm>
            <a:off x="411480" y="621792"/>
            <a:ext cx="5149187" cy="5705856"/>
          </a:xfrm>
          <a:prstGeom prst="rect">
            <a:avLst/>
          </a:prstGeom>
        </p:spPr>
      </p:pic>
      <p:sp>
        <p:nvSpPr>
          <p:cNvPr id="6" name="Text 2"/>
          <p:cNvSpPr txBox="1"/>
          <p:nvPr/>
        </p:nvSpPr>
        <p:spPr>
          <a:xfrm>
            <a:off x="5926427" y="713232"/>
            <a:ext cx="5853788" cy="5522976"/>
          </a:xfrm>
          <a:prstGeom prst="roundRect">
            <a:avLst>
              <a:gd name="adj" fmla="val 1987"/>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Four phases: zero check, align, add or subtract, normalise</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Align: shift the mantissa with the smaller exponent right (left shifts would lose precision)</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Normalise: shift left and decrement the exponent until A₁ = 1</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 carry E = 1 after addition: shift right once, increment the exponent</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Addition and subtraction of floating-point numbers (four phases). Adapted from M. Morris Mano, Computer System Architecture, Fig. 10-15.</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Multiplication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No mantissa alignment is needed</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1. Check for zeros: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if either operand is zero, AC ← 0 and stop</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2. Add exponents: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 ← q, then a ← a + b; the sum carries double the bias, so subtract the bias: a ← a − bias</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3. Multiply mantissas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with the shift-and-add algorithm; the double-precision product is in AQ; only the single-precision part in AC is kept</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4. Normalise:</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if A₁ = 0, shift AQ left and decrement the exponent once (at most one leading zero is possible); if A₁ = 1 it is already normalised</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Floating-point multiplication</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pic>
        <p:nvPicPr>
          <p:cNvPr id="5" name="Image 0" descr="Floating-point multiplication">    </p:cNvPr>
          <p:cNvPicPr>
            <a:picLocks noChangeAspect="1"/>
          </p:cNvPicPr>
          <p:nvPr/>
        </p:nvPicPr>
        <p:blipFill>
          <a:blip r:embed="rId1"/>
          <a:stretch>
            <a:fillRect/>
          </a:stretch>
        </p:blipFill>
        <p:spPr>
          <a:xfrm>
            <a:off x="411480" y="621792"/>
            <a:ext cx="3307743" cy="5705856"/>
          </a:xfrm>
          <a:prstGeom prst="rect">
            <a:avLst/>
          </a:prstGeom>
        </p:spPr>
      </p:pic>
      <p:sp>
        <p:nvSpPr>
          <p:cNvPr id="6" name="Text 2"/>
          <p:cNvSpPr txBox="1"/>
          <p:nvPr/>
        </p:nvSpPr>
        <p:spPr>
          <a:xfrm>
            <a:off x="4084983" y="713232"/>
            <a:ext cx="7695233" cy="5522976"/>
          </a:xfrm>
          <a:prstGeom prst="roundRect">
            <a:avLst>
              <a:gd name="adj" fmla="val 1987"/>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Exponents: a + b = true a + true b + 2 × bias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Subtracting one bias gives true a + true b + bias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Normalise: at most one left shift of AQ (check A₁)</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No mantissa alignment is needed</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Multiplication of floating-point numbers. Adapted from M. Morris Mano, Computer System Architecture, Fig. 10-16.</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Division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1. Check for zeros: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BR = 0 is divide by zero, so terminate with an error; AC = 0 gives zero: QR ← 0 and stop</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2. Initialise:</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Q</a:t>
            </a:r>
            <a:pPr algn="l" marL="304800" indent="-304800">
              <a:spcAft>
                <a:spcPts val="1000"/>
              </a:spcAft>
              <a:buSzPct val="100000"/>
              <a:buChar char="•"/>
            </a:pPr>
            <a:r>
              <a:rPr lang="en-US" sz="28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 A</a:t>
            </a:r>
            <a:pPr algn="l" marL="304800" indent="-304800">
              <a:spcAft>
                <a:spcPts val="1000"/>
              </a:spcAft>
              <a:buSzPct val="100000"/>
              <a:buChar char="•"/>
            </a:pPr>
            <a:r>
              <a:rPr lang="en-US" sz="28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 B</a:t>
            </a:r>
            <a:pPr algn="l" marL="304800" indent="-304800">
              <a:spcAft>
                <a:spcPts val="1000"/>
              </a:spcAft>
              <a:buSzPct val="100000"/>
              <a:buChar char="•"/>
            </a:pPr>
            <a:r>
              <a:rPr lang="en-US" sz="2800" baseline="-40000" dirty="0">
                <a:solidFill>
                  <a:srgbClr val="1F2937"/>
                </a:solidFill>
                <a:latin typeface="Calibri" pitchFamily="34" charset="0"/>
                <a:ea typeface="Calibri" pitchFamily="34" charset="-122"/>
                <a:cs typeface="Calibri" pitchFamily="34" charset="-120"/>
              </a:rPr>
              <a:t>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Q ← 0, SC ← n − 1</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3. Align the dividend: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EA ← A + B′ + 1; if E = 1 (A ≥ B), shift A right and increment a so that A &lt; B; if E = 0, restore A. This prevents mantissa divide overflow</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4. Subtract exponents: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 ← a + b′ + 1; add the bias back and transfer to q</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5. Divide mantissas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by the division algorithm; since A &lt; B the result is already normalised</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Floating-point division</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pic>
        <p:nvPicPr>
          <p:cNvPr id="5" name="Image 0" descr="Floating-point division">    </p:cNvPr>
          <p:cNvPicPr>
            <a:picLocks noChangeAspect="1"/>
          </p:cNvPicPr>
          <p:nvPr/>
        </p:nvPicPr>
        <p:blipFill>
          <a:blip r:embed="rId1"/>
          <a:stretch>
            <a:fillRect/>
          </a:stretch>
        </p:blipFill>
        <p:spPr>
          <a:xfrm>
            <a:off x="411480" y="621792"/>
            <a:ext cx="3408693" cy="5705856"/>
          </a:xfrm>
          <a:prstGeom prst="rect">
            <a:avLst/>
          </a:prstGeom>
        </p:spPr>
      </p:pic>
      <p:sp>
        <p:nvSpPr>
          <p:cNvPr id="6" name="Text 2"/>
          <p:cNvSpPr txBox="1"/>
          <p:nvPr/>
        </p:nvSpPr>
        <p:spPr>
          <a:xfrm>
            <a:off x="4185933" y="713232"/>
            <a:ext cx="7594282" cy="5522976"/>
          </a:xfrm>
          <a:prstGeom prst="roundRect">
            <a:avLst>
              <a:gd name="adj" fmla="val 1987"/>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Dividend alignment: if A ≥ B shift A right and increment a, so that A &lt; B</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Then the mantissa quotient is a fraction below 1, already normalised</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Division is the only operation with no separate normalisation step</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Subtract the exponents, add the bias back and transfer to q</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Division of floating-point numbers. Adapted from M. Morris Mano, Computer System Architecture, Fig. 10-17.</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Summary: floating-point arithmetic operations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4.12</a:t>
            </a:r>
            <a:endParaRPr lang="en-US" sz="16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011680"/>
                <a:gridCol w="2834640"/>
                <a:gridCol w="3108960"/>
                <a:gridCol w="3108960"/>
              </a:tblGrid>
              <a:tr h="432816">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Operation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Exponent step</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Mantissa step</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Normalisation needed?</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10424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Add / Subtract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Compare; align smaller exponent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Add or subtract (signed-magnitude)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Yes: shift left until A₁ = 1, or shift right if overflow</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7376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Multiply</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Add exponents; subtract bias</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Multiply (shift-and-add); keep high half</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At most one left shift (A₁ check)</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10424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Divide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Subtract exponents; add bias</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Divide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No: dividend alignment guarantees a normalised result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6" name="Text 2"/>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Summary: floating-point arithmetic operations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Unit 4 summary (1 of 2)</a:t>
            </a:r>
            <a:endParaRPr lang="en-US" sz="3000" dirty="0"/>
          </a:p>
        </p:txBody>
      </p:sp>
      <p:sp>
        <p:nvSpPr>
          <p:cNvPr id="4" name="Text 1"/>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4.1 Control memory:</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a ROM of microinstructions; the CAR addresses it; one microprogram per machine instruction</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4.2 Address sequencing:</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increment, branch, map, call/return, chosen by the BR and CD fields</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4.3 General registers:</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SELA, SELB, SELD and OPR form a 14-bit control word for one shared ALU</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4.4 Stack:</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last-in, first-out with an SP; push and pop RTL; RPN is evaluated with a stack</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4.5 Instruction formats:</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opcode, address and mode fields; fewer address fields give shorter instructions but longer programs</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4.6 Addressing modes:</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nine rules for finding the operand through an effective address</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Unit 4 summary (2 of 2)</a:t>
            </a:r>
            <a:endParaRPr lang="en-US" sz="3000" dirty="0"/>
          </a:p>
        </p:txBody>
      </p:sp>
      <p:sp>
        <p:nvSpPr>
          <p:cNvPr id="4" name="Text 1"/>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4.7 Data transfer and manipulation:</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transfer, arithmetic, logic and shift instruction groups</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4.8 Program control:</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branches, CALL/RET and interrupts, driven by the status bits C, S, Z and V</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4.9 Addition and subtraction:</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one adder for both; add or subtract magnitudes by the signs; V = C₇ ⊕ C₈</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4.10 Multiplication:</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shift-and-add, Booth’s algorithm for signed numbers, and the array multiplier</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4.11 Division:</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shift left, trial subtract, restore; DVF flags divide overflow</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4.12 Floating point:</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align exponents to add or subtract, add or subtract exponents to multiply or divide, then normalise</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Key applications:</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stacks and RPN in compilers; relative addressing for position-independent code; microprogramming so one processor can emulate another</a:t>
            </a:r>
            <a:endParaRPr lang="en-US" sz="2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98</a:t>
            </a:fld>
            <a:endParaRPr lang="en-US"/>
          </a:p>
        </p:txBody>
      </p:sp>
    </p:spTree>
  </p:cSld>
  <p:clrMapOvr>
    <a:masterClrMapping/>
  </p:clrMapOvr>
</p:sld>
</file>

<file path=ppt/theme/theme1.xml><?xml version="1.0" encoding="utf-8"?>
<a:theme xmlns:a="http://schemas.openxmlformats.org/drawingml/2006/main" name="Chandras Edu">
  <a:themeElements>
    <a:clrScheme name="Chandras Edu">
      <a:dk1>
        <a:srgbClr val="1F2937"/>
      </a:dk1>
      <a:lt1>
        <a:srgbClr val="FFFFFF"/>
      </a:lt1>
      <a:dk2>
        <a:srgbClr val="1565C0"/>
      </a:dk2>
      <a:lt2>
        <a:srgbClr val="F5F8FC"/>
      </a:lt2>
      <a:accent1>
        <a:srgbClr val="1565C0"/>
      </a:accent1>
      <a:accent2>
        <a:srgbClr val="FF8F00"/>
      </a:accent2>
      <a:accent3>
        <a:srgbClr val="546E7A"/>
      </a:accent3>
      <a:accent4>
        <a:srgbClr val="90CAF9"/>
      </a:accent4>
      <a:accent5>
        <a:srgbClr val="FFE0B2"/>
      </a:accent5>
      <a:accent6>
        <a:srgbClr val="2E7D32"/>
      </a:accent6>
      <a:hlink>
        <a:srgbClr val="1565C0"/>
      </a:hlink>
      <a:folHlink>
        <a:srgbClr val="546E7A"/>
      </a:folHlink>
    </a:clrScheme>
    <a:fontScheme name="Chandras Edu">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98</Slides>
  <Notes>98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98</vt:i4>
      </vt:variant>
    </vt:vector>
  </HeadingPairs>
  <TitlesOfParts>
    <vt:vector size="10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 Unit 4</dc:title>
  <dc:subject>PptxGenJS Presentation</dc:subject>
  <dc:creator>CHANDRAS EDU</dc:creator>
  <cp:lastModifiedBy>CHANDRAS EDU</cp:lastModifiedBy>
  <cp:revision>1</cp:revision>
  <dcterms:created xsi:type="dcterms:W3CDTF">2026-10-24T12:29:14Z</dcterms:created>
  <dcterms:modified xsi:type="dcterms:W3CDTF">2026-10-24T12:29:14Z</dcterms:modified>
</cp:coreProperties>
</file>