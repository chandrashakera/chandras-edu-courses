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DB14075-0B5A-D816-9C4A-38FC50CDE0A7}">
          <p14:sldIdLst>
            <p14:sldId id="256"/>
            <p14:sldId id="257"/>
          </p14:sldIdLst>
        </p14:section>
        <p14:section name="3.1 Register Transfer Language" id="{7030FEA8-F6A8-B2CA-F440-617BA58245EC}">
          <p14:sldIdLst>
            <p14:sldId id="258"/>
            <p14:sldId id="259"/>
            <p14:sldId id="260"/>
            <p14:sldId id="261"/>
            <p14:sldId id="262"/>
            <p14:sldId id="263"/>
          </p14:sldIdLst>
        </p14:section>
        <p14:section name="3.2 Register Transfer" id="{B889887D-5A00-937D-A000-E5E11E225589}">
          <p14:sldIdLst>
            <p14:sldId id="264"/>
            <p14:sldId id="265"/>
            <p14:sldId id="266"/>
            <p14:sldId id="267"/>
            <p14:sldId id="268"/>
          </p14:sldIdLst>
        </p14:section>
        <p14:section name="3.3 Bus &amp; Memory Transfers" id="{E3C35EB1-2238-6E96-61DC-95B53DA89BF6}">
          <p14:sldIdLst>
            <p14:sldId id="269"/>
            <p14:sldId id="270"/>
            <p14:sldId id="271"/>
            <p14:sldId id="272"/>
            <p14:sldId id="273"/>
            <p14:sldId id="274"/>
            <p14:sldId id="275"/>
            <p14:sldId id="276"/>
          </p14:sldIdLst>
        </p14:section>
        <p14:section name="3.4 Arithmetic Micro-operations" id="{A28204DE-7050-DB02-7D5F-533DFDCBA88D}">
          <p14:sldIdLst>
            <p14:sldId id="277"/>
            <p14:sldId id="278"/>
            <p14:sldId id="279"/>
            <p14:sldId id="280"/>
            <p14:sldId id="281"/>
            <p14:sldId id="282"/>
            <p14:sldId id="283"/>
            <p14:sldId id="284"/>
            <p14:sldId id="285"/>
            <p14:sldId id="286"/>
          </p14:sldIdLst>
        </p14:section>
        <p14:section name="3.5 Logic Micro-operations" id="{24375727-A248-9C26-0D8F-61994BE81B87}">
          <p14:sldIdLst>
            <p14:sldId id="287"/>
            <p14:sldId id="288"/>
            <p14:sldId id="289"/>
            <p14:sldId id="290"/>
            <p14:sldId id="291"/>
            <p14:sldId id="292"/>
            <p14:sldId id="293"/>
            <p14:sldId id="294"/>
          </p14:sldIdLst>
        </p14:section>
        <p14:section name="3.6 Shift Micro-operations" id="{9D2667A3-7DD0-B52D-9609-060DFA2B27E8}">
          <p14:sldIdLst>
            <p14:sldId id="295"/>
            <p14:sldId id="296"/>
            <p14:sldId id="297"/>
            <p14:sldId id="298"/>
            <p14:sldId id="299"/>
            <p14:sldId id="300"/>
            <p14:sldId id="301"/>
          </p14:sldIdLst>
        </p14:section>
        <p14:section name="3.7 Arithmetic Logic Shift Unit" id="{E8E61E15-80A0-C6E6-EA24-650283735837}">
          <p14:sldIdLst>
            <p14:sldId id="302"/>
            <p14:sldId id="303"/>
            <p14:sldId id="304"/>
            <p14:sldId id="305"/>
            <p14:sldId id="306"/>
            <p14:sldId id="307"/>
          </p14:sldIdLst>
        </p14:section>
        <p14:section name="3.8 Instruction Codes" id="{DAFC67BE-D30E-2867-0232-A8AD65A0B7C5}">
          <p14:sldIdLst>
            <p14:sldId id="308"/>
            <p14:sldId id="309"/>
            <p14:sldId id="310"/>
            <p14:sldId id="311"/>
            <p14:sldId id="312"/>
            <p14:sldId id="313"/>
          </p14:sldIdLst>
        </p14:section>
        <p14:section name="3.9 Computer Registers" id="{8740FE46-B7FF-0298-265E-759AE8E03ECB}">
          <p14:sldIdLst>
            <p14:sldId id="314"/>
            <p14:sldId id="315"/>
            <p14:sldId id="316"/>
            <p14:sldId id="317"/>
          </p14:sldIdLst>
        </p14:section>
        <p14:section name="3.10 Computer Instructions" id="{953B51AE-B150-E83D-3D04-563CF97F9499}">
          <p14:sldIdLst>
            <p14:sldId id="318"/>
            <p14:sldId id="319"/>
            <p14:sldId id="320"/>
            <p14:sldId id="321"/>
            <p14:sldId id="322"/>
            <p14:sldId id="323"/>
          </p14:sldIdLst>
        </p14:section>
        <p14:section name="3.11 Timing and Control" id="{B42F4665-4965-E729-4983-33CB3EBFF19D}">
          <p14:sldIdLst>
            <p14:sldId id="324"/>
            <p14:sldId id="325"/>
            <p14:sldId id="326"/>
            <p14:sldId id="327"/>
            <p14:sldId id="328"/>
            <p14:sldId id="329"/>
            <p14:sldId id="330"/>
          </p14:sldIdLst>
        </p14:section>
        <p14:section name="3.12 Instruction Cycle" id="{8355D91A-5DF9-3F3F-C8C9-34E664473A53}">
          <p14:sldIdLst>
            <p14:sldId id="331"/>
            <p14:sldId id="332"/>
            <p14:sldId id="333"/>
            <p14:sldId id="334"/>
            <p14:sldId id="335"/>
          </p14:sldIdLst>
        </p14:section>
        <p14:section name="3.13 Memory Reference Instructions" id="{45CAD064-B21D-4F69-4EE4-49BE4D476F64}">
          <p14:sldIdLst>
            <p14:sldId id="336"/>
            <p14:sldId id="337"/>
            <p14:sldId id="338"/>
            <p14:sldId id="339"/>
            <p14:sldId id="340"/>
            <p14:sldId id="341"/>
            <p14:sldId id="342"/>
            <p14:sldId id="343"/>
          </p14:sldIdLst>
        </p14:section>
        <p14:section name="3.14 Input-Output and Interrupt" id="{C93A8687-85A9-0EA6-15AB-77E482F7BA16}">
          <p14:sldIdLst>
            <p14:sldId id="344"/>
            <p14:sldId id="345"/>
            <p14:sldId id="346"/>
            <p14:sldId id="347"/>
            <p14:sldId id="348"/>
            <p14:sldId id="349"/>
            <p14:sldId id="350"/>
            <p14:sldId id="351"/>
          </p14:sldIdLst>
        </p14:section>
        <p14:section name="Unit summary" id="{A72B37AE-0682-189C-FE62-A614458284F1}">
          <p14:sldIdLst>
            <p14:sldId id="352"/>
            <p14:sldId id="35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6" d="100"/>
          <a:sy n="66" d="100"/>
        </p:scale>
        <p:origin x="64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88101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unit covers register transfer language and micro-operations, then builds the Basic Computer: its instructions, registers, control unit, instruction cycle, and I/O with interrupts.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Fourteen topics. The first seven build the micro-operations and the ALU; the last seven build the Basic Computer around 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3.1: Register Transfer Language. Link it to the previous topic in one sentence, then read the box aloud and ask students to restate it. Start of the unit. Everything that follows is written in this notation.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why not describe the system gate by gate? Because it would be unreadable. RTL works one level up, at the register level.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plain box, the individual bits, the 16-bit numbering and the high/low byte split. A control unit uses exactly these names to refer to just the opcode bits.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the direction of the arrow. The source is never changed by a transfer.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exchange works because edge-triggered flip-flops sample their inputs at the same moment. No temporary register is needed.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table as a reference; every later topic uses these five symbols.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3.2: Register Transfer. Link it to the previous topic in one sentence, then read the box aloud and ask students to restate it. </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builds the hardware behind the statement P: R2 ← R1 from the last topic. The next slide’s figure uses the same signal name, P.</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figure the control signal is named P. Show (a) the wiring and (b) the timing: the transfer happens at the edge after P is asserted.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Gating the clock with a control signal is a well-known hazard. Real chips gate clocks only with dedicated, carefully timed cells.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back to the timing diagram and trace the edges with a finger.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3.3: Bus &amp; Memory Transfers. Link it to the previous topic in one sentence, then read the box aloud and ask students to restate it. </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how many point-to-point lines for 8 registers? About 28 pairs, and it grows quickly.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one bit position: its MUX picks one of four register bits. All four MUXes share S₁S₀.</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moving C into R1.</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MUX gate tree is needed; the idea is the same.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next figure.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 supplies the address; DR receives read data. Read and Write are control lines.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statements cover everything a memory unit does.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3.4: Arithmetic Micro-operations. Link it to the previous topic in one sentence, then read the box aloud and ask students to restate it. </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Arithmetic first; logic and shift follow in the next topics.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exactly what turns a plain binary adder into a subtractor with almost no extra hardware.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 back to the binary adder-subtractor in Unit 2.</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M = 0 and M = 1. The XOR gates pass B or its complement, and M is also the carry-in.</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Increment is the same idea at smaller scale: a chain of half adders fed a constant 1.</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parallel adder whose Y inputs come from 4 × 1 multiplexers.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row as: select code, carry-in, what feeds Y, result, name.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extra logic beyond what the adder already computes, except one XOR.</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try 0011 + 0010 and 1000 + 1000.</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3.5: Logic Micro-operations. Link it to the previous topic in one sentence, then read the box aloud and ask students to restate it. </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something arithmetic cannot do cleanly.</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operation needs only one gate per bit.</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slide shows the stage and its function table.</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the gates and MUX, (b) which S₁S₀ code selects which operation.</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operation you pick decides what happens to the marked bits.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first three result rows: b7 to b4 never change. Mask is the odd one out.</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new value is 0 everywhere outside the field, so it cannot disturb other bits.</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3.6: Shift Micro-operations. Link it to the previous topic in one sentence, then read the box aloud and ask students to restate it. </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movement, different fill.</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highlighted cell is the new 0.</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information is ever lost; the register simply rotates.</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Arithmetic and logical left shift give the same bit pattern; only the overflow check differs.</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with the sequential shift register from Unit 2.</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S = 0 and S = 1 paths for one output bit. Note where I_R and I_L enter.</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3.7: Arithmetic Logic Shift Unit. Link it to the previous topic in one sentence, then read the box aloud and ask students to restate it. </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MUX-based selection idea used throughout the course, one level up.</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the three paths into the final multiplexer. Only the select lines decide which one reaches F.</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table slides follow: arithmetic first, then logic and shift.</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S3 S2 = 00 for every row here.</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logic the carry-in is a don’t care; for shifts S1 and S0 are too.</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3.8: Instruction Codes. Link it to the previous topic in one sentence, then read the box aloud and ask students to restate it. </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small but complete machine that makes instruction execution explicit.</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of the next topic, which lists all 25 instructions.</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(b) and (c): the same format, but the address field is used differently. Reading the figure: (b) Direct: the address field 457 is the operand’s address. (c) Indirect: the address field 300 points to a word holding 1350, the effective address of the operand. Indirect costs one extra memory read.</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 15 is I.</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bit, two jobs, disambiguated by the opcode it appears with.</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3.9: Computer Registers. Link it to the previous topic in one sentence, then read the box aloud and ask students to restate it. </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register named here reappears in the RTL of the following topics.</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FGI, FGO, IEN and R are used in the last topic of the unit.</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select codes: 1 = AR, 2 = PC, 3 = DR, 4 = AC, 5 = IR, 6 = TR, 7 = memory.</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3.10: Computer Instructions. Link it to the previous topic in one sentence, then read the box aloud and ask students to restate it. </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memory-reference, 12 register-reference, 6 input-output.</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three formats. For register-reference and I/O, each of bits 11–0 specifies one operation.</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RTL for each of these comes in the topic on memory-reference instructions.</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Exactly one bit is set in each valid word.</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Used in the last topic of the unit.</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3.11: Timing and Control. Link it to the previous topic in one sentence, then read the box aloud and ask students to restate it. </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with microprogrammed control in the next unit.</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 to SC in the register set.</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the opcode through the 3 × 8 decoder and SC through the 4 × 16 decoder.</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an example with LDA.</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AND of decoder output and timing signal is what makes it specific.</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 D₃ and T₄ in the timing diagram. Reading the figure: D3 (STA) is active after T2. At T4 the control function D3T4 also clears SC. The next instruction starts again at T0, instead of going on to T5.</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3.12: Instruction Cycle. Link it to the previous topic in one sentence, then read the box aloud and ask students to restate it. </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earlier topics come together here.</a:t>
            </a:r>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happen at once at T2.</a:t>
            </a:r>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at T₀ and follow the two decisions: D₇, then I.</a:t>
            </a:r>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execute paths in total.</a:t>
            </a:r>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3.13: Memory Reference Instructions. Link it to the previous topic in one sentence, then read the box aloud and ask students to restate it. </a:t>
            </a:r>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ADD, LDA, STA, BUN, BSA and ISZ.</a:t>
            </a:r>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one ends by clearing SC.</a:t>
            </a:r>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ISZ is the only one that needs T6.</a:t>
            </a:r>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Match each branch of the flowchart with a row of RTL on the previous two slides.</a:t>
            </a:r>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 back to the bus and memory topic.</a:t>
            </a:r>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two cause the most confusion.</a:t>
            </a:r>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the return address into location 135 and back out with the indirect BUN. Reading the figure: BSA at address 20 stores the return address 21 in location 135. It then jumps to 136. The subroutine returns with an indirect BUN 135.</a:t>
            </a:r>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3.14: Input-Output and Interrupt. Link it to the previous topic in one sentence, then read the box aloud and ask students to restate it. </a:t>
            </a:r>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Flags are independent of whatever the CPU is doing.</a:t>
            </a:r>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keyboard to INPR path and the OUTR to printer path, each with its flag.</a:t>
            </a:r>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opcode 111 instructions do not use the address field.</a:t>
            </a:r>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figure: the interrupt cycle.</a:t>
            </a:r>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 the point where IEN and R are checked, between instructions.</a:t>
            </a:r>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figure: a concrete example.</a:t>
            </a:r>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PC = 256 into location 0 and back. Reading the figure: An interrupt arrives while the instruction at 255 executes. The interrupt cycle saves PC = 256 in location 0 and sets PC to 1. The BUN at 1 jumps to the I/O program at 1120. That program ends with an indirect BUN 0, which returns to 256.</a:t>
            </a:r>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arc: notation, buses, micro-operations, ALU, then the Basic Computer. Leave time for questions.</a:t>
            </a:r>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each group of topics shows up in real machines. Ask students to name one example from a computer they have used.</a:t>
            </a:r>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1565C0"/>
          </a:solidFill>
          <a:ln/>
        </p:spPr>
      </p:sp>
      <p:sp>
        <p:nvSpPr>
          <p:cNvPr id="3" name="Text 1"/>
          <p:cNvSpPr/>
          <p:nvPr/>
        </p:nvSpPr>
        <p:spPr>
          <a:xfrm>
            <a:off x="548640" y="6473952"/>
            <a:ext cx="7315200" cy="274320"/>
          </a:xfrm>
          <a:prstGeom prst="rect">
            <a:avLst/>
          </a:prstGeom>
          <a:noFill/>
          <a:ln/>
        </p:spPr>
        <p:txBody>
          <a:bodyPr wrap="square" lIns="0" tIns="0" rIns="0" bIns="0" rtlCol="0" anchor="ctr"/>
          <a:lstStyle/>
          <a:p>
            <a:pPr marL="0" indent="0" algn="l">
              <a:buNone/>
            </a:pPr>
            <a:r>
              <a:rPr lang="en-US" sz="1200" dirty="0">
                <a:solidFill>
                  <a:srgbClr val="546E7A"/>
                </a:solidFill>
                <a:latin typeface="Calibri" pitchFamily="34" charset="0"/>
                <a:ea typeface="Calibri" pitchFamily="34" charset="-122"/>
                <a:cs typeface="Calibri" pitchFamily="34" charset="-120"/>
              </a:rPr>
              <a:t>CHANDRAS EDU  |  Computer Organization and Architecture  |  Unit 3</a:t>
            </a:r>
            <a:endParaRPr lang="en-US" sz="1200" dirty="0"/>
          </a:p>
        </p:txBody>
      </p:sp>
      <p:sp>
        <p:nvSpPr>
          <p:cNvPr id="4" name="Text 2"/>
          <p:cNvSpPr>
            <a:spLocks noGrp="1"/>
          </p:cNvSpPr>
          <p:nvPr>
            <p:ph type="title" idx="102" hasCustomPrompt="1"/>
          </p:nvPr>
        </p:nvSpPr>
        <p:spPr>
          <a:xfrm>
            <a:off x="548640" y="73152"/>
            <a:ext cx="9326880" cy="768096"/>
          </a:xfrm>
          <a:prstGeom prst="rect">
            <a:avLst/>
          </a:prstGeom>
          <a:noFill/>
          <a:ln/>
        </p:spPr>
        <p:txBody>
          <a:bodyPr wrap="square" rtlCol="0"/>
          <a:lstStyle>
            <a:lvl1pPr marL="0" indent="0" algn="l">
              <a:buNone/>
              <a:defRPr lang="en-US" sz="3000" b="1" dirty="0">
                <a:solidFill>
                  <a:srgbClr val="FFFFFF"/>
                </a:solidFill>
                <a:latin typeface="Calibri" pitchFamily="34" charset="0"/>
                <a:ea typeface="Calibri" pitchFamily="34" charset="-122"/>
                <a:cs typeface="Calibri" pitchFamily="34" charset="-120"/>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FIG">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548640"/>
          </a:xfrm>
          <a:prstGeom prst="rect">
            <a:avLst/>
          </a:prstGeom>
          <a:solidFill>
            <a:srgbClr val="1565C0"/>
          </a:solidFill>
          <a:ln/>
        </p:spPr>
      </p:sp>
      <p:sp>
        <p:nvSpPr>
          <p:cNvPr id="3" name="Text 1"/>
          <p:cNvSpPr>
            <a:spLocks noGrp="1"/>
          </p:cNvSpPr>
          <p:nvPr>
            <p:ph type="title" idx="101" hasCustomPrompt="1"/>
          </p:nvPr>
        </p:nvSpPr>
        <p:spPr>
          <a:xfrm>
            <a:off x="411480" y="36576"/>
            <a:ext cx="9509760" cy="475488"/>
          </a:xfrm>
          <a:prstGeom prst="rect">
            <a:avLst/>
          </a:prstGeom>
          <a:noFill/>
          <a:ln/>
        </p:spPr>
        <p:txBody>
          <a:bodyPr wrap="square" rtlCol="0"/>
          <a:lstStyle>
            <a:lvl1pPr marL="0" indent="0" algn="l">
              <a:buNone/>
              <a:defRPr lang="en-US" sz="2800" b="1" dirty="0">
                <a:solidFill>
                  <a:srgbClr val="FFFFFF"/>
                </a:solidFill>
                <a:latin typeface="Calibri" pitchFamily="34" charset="0"/>
                <a:ea typeface="Calibri" pitchFamily="34" charset="-122"/>
                <a:cs typeface="Calibri" pitchFamily="34" charset="-120"/>
              </a:defRPr>
            </a:lvl1pPr>
          </a:lstStyle>
          <a:p>
            <a:pPr marL="0" indent="0" algn="l">
              <a:buNone/>
            </a:pPr>
            <a:endParaRPr lang="en-US" sz="28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AN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2103120"/>
            <a:ext cx="12191695" cy="2651760"/>
          </a:xfrm>
          <a:prstGeom prst="rect">
            <a:avLst/>
          </a:prstGeom>
          <a:solidFill>
            <a:srgbClr val="1565C0"/>
          </a:solidFill>
          <a:ln/>
        </p:spPr>
      </p:sp>
      <p:sp>
        <p:nvSpPr>
          <p:cNvPr id="3" name="Text 1"/>
          <p:cNvSpPr>
            <a:spLocks noGrp="1"/>
          </p:cNvSpPr>
          <p:nvPr>
            <p:ph type="title" idx="101" hasCustomPrompt="1"/>
          </p:nvPr>
        </p:nvSpPr>
        <p:spPr>
          <a:xfrm>
            <a:off x="2651760" y="2286000"/>
            <a:ext cx="8961120" cy="1371600"/>
          </a:xfrm>
          <a:prstGeom prst="rect">
            <a:avLst/>
          </a:prstGeom>
          <a:noFill/>
          <a:ln/>
        </p:spPr>
        <p:txBody>
          <a:bodyPr wrap="square" rtlCol="0"/>
          <a:lstStyle>
            <a:lvl1pPr marL="0" indent="0" algn="l">
              <a:buNone/>
              <a:defRPr lang="en-US" sz="4000" b="1" dirty="0">
                <a:solidFill>
                  <a:srgbClr val="FFFFFF"/>
                </a:solidFill>
                <a:latin typeface="Calibri" pitchFamily="34" charset="0"/>
                <a:ea typeface="Calibri" pitchFamily="34" charset="-122"/>
                <a:cs typeface="Calibri" pitchFamily="34" charset="-120"/>
              </a:defRPr>
            </a:lvl1pPr>
          </a:lstStyle>
          <a:p>
            <a:pPr marL="0" indent="0" algn="l">
              <a:buNone/>
            </a:pPr>
            <a:endParaRPr lang="en-US" sz="4000" dirty="0"/>
          </a:p>
        </p:txBody>
      </p:sp>
      <p:sp>
        <p:nvSpPr>
          <p:cNvPr id="4" name="Text 1"/>
          <p:cNvSpPr>
            <a:spLocks noGrp="1"/>
          </p:cNvSpPr>
          <p:nvPr>
            <p:ph type="body" idx="102" hasCustomPrompt="1"/>
          </p:nvPr>
        </p:nvSpPr>
        <p:spPr>
          <a:xfrm>
            <a:off x="2651760" y="3657600"/>
            <a:ext cx="8961120" cy="822960"/>
          </a:xfrm>
          <a:prstGeom prst="rect">
            <a:avLst/>
          </a:prstGeom>
          <a:noFill/>
          <a:ln/>
        </p:spPr>
        <p:txBody>
          <a:bodyPr wrap="square" rtlCol="0"/>
          <a:lstStyle>
            <a:lvl1pPr marL="0" indent="0" algn="l">
              <a:buNone/>
              <a:defRPr lang="en-US" sz="2400" dirty="0">
                <a:solidFill>
                  <a:srgbClr val="FFFFFF"/>
                </a:solidFill>
                <a:latin typeface="Calibri" pitchFamily="34" charset="0"/>
                <a:ea typeface="Calibri" pitchFamily="34" charset="-122"/>
                <a:cs typeface="Calibri" pitchFamily="34" charset="-120"/>
              </a:defRPr>
            </a:lvl1pPr>
          </a:lstStyle>
          <a:p>
            <a:pPr marL="0" indent="0" algn="l">
              <a:buNone/>
            </a:pPr>
            <a:endParaRPr lang="en-US" sz="24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2103120"/>
            <a:ext cx="12191695" cy="2651760"/>
          </a:xfrm>
          <a:prstGeom prst="rect">
            <a:avLst/>
          </a:prstGeom>
          <a:solidFill>
            <a:srgbClr val="1565C0"/>
          </a:solidFill>
          <a:ln/>
        </p:spPr>
      </p:sp>
      <p:sp>
        <p:nvSpPr>
          <p:cNvPr id="3" name="Text 1"/>
          <p:cNvSpPr>
            <a:spLocks noGrp="1"/>
          </p:cNvSpPr>
          <p:nvPr>
            <p:ph type="title" idx="101" hasCustomPrompt="1"/>
          </p:nvPr>
        </p:nvSpPr>
        <p:spPr>
          <a:xfrm>
            <a:off x="2651760" y="2697480"/>
            <a:ext cx="8961120" cy="1463040"/>
          </a:xfrm>
          <a:prstGeom prst="rect">
            <a:avLst/>
          </a:prstGeom>
          <a:noFill/>
          <a:ln/>
        </p:spPr>
        <p:txBody>
          <a:bodyPr wrap="square" rtlCol="0"/>
          <a:lstStyle>
            <a:lvl1pPr marL="0" indent="0" algn="l">
              <a:buNone/>
              <a:defRPr lang="en-US" sz="4000" b="1" dirty="0">
                <a:solidFill>
                  <a:srgbClr val="FFFFFF"/>
                </a:solidFill>
                <a:latin typeface="Calibri" pitchFamily="34" charset="0"/>
                <a:ea typeface="Calibri" pitchFamily="34" charset="-122"/>
                <a:cs typeface="Calibri" pitchFamily="34" charset="-120"/>
              </a:defRPr>
            </a:lvl1pPr>
          </a:lstStyle>
          <a:p>
            <a:pPr marL="0" indent="0" algn="l">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2.xml"/><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5.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9.xml"/><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5.xml"/><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8.xml"/><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1.xml"/><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4.xml"/><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6.xml"/><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2651760" y="2286000"/>
            <a:ext cx="8961120" cy="1371600"/>
          </a:xfrm>
          <a:prstGeom prst="rect">
            <a:avLst/>
          </a:prstGeom>
          <a:noFill/>
          <a:ln/>
        </p:spPr>
        <p:txBody>
          <a:bodyPr wrap="square" lIns="0" tIns="0" rIns="0" bIns="0" rtlCol="0" anchor="ctr"/>
          <a:lstStyle/>
          <a:p>
            <a:pPr marL="0" indent="0" algn="l">
              <a:buNone/>
            </a:pPr>
            <a:r>
              <a:rPr lang="en-US" sz="4000" b="1" dirty="0">
                <a:solidFill>
                  <a:srgbClr val="FFFFFF"/>
                </a:solidFill>
                <a:latin typeface="Calibri" pitchFamily="34" charset="0"/>
                <a:ea typeface="Calibri" pitchFamily="34" charset="-122"/>
                <a:cs typeface="Calibri" pitchFamily="34" charset="-120"/>
              </a:rPr>
              <a:t>Unit 3: Register Transfer, Micro-operations and Basic Computer Design</a:t>
            </a:r>
            <a:endParaRPr lang="en-US" sz="4000" dirty="0"/>
          </a:p>
        </p:txBody>
      </p:sp>
      <p:sp>
        <p:nvSpPr>
          <p:cNvPr id="3" name="Text 1"/>
          <p:cNvSpPr>
            <a:spLocks noGrp="1"/>
          </p:cNvSpPr>
          <p:nvPr>
            <p:ph type="body" idx="102" hasCustomPrompt="1"/>
          </p:nvPr>
        </p:nvSpPr>
        <p:spPr>
          <a:xfrm>
            <a:off x="2651760" y="3657600"/>
            <a:ext cx="8961120" cy="822960"/>
          </a:xfrm>
          <a:prstGeom prst="rect">
            <a:avLst/>
          </a:prstGeom>
          <a:noFill/>
          <a:ln/>
        </p:spPr>
        <p:txBody>
          <a:bodyPr wrap="square" lIns="0" tIns="0" rIns="0" bIns="0" rtlCol="0" anchor="t"/>
          <a:lstStyle/>
          <a:p>
            <a:pPr marL="0" indent="0" algn="l">
              <a:buNone/>
            </a:pPr>
            <a:r>
              <a:rPr lang="en-US" sz="2400" dirty="0">
                <a:solidFill>
                  <a:srgbClr val="FFFFFF"/>
                </a:solidFill>
                <a:latin typeface="Calibri" pitchFamily="34" charset="0"/>
                <a:ea typeface="Calibri" pitchFamily="34" charset="-122"/>
                <a:cs typeface="Calibri" pitchFamily="34" charset="-120"/>
              </a:rPr>
              <a:t>Computer Organization and Architecture</a:t>
            </a:r>
            <a:endParaRPr lang="en-US" sz="2400" dirty="0"/>
          </a:p>
        </p:txBody>
      </p:sp>
      <p:sp>
        <p:nvSpPr>
          <p:cNvPr id="4" name="Text 2"/>
          <p:cNvSpPr txBox="1"/>
          <p:nvPr/>
        </p:nvSpPr>
        <p:spPr>
          <a:xfrm>
            <a:off x="2651760" y="5120640"/>
            <a:ext cx="5486400" cy="457200"/>
          </a:xfrm>
          <a:prstGeom prst="rect">
            <a:avLst/>
          </a:prstGeom>
          <a:noFill/>
          <a:ln/>
        </p:spPr>
        <p:txBody>
          <a:bodyPr wrap="square" lIns="0" tIns="0" rIns="0" bIns="0" rtlCol="0" anchor="ctr"/>
          <a:lstStyle/>
          <a:p>
            <a:pPr marL="0" indent="0">
              <a:buNone/>
            </a:pPr>
            <a:r>
              <a:rPr lang="en-US" sz="2400" b="1" dirty="0">
                <a:solidFill>
                  <a:srgbClr val="1565C0"/>
                </a:solidFill>
                <a:latin typeface="Calibri" pitchFamily="34" charset="0"/>
                <a:ea typeface="Calibri" pitchFamily="34" charset="-122"/>
                <a:cs typeface="Calibri" pitchFamily="34" charset="-120"/>
              </a:rPr>
              <a:t>CHANDRAS EDU</a:t>
            </a:r>
            <a:endParaRPr lang="en-US" sz="2400" dirty="0"/>
          </a:p>
        </p:txBody>
      </p:sp>
      <p:sp>
        <p:nvSpPr>
          <p:cNvPr id="5" name="Text 3"/>
          <p:cNvSpPr txBox="1"/>
          <p:nvPr/>
        </p:nvSpPr>
        <p:spPr>
          <a:xfrm>
            <a:off x="2651760" y="5577840"/>
            <a:ext cx="5486400" cy="365760"/>
          </a:xfrm>
          <a:prstGeom prst="rect">
            <a:avLst/>
          </a:prstGeom>
          <a:noFill/>
          <a:ln/>
        </p:spPr>
        <p:txBody>
          <a:bodyPr wrap="square" lIns="0" tIns="0" rIns="0" bIns="0" rtlCol="0" anchor="ctr"/>
          <a:lstStyle/>
          <a:p>
            <a:pPr marL="0" indent="0">
              <a:buNone/>
            </a:pPr>
            <a:r>
              <a:rPr lang="en-US" sz="1800" dirty="0">
                <a:solidFill>
                  <a:srgbClr val="546E7A"/>
                </a:solidFill>
                <a:latin typeface="Calibri" pitchFamily="34" charset="0"/>
                <a:ea typeface="Calibri" pitchFamily="34" charset="-122"/>
                <a:cs typeface="Calibri" pitchFamily="34" charset="-120"/>
              </a:rPr>
              <a:t>Never stop learning</a:t>
            </a:r>
            <a:endParaRPr lang="en-US" sz="1800" dirty="0"/>
          </a:p>
        </p:txBody>
      </p:sp>
      <p:sp>
        <p:nvSpPr>
          <p:cNvPr id="6" name="Shape 4"/>
          <p:cNvSpPr/>
          <p:nvPr/>
        </p:nvSpPr>
        <p:spPr>
          <a:xfrm>
            <a:off x="731520" y="2697480"/>
            <a:ext cx="1463040" cy="1463040"/>
          </a:xfrm>
          <a:prstGeom prst="roundRect">
            <a:avLst>
              <a:gd name="adj" fmla="val 7500"/>
            </a:avLst>
          </a:prstGeom>
          <a:solidFill>
            <a:srgbClr val="FF8F00"/>
          </a:solidFill>
          <a:ln w="6350">
            <a:solidFill>
              <a:srgbClr val="FF8F00"/>
            </a:solidFill>
            <a:prstDash val="solid"/>
          </a:ln>
        </p:spPr>
      </p:sp>
      <p:sp>
        <p:nvSpPr>
          <p:cNvPr id="7" name="Text 5"/>
          <p:cNvSpPr txBox="1"/>
          <p:nvPr/>
        </p:nvSpPr>
        <p:spPr>
          <a:xfrm>
            <a:off x="731520" y="2697480"/>
            <a:ext cx="1463040" cy="1463040"/>
          </a:xfrm>
          <a:prstGeom prst="rect">
            <a:avLst/>
          </a:prstGeom>
          <a:noFill/>
          <a:ln/>
        </p:spPr>
        <p:txBody>
          <a:bodyPr wrap="square" lIns="0" tIns="0" rIns="0" bIns="0" rtlCol="0" anchor="ctr"/>
          <a:lstStyle/>
          <a:p>
            <a:pPr marL="0" indent="0" algn="ctr">
              <a:buNone/>
            </a:pPr>
            <a:r>
              <a:rPr lang="en-US" sz="6000" b="1" dirty="0">
                <a:solidFill>
                  <a:srgbClr val="262626"/>
                </a:solidFill>
                <a:latin typeface="Calibri" pitchFamily="34" charset="0"/>
                <a:ea typeface="Calibri" pitchFamily="34" charset="-122"/>
                <a:cs typeface="Calibri" pitchFamily="34" charset="-120"/>
              </a:rPr>
              <a:t>3</a:t>
            </a:r>
            <a:endParaRPr lang="en-US" sz="6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Agenda</a:t>
            </a:r>
            <a:endParaRPr lang="en-US" sz="3000" dirty="0"/>
          </a:p>
        </p:txBody>
      </p:sp>
      <p:sp>
        <p:nvSpPr>
          <p:cNvPr id="4" name="Text 1"/>
          <p:cNvSpPr txBox="1"/>
          <p:nvPr/>
        </p:nvSpPr>
        <p:spPr>
          <a:xfrm>
            <a:off x="640080" y="1371600"/>
            <a:ext cx="5486400" cy="4754880"/>
          </a:xfrm>
          <a:prstGeom prst="rect">
            <a:avLst/>
          </a:prstGeom>
          <a:noFill/>
          <a:ln/>
        </p:spPr>
        <p:txBody>
          <a:bodyPr wrap="square" lIns="0" tIns="0" rIns="0" bIns="0" rtlCol="0" anchor="t"/>
          <a:lstStyle/>
          <a:p>
            <a:pPr marL="0" indent="0">
              <a:buNone/>
            </a:pPr>
            <a:r>
              <a:rPr lang="en-US" sz="2200" b="1" dirty="0">
                <a:solidFill>
                  <a:srgbClr val="1565C0"/>
                </a:solidFill>
                <a:latin typeface="Calibri" pitchFamily="34" charset="0"/>
                <a:ea typeface="Calibri" pitchFamily="34" charset="-122"/>
                <a:cs typeface="Calibri" pitchFamily="34" charset="-120"/>
              </a:rPr>
              <a:t>3.1   </a:t>
            </a:r>
            <a:r>
              <a:rPr lang="en-US" sz="2200" dirty="0">
                <a:solidFill>
                  <a:srgbClr val="262626"/>
                </a:solidFill>
                <a:latin typeface="Calibri" pitchFamily="34" charset="0"/>
                <a:ea typeface="Calibri" pitchFamily="34" charset="-122"/>
                <a:cs typeface="Calibri" pitchFamily="34" charset="-120"/>
              </a:rPr>
              <a:t>Register Transfer Language</a:t>
            </a:r>
            <a:endParaRPr lang="en-US" sz="2200" dirty="0"/>
          </a:p>
          <a:p>
            <a:pPr marL="0" indent="0">
              <a:buNone/>
            </a:pPr>
            <a:r>
              <a:rPr lang="en-US" sz="2200" b="1" dirty="0">
                <a:solidFill>
                  <a:srgbClr val="1565C0"/>
                </a:solidFill>
                <a:latin typeface="Calibri" pitchFamily="34" charset="0"/>
                <a:ea typeface="Calibri" pitchFamily="34" charset="-122"/>
                <a:cs typeface="Calibri" pitchFamily="34" charset="-120"/>
              </a:rPr>
              <a:t>3.2   </a:t>
            </a:r>
            <a:r>
              <a:rPr lang="en-US" sz="2200" dirty="0">
                <a:solidFill>
                  <a:srgbClr val="262626"/>
                </a:solidFill>
                <a:latin typeface="Calibri" pitchFamily="34" charset="0"/>
                <a:ea typeface="Calibri" pitchFamily="34" charset="-122"/>
                <a:cs typeface="Calibri" pitchFamily="34" charset="-120"/>
              </a:rPr>
              <a:t>Register Transfer</a:t>
            </a:r>
            <a:endParaRPr lang="en-US" sz="2200" dirty="0"/>
          </a:p>
          <a:p>
            <a:pPr marL="0" indent="0">
              <a:buNone/>
            </a:pPr>
            <a:r>
              <a:rPr lang="en-US" sz="2200" b="1" dirty="0">
                <a:solidFill>
                  <a:srgbClr val="1565C0"/>
                </a:solidFill>
                <a:latin typeface="Calibri" pitchFamily="34" charset="0"/>
                <a:ea typeface="Calibri" pitchFamily="34" charset="-122"/>
                <a:cs typeface="Calibri" pitchFamily="34" charset="-120"/>
              </a:rPr>
              <a:t>3.3   </a:t>
            </a:r>
            <a:r>
              <a:rPr lang="en-US" sz="2200" dirty="0">
                <a:solidFill>
                  <a:srgbClr val="262626"/>
                </a:solidFill>
                <a:latin typeface="Calibri" pitchFamily="34" charset="0"/>
                <a:ea typeface="Calibri" pitchFamily="34" charset="-122"/>
                <a:cs typeface="Calibri" pitchFamily="34" charset="-120"/>
              </a:rPr>
              <a:t>Bus &amp; Memory Transfers</a:t>
            </a:r>
            <a:endParaRPr lang="en-US" sz="2200" dirty="0"/>
          </a:p>
          <a:p>
            <a:pPr marL="0" indent="0">
              <a:buNone/>
            </a:pPr>
            <a:r>
              <a:rPr lang="en-US" sz="2200" b="1" dirty="0">
                <a:solidFill>
                  <a:srgbClr val="1565C0"/>
                </a:solidFill>
                <a:latin typeface="Calibri" pitchFamily="34" charset="0"/>
                <a:ea typeface="Calibri" pitchFamily="34" charset="-122"/>
                <a:cs typeface="Calibri" pitchFamily="34" charset="-120"/>
              </a:rPr>
              <a:t>3.4   </a:t>
            </a:r>
            <a:r>
              <a:rPr lang="en-US" sz="2200" dirty="0">
                <a:solidFill>
                  <a:srgbClr val="262626"/>
                </a:solidFill>
                <a:latin typeface="Calibri" pitchFamily="34" charset="0"/>
                <a:ea typeface="Calibri" pitchFamily="34" charset="-122"/>
                <a:cs typeface="Calibri" pitchFamily="34" charset="-120"/>
              </a:rPr>
              <a:t>Arithmetic Micro-operations</a:t>
            </a:r>
            <a:endParaRPr lang="en-US" sz="2200" dirty="0"/>
          </a:p>
          <a:p>
            <a:pPr marL="0" indent="0">
              <a:buNone/>
            </a:pPr>
            <a:r>
              <a:rPr lang="en-US" sz="2200" b="1" dirty="0">
                <a:solidFill>
                  <a:srgbClr val="1565C0"/>
                </a:solidFill>
                <a:latin typeface="Calibri" pitchFamily="34" charset="0"/>
                <a:ea typeface="Calibri" pitchFamily="34" charset="-122"/>
                <a:cs typeface="Calibri" pitchFamily="34" charset="-120"/>
              </a:rPr>
              <a:t>3.5   </a:t>
            </a:r>
            <a:r>
              <a:rPr lang="en-US" sz="2200" dirty="0">
                <a:solidFill>
                  <a:srgbClr val="262626"/>
                </a:solidFill>
                <a:latin typeface="Calibri" pitchFamily="34" charset="0"/>
                <a:ea typeface="Calibri" pitchFamily="34" charset="-122"/>
                <a:cs typeface="Calibri" pitchFamily="34" charset="-120"/>
              </a:rPr>
              <a:t>Logic Micro-operations</a:t>
            </a:r>
            <a:endParaRPr lang="en-US" sz="2200" dirty="0"/>
          </a:p>
          <a:p>
            <a:pPr marL="0" indent="0">
              <a:buNone/>
            </a:pPr>
            <a:r>
              <a:rPr lang="en-US" sz="2200" b="1" dirty="0">
                <a:solidFill>
                  <a:srgbClr val="1565C0"/>
                </a:solidFill>
                <a:latin typeface="Calibri" pitchFamily="34" charset="0"/>
                <a:ea typeface="Calibri" pitchFamily="34" charset="-122"/>
                <a:cs typeface="Calibri" pitchFamily="34" charset="-120"/>
              </a:rPr>
              <a:t>3.6   </a:t>
            </a:r>
            <a:r>
              <a:rPr lang="en-US" sz="2200" dirty="0">
                <a:solidFill>
                  <a:srgbClr val="262626"/>
                </a:solidFill>
                <a:latin typeface="Calibri" pitchFamily="34" charset="0"/>
                <a:ea typeface="Calibri" pitchFamily="34" charset="-122"/>
                <a:cs typeface="Calibri" pitchFamily="34" charset="-120"/>
              </a:rPr>
              <a:t>Shift Micro-operations</a:t>
            </a:r>
            <a:endParaRPr lang="en-US" sz="2200" dirty="0"/>
          </a:p>
          <a:p>
            <a:pPr marL="0" indent="0">
              <a:buNone/>
            </a:pPr>
            <a:r>
              <a:rPr lang="en-US" sz="2200" b="1" dirty="0">
                <a:solidFill>
                  <a:srgbClr val="1565C0"/>
                </a:solidFill>
                <a:latin typeface="Calibri" pitchFamily="34" charset="0"/>
                <a:ea typeface="Calibri" pitchFamily="34" charset="-122"/>
                <a:cs typeface="Calibri" pitchFamily="34" charset="-120"/>
              </a:rPr>
              <a:t>3.7   </a:t>
            </a:r>
            <a:r>
              <a:rPr lang="en-US" sz="2200" dirty="0">
                <a:solidFill>
                  <a:srgbClr val="262626"/>
                </a:solidFill>
                <a:latin typeface="Calibri" pitchFamily="34" charset="0"/>
                <a:ea typeface="Calibri" pitchFamily="34" charset="-122"/>
                <a:cs typeface="Calibri" pitchFamily="34" charset="-120"/>
              </a:rPr>
              <a:t>Arithmetic Logic Shift Unit</a:t>
            </a:r>
            <a:endParaRPr lang="en-US" sz="2200" dirty="0"/>
          </a:p>
        </p:txBody>
      </p:sp>
      <p:sp>
        <p:nvSpPr>
          <p:cNvPr id="5" name="Text 2"/>
          <p:cNvSpPr txBox="1"/>
          <p:nvPr/>
        </p:nvSpPr>
        <p:spPr>
          <a:xfrm>
            <a:off x="6309360" y="1371600"/>
            <a:ext cx="5486400" cy="4754880"/>
          </a:xfrm>
          <a:prstGeom prst="rect">
            <a:avLst/>
          </a:prstGeom>
          <a:noFill/>
          <a:ln/>
        </p:spPr>
        <p:txBody>
          <a:bodyPr wrap="square" lIns="0" tIns="0" rIns="0" bIns="0" rtlCol="0" anchor="t"/>
          <a:lstStyle/>
          <a:p>
            <a:pPr marL="0" indent="0">
              <a:buNone/>
            </a:pPr>
            <a:r>
              <a:rPr lang="en-US" sz="2200" b="1" dirty="0">
                <a:solidFill>
                  <a:srgbClr val="1565C0"/>
                </a:solidFill>
                <a:latin typeface="Calibri" pitchFamily="34" charset="0"/>
                <a:ea typeface="Calibri" pitchFamily="34" charset="-122"/>
                <a:cs typeface="Calibri" pitchFamily="34" charset="-120"/>
              </a:rPr>
              <a:t>3.8   </a:t>
            </a:r>
            <a:r>
              <a:rPr lang="en-US" sz="2200" dirty="0">
                <a:solidFill>
                  <a:srgbClr val="262626"/>
                </a:solidFill>
                <a:latin typeface="Calibri" pitchFamily="34" charset="0"/>
                <a:ea typeface="Calibri" pitchFamily="34" charset="-122"/>
                <a:cs typeface="Calibri" pitchFamily="34" charset="-120"/>
              </a:rPr>
              <a:t>Instruction Codes</a:t>
            </a:r>
            <a:endParaRPr lang="en-US" sz="2200" dirty="0"/>
          </a:p>
          <a:p>
            <a:pPr marL="0" indent="0">
              <a:buNone/>
            </a:pPr>
            <a:r>
              <a:rPr lang="en-US" sz="2200" b="1" dirty="0">
                <a:solidFill>
                  <a:srgbClr val="1565C0"/>
                </a:solidFill>
                <a:latin typeface="Calibri" pitchFamily="34" charset="0"/>
                <a:ea typeface="Calibri" pitchFamily="34" charset="-122"/>
                <a:cs typeface="Calibri" pitchFamily="34" charset="-120"/>
              </a:rPr>
              <a:t>3.9   </a:t>
            </a:r>
            <a:r>
              <a:rPr lang="en-US" sz="2200" dirty="0">
                <a:solidFill>
                  <a:srgbClr val="262626"/>
                </a:solidFill>
                <a:latin typeface="Calibri" pitchFamily="34" charset="0"/>
                <a:ea typeface="Calibri" pitchFamily="34" charset="-122"/>
                <a:cs typeface="Calibri" pitchFamily="34" charset="-120"/>
              </a:rPr>
              <a:t>Computer Registers</a:t>
            </a:r>
            <a:endParaRPr lang="en-US" sz="2200" dirty="0"/>
          </a:p>
          <a:p>
            <a:pPr marL="0" indent="0">
              <a:buNone/>
            </a:pPr>
            <a:r>
              <a:rPr lang="en-US" sz="2200" b="1" dirty="0">
                <a:solidFill>
                  <a:srgbClr val="1565C0"/>
                </a:solidFill>
                <a:latin typeface="Calibri" pitchFamily="34" charset="0"/>
                <a:ea typeface="Calibri" pitchFamily="34" charset="-122"/>
                <a:cs typeface="Calibri" pitchFamily="34" charset="-120"/>
              </a:rPr>
              <a:t>3.10   </a:t>
            </a:r>
            <a:r>
              <a:rPr lang="en-US" sz="2200" dirty="0">
                <a:solidFill>
                  <a:srgbClr val="262626"/>
                </a:solidFill>
                <a:latin typeface="Calibri" pitchFamily="34" charset="0"/>
                <a:ea typeface="Calibri" pitchFamily="34" charset="-122"/>
                <a:cs typeface="Calibri" pitchFamily="34" charset="-120"/>
              </a:rPr>
              <a:t>Computer Instructions</a:t>
            </a:r>
            <a:endParaRPr lang="en-US" sz="2200" dirty="0"/>
          </a:p>
          <a:p>
            <a:pPr marL="0" indent="0">
              <a:buNone/>
            </a:pPr>
            <a:r>
              <a:rPr lang="en-US" sz="2200" b="1" dirty="0">
                <a:solidFill>
                  <a:srgbClr val="1565C0"/>
                </a:solidFill>
                <a:latin typeface="Calibri" pitchFamily="34" charset="0"/>
                <a:ea typeface="Calibri" pitchFamily="34" charset="-122"/>
                <a:cs typeface="Calibri" pitchFamily="34" charset="-120"/>
              </a:rPr>
              <a:t>3.11   </a:t>
            </a:r>
            <a:r>
              <a:rPr lang="en-US" sz="2200" dirty="0">
                <a:solidFill>
                  <a:srgbClr val="262626"/>
                </a:solidFill>
                <a:latin typeface="Calibri" pitchFamily="34" charset="0"/>
                <a:ea typeface="Calibri" pitchFamily="34" charset="-122"/>
                <a:cs typeface="Calibri" pitchFamily="34" charset="-120"/>
              </a:rPr>
              <a:t>Timing and Control</a:t>
            </a:r>
            <a:endParaRPr lang="en-US" sz="2200" dirty="0"/>
          </a:p>
          <a:p>
            <a:pPr marL="0" indent="0">
              <a:buNone/>
            </a:pPr>
            <a:r>
              <a:rPr lang="en-US" sz="2200" b="1" dirty="0">
                <a:solidFill>
                  <a:srgbClr val="1565C0"/>
                </a:solidFill>
                <a:latin typeface="Calibri" pitchFamily="34" charset="0"/>
                <a:ea typeface="Calibri" pitchFamily="34" charset="-122"/>
                <a:cs typeface="Calibri" pitchFamily="34" charset="-120"/>
              </a:rPr>
              <a:t>3.12   </a:t>
            </a:r>
            <a:r>
              <a:rPr lang="en-US" sz="2200" dirty="0">
                <a:solidFill>
                  <a:srgbClr val="262626"/>
                </a:solidFill>
                <a:latin typeface="Calibri" pitchFamily="34" charset="0"/>
                <a:ea typeface="Calibri" pitchFamily="34" charset="-122"/>
                <a:cs typeface="Calibri" pitchFamily="34" charset="-120"/>
              </a:rPr>
              <a:t>Instruction Cycle</a:t>
            </a:r>
            <a:endParaRPr lang="en-US" sz="2200" dirty="0"/>
          </a:p>
          <a:p>
            <a:pPr marL="0" indent="0">
              <a:buNone/>
            </a:pPr>
            <a:r>
              <a:rPr lang="en-US" sz="2200" b="1" dirty="0">
                <a:solidFill>
                  <a:srgbClr val="1565C0"/>
                </a:solidFill>
                <a:latin typeface="Calibri" pitchFamily="34" charset="0"/>
                <a:ea typeface="Calibri" pitchFamily="34" charset="-122"/>
                <a:cs typeface="Calibri" pitchFamily="34" charset="-120"/>
              </a:rPr>
              <a:t>3.13   </a:t>
            </a:r>
            <a:r>
              <a:rPr lang="en-US" sz="2200" dirty="0">
                <a:solidFill>
                  <a:srgbClr val="262626"/>
                </a:solidFill>
                <a:latin typeface="Calibri" pitchFamily="34" charset="0"/>
                <a:ea typeface="Calibri" pitchFamily="34" charset="-122"/>
                <a:cs typeface="Calibri" pitchFamily="34" charset="-120"/>
              </a:rPr>
              <a:t>Memory Reference Instructions</a:t>
            </a:r>
            <a:endParaRPr lang="en-US" sz="2200" dirty="0"/>
          </a:p>
          <a:p>
            <a:pPr marL="0" indent="0">
              <a:buNone/>
            </a:pPr>
            <a:r>
              <a:rPr lang="en-US" sz="2200" b="1" dirty="0">
                <a:solidFill>
                  <a:srgbClr val="1565C0"/>
                </a:solidFill>
                <a:latin typeface="Calibri" pitchFamily="34" charset="0"/>
                <a:ea typeface="Calibri" pitchFamily="34" charset="-122"/>
                <a:cs typeface="Calibri" pitchFamily="34" charset="-120"/>
              </a:rPr>
              <a:t>3.14   </a:t>
            </a:r>
            <a:r>
              <a:rPr lang="en-US" sz="2200" dirty="0">
                <a:solidFill>
                  <a:srgbClr val="262626"/>
                </a:solidFill>
                <a:latin typeface="Calibri" pitchFamily="34" charset="0"/>
                <a:ea typeface="Calibri" pitchFamily="34" charset="-122"/>
                <a:cs typeface="Calibri" pitchFamily="34" charset="-120"/>
              </a:rPr>
              <a:t>Input-Output and Interrupt</a:t>
            </a:r>
            <a:endParaRPr lang="en-US" sz="22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3.1  Register Transfer Language</a:t>
            </a:r>
            <a:endParaRPr lang="en-US" sz="3000" dirty="0"/>
          </a:p>
        </p:txBody>
      </p:sp>
      <p:sp>
        <p:nvSpPr>
          <p:cNvPr id="4" name="Text 1"/>
          <p:cNvSpPr txBox="1"/>
          <p:nvPr/>
        </p:nvSpPr>
        <p:spPr>
          <a:xfrm>
            <a:off x="914400" y="1417320"/>
            <a:ext cx="5486400" cy="365760"/>
          </a:xfrm>
          <a:prstGeom prst="rect">
            <a:avLst/>
          </a:prstGeom>
          <a:noFill/>
          <a:ln/>
        </p:spPr>
        <p:txBody>
          <a:bodyPr wrap="square" lIns="0" tIns="0" rIns="0" bIns="0" rtlCol="0" anchor="ctr"/>
          <a:lstStyle/>
          <a:p>
            <a:pPr marL="0" indent="0">
              <a:buNone/>
            </a:pPr>
            <a:r>
              <a:rPr lang="en-US" sz="2000" b="1" dirty="0">
                <a:solidFill>
                  <a:srgbClr val="1565C0"/>
                </a:solidFill>
                <a:latin typeface="Calibri" pitchFamily="34" charset="0"/>
                <a:ea typeface="Calibri" pitchFamily="34" charset="-122"/>
                <a:cs typeface="Calibri" pitchFamily="34" charset="-120"/>
              </a:rPr>
              <a:t>IN SIMPLE TERMS</a:t>
            </a:r>
            <a:endParaRPr lang="en-US" sz="2000" dirty="0"/>
          </a:p>
        </p:txBody>
      </p:sp>
      <p:sp>
        <p:nvSpPr>
          <p:cNvPr id="5" name="Text 2"/>
          <p:cNvSpPr txBox="1"/>
          <p:nvPr/>
        </p:nvSpPr>
        <p:spPr>
          <a:xfrm>
            <a:off x="914400" y="1920240"/>
            <a:ext cx="10362895" cy="3566160"/>
          </a:xfrm>
          <a:prstGeom prst="roundRect">
            <a:avLst>
              <a:gd name="adj" fmla="val 3846"/>
            </a:avLst>
          </a:prstGeom>
          <a:solidFill>
            <a:srgbClr val="FFF3E0"/>
          </a:solidFill>
          <a:ln w="31750">
            <a:solidFill>
              <a:srgbClr val="FF8F00"/>
            </a:solidFill>
          </a:ln>
        </p:spPr>
        <p:txBody>
          <a:bodyPr wrap="square" lIns="304800" tIns="457200" rIns="457200" bIns="304800" rtlCol="0" anchor="ctr"/>
          <a:lstStyle/>
          <a:p>
            <a:pPr marL="0" indent="0" algn="l">
              <a:buNone/>
            </a:pPr>
            <a:r>
              <a:rPr lang="en-US" sz="3400" dirty="0">
                <a:solidFill>
                  <a:srgbClr val="262626"/>
                </a:solidFill>
                <a:latin typeface="Calibri" pitchFamily="34" charset="0"/>
                <a:ea typeface="Calibri" pitchFamily="34" charset="-122"/>
                <a:cs typeface="Calibri" pitchFamily="34" charset="-120"/>
              </a:rPr>
              <a:t>Register transfer language is a short way to write what the hardware does each clock: R2 ← R1 means copy R1 into R2; P: R2 ← R1 means do it only when P = 1.</a:t>
            </a:r>
            <a:endParaRPr lang="en-US" sz="3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What RTL is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3.1</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marL="304800" indent="-304800" algn="l">
              <a:spcAft>
                <a:spcPts val="1000"/>
              </a:spcAft>
              <a:buSzPct val="100000"/>
              <a:buChar char="•"/>
            </a:pPr>
            <a:r>
              <a:rPr lang="en-US" sz="3000" dirty="0">
                <a:solidFill>
                  <a:srgbClr val="262626"/>
                </a:solidFill>
                <a:latin typeface="Calibri" pitchFamily="34" charset="0"/>
                <a:ea typeface="Calibri" pitchFamily="34" charset="-122"/>
                <a:cs typeface="Calibri" pitchFamily="34" charset="-120"/>
              </a:rPr>
              <a:t>A digital system is built from interacting modules: registers, decoders, arithmetic circuits</a:t>
            </a:r>
            <a:endParaRPr lang="en-US" sz="3000" dirty="0"/>
          </a:p>
          <a:p>
            <a:pPr marL="304800" indent="-304800" algn="l">
              <a:spcAft>
                <a:spcPts val="1000"/>
              </a:spcAft>
              <a:buSzPct val="100000"/>
              <a:buChar char="•"/>
            </a:pPr>
            <a:r>
              <a:rPr lang="en-US" sz="3000" b="1" dirty="0">
                <a:solidFill>
                  <a:srgbClr val="262626"/>
                </a:solidFill>
                <a:latin typeface="Calibri" pitchFamily="34" charset="0"/>
                <a:ea typeface="Calibri" pitchFamily="34" charset="-122"/>
                <a:cs typeface="Calibri" pitchFamily="34" charset="-120"/>
              </a:rPr>
              <a:t>Register Transfer Language (RTL)</a:t>
            </a:r>
            <a:r>
              <a:rPr lang="en-US" sz="3000" dirty="0">
                <a:solidFill>
                  <a:srgbClr val="262626"/>
                </a:solidFill>
                <a:latin typeface="Calibri" pitchFamily="34" charset="0"/>
                <a:ea typeface="Calibri" pitchFamily="34" charset="-122"/>
                <a:cs typeface="Calibri" pitchFamily="34" charset="-120"/>
              </a:rPr>
              <a:t> is a short notation for what moves where, and under what condition</a:t>
            </a:r>
            <a:endParaRPr lang="en-US" sz="3000" dirty="0"/>
          </a:p>
          <a:p>
            <a:pPr marL="304800" indent="-304800" algn="l">
              <a:spcAft>
                <a:spcPts val="1000"/>
              </a:spcAft>
              <a:buSzPct val="100000"/>
              <a:buChar char="•"/>
            </a:pPr>
            <a:r>
              <a:rPr lang="en-US" sz="3000" dirty="0">
                <a:solidFill>
                  <a:srgbClr val="262626"/>
                </a:solidFill>
                <a:latin typeface="Calibri" pitchFamily="34" charset="0"/>
                <a:ea typeface="Calibri" pitchFamily="34" charset="-122"/>
                <a:cs typeface="Calibri" pitchFamily="34" charset="-120"/>
              </a:rPr>
              <a:t>Registers are named with capital letters: </a:t>
            </a:r>
            <a:r>
              <a:rPr lang="en-US" sz="3000" b="1" dirty="0">
                <a:solidFill>
                  <a:srgbClr val="262626"/>
                </a:solidFill>
                <a:latin typeface="Calibri" pitchFamily="34" charset="0"/>
                <a:ea typeface="Calibri" pitchFamily="34" charset="-122"/>
                <a:cs typeface="Calibri" pitchFamily="34" charset="-120"/>
              </a:rPr>
              <a:t>MAR</a:t>
            </a:r>
            <a:r>
              <a:rPr lang="en-US" sz="3000" dirty="0">
                <a:solidFill>
                  <a:srgbClr val="262626"/>
                </a:solidFill>
                <a:latin typeface="Calibri" pitchFamily="34" charset="0"/>
                <a:ea typeface="Calibri" pitchFamily="34" charset="-122"/>
                <a:cs typeface="Calibri" pitchFamily="34" charset="-120"/>
              </a:rPr>
              <a:t>, </a:t>
            </a:r>
            <a:r>
              <a:rPr lang="en-US" sz="3000" b="1" dirty="0">
                <a:solidFill>
                  <a:srgbClr val="262626"/>
                </a:solidFill>
                <a:latin typeface="Calibri" pitchFamily="34" charset="0"/>
                <a:ea typeface="Calibri" pitchFamily="34" charset="-122"/>
                <a:cs typeface="Calibri" pitchFamily="34" charset="-120"/>
              </a:rPr>
              <a:t>PC</a:t>
            </a:r>
            <a:r>
              <a:rPr lang="en-US" sz="3000" dirty="0">
                <a:solidFill>
                  <a:srgbClr val="262626"/>
                </a:solidFill>
                <a:latin typeface="Calibri" pitchFamily="34" charset="0"/>
                <a:ea typeface="Calibri" pitchFamily="34" charset="-122"/>
                <a:cs typeface="Calibri" pitchFamily="34" charset="-120"/>
              </a:rPr>
              <a:t>, </a:t>
            </a:r>
            <a:r>
              <a:rPr lang="en-US" sz="3000" b="1" dirty="0">
                <a:solidFill>
                  <a:srgbClr val="262626"/>
                </a:solidFill>
                <a:latin typeface="Calibri" pitchFamily="34" charset="0"/>
                <a:ea typeface="Calibri" pitchFamily="34" charset="-122"/>
                <a:cs typeface="Calibri" pitchFamily="34" charset="-120"/>
              </a:rPr>
              <a:t>IR</a:t>
            </a:r>
            <a:endParaRPr lang="en-US" sz="3000" dirty="0"/>
          </a:p>
          <a:p>
            <a:pPr marL="304800" indent="-304800" algn="l">
              <a:spcAft>
                <a:spcPts val="1000"/>
              </a:spcAft>
              <a:buSzPct val="100000"/>
              <a:buChar char="•"/>
            </a:pPr>
            <a:r>
              <a:rPr lang="en-US" sz="3000" dirty="0">
                <a:solidFill>
                  <a:srgbClr val="262626"/>
                </a:solidFill>
                <a:latin typeface="Calibri" pitchFamily="34" charset="0"/>
                <a:ea typeface="Calibri" pitchFamily="34" charset="-122"/>
                <a:cs typeface="Calibri" pitchFamily="34" charset="-120"/>
              </a:rPr>
              <a:t>A register is drawn as a box, one cell per bit, most significant bit on the left</a:t>
            </a:r>
            <a:endParaRPr lang="en-US" sz="3000" dirty="0"/>
          </a:p>
          <a:p>
            <a:pPr marL="304800" indent="-304800" algn="l">
              <a:spcAft>
                <a:spcPts val="1000"/>
              </a:spcAft>
              <a:buSzPct val="100000"/>
              <a:buChar char="•"/>
            </a:pPr>
            <a:r>
              <a:rPr lang="en-US" sz="3000" dirty="0">
                <a:solidFill>
                  <a:srgbClr val="262626"/>
                </a:solidFill>
                <a:latin typeface="Calibri" pitchFamily="34" charset="0"/>
                <a:ea typeface="Calibri" pitchFamily="34" charset="-122"/>
                <a:cs typeface="Calibri" pitchFamily="34" charset="-120"/>
              </a:rPr>
              <a:t>Bits are addressed with brackets: </a:t>
            </a:r>
            <a:r>
              <a:rPr lang="en-US" sz="3000" b="1" dirty="0">
                <a:solidFill>
                  <a:srgbClr val="262626"/>
                </a:solidFill>
                <a:latin typeface="Calibri" pitchFamily="34" charset="0"/>
                <a:ea typeface="Calibri" pitchFamily="34" charset="-122"/>
                <a:cs typeface="Calibri" pitchFamily="34" charset="-120"/>
              </a:rPr>
              <a:t>R1(0)</a:t>
            </a:r>
            <a:r>
              <a:rPr lang="en-US" sz="3000" dirty="0">
                <a:solidFill>
                  <a:srgbClr val="262626"/>
                </a:solidFill>
                <a:latin typeface="Calibri" pitchFamily="34" charset="0"/>
                <a:ea typeface="Calibri" pitchFamily="34" charset="-122"/>
                <a:cs typeface="Calibri" pitchFamily="34" charset="-120"/>
              </a:rPr>
              <a:t> is one bit; </a:t>
            </a:r>
            <a:r>
              <a:rPr lang="en-US" sz="3000" b="1" dirty="0">
                <a:solidFill>
                  <a:srgbClr val="262626"/>
                </a:solidFill>
                <a:latin typeface="Calibri" pitchFamily="34" charset="0"/>
                <a:ea typeface="Calibri" pitchFamily="34" charset="-122"/>
                <a:cs typeface="Calibri" pitchFamily="34" charset="-120"/>
              </a:rPr>
              <a:t>R1(7–0)</a:t>
            </a:r>
            <a:r>
              <a:rPr lang="en-US" sz="3000" dirty="0">
                <a:solidFill>
                  <a:srgbClr val="262626"/>
                </a:solidFill>
                <a:latin typeface="Calibri" pitchFamily="34" charset="0"/>
                <a:ea typeface="Calibri" pitchFamily="34" charset="-122"/>
                <a:cs typeface="Calibri" pitchFamily="34" charset="-120"/>
              </a:rPr>
              <a:t> is a sub-field</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Register block diagram</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3.1</a:t>
            </a:r>
            <a:endParaRPr lang="en-US" sz="1600" dirty="0"/>
          </a:p>
        </p:txBody>
      </p:sp>
      <p:pic>
        <p:nvPicPr>
          <p:cNvPr id="5" name="Image 0" descr="/home/claude/figs/3.1_register-transfer-language_fig1.png"/>
          <p:cNvPicPr>
            <a:picLocks noChangeAspect="1"/>
          </p:cNvPicPr>
          <p:nvPr/>
        </p:nvPicPr>
        <p:blipFill>
          <a:blip r:embed="rId3"/>
          <a:stretch>
            <a:fillRect/>
          </a:stretch>
        </p:blipFill>
        <p:spPr>
          <a:xfrm>
            <a:off x="274320" y="1123718"/>
            <a:ext cx="11643055" cy="4702003"/>
          </a:xfrm>
          <a:prstGeom prst="rect">
            <a:avLst/>
          </a:prstGeom>
        </p:spPr>
      </p:pic>
      <p:sp>
        <p:nvSpPr>
          <p:cNvPr id="6" name="Text 2"/>
          <p:cNvSpPr txBox="1"/>
          <p:nvPr/>
        </p:nvSpPr>
        <p:spPr>
          <a:xfrm>
            <a:off x="411480" y="6355080"/>
            <a:ext cx="10424160" cy="457200"/>
          </a:xfrm>
          <a:prstGeom prst="rect">
            <a:avLst/>
          </a:prstGeom>
          <a:noFill/>
          <a:ln/>
        </p:spPr>
        <p:txBody>
          <a:bodyPr wrap="square" lIns="0" tIns="0" rIns="0" bIns="0" rtlCol="0" anchor="t"/>
          <a:lstStyle/>
          <a:p>
            <a:pPr marL="0" indent="0" algn="ctr">
              <a:buNone/>
            </a:pPr>
            <a:r>
              <a:rPr lang="en-US" sz="1400" dirty="0">
                <a:solidFill>
                  <a:srgbClr val="546E7A"/>
                </a:solidFill>
                <a:latin typeface="Calibri" pitchFamily="34" charset="0"/>
                <a:ea typeface="Calibri" pitchFamily="34" charset="-122"/>
                <a:cs typeface="Calibri" pitchFamily="34" charset="-120"/>
              </a:rPr>
              <a:t>Block diagram of a register: plain box, individual bits, 16-bit numbering, and high/low byte partition. Adapted from M. Morris Mano, Computer System Architecture, Fig. 4-1.</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The transfer statement</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3.1</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marL="304800" indent="-304800" algn="l">
              <a:spcAft>
                <a:spcPts val="1000"/>
              </a:spcAft>
              <a:buSzPct val="100000"/>
              <a:buChar char="•"/>
            </a:pPr>
            <a:r>
              <a:rPr lang="en-US" sz="3200" b="1" dirty="0">
                <a:solidFill>
                  <a:srgbClr val="262626"/>
                </a:solidFill>
                <a:latin typeface="Calibri" pitchFamily="34" charset="0"/>
                <a:ea typeface="Calibri" pitchFamily="34" charset="-122"/>
                <a:cs typeface="Calibri" pitchFamily="34" charset="-120"/>
              </a:rPr>
              <a:t>R2 ← R1</a:t>
            </a:r>
            <a:r>
              <a:rPr lang="en-US" sz="3200" dirty="0">
                <a:solidFill>
                  <a:srgbClr val="262626"/>
                </a:solidFill>
                <a:latin typeface="Calibri" pitchFamily="34" charset="0"/>
                <a:ea typeface="Calibri" pitchFamily="34" charset="-122"/>
                <a:cs typeface="Calibri" pitchFamily="34" charset="-120"/>
              </a:rPr>
              <a:t> means: the content of R1 is transferred into R2</a:t>
            </a:r>
            <a:endParaRPr lang="en-US" sz="3200" dirty="0"/>
          </a:p>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The transfer is </a:t>
            </a:r>
            <a:r>
              <a:rPr lang="en-US" sz="3200" b="1" dirty="0">
                <a:solidFill>
                  <a:srgbClr val="262626"/>
                </a:solidFill>
                <a:latin typeface="Calibri" pitchFamily="34" charset="0"/>
                <a:ea typeface="Calibri" pitchFamily="34" charset="-122"/>
                <a:cs typeface="Calibri" pitchFamily="34" charset="-120"/>
              </a:rPr>
              <a:t>nondestructive</a:t>
            </a:r>
            <a:r>
              <a:rPr lang="en-US" sz="3200" dirty="0">
                <a:solidFill>
                  <a:srgbClr val="262626"/>
                </a:solidFill>
                <a:latin typeface="Calibri" pitchFamily="34" charset="0"/>
                <a:ea typeface="Calibri" pitchFamily="34" charset="-122"/>
                <a:cs typeface="Calibri" pitchFamily="34" charset="-120"/>
              </a:rPr>
              <a:t>: R1 keeps its content, only R2 is overwritten</a:t>
            </a:r>
            <a:endParaRPr lang="en-US" sz="3200" dirty="0"/>
          </a:p>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The arrow points to the </a:t>
            </a:r>
            <a:r>
              <a:rPr lang="en-US" sz="3200" b="1" dirty="0">
                <a:solidFill>
                  <a:srgbClr val="262626"/>
                </a:solidFill>
                <a:latin typeface="Calibri" pitchFamily="34" charset="0"/>
                <a:ea typeface="Calibri" pitchFamily="34" charset="-122"/>
                <a:cs typeface="Calibri" pitchFamily="34" charset="-120"/>
              </a:rPr>
              <a:t>destination</a:t>
            </a:r>
            <a:endParaRPr lang="en-US" sz="3200" dirty="0"/>
          </a:p>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It names real hardware: lines from R1’s outputs to R2’s inputs, plus a load-enable on R2</a:t>
            </a:r>
            <a:endParaRPr lang="en-US" sz="32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Control conditions and simultaneous transfers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3.1</a:t>
            </a:r>
            <a:endParaRPr lang="en-US" sz="1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3728" y="1188720"/>
          <a:ext cx="11064240" cy="914400"/>
        </p:xfrm>
        <a:graphic>
          <a:graphicData uri="http://schemas.openxmlformats.org/drawingml/2006/table">
            <a:tbl>
              <a:tblPr/>
              <a:tblGrid>
                <a:gridCol w="4023360">
                  <a:extLst>
                    <a:ext uri="{9D8B030D-6E8A-4147-A177-3AD203B41FA5}">
                      <a16:colId xmlns:a16="http://schemas.microsoft.com/office/drawing/2014/main" val="20000"/>
                    </a:ext>
                  </a:extLst>
                </a:gridCol>
                <a:gridCol w="7040880">
                  <a:extLst>
                    <a:ext uri="{9D8B030D-6E8A-4147-A177-3AD203B41FA5}">
                      <a16:colId xmlns:a16="http://schemas.microsoft.com/office/drawing/2014/main" val="20001"/>
                    </a:ext>
                  </a:extLst>
                </a:gridCol>
              </a:tblGrid>
              <a:tr h="512064">
                <a:tc>
                  <a:txBody>
                    <a:bodyPr/>
                    <a:lstStyle/>
                    <a:p>
                      <a:pPr marL="0" indent="0" algn="l">
                        <a:buNone/>
                      </a:pPr>
                      <a:r>
                        <a:rPr lang="en-US" sz="2400" b="1" dirty="0">
                          <a:solidFill>
                            <a:srgbClr val="FFFFFF"/>
                          </a:solidFill>
                          <a:latin typeface="Calibri" pitchFamily="34" charset="0"/>
                          <a:ea typeface="Calibri" pitchFamily="34" charset="-122"/>
                          <a:cs typeface="Calibri" pitchFamily="34" charset="-120"/>
                        </a:rPr>
                        <a:t>Statement</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l">
                        <a:buNone/>
                      </a:pPr>
                      <a:r>
                        <a:rPr lang="en-US" sz="2400" b="1" dirty="0">
                          <a:solidFill>
                            <a:srgbClr val="FFFFFF"/>
                          </a:solidFill>
                          <a:latin typeface="Calibri" pitchFamily="34" charset="0"/>
                          <a:ea typeface="Calibri" pitchFamily="34" charset="-122"/>
                          <a:cs typeface="Calibri" pitchFamily="34" charset="-120"/>
                        </a:rPr>
                        <a:t>Meaning</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extLst>
                  <a:ext uri="{0D108BD9-81ED-4DB2-BD59-A6C34878D82A}">
                    <a16:rowId xmlns:a16="http://schemas.microsoft.com/office/drawing/2014/main" val="10000"/>
                  </a:ext>
                </a:extLst>
              </a:tr>
              <a:tr h="512064">
                <a:tc>
                  <a:txBody>
                    <a:bodyPr/>
                    <a:lstStyle/>
                    <a:p>
                      <a:pPr marL="0" indent="0" algn="l">
                        <a:buNone/>
                      </a:pPr>
                      <a:r>
                        <a:rPr lang="en-US" sz="2400" dirty="0">
                          <a:solidFill>
                            <a:srgbClr val="262626"/>
                          </a:solidFill>
                          <a:latin typeface="Calibri" pitchFamily="34" charset="0"/>
                          <a:ea typeface="Calibri" pitchFamily="34" charset="-122"/>
                          <a:cs typeface="Calibri" pitchFamily="34" charset="-120"/>
                        </a:rPr>
                        <a:t>R2 ← R1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l">
                        <a:buNone/>
                      </a:pPr>
                      <a:r>
                        <a:rPr lang="en-US" sz="2400" dirty="0">
                          <a:solidFill>
                            <a:srgbClr val="262626"/>
                          </a:solidFill>
                          <a:latin typeface="Calibri" pitchFamily="34" charset="0"/>
                          <a:ea typeface="Calibri" pitchFamily="34" charset="-122"/>
                          <a:cs typeface="Calibri" pitchFamily="34" charset="-120"/>
                        </a:rPr>
                        <a:t>Copy R1 into R2</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1"/>
                  </a:ext>
                </a:extLst>
              </a:tr>
              <a:tr h="877824">
                <a:tc>
                  <a:txBody>
                    <a:bodyPr/>
                    <a:lstStyle/>
                    <a:p>
                      <a:pPr marL="0" indent="0" algn="l">
                        <a:buNone/>
                      </a:pPr>
                      <a:r>
                        <a:rPr lang="en-US" sz="2400" dirty="0">
                          <a:solidFill>
                            <a:srgbClr val="262626"/>
                          </a:solidFill>
                          <a:latin typeface="Calibri" pitchFamily="34" charset="0"/>
                          <a:ea typeface="Calibri" pitchFamily="34" charset="-122"/>
                          <a:cs typeface="Calibri" pitchFamily="34" charset="-120"/>
                        </a:rPr>
                        <a:t>P: R2 ← R1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l">
                        <a:buNone/>
                      </a:pPr>
                      <a:r>
                        <a:rPr lang="en-US" sz="2400" dirty="0">
                          <a:solidFill>
                            <a:srgbClr val="262626"/>
                          </a:solidFill>
                          <a:latin typeface="Calibri" pitchFamily="34" charset="0"/>
                          <a:ea typeface="Calibri" pitchFamily="34" charset="-122"/>
                          <a:cs typeface="Calibri" pitchFamily="34" charset="-120"/>
                        </a:rPr>
                        <a:t>If P = 1, transfer R1 into R2 at the next clock edge</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77824">
                <a:tc>
                  <a:txBody>
                    <a:bodyPr/>
                    <a:lstStyle/>
                    <a:p>
                      <a:pPr marL="0" indent="0" algn="l">
                        <a:buNone/>
                      </a:pPr>
                      <a:r>
                        <a:rPr lang="en-US" sz="2400" dirty="0">
                          <a:solidFill>
                            <a:srgbClr val="262626"/>
                          </a:solidFill>
                          <a:latin typeface="Calibri" pitchFamily="34" charset="0"/>
                          <a:ea typeface="Calibri" pitchFamily="34" charset="-122"/>
                          <a:cs typeface="Calibri" pitchFamily="34" charset="-120"/>
                        </a:rPr>
                        <a:t>P: R2 ← R1, R1 ← R2</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l">
                        <a:buNone/>
                      </a:pPr>
                      <a:r>
                        <a:rPr lang="en-US" sz="2400" dirty="0">
                          <a:solidFill>
                            <a:srgbClr val="262626"/>
                          </a:solidFill>
                          <a:latin typeface="Calibri" pitchFamily="34" charset="0"/>
                          <a:ea typeface="Calibri" pitchFamily="34" charset="-122"/>
                          <a:cs typeface="Calibri" pitchFamily="34" charset="-120"/>
                        </a:rPr>
                        <a:t>Both transfers at the same clock edge, using the values from before the edge (an exchange)</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3"/>
                  </a:ext>
                </a:extLst>
              </a:tr>
            </a:tbl>
          </a:graphicData>
        </a:graphic>
      </p:graphicFrame>
      <p:sp>
        <p:nvSpPr>
          <p:cNvPr id="6" name="Text 2"/>
          <p:cNvSpPr txBox="1"/>
          <p:nvPr/>
        </p:nvSpPr>
        <p:spPr>
          <a:xfrm>
            <a:off x="640080" y="4242816"/>
            <a:ext cx="10911535" cy="2066544"/>
          </a:xfrm>
          <a:prstGeom prst="rect">
            <a:avLst/>
          </a:prstGeom>
          <a:noFill/>
          <a:ln/>
        </p:spPr>
        <p:txBody>
          <a:bodyPr wrap="square" lIns="0" tIns="0" rIns="0" bIns="0" rtlCol="0" anchor="t"/>
          <a:lstStyle/>
          <a:p>
            <a:pPr marL="304800" indent="-304800" algn="l">
              <a:spcAft>
                <a:spcPts val="1000"/>
              </a:spcAft>
              <a:buSzPct val="100000"/>
              <a:buChar char="•"/>
            </a:pPr>
            <a:r>
              <a:rPr lang="en-US" sz="2800" dirty="0">
                <a:solidFill>
                  <a:srgbClr val="262626"/>
                </a:solidFill>
                <a:latin typeface="Calibri" pitchFamily="34" charset="0"/>
                <a:ea typeface="Calibri" pitchFamily="34" charset="-122"/>
                <a:cs typeface="Calibri" pitchFamily="34" charset="-120"/>
              </a:rPr>
              <a:t>P is a single bit from other logic; the colon separates </a:t>
            </a:r>
            <a:r>
              <a:rPr lang="en-US" sz="2800" b="1" dirty="0">
                <a:solidFill>
                  <a:srgbClr val="262626"/>
                </a:solidFill>
                <a:latin typeface="Calibri" pitchFamily="34" charset="0"/>
                <a:ea typeface="Calibri" pitchFamily="34" charset="-122"/>
                <a:cs typeface="Calibri" pitchFamily="34" charset="-120"/>
              </a:rPr>
              <a:t>when</a:t>
            </a:r>
            <a:r>
              <a:rPr lang="en-US" sz="2800" dirty="0">
                <a:solidFill>
                  <a:srgbClr val="262626"/>
                </a:solidFill>
                <a:latin typeface="Calibri" pitchFamily="34" charset="0"/>
                <a:ea typeface="Calibri" pitchFamily="34" charset="-122"/>
                <a:cs typeface="Calibri" pitchFamily="34" charset="-120"/>
              </a:rPr>
              <a:t> a transfer happens from </a:t>
            </a:r>
            <a:r>
              <a:rPr lang="en-US" sz="2800" b="1" dirty="0">
                <a:solidFill>
                  <a:srgbClr val="262626"/>
                </a:solidFill>
                <a:latin typeface="Calibri" pitchFamily="34" charset="0"/>
                <a:ea typeface="Calibri" pitchFamily="34" charset="-122"/>
                <a:cs typeface="Calibri" pitchFamily="34" charset="-120"/>
              </a:rPr>
              <a:t>what</a:t>
            </a:r>
            <a:r>
              <a:rPr lang="en-US" sz="2800" dirty="0">
                <a:solidFill>
                  <a:srgbClr val="262626"/>
                </a:solidFill>
                <a:latin typeface="Calibri" pitchFamily="34" charset="0"/>
                <a:ea typeface="Calibri" pitchFamily="34" charset="-122"/>
                <a:cs typeface="Calibri" pitchFamily="34" charset="-120"/>
              </a:rPr>
              <a:t> it does</a:t>
            </a:r>
            <a:endParaRPr lang="en-US" sz="2800" dirty="0"/>
          </a:p>
          <a:p>
            <a:pPr marL="304800" indent="-304800" algn="l">
              <a:spcAft>
                <a:spcPts val="1000"/>
              </a:spcAft>
              <a:buSzPct val="100000"/>
              <a:buChar char="•"/>
            </a:pPr>
            <a:r>
              <a:rPr lang="en-US" sz="2800" dirty="0">
                <a:solidFill>
                  <a:srgbClr val="262626"/>
                </a:solidFill>
                <a:latin typeface="Calibri" pitchFamily="34" charset="0"/>
                <a:ea typeface="Calibri" pitchFamily="34" charset="-122"/>
                <a:cs typeface="Calibri" pitchFamily="34" charset="-120"/>
              </a:rPr>
              <a:t>A comma separates statements that happen at the same clock edge</a:t>
            </a:r>
            <a:endParaRPr lang="en-US" sz="28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RTL symbols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3.1</a:t>
            </a:r>
            <a:endParaRPr lang="en-US" sz="1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63728" y="1188720"/>
          <a:ext cx="11064240" cy="914400"/>
        </p:xfrm>
        <a:graphic>
          <a:graphicData uri="http://schemas.openxmlformats.org/drawingml/2006/table">
            <a:tbl>
              <a:tblPr/>
              <a:tblGrid>
                <a:gridCol w="237744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512064">
                <a:tc>
                  <a:txBody>
                    <a:bodyPr/>
                    <a:lstStyle/>
                    <a:p>
                      <a:pPr marL="0" indent="0" algn="l">
                        <a:buNone/>
                      </a:pPr>
                      <a:r>
                        <a:rPr lang="en-US" sz="2400" b="1" dirty="0">
                          <a:solidFill>
                            <a:srgbClr val="FFFFFF"/>
                          </a:solidFill>
                          <a:latin typeface="Calibri" pitchFamily="34" charset="0"/>
                          <a:ea typeface="Calibri" pitchFamily="34" charset="-122"/>
                          <a:cs typeface="Calibri" pitchFamily="34" charset="-120"/>
                        </a:rPr>
                        <a:t>Symbol</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l">
                        <a:buNone/>
                      </a:pPr>
                      <a:r>
                        <a:rPr lang="en-US" sz="2400" b="1" dirty="0">
                          <a:solidFill>
                            <a:srgbClr val="FFFFFF"/>
                          </a:solidFill>
                          <a:latin typeface="Calibri" pitchFamily="34" charset="0"/>
                          <a:ea typeface="Calibri" pitchFamily="34" charset="-122"/>
                          <a:cs typeface="Calibri" pitchFamily="34" charset="-120"/>
                        </a:rPr>
                        <a:t>Meaning</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l">
                        <a:buNone/>
                      </a:pPr>
                      <a:r>
                        <a:rPr lang="en-US" sz="2400" b="1" dirty="0">
                          <a:solidFill>
                            <a:srgbClr val="FFFFFF"/>
                          </a:solidFill>
                          <a:latin typeface="Calibri" pitchFamily="34" charset="0"/>
                          <a:ea typeface="Calibri" pitchFamily="34" charset="-122"/>
                          <a:cs typeface="Calibri" pitchFamily="34" charset="-120"/>
                        </a:rPr>
                        <a:t>Example</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extLst>
                  <a:ext uri="{0D108BD9-81ED-4DB2-BD59-A6C34878D82A}">
                    <a16:rowId xmlns:a16="http://schemas.microsoft.com/office/drawing/2014/main" val="10000"/>
                  </a:ext>
                </a:extLst>
              </a:tr>
              <a:tr h="512064">
                <a:tc>
                  <a:txBody>
                    <a:bodyPr/>
                    <a:lstStyle/>
                    <a:p>
                      <a:pPr marL="0" indent="0" algn="l">
                        <a:buNone/>
                      </a:pPr>
                      <a:r>
                        <a:rPr lang="en-US" sz="2400" dirty="0">
                          <a:solidFill>
                            <a:srgbClr val="262626"/>
                          </a:solidFill>
                          <a:latin typeface="Calibri" pitchFamily="34" charset="0"/>
                          <a:ea typeface="Calibri" pitchFamily="34" charset="-122"/>
                          <a:cs typeface="Calibri" pitchFamily="34" charset="-120"/>
                        </a:rPr>
                        <a:t>Capital letters</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l">
                        <a:buNone/>
                      </a:pPr>
                      <a:r>
                        <a:rPr lang="en-US" sz="2400" dirty="0">
                          <a:solidFill>
                            <a:srgbClr val="262626"/>
                          </a:solidFill>
                          <a:latin typeface="Calibri" pitchFamily="34" charset="0"/>
                          <a:ea typeface="Calibri" pitchFamily="34" charset="-122"/>
                          <a:cs typeface="Calibri" pitchFamily="34" charset="-120"/>
                        </a:rPr>
                        <a:t>Register name</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l">
                        <a:buNone/>
                      </a:pPr>
                      <a:r>
                        <a:rPr lang="en-US" sz="2400" dirty="0">
                          <a:solidFill>
                            <a:srgbClr val="262626"/>
                          </a:solidFill>
                          <a:latin typeface="Calibri" pitchFamily="34" charset="0"/>
                          <a:ea typeface="Calibri" pitchFamily="34" charset="-122"/>
                          <a:cs typeface="Calibri" pitchFamily="34" charset="-120"/>
                        </a:rPr>
                        <a:t>MAR, R2, IR</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1"/>
                  </a:ext>
                </a:extLst>
              </a:tr>
              <a:tr h="877824">
                <a:tc>
                  <a:txBody>
                    <a:bodyPr/>
                    <a:lstStyle/>
                    <a:p>
                      <a:pPr marL="0" indent="0" algn="l">
                        <a:buNone/>
                      </a:pPr>
                      <a:r>
                        <a:rPr lang="en-US" sz="2400" dirty="0">
                          <a:solidFill>
                            <a:srgbClr val="262626"/>
                          </a:solidFill>
                          <a:latin typeface="Calibri" pitchFamily="34" charset="0"/>
                          <a:ea typeface="Calibri" pitchFamily="34" charset="-122"/>
                          <a:cs typeface="Calibri" pitchFamily="34" charset="-120"/>
                        </a:rPr>
                        <a:t>( )</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l">
                        <a:buNone/>
                      </a:pPr>
                      <a:r>
                        <a:rPr lang="en-US" sz="2400" dirty="0">
                          <a:solidFill>
                            <a:srgbClr val="262626"/>
                          </a:solidFill>
                          <a:latin typeface="Calibri" pitchFamily="34" charset="0"/>
                          <a:ea typeface="Calibri" pitchFamily="34" charset="-122"/>
                          <a:cs typeface="Calibri" pitchFamily="34" charset="-120"/>
                        </a:rPr>
                        <a:t>A designated bit or range within a register</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l">
                        <a:buNone/>
                      </a:pPr>
                      <a:r>
                        <a:rPr lang="en-US" sz="2400" dirty="0">
                          <a:solidFill>
                            <a:srgbClr val="262626"/>
                          </a:solidFill>
                          <a:latin typeface="Calibri" pitchFamily="34" charset="0"/>
                          <a:ea typeface="Calibri" pitchFamily="34" charset="-122"/>
                          <a:cs typeface="Calibri" pitchFamily="34" charset="-120"/>
                        </a:rPr>
                        <a:t>R1(0–7)</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12064">
                <a:tc>
                  <a:txBody>
                    <a:bodyPr/>
                    <a:lstStyle/>
                    <a:p>
                      <a:pPr marL="0" indent="0" algn="l">
                        <a:buNone/>
                      </a:pPr>
                      <a:r>
                        <a:rPr lang="en-US" sz="2400" dirty="0">
                          <a:solidFill>
                            <a:srgbClr val="262626"/>
                          </a:solidFill>
                          <a:latin typeface="Calibri" pitchFamily="34" charset="0"/>
                          <a:ea typeface="Calibri" pitchFamily="34" charset="-122"/>
                          <a:cs typeface="Calibri" pitchFamily="34" charset="-120"/>
                        </a:rPr>
                        <a:t>←</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l">
                        <a:buNone/>
                      </a:pPr>
                      <a:r>
                        <a:rPr lang="en-US" sz="2400" dirty="0">
                          <a:solidFill>
                            <a:srgbClr val="262626"/>
                          </a:solidFill>
                          <a:latin typeface="Calibri" pitchFamily="34" charset="0"/>
                          <a:ea typeface="Calibri" pitchFamily="34" charset="-122"/>
                          <a:cs typeface="Calibri" pitchFamily="34" charset="-120"/>
                        </a:rPr>
                        <a:t>Transfer of information</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l">
                        <a:buNone/>
                      </a:pPr>
                      <a:r>
                        <a:rPr lang="en-US" sz="2400" dirty="0">
                          <a:solidFill>
                            <a:srgbClr val="262626"/>
                          </a:solidFill>
                          <a:latin typeface="Calibri" pitchFamily="34" charset="0"/>
                          <a:ea typeface="Calibri" pitchFamily="34" charset="-122"/>
                          <a:cs typeface="Calibri" pitchFamily="34" charset="-120"/>
                        </a:rPr>
                        <a:t>R2 ← R1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3"/>
                  </a:ext>
                </a:extLst>
              </a:tr>
              <a:tr h="877824">
                <a:tc>
                  <a:txBody>
                    <a:bodyPr/>
                    <a:lstStyle/>
                    <a:p>
                      <a:pPr marL="0" indent="0" algn="l">
                        <a:buNone/>
                      </a:pPr>
                      <a:r>
                        <a:rPr lang="en-US" sz="2400" dirty="0">
                          <a:solidFill>
                            <a:srgbClr val="262626"/>
                          </a:solidFill>
                          <a:latin typeface="Calibri" pitchFamily="34" charset="0"/>
                          <a:ea typeface="Calibri" pitchFamily="34" charset="-122"/>
                          <a:cs typeface="Calibri" pitchFamily="34" charset="-120"/>
                        </a:rPr>
                        <a:t>:</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l">
                        <a:buNone/>
                      </a:pPr>
                      <a:r>
                        <a:rPr lang="en-US" sz="2400" dirty="0">
                          <a:solidFill>
                            <a:srgbClr val="262626"/>
                          </a:solidFill>
                          <a:latin typeface="Calibri" pitchFamily="34" charset="0"/>
                          <a:ea typeface="Calibri" pitchFamily="34" charset="-122"/>
                          <a:cs typeface="Calibri" pitchFamily="34" charset="-120"/>
                        </a:rPr>
                        <a:t>Control condition: if true, do this on the next clock</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l">
                        <a:buNone/>
                      </a:pPr>
                      <a:r>
                        <a:rPr lang="en-US" sz="2400" dirty="0">
                          <a:solidFill>
                            <a:srgbClr val="262626"/>
                          </a:solidFill>
                          <a:latin typeface="Calibri" pitchFamily="34" charset="0"/>
                          <a:ea typeface="Calibri" pitchFamily="34" charset="-122"/>
                          <a:cs typeface="Calibri" pitchFamily="34" charset="-120"/>
                        </a:rPr>
                        <a:t>P: R2 ← R1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12064">
                <a:tc>
                  <a:txBody>
                    <a:bodyPr/>
                    <a:lstStyle/>
                    <a:p>
                      <a:pPr marL="0" indent="0" algn="l">
                        <a:buNone/>
                      </a:pPr>
                      <a:r>
                        <a:rPr lang="en-US" sz="2400" dirty="0">
                          <a:solidFill>
                            <a:srgbClr val="262626"/>
                          </a:solidFill>
                          <a:latin typeface="Calibri" pitchFamily="34" charset="0"/>
                          <a:ea typeface="Calibri" pitchFamily="34" charset="-122"/>
                          <a:cs typeface="Calibri" pitchFamily="34" charset="-120"/>
                        </a:rPr>
                        <a:t>,</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l">
                        <a:buNone/>
                      </a:pPr>
                      <a:r>
                        <a:rPr lang="en-US" sz="2400" dirty="0">
                          <a:solidFill>
                            <a:srgbClr val="262626"/>
                          </a:solidFill>
                          <a:latin typeface="Calibri" pitchFamily="34" charset="0"/>
                          <a:ea typeface="Calibri" pitchFamily="34" charset="-122"/>
                          <a:cs typeface="Calibri" pitchFamily="34" charset="-120"/>
                        </a:rPr>
                        <a:t>Separates simultaneous transfers</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l">
                        <a:buNone/>
                      </a:pPr>
                      <a:r>
                        <a:rPr lang="en-US" sz="2400" dirty="0">
                          <a:solidFill>
                            <a:srgbClr val="262626"/>
                          </a:solidFill>
                          <a:latin typeface="Calibri" pitchFamily="34" charset="0"/>
                          <a:ea typeface="Calibri" pitchFamily="34" charset="-122"/>
                          <a:cs typeface="Calibri" pitchFamily="34" charset="-120"/>
                        </a:rPr>
                        <a:t>R2 ← R1, R1 ← R2</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3.2  Register Transfer</a:t>
            </a:r>
            <a:endParaRPr lang="en-US" sz="3000" dirty="0"/>
          </a:p>
        </p:txBody>
      </p:sp>
      <p:sp>
        <p:nvSpPr>
          <p:cNvPr id="4" name="Text 1"/>
          <p:cNvSpPr txBox="1"/>
          <p:nvPr/>
        </p:nvSpPr>
        <p:spPr>
          <a:xfrm>
            <a:off x="914400" y="1417320"/>
            <a:ext cx="5486400" cy="365760"/>
          </a:xfrm>
          <a:prstGeom prst="rect">
            <a:avLst/>
          </a:prstGeom>
          <a:noFill/>
          <a:ln/>
        </p:spPr>
        <p:txBody>
          <a:bodyPr wrap="square" lIns="0" tIns="0" rIns="0" bIns="0" rtlCol="0" anchor="ctr"/>
          <a:lstStyle/>
          <a:p>
            <a:pPr marL="0" indent="0">
              <a:buNone/>
            </a:pPr>
            <a:r>
              <a:rPr lang="en-US" sz="2000" b="1" dirty="0">
                <a:solidFill>
                  <a:srgbClr val="1565C0"/>
                </a:solidFill>
                <a:latin typeface="Calibri" pitchFamily="34" charset="0"/>
                <a:ea typeface="Calibri" pitchFamily="34" charset="-122"/>
                <a:cs typeface="Calibri" pitchFamily="34" charset="-120"/>
              </a:rPr>
              <a:t>IN SIMPLE TERMS</a:t>
            </a:r>
            <a:endParaRPr lang="en-US" sz="2000" dirty="0"/>
          </a:p>
        </p:txBody>
      </p:sp>
      <p:sp>
        <p:nvSpPr>
          <p:cNvPr id="5" name="Text 2"/>
          <p:cNvSpPr txBox="1"/>
          <p:nvPr/>
        </p:nvSpPr>
        <p:spPr>
          <a:xfrm>
            <a:off x="914400" y="1920240"/>
            <a:ext cx="10362895" cy="3566160"/>
          </a:xfrm>
          <a:prstGeom prst="roundRect">
            <a:avLst>
              <a:gd name="adj" fmla="val 3846"/>
            </a:avLst>
          </a:prstGeom>
          <a:solidFill>
            <a:srgbClr val="FFF3E0"/>
          </a:solidFill>
          <a:ln w="31750">
            <a:solidFill>
              <a:srgbClr val="FF8F00"/>
            </a:solidFill>
          </a:ln>
        </p:spPr>
        <p:txBody>
          <a:bodyPr wrap="square" lIns="304800" tIns="457200" rIns="457200" bIns="304800" rtlCol="0" anchor="ctr"/>
          <a:lstStyle/>
          <a:p>
            <a:pPr marL="0" indent="0" algn="l">
              <a:buNone/>
            </a:pPr>
            <a:r>
              <a:rPr lang="en-US" sz="3400" dirty="0">
                <a:solidFill>
                  <a:srgbClr val="262626"/>
                </a:solidFill>
                <a:latin typeface="Calibri" pitchFamily="34" charset="0"/>
                <a:ea typeface="Calibri" pitchFamily="34" charset="-122"/>
                <a:cs typeface="Calibri" pitchFamily="34" charset="-120"/>
              </a:rPr>
              <a:t>R1’s outputs are wired to R2’s inputs all the time; the load signal decides whether R2 actually takes the value at the next clock edge.</a:t>
            </a:r>
            <a:endParaRPr lang="en-US" sz="3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What the hardware needs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3.2</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R1’s output lines are wired straight into R2’s input lines, always</a:t>
            </a:r>
            <a:endParaRPr lang="en-US" sz="3200" dirty="0"/>
          </a:p>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R2 has a </a:t>
            </a:r>
            <a:r>
              <a:rPr lang="en-US" sz="3200" b="1" dirty="0">
                <a:solidFill>
                  <a:srgbClr val="262626"/>
                </a:solidFill>
                <a:latin typeface="Calibri" pitchFamily="34" charset="0"/>
                <a:ea typeface="Calibri" pitchFamily="34" charset="-122"/>
                <a:cs typeface="Calibri" pitchFamily="34" charset="-120"/>
              </a:rPr>
              <a:t>load-enable</a:t>
            </a:r>
            <a:r>
              <a:rPr lang="en-US" sz="3200" dirty="0">
                <a:solidFill>
                  <a:srgbClr val="262626"/>
                </a:solidFill>
                <a:latin typeface="Calibri" pitchFamily="34" charset="0"/>
                <a:ea typeface="Calibri" pitchFamily="34" charset="-122"/>
                <a:cs typeface="Calibri" pitchFamily="34" charset="-120"/>
              </a:rPr>
              <a:t> input: it lets R2 take the value only when P = 1</a:t>
            </a:r>
            <a:endParaRPr lang="en-US" sz="3200" dirty="0"/>
          </a:p>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Both registers use the same clock, so transfers happen at the same instants</a:t>
            </a:r>
            <a:endParaRPr lang="en-US" sz="3200" dirty="0"/>
          </a:p>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Only R2’s load is controlled by P; R1 keeps its content whatever P does</a:t>
            </a:r>
            <a:endParaRPr lang="en-US" sz="32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Transfer from R1 to R2</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3.2</a:t>
            </a:r>
            <a:endParaRPr lang="en-US" sz="1600" dirty="0"/>
          </a:p>
        </p:txBody>
      </p:sp>
      <p:pic>
        <p:nvPicPr>
          <p:cNvPr id="5" name="Image 0" descr="/home/claude/figs/3.2_register-transfer_fig1.png"/>
          <p:cNvPicPr>
            <a:picLocks noChangeAspect="1"/>
          </p:cNvPicPr>
          <p:nvPr/>
        </p:nvPicPr>
        <p:blipFill>
          <a:blip r:embed="rId3"/>
          <a:stretch>
            <a:fillRect/>
          </a:stretch>
        </p:blipFill>
        <p:spPr>
          <a:xfrm>
            <a:off x="1459840" y="621792"/>
            <a:ext cx="9272016" cy="5705856"/>
          </a:xfrm>
          <a:prstGeom prst="rect">
            <a:avLst/>
          </a:prstGeom>
        </p:spPr>
      </p:pic>
      <p:sp>
        <p:nvSpPr>
          <p:cNvPr id="6" name="Text 2"/>
          <p:cNvSpPr txBox="1"/>
          <p:nvPr/>
        </p:nvSpPr>
        <p:spPr>
          <a:xfrm>
            <a:off x="411480" y="6355080"/>
            <a:ext cx="10424160" cy="457200"/>
          </a:xfrm>
          <a:prstGeom prst="rect">
            <a:avLst/>
          </a:prstGeom>
          <a:noFill/>
          <a:ln/>
        </p:spPr>
        <p:txBody>
          <a:bodyPr wrap="square" lIns="0" tIns="0" rIns="0" bIns="0" rtlCol="0" anchor="t"/>
          <a:lstStyle/>
          <a:p>
            <a:pPr marL="0" indent="0" algn="ctr">
              <a:buNone/>
            </a:pPr>
            <a:r>
              <a:rPr lang="en-US" sz="1400" dirty="0">
                <a:solidFill>
                  <a:srgbClr val="546E7A"/>
                </a:solidFill>
                <a:latin typeface="Calibri" pitchFamily="34" charset="0"/>
                <a:ea typeface="Calibri" pitchFamily="34" charset="-122"/>
                <a:cs typeface="Calibri" pitchFamily="34" charset="-120"/>
              </a:rPr>
              <a:t>Transfer from R1 to R2 when P = 1: (a) block diagram, (b) timing diagram. Adapted from M. Morris Mano, Computer System Architecture, Fig. 4-2.</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Why not just gate the clock?</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3.2</a:t>
            </a:r>
            <a:endParaRPr lang="en-US" sz="1600" dirty="0"/>
          </a:p>
        </p:txBody>
      </p:sp>
      <p:sp>
        <p:nvSpPr>
          <p:cNvPr id="5" name="Shape 2"/>
          <p:cNvSpPr/>
          <p:nvPr/>
        </p:nvSpPr>
        <p:spPr>
          <a:xfrm>
            <a:off x="548640" y="1280160"/>
            <a:ext cx="5440680" cy="4846320"/>
          </a:xfrm>
          <a:prstGeom prst="roundRect">
            <a:avLst>
              <a:gd name="adj" fmla="val 2264"/>
            </a:avLst>
          </a:prstGeom>
          <a:solidFill>
            <a:srgbClr val="FFF3E0"/>
          </a:solidFill>
          <a:ln w="31750">
            <a:solidFill>
              <a:srgbClr val="FF8F00"/>
            </a:solidFill>
            <a:prstDash val="solid"/>
          </a:ln>
        </p:spPr>
      </p:sp>
      <p:sp>
        <p:nvSpPr>
          <p:cNvPr id="6" name="Text 3"/>
          <p:cNvSpPr txBox="1"/>
          <p:nvPr/>
        </p:nvSpPr>
        <p:spPr>
          <a:xfrm>
            <a:off x="822960" y="1463040"/>
            <a:ext cx="4892040" cy="548640"/>
          </a:xfrm>
          <a:prstGeom prst="rect">
            <a:avLst/>
          </a:prstGeom>
          <a:noFill/>
          <a:ln/>
        </p:spPr>
        <p:txBody>
          <a:bodyPr wrap="square" lIns="0" tIns="0" rIns="0" bIns="0" rtlCol="0" anchor="ctr"/>
          <a:lstStyle/>
          <a:p>
            <a:pPr marL="0" indent="0">
              <a:buNone/>
            </a:pPr>
            <a:r>
              <a:rPr lang="en-US" sz="2800" b="1" dirty="0">
                <a:solidFill>
                  <a:srgbClr val="B35F00"/>
                </a:solidFill>
                <a:latin typeface="Calibri" pitchFamily="34" charset="0"/>
                <a:ea typeface="Calibri" pitchFamily="34" charset="-122"/>
                <a:cs typeface="Calibri" pitchFamily="34" charset="-120"/>
              </a:rPr>
              <a:t>Gate the clock (avoid)</a:t>
            </a:r>
            <a:endParaRPr lang="en-US" sz="2800" dirty="0"/>
          </a:p>
        </p:txBody>
      </p:sp>
      <p:sp>
        <p:nvSpPr>
          <p:cNvPr id="7" name="Text 4"/>
          <p:cNvSpPr txBox="1"/>
          <p:nvPr/>
        </p:nvSpPr>
        <p:spPr>
          <a:xfrm>
            <a:off x="822960" y="2194560"/>
            <a:ext cx="4892040" cy="3749040"/>
          </a:xfrm>
          <a:prstGeom prst="rect">
            <a:avLst/>
          </a:prstGeom>
          <a:noFill/>
          <a:ln/>
        </p:spPr>
        <p:txBody>
          <a:bodyPr wrap="square" lIns="0" tIns="0" rIns="0" bIns="0" rtlCol="0" anchor="t"/>
          <a:lstStyle/>
          <a:p>
            <a:pPr marL="304800" indent="-304800" algn="l">
              <a:spcAft>
                <a:spcPts val="1400"/>
              </a:spcAft>
              <a:buSzPct val="100000"/>
              <a:buChar char="•"/>
            </a:pPr>
            <a:r>
              <a:rPr lang="en-US" sz="2400" dirty="0">
                <a:solidFill>
                  <a:srgbClr val="262626"/>
                </a:solidFill>
                <a:latin typeface="Calibri" pitchFamily="34" charset="0"/>
                <a:ea typeface="Calibri" pitchFamily="34" charset="-122"/>
                <a:cs typeface="Calibri" pitchFamily="34" charset="-120"/>
              </a:rPr>
              <a:t>Clock AND P is sent to R2</a:t>
            </a:r>
            <a:endParaRPr lang="en-US" sz="2400" dirty="0"/>
          </a:p>
          <a:p>
            <a:pPr marL="304800" indent="-304800" algn="l">
              <a:spcAft>
                <a:spcPts val="1400"/>
              </a:spcAft>
              <a:buSzPct val="100000"/>
              <a:buChar char="•"/>
            </a:pPr>
            <a:r>
              <a:rPr lang="en-US" sz="2400" dirty="0">
                <a:solidFill>
                  <a:srgbClr val="262626"/>
                </a:solidFill>
                <a:latin typeface="Calibri" pitchFamily="34" charset="0"/>
                <a:ea typeface="Calibri" pitchFamily="34" charset="-122"/>
                <a:cs typeface="Calibri" pitchFamily="34" charset="-120"/>
              </a:rPr>
              <a:t>P can change at any moment, not in step with the clock</a:t>
            </a:r>
            <a:endParaRPr lang="en-US" sz="2400" dirty="0"/>
          </a:p>
          <a:p>
            <a:pPr marL="304800" indent="-304800" algn="l">
              <a:spcAft>
                <a:spcPts val="1400"/>
              </a:spcAft>
              <a:buSzPct val="100000"/>
              <a:buChar char="•"/>
            </a:pPr>
            <a:r>
              <a:rPr lang="en-US" sz="2400" dirty="0">
                <a:solidFill>
                  <a:srgbClr val="262626"/>
                </a:solidFill>
                <a:latin typeface="Calibri" pitchFamily="34" charset="0"/>
                <a:ea typeface="Calibri" pitchFamily="34" charset="-122"/>
                <a:cs typeface="Calibri" pitchFamily="34" charset="-120"/>
              </a:rPr>
              <a:t>The gated clock can glitch: a tiny false pulse or an edge at the wrong time</a:t>
            </a:r>
            <a:endParaRPr lang="en-US" sz="2400" dirty="0"/>
          </a:p>
          <a:p>
            <a:pPr marL="304800" indent="-304800" algn="l">
              <a:spcAft>
                <a:spcPts val="1400"/>
              </a:spcAft>
              <a:buSzPct val="100000"/>
              <a:buChar char="•"/>
            </a:pPr>
            <a:r>
              <a:rPr lang="en-US" sz="2400" dirty="0">
                <a:solidFill>
                  <a:srgbClr val="262626"/>
                </a:solidFill>
                <a:latin typeface="Calibri" pitchFamily="34" charset="0"/>
                <a:ea typeface="Calibri" pitchFamily="34" charset="-122"/>
                <a:cs typeface="Calibri" pitchFamily="34" charset="-120"/>
              </a:rPr>
              <a:t>R2 may then load at the wrong time</a:t>
            </a:r>
            <a:endParaRPr lang="en-US" sz="2400" dirty="0"/>
          </a:p>
        </p:txBody>
      </p:sp>
      <p:sp>
        <p:nvSpPr>
          <p:cNvPr id="8" name="Shape 5"/>
          <p:cNvSpPr/>
          <p:nvPr/>
        </p:nvSpPr>
        <p:spPr>
          <a:xfrm>
            <a:off x="6199632" y="1280160"/>
            <a:ext cx="5440680" cy="4846320"/>
          </a:xfrm>
          <a:prstGeom prst="roundRect">
            <a:avLst>
              <a:gd name="adj" fmla="val 2264"/>
            </a:avLst>
          </a:prstGeom>
          <a:solidFill>
            <a:srgbClr val="EAF2FB"/>
          </a:solidFill>
          <a:ln w="31750">
            <a:solidFill>
              <a:srgbClr val="1565C0"/>
            </a:solidFill>
            <a:prstDash val="solid"/>
          </a:ln>
        </p:spPr>
      </p:sp>
      <p:sp>
        <p:nvSpPr>
          <p:cNvPr id="9" name="Text 6"/>
          <p:cNvSpPr txBox="1"/>
          <p:nvPr/>
        </p:nvSpPr>
        <p:spPr>
          <a:xfrm>
            <a:off x="6473952" y="1463040"/>
            <a:ext cx="4892040" cy="548640"/>
          </a:xfrm>
          <a:prstGeom prst="rect">
            <a:avLst/>
          </a:prstGeom>
          <a:noFill/>
          <a:ln/>
        </p:spPr>
        <p:txBody>
          <a:bodyPr wrap="square" lIns="0" tIns="0" rIns="0" bIns="0" rtlCol="0" anchor="ctr"/>
          <a:lstStyle/>
          <a:p>
            <a:pPr marL="0" indent="0">
              <a:buNone/>
            </a:pPr>
            <a:r>
              <a:rPr lang="en-US" sz="2800" b="1" dirty="0">
                <a:solidFill>
                  <a:srgbClr val="1565C0"/>
                </a:solidFill>
                <a:latin typeface="Calibri" pitchFamily="34" charset="0"/>
                <a:ea typeface="Calibri" pitchFamily="34" charset="-122"/>
                <a:cs typeface="Calibri" pitchFamily="34" charset="-120"/>
              </a:rPr>
              <a:t>Use load-enable (correct)</a:t>
            </a:r>
            <a:endParaRPr lang="en-US" sz="2800" dirty="0"/>
          </a:p>
        </p:txBody>
      </p:sp>
      <p:sp>
        <p:nvSpPr>
          <p:cNvPr id="10" name="Text 7"/>
          <p:cNvSpPr txBox="1"/>
          <p:nvPr/>
        </p:nvSpPr>
        <p:spPr>
          <a:xfrm>
            <a:off x="6473952" y="2194560"/>
            <a:ext cx="4892040" cy="3749040"/>
          </a:xfrm>
          <a:prstGeom prst="rect">
            <a:avLst/>
          </a:prstGeom>
          <a:noFill/>
          <a:ln/>
        </p:spPr>
        <p:txBody>
          <a:bodyPr wrap="square" lIns="0" tIns="0" rIns="0" bIns="0" rtlCol="0" anchor="t"/>
          <a:lstStyle/>
          <a:p>
            <a:pPr marL="304800" indent="-304800" algn="l">
              <a:spcAft>
                <a:spcPts val="1400"/>
              </a:spcAft>
              <a:buSzPct val="100000"/>
              <a:buChar char="•"/>
            </a:pPr>
            <a:r>
              <a:rPr lang="en-US" sz="2400" dirty="0">
                <a:solidFill>
                  <a:srgbClr val="262626"/>
                </a:solidFill>
                <a:latin typeface="Calibri" pitchFamily="34" charset="0"/>
                <a:ea typeface="Calibri" pitchFamily="34" charset="-122"/>
                <a:cs typeface="Calibri" pitchFamily="34" charset="-120"/>
              </a:rPr>
              <a:t>The clock goes straight to R2, untouched</a:t>
            </a:r>
            <a:endParaRPr lang="en-US" sz="2400" dirty="0"/>
          </a:p>
          <a:p>
            <a:pPr marL="304800" indent="-304800" algn="l">
              <a:spcAft>
                <a:spcPts val="1400"/>
              </a:spcAft>
              <a:buSzPct val="100000"/>
              <a:buChar char="•"/>
            </a:pPr>
            <a:r>
              <a:rPr lang="en-US" sz="2400" dirty="0">
                <a:solidFill>
                  <a:srgbClr val="262626"/>
                </a:solidFill>
                <a:latin typeface="Calibri" pitchFamily="34" charset="0"/>
                <a:ea typeface="Calibri" pitchFamily="34" charset="-122"/>
                <a:cs typeface="Calibri" pitchFamily="34" charset="-120"/>
              </a:rPr>
              <a:t>P only tells R2 whether to load at the clock edge</a:t>
            </a:r>
            <a:endParaRPr lang="en-US" sz="2400" dirty="0"/>
          </a:p>
          <a:p>
            <a:pPr marL="304800" indent="-304800" algn="l">
              <a:spcAft>
                <a:spcPts val="1400"/>
              </a:spcAft>
              <a:buSzPct val="100000"/>
              <a:buChar char="•"/>
            </a:pPr>
            <a:r>
              <a:rPr lang="en-US" sz="2400" dirty="0">
                <a:solidFill>
                  <a:srgbClr val="262626"/>
                </a:solidFill>
                <a:latin typeface="Calibri" pitchFamily="34" charset="0"/>
                <a:ea typeface="Calibri" pitchFamily="34" charset="-122"/>
                <a:cs typeface="Calibri" pitchFamily="34" charset="-120"/>
              </a:rPr>
              <a:t>The clock never glitches</a:t>
            </a:r>
            <a:endParaRPr lang="en-US" sz="2400" dirty="0"/>
          </a:p>
          <a:p>
            <a:pPr marL="304800" indent="-304800" algn="l">
              <a:spcAft>
                <a:spcPts val="1400"/>
              </a:spcAft>
              <a:buSzPct val="100000"/>
              <a:buChar char="•"/>
            </a:pPr>
            <a:r>
              <a:rPr lang="en-US" sz="2400" dirty="0">
                <a:solidFill>
                  <a:srgbClr val="262626"/>
                </a:solidFill>
                <a:latin typeface="Calibri" pitchFamily="34" charset="0"/>
                <a:ea typeface="Calibri" pitchFamily="34" charset="-122"/>
                <a:cs typeface="Calibri" pitchFamily="34" charset="-120"/>
              </a:rPr>
              <a:t>R2 loads only when P = 1 at a clock edge</a:t>
            </a:r>
            <a:endParaRPr lang="en-US" sz="2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Timing</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3.2</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P must be steady a short time </a:t>
            </a:r>
            <a:r>
              <a:rPr lang="en-US" sz="3200" b="1" dirty="0">
                <a:solidFill>
                  <a:srgbClr val="262626"/>
                </a:solidFill>
                <a:latin typeface="Calibri" pitchFamily="34" charset="0"/>
                <a:ea typeface="Calibri" pitchFamily="34" charset="-122"/>
                <a:cs typeface="Calibri" pitchFamily="34" charset="-120"/>
              </a:rPr>
              <a:t>before</a:t>
            </a:r>
            <a:r>
              <a:rPr lang="en-US" sz="3200" dirty="0">
                <a:solidFill>
                  <a:srgbClr val="262626"/>
                </a:solidFill>
                <a:latin typeface="Calibri" pitchFamily="34" charset="0"/>
                <a:ea typeface="Calibri" pitchFamily="34" charset="-122"/>
                <a:cs typeface="Calibri" pitchFamily="34" charset="-120"/>
              </a:rPr>
              <a:t> the clock edge (setup time)</a:t>
            </a:r>
            <a:endParaRPr lang="en-US" sz="3200" dirty="0"/>
          </a:p>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If P = 1 at a clock edge, R2 loads R1 at that edge</a:t>
            </a:r>
            <a:endParaRPr lang="en-US" sz="3200" dirty="0"/>
          </a:p>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In the figure, P goes high after edge t and is still 1 at edge t + 1, so R2 loads at t + 1</a:t>
            </a:r>
            <a:endParaRPr lang="en-US" sz="3200" dirty="0"/>
          </a:p>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R2 then keeps the new value until the next load</a:t>
            </a:r>
            <a:endParaRPr lang="en-US" sz="32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3.3  Bus &amp; Memory Transfers</a:t>
            </a:r>
            <a:endParaRPr lang="en-US" sz="3000" dirty="0"/>
          </a:p>
        </p:txBody>
      </p:sp>
      <p:sp>
        <p:nvSpPr>
          <p:cNvPr id="4" name="Text 1"/>
          <p:cNvSpPr txBox="1"/>
          <p:nvPr/>
        </p:nvSpPr>
        <p:spPr>
          <a:xfrm>
            <a:off x="914400" y="1417320"/>
            <a:ext cx="5486400" cy="365760"/>
          </a:xfrm>
          <a:prstGeom prst="rect">
            <a:avLst/>
          </a:prstGeom>
          <a:noFill/>
          <a:ln/>
        </p:spPr>
        <p:txBody>
          <a:bodyPr wrap="square" lIns="0" tIns="0" rIns="0" bIns="0" rtlCol="0" anchor="ctr"/>
          <a:lstStyle/>
          <a:p>
            <a:pPr marL="0" indent="0">
              <a:buNone/>
            </a:pPr>
            <a:r>
              <a:rPr lang="en-US" sz="2000" b="1" dirty="0">
                <a:solidFill>
                  <a:srgbClr val="1565C0"/>
                </a:solidFill>
                <a:latin typeface="Calibri" pitchFamily="34" charset="0"/>
                <a:ea typeface="Calibri" pitchFamily="34" charset="-122"/>
                <a:cs typeface="Calibri" pitchFamily="34" charset="-120"/>
              </a:rPr>
              <a:t>IN SIMPLE TERMS</a:t>
            </a:r>
            <a:endParaRPr lang="en-US" sz="2000" dirty="0"/>
          </a:p>
        </p:txBody>
      </p:sp>
      <p:sp>
        <p:nvSpPr>
          <p:cNvPr id="5" name="Text 2"/>
          <p:cNvSpPr txBox="1"/>
          <p:nvPr/>
        </p:nvSpPr>
        <p:spPr>
          <a:xfrm>
            <a:off x="914400" y="1920240"/>
            <a:ext cx="10362895" cy="3566160"/>
          </a:xfrm>
          <a:prstGeom prst="roundRect">
            <a:avLst>
              <a:gd name="adj" fmla="val 3846"/>
            </a:avLst>
          </a:prstGeom>
          <a:solidFill>
            <a:srgbClr val="FFF3E0"/>
          </a:solidFill>
          <a:ln w="31750">
            <a:solidFill>
              <a:srgbClr val="FF8F00"/>
            </a:solidFill>
          </a:ln>
        </p:spPr>
        <p:txBody>
          <a:bodyPr wrap="square" lIns="304800" tIns="457200" rIns="457200" bIns="304800" rtlCol="0" anchor="ctr"/>
          <a:lstStyle/>
          <a:p>
            <a:pPr marL="0" indent="0" algn="l">
              <a:buNone/>
            </a:pPr>
            <a:r>
              <a:rPr lang="en-US" sz="3400" dirty="0">
                <a:solidFill>
                  <a:srgbClr val="262626"/>
                </a:solidFill>
                <a:latin typeface="Calibri" pitchFamily="34" charset="0"/>
                <a:ea typeface="Calibri" pitchFamily="34" charset="-122"/>
                <a:cs typeface="Calibri" pitchFamily="34" charset="-120"/>
              </a:rPr>
              <a:t>Instead of wiring every register to every other, registers share one bus. The select lines decide which register’s value is on the bus at any moment.</a:t>
            </a:r>
            <a:endParaRPr lang="en-US" sz="3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The wiring problem</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3.3</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Wiring every register to every other grows as roughly n² lines</a:t>
            </a:r>
            <a:endParaRPr lang="en-US" sz="3200" dirty="0"/>
          </a:p>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Fix: one shared set of lines, the </a:t>
            </a:r>
            <a:r>
              <a:rPr lang="en-US" sz="3200" b="1" dirty="0">
                <a:solidFill>
                  <a:srgbClr val="262626"/>
                </a:solidFill>
                <a:latin typeface="Calibri" pitchFamily="34" charset="0"/>
                <a:ea typeface="Calibri" pitchFamily="34" charset="-122"/>
                <a:cs typeface="Calibri" pitchFamily="34" charset="-120"/>
              </a:rPr>
              <a:t>common bus</a:t>
            </a:r>
            <a:r>
              <a:rPr lang="en-US" sz="3200" dirty="0">
                <a:solidFill>
                  <a:srgbClr val="262626"/>
                </a:solidFill>
                <a:latin typeface="Calibri" pitchFamily="34" charset="0"/>
                <a:ea typeface="Calibri" pitchFamily="34" charset="-122"/>
                <a:cs typeface="Calibri" pitchFamily="34" charset="-120"/>
              </a:rPr>
              <a:t>; only one register drives it at a time</a:t>
            </a:r>
            <a:endParaRPr lang="en-US" sz="3200" dirty="0"/>
          </a:p>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With multiplexers: one MUX per bit, with that bit from every register as its inputs</a:t>
            </a:r>
            <a:endParaRPr lang="en-US" sz="3200" dirty="0"/>
          </a:p>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Four registers need a 4-to-1 MUX per bit, all sharing the same 2-bit select code</a:t>
            </a:r>
            <a:endParaRPr lang="en-US" sz="32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Bus system for four registers</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3.3</a:t>
            </a:r>
            <a:endParaRPr lang="en-US" sz="1600" dirty="0"/>
          </a:p>
        </p:txBody>
      </p:sp>
      <p:pic>
        <p:nvPicPr>
          <p:cNvPr id="5" name="Image 0" descr="/home/claude/figs/3.3_bus-memory-transfers_fig1.png"/>
          <p:cNvPicPr>
            <a:picLocks noChangeAspect="1"/>
          </p:cNvPicPr>
          <p:nvPr/>
        </p:nvPicPr>
        <p:blipFill>
          <a:blip r:embed="rId3"/>
          <a:stretch>
            <a:fillRect/>
          </a:stretch>
        </p:blipFill>
        <p:spPr>
          <a:xfrm>
            <a:off x="706984" y="621792"/>
            <a:ext cx="10777728" cy="5705856"/>
          </a:xfrm>
          <a:prstGeom prst="rect">
            <a:avLst/>
          </a:prstGeom>
        </p:spPr>
      </p:pic>
      <p:sp>
        <p:nvSpPr>
          <p:cNvPr id="6" name="Text 2"/>
          <p:cNvSpPr txBox="1"/>
          <p:nvPr/>
        </p:nvSpPr>
        <p:spPr>
          <a:xfrm>
            <a:off x="411480" y="6355080"/>
            <a:ext cx="10424160" cy="457200"/>
          </a:xfrm>
          <a:prstGeom prst="rect">
            <a:avLst/>
          </a:prstGeom>
          <a:noFill/>
          <a:ln/>
        </p:spPr>
        <p:txBody>
          <a:bodyPr wrap="square" lIns="0" tIns="0" rIns="0" bIns="0" rtlCol="0" anchor="t"/>
          <a:lstStyle/>
          <a:p>
            <a:pPr marL="0" indent="0" algn="ctr">
              <a:buNone/>
            </a:pPr>
            <a:r>
              <a:rPr lang="en-US" sz="1400" dirty="0">
                <a:solidFill>
                  <a:srgbClr val="546E7A"/>
                </a:solidFill>
                <a:latin typeface="Calibri" pitchFamily="34" charset="0"/>
                <a:ea typeface="Calibri" pitchFamily="34" charset="-122"/>
                <a:cs typeface="Calibri" pitchFamily="34" charset="-120"/>
              </a:rPr>
              <a:t>Bus system for four registers using multiplexers. S₁S₀ select lines connect to all four 4×1 MUXes; each drives one line of the 4-line common bus. Adapted from M. Morris Mano, Computer System Architecture, Fig. 4-3.</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Using the bus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3.3</a:t>
            </a:r>
            <a:endParaRPr lang="en-US" sz="1600" dirty="0"/>
          </a:p>
        </p:txBody>
      </p:sp>
      <p:sp>
        <p:nvSpPr>
          <p:cNvPr id="5" name="Text 2"/>
          <p:cNvSpPr txBox="1"/>
          <p:nvPr/>
        </p:nvSpPr>
        <p:spPr>
          <a:xfrm>
            <a:off x="548640" y="1280160"/>
            <a:ext cx="11094415" cy="1010920"/>
          </a:xfrm>
          <a:prstGeom prst="roundRect">
            <a:avLst>
              <a:gd name="adj" fmla="val 9045"/>
            </a:avLst>
          </a:prstGeom>
          <a:solidFill>
            <a:srgbClr val="F4F6F8"/>
          </a:solidFill>
          <a:ln w="25400">
            <a:solidFill>
              <a:srgbClr val="FF8F00"/>
            </a:solidFill>
          </a:ln>
        </p:spPr>
        <p:txBody>
          <a:bodyPr wrap="square" lIns="152400" tIns="279400" rIns="279400" bIns="152400" rtlCol="0" anchor="ctr"/>
          <a:lstStyle/>
          <a:p>
            <a:pPr marL="0" indent="0">
              <a:spcAft>
                <a:spcPts val="200"/>
              </a:spcAft>
              <a:buNone/>
            </a:pPr>
            <a:r>
              <a:rPr lang="en-US" sz="2800" dirty="0">
                <a:solidFill>
                  <a:srgbClr val="262626"/>
                </a:solidFill>
                <a:latin typeface="Courier New" pitchFamily="34" charset="0"/>
                <a:ea typeface="Courier New" pitchFamily="34" charset="-122"/>
                <a:cs typeface="Courier New" pitchFamily="34" charset="-120"/>
              </a:rPr>
              <a:t>S₁S₀ = 10 (select C):  BUS ← C, R1 ← BUS</a:t>
            </a:r>
            <a:endParaRPr lang="en-US" sz="2800" dirty="0"/>
          </a:p>
        </p:txBody>
      </p:sp>
      <p:sp>
        <p:nvSpPr>
          <p:cNvPr id="6" name="Text 3"/>
          <p:cNvSpPr txBox="1"/>
          <p:nvPr/>
        </p:nvSpPr>
        <p:spPr>
          <a:xfrm>
            <a:off x="640080" y="2611120"/>
            <a:ext cx="10911535" cy="3698240"/>
          </a:xfrm>
          <a:prstGeom prst="rect">
            <a:avLst/>
          </a:prstGeom>
          <a:noFill/>
          <a:ln/>
        </p:spPr>
        <p:txBody>
          <a:bodyPr wrap="square" lIns="0" tIns="0" rIns="0" bIns="0" rtlCol="0" anchor="t"/>
          <a:lstStyle/>
          <a:p>
            <a:pPr marL="304800" indent="-304800" algn="l">
              <a:spcAft>
                <a:spcPts val="1000"/>
              </a:spcAft>
              <a:buSzPct val="100000"/>
              <a:buChar char="•"/>
            </a:pPr>
            <a:r>
              <a:rPr lang="en-US" sz="2800" dirty="0">
                <a:solidFill>
                  <a:srgbClr val="262626"/>
                </a:solidFill>
                <a:latin typeface="Calibri" pitchFamily="34" charset="0"/>
                <a:ea typeface="Calibri" pitchFamily="34" charset="-122"/>
                <a:cs typeface="Calibri" pitchFamily="34" charset="-120"/>
              </a:rPr>
              <a:t>One MUX handles one bit; an n-bit bus needs n identical MUXes</a:t>
            </a:r>
            <a:endParaRPr lang="en-US" sz="2800" dirty="0"/>
          </a:p>
          <a:p>
            <a:pPr marL="304800" indent="-304800" algn="l">
              <a:spcAft>
                <a:spcPts val="1000"/>
              </a:spcAft>
              <a:buSzPct val="100000"/>
              <a:buChar char="•"/>
            </a:pPr>
            <a:r>
              <a:rPr lang="en-US" sz="2800" dirty="0">
                <a:solidFill>
                  <a:srgbClr val="262626"/>
                </a:solidFill>
                <a:latin typeface="Calibri" pitchFamily="34" charset="0"/>
                <a:ea typeface="Calibri" pitchFamily="34" charset="-122"/>
                <a:cs typeface="Calibri" pitchFamily="34" charset="-120"/>
              </a:rPr>
              <a:t>One 2-bit code chooses a register for the whole word</a:t>
            </a:r>
            <a:endParaRPr lang="en-US" sz="2800" dirty="0"/>
          </a:p>
          <a:p>
            <a:pPr marL="304800" indent="-304800" algn="l">
              <a:spcAft>
                <a:spcPts val="1000"/>
              </a:spcAft>
              <a:buSzPct val="100000"/>
              <a:buChar char="•"/>
            </a:pPr>
            <a:r>
              <a:rPr lang="en-US" sz="2800" dirty="0">
                <a:solidFill>
                  <a:srgbClr val="262626"/>
                </a:solidFill>
                <a:latin typeface="Calibri" pitchFamily="34" charset="0"/>
                <a:ea typeface="Calibri" pitchFamily="34" charset="-122"/>
                <a:cs typeface="Calibri" pitchFamily="34" charset="-120"/>
              </a:rPr>
              <a:t>Routing is combinational: no clock involved</a:t>
            </a:r>
            <a:endParaRPr lang="en-US" sz="2800" dirty="0"/>
          </a:p>
          <a:p>
            <a:pPr marL="304800" indent="-304800" algn="l">
              <a:spcAft>
                <a:spcPts val="1000"/>
              </a:spcAft>
              <a:buSzPct val="100000"/>
              <a:buChar char="•"/>
            </a:pPr>
            <a:r>
              <a:rPr lang="en-US" sz="2800" dirty="0">
                <a:solidFill>
                  <a:srgbClr val="262626"/>
                </a:solidFill>
                <a:latin typeface="Calibri" pitchFamily="34" charset="0"/>
                <a:ea typeface="Calibri" pitchFamily="34" charset="-122"/>
                <a:cs typeface="Calibri" pitchFamily="34" charset="-120"/>
              </a:rPr>
              <a:t>Only R1’s load needs a clock edge, so both steps fit in one clock period</a:t>
            </a:r>
            <a:endParaRPr lang="en-US" sz="28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The three-state alternative</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3.3</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Real buses often use </a:t>
            </a:r>
            <a:r>
              <a:rPr lang="en-US" sz="3200" b="1" dirty="0">
                <a:solidFill>
                  <a:srgbClr val="262626"/>
                </a:solidFill>
                <a:latin typeface="Calibri" pitchFamily="34" charset="0"/>
                <a:ea typeface="Calibri" pitchFamily="34" charset="-122"/>
                <a:cs typeface="Calibri" pitchFamily="34" charset="-120"/>
              </a:rPr>
              <a:t>three-state buffers</a:t>
            </a:r>
            <a:r>
              <a:rPr lang="en-US" sz="3200" dirty="0">
                <a:solidFill>
                  <a:srgbClr val="262626"/>
                </a:solidFill>
                <a:latin typeface="Calibri" pitchFamily="34" charset="0"/>
                <a:ea typeface="Calibri" pitchFamily="34" charset="-122"/>
                <a:cs typeface="Calibri" pitchFamily="34" charset="-120"/>
              </a:rPr>
              <a:t> instead of a MUX per bit</a:t>
            </a:r>
            <a:endParaRPr lang="en-US" sz="3200" dirty="0"/>
          </a:p>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Each buffer either drives 0 or 1, or is disconnected (high impedance, Z)</a:t>
            </a:r>
            <a:endParaRPr lang="en-US" sz="3200" dirty="0"/>
          </a:p>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Enable exactly one register’s buffers at a time; the others do not interfere</a:t>
            </a:r>
            <a:endParaRPr lang="en-US" sz="3200" dirty="0"/>
          </a:p>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This is why datasheets describe a pin as “TRI-STATE”</a:t>
            </a:r>
            <a:endParaRPr lang="en-US" sz="32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Memory transfers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3.3</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An </a:t>
            </a:r>
            <a:r>
              <a:rPr lang="en-US" sz="3200" b="1" dirty="0">
                <a:solidFill>
                  <a:srgbClr val="262626"/>
                </a:solidFill>
                <a:latin typeface="Calibri" pitchFamily="34" charset="0"/>
                <a:ea typeface="Calibri" pitchFamily="34" charset="-122"/>
                <a:cs typeface="Calibri" pitchFamily="34" charset="-120"/>
              </a:rPr>
              <a:t>address register (AR)</a:t>
            </a:r>
            <a:r>
              <a:rPr lang="en-US" sz="3200" dirty="0">
                <a:solidFill>
                  <a:srgbClr val="262626"/>
                </a:solidFill>
                <a:latin typeface="Calibri" pitchFamily="34" charset="0"/>
                <a:ea typeface="Calibri" pitchFamily="34" charset="-122"/>
                <a:cs typeface="Calibri" pitchFamily="34" charset="-120"/>
              </a:rPr>
              <a:t> selects a memory word</a:t>
            </a:r>
            <a:endParaRPr lang="en-US" sz="3200" dirty="0"/>
          </a:p>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A </a:t>
            </a:r>
            <a:r>
              <a:rPr lang="en-US" sz="3200" b="1" dirty="0">
                <a:solidFill>
                  <a:srgbClr val="262626"/>
                </a:solidFill>
                <a:latin typeface="Calibri" pitchFamily="34" charset="0"/>
                <a:ea typeface="Calibri" pitchFamily="34" charset="-122"/>
                <a:cs typeface="Calibri" pitchFamily="34" charset="-120"/>
              </a:rPr>
              <a:t>data register (DR)</a:t>
            </a:r>
            <a:r>
              <a:rPr lang="en-US" sz="3200" dirty="0">
                <a:solidFill>
                  <a:srgbClr val="262626"/>
                </a:solidFill>
                <a:latin typeface="Calibri" pitchFamily="34" charset="0"/>
                <a:ea typeface="Calibri" pitchFamily="34" charset="-122"/>
                <a:cs typeface="Calibri" pitchFamily="34" charset="-120"/>
              </a:rPr>
              <a:t> holds the value being read or written</a:t>
            </a:r>
            <a:endParaRPr lang="en-US" sz="3200" dirty="0"/>
          </a:p>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Read and Write control lines tell the memory what to do</a:t>
            </a:r>
            <a:endParaRPr lang="en-US" sz="32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Memory with AR and DR</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3.3</a:t>
            </a:r>
            <a:endParaRPr lang="en-US" sz="1600" dirty="0"/>
          </a:p>
        </p:txBody>
      </p:sp>
      <p:pic>
        <p:nvPicPr>
          <p:cNvPr id="5" name="Image 0" descr="/home/claude/figs/3.3_bus-memory-transfers_fig2.png"/>
          <p:cNvPicPr>
            <a:picLocks noChangeAspect="1"/>
          </p:cNvPicPr>
          <p:nvPr/>
        </p:nvPicPr>
        <p:blipFill>
          <a:blip r:embed="rId3"/>
          <a:stretch>
            <a:fillRect/>
          </a:stretch>
        </p:blipFill>
        <p:spPr>
          <a:xfrm>
            <a:off x="274320" y="1146109"/>
            <a:ext cx="11643055" cy="4657222"/>
          </a:xfrm>
          <a:prstGeom prst="rect">
            <a:avLst/>
          </a:prstGeom>
        </p:spPr>
      </p:pic>
      <p:sp>
        <p:nvSpPr>
          <p:cNvPr id="6" name="Text 2"/>
          <p:cNvSpPr txBox="1"/>
          <p:nvPr/>
        </p:nvSpPr>
        <p:spPr>
          <a:xfrm>
            <a:off x="411480" y="6355080"/>
            <a:ext cx="10424160" cy="457200"/>
          </a:xfrm>
          <a:prstGeom prst="rect">
            <a:avLst/>
          </a:prstGeom>
          <a:noFill/>
          <a:ln/>
        </p:spPr>
        <p:txBody>
          <a:bodyPr wrap="square" lIns="0" tIns="0" rIns="0" bIns="0" rtlCol="0" anchor="t"/>
          <a:lstStyle/>
          <a:p>
            <a:pPr marL="0" indent="0" algn="ctr">
              <a:buNone/>
            </a:pPr>
            <a:r>
              <a:rPr lang="en-US" sz="1400" dirty="0">
                <a:solidFill>
                  <a:srgbClr val="546E7A"/>
                </a:solidFill>
                <a:latin typeface="Calibri" pitchFamily="34" charset="0"/>
                <a:ea typeface="Calibri" pitchFamily="34" charset="-122"/>
                <a:cs typeface="Calibri" pitchFamily="34" charset="-120"/>
              </a:rPr>
              <a:t>Memory connected to address register AR (supplying the address) and data register DR (receiving read data), with Read and Write control lines.</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Memory RTL</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3.3</a:t>
            </a:r>
            <a:endParaRPr lang="en-US" sz="1600" dirty="0"/>
          </a:p>
        </p:txBody>
      </p:sp>
      <p:sp>
        <p:nvSpPr>
          <p:cNvPr id="5" name="Text 2"/>
          <p:cNvSpPr txBox="1"/>
          <p:nvPr/>
        </p:nvSpPr>
        <p:spPr>
          <a:xfrm>
            <a:off x="548640" y="1280160"/>
            <a:ext cx="11094415" cy="1473200"/>
          </a:xfrm>
          <a:prstGeom prst="roundRect">
            <a:avLst>
              <a:gd name="adj" fmla="val 6207"/>
            </a:avLst>
          </a:prstGeom>
          <a:solidFill>
            <a:srgbClr val="F4F6F8"/>
          </a:solidFill>
          <a:ln w="25400">
            <a:solidFill>
              <a:srgbClr val="FF8F00"/>
            </a:solidFill>
          </a:ln>
        </p:spPr>
        <p:txBody>
          <a:bodyPr wrap="square" lIns="152400" tIns="279400" rIns="279400" bIns="152400" rtlCol="0" anchor="ctr"/>
          <a:lstStyle/>
          <a:p>
            <a:pPr marL="0" indent="0">
              <a:spcAft>
                <a:spcPts val="200"/>
              </a:spcAft>
              <a:buNone/>
            </a:pPr>
            <a:r>
              <a:rPr lang="en-US" sz="2800" dirty="0">
                <a:solidFill>
                  <a:srgbClr val="262626"/>
                </a:solidFill>
                <a:latin typeface="Courier New" pitchFamily="34" charset="0"/>
                <a:ea typeface="Courier New" pitchFamily="34" charset="-122"/>
                <a:cs typeface="Courier New" pitchFamily="34" charset="-120"/>
              </a:rPr>
              <a:t>Read:   DR ← M[AR]</a:t>
            </a:r>
            <a:endParaRPr lang="en-US" sz="2800" dirty="0"/>
          </a:p>
          <a:p>
            <a:pPr marL="0" indent="0">
              <a:spcAft>
                <a:spcPts val="200"/>
              </a:spcAft>
              <a:buNone/>
            </a:pPr>
            <a:r>
              <a:rPr lang="en-US" sz="2800" dirty="0">
                <a:solidFill>
                  <a:srgbClr val="262626"/>
                </a:solidFill>
                <a:latin typeface="Courier New" pitchFamily="34" charset="0"/>
                <a:ea typeface="Courier New" pitchFamily="34" charset="-122"/>
                <a:cs typeface="Courier New" pitchFamily="34" charset="-120"/>
              </a:rPr>
              <a:t>Write:  M[AR] ← DR</a:t>
            </a:r>
            <a:endParaRPr lang="en-US" sz="2800" dirty="0"/>
          </a:p>
        </p:txBody>
      </p:sp>
      <p:sp>
        <p:nvSpPr>
          <p:cNvPr id="6" name="Text 3"/>
          <p:cNvSpPr txBox="1"/>
          <p:nvPr/>
        </p:nvSpPr>
        <p:spPr>
          <a:xfrm>
            <a:off x="640080" y="3073400"/>
            <a:ext cx="10911535" cy="3235960"/>
          </a:xfrm>
          <a:prstGeom prst="rect">
            <a:avLst/>
          </a:prstGeom>
          <a:noFill/>
          <a:ln/>
        </p:spPr>
        <p:txBody>
          <a:bodyPr wrap="square" lIns="0" tIns="0" rIns="0" bIns="0" rtlCol="0" anchor="t"/>
          <a:lstStyle/>
          <a:p>
            <a:pPr marL="304800" indent="-304800" algn="l">
              <a:spcAft>
                <a:spcPts val="1000"/>
              </a:spcAft>
              <a:buSzPct val="100000"/>
              <a:buChar char="•"/>
            </a:pPr>
            <a:r>
              <a:rPr lang="en-US" sz="2800" b="1" dirty="0">
                <a:solidFill>
                  <a:srgbClr val="262626"/>
                </a:solidFill>
                <a:latin typeface="Calibri" pitchFamily="34" charset="0"/>
                <a:ea typeface="Calibri" pitchFamily="34" charset="-122"/>
                <a:cs typeface="Calibri" pitchFamily="34" charset="-120"/>
              </a:rPr>
              <a:t>M[AR]</a:t>
            </a:r>
            <a:r>
              <a:rPr lang="en-US" sz="2800" dirty="0">
                <a:solidFill>
                  <a:srgbClr val="262626"/>
                </a:solidFill>
                <a:latin typeface="Calibri" pitchFamily="34" charset="0"/>
                <a:ea typeface="Calibri" pitchFamily="34" charset="-122"/>
                <a:cs typeface="Calibri" pitchFamily="34" charset="-120"/>
              </a:rPr>
              <a:t> means the memory word addressed by the current content of AR</a:t>
            </a:r>
            <a:endParaRPr lang="en-US" sz="2800" dirty="0"/>
          </a:p>
          <a:p>
            <a:pPr marL="304800" indent="-304800" algn="l">
              <a:spcAft>
                <a:spcPts val="1000"/>
              </a:spcAft>
              <a:buSzPct val="100000"/>
              <a:buChar char="•"/>
            </a:pPr>
            <a:r>
              <a:rPr lang="en-US" sz="2800" dirty="0">
                <a:solidFill>
                  <a:srgbClr val="262626"/>
                </a:solidFill>
                <a:latin typeface="Calibri" pitchFamily="34" charset="0"/>
                <a:ea typeface="Calibri" pitchFamily="34" charset="-122"/>
                <a:cs typeface="Calibri" pitchFamily="34" charset="-120"/>
              </a:rPr>
              <a:t>The brackets name a location that depends on AR’s content, not a fixed register</a:t>
            </a:r>
            <a:endParaRPr lang="en-US" sz="28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3.4  Arithmetic Micro-operations</a:t>
            </a:r>
            <a:endParaRPr lang="en-US" sz="3000" dirty="0"/>
          </a:p>
        </p:txBody>
      </p:sp>
      <p:sp>
        <p:nvSpPr>
          <p:cNvPr id="4" name="Text 1"/>
          <p:cNvSpPr txBox="1"/>
          <p:nvPr/>
        </p:nvSpPr>
        <p:spPr>
          <a:xfrm>
            <a:off x="914400" y="1417320"/>
            <a:ext cx="5486400" cy="365760"/>
          </a:xfrm>
          <a:prstGeom prst="rect">
            <a:avLst/>
          </a:prstGeom>
          <a:noFill/>
          <a:ln/>
        </p:spPr>
        <p:txBody>
          <a:bodyPr wrap="square" lIns="0" tIns="0" rIns="0" bIns="0" rtlCol="0" anchor="ctr"/>
          <a:lstStyle/>
          <a:p>
            <a:pPr marL="0" indent="0">
              <a:buNone/>
            </a:pPr>
            <a:r>
              <a:rPr lang="en-US" sz="2000" b="1" dirty="0">
                <a:solidFill>
                  <a:srgbClr val="1565C0"/>
                </a:solidFill>
                <a:latin typeface="Calibri" pitchFamily="34" charset="0"/>
                <a:ea typeface="Calibri" pitchFamily="34" charset="-122"/>
                <a:cs typeface="Calibri" pitchFamily="34" charset="-120"/>
              </a:rPr>
              <a:t>IN SIMPLE TERMS</a:t>
            </a:r>
            <a:endParaRPr lang="en-US" sz="2000" dirty="0"/>
          </a:p>
        </p:txBody>
      </p:sp>
      <p:sp>
        <p:nvSpPr>
          <p:cNvPr id="5" name="Text 2"/>
          <p:cNvSpPr txBox="1"/>
          <p:nvPr/>
        </p:nvSpPr>
        <p:spPr>
          <a:xfrm>
            <a:off x="914400" y="1920240"/>
            <a:ext cx="10362895" cy="3566160"/>
          </a:xfrm>
          <a:prstGeom prst="roundRect">
            <a:avLst>
              <a:gd name="adj" fmla="val 3846"/>
            </a:avLst>
          </a:prstGeom>
          <a:solidFill>
            <a:srgbClr val="FFF3E0"/>
          </a:solidFill>
          <a:ln w="31750">
            <a:solidFill>
              <a:srgbClr val="FF8F00"/>
            </a:solidFill>
          </a:ln>
        </p:spPr>
        <p:txBody>
          <a:bodyPr wrap="square" lIns="304800" tIns="457200" rIns="457200" bIns="304800" rtlCol="0" anchor="ctr"/>
          <a:lstStyle/>
          <a:p>
            <a:pPr marL="0" indent="0" algn="l">
              <a:buNone/>
            </a:pPr>
            <a:r>
              <a:rPr lang="en-US" sz="3400" dirty="0">
                <a:solidFill>
                  <a:srgbClr val="262626"/>
                </a:solidFill>
                <a:latin typeface="Calibri" pitchFamily="34" charset="0"/>
                <a:ea typeface="Calibri" pitchFamily="34" charset="-122"/>
                <a:cs typeface="Calibri" pitchFamily="34" charset="-120"/>
              </a:rPr>
              <a:t>One parallel adder does all the arithmetic micro-operations (add, subtract, increment, decrement) by changing what is fed into its second input and its carry.</a:t>
            </a:r>
            <a:endParaRPr lang="en-US" sz="3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What is a micro-operation?</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3.4</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The smallest unit of work a CPU does in one clock cycle on data held in registers</a:t>
            </a:r>
            <a:endParaRPr lang="en-US" sz="3200" dirty="0"/>
          </a:p>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One register transfer, possibly with a simple operation along the way</a:t>
            </a:r>
            <a:endParaRPr lang="en-US" sz="3200" dirty="0"/>
          </a:p>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Three families in this unit: arithmetic, logic and shift</a:t>
            </a:r>
            <a:endParaRPr lang="en-US" sz="3200" dirty="0"/>
          </a:p>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Together they are exactly what an ALU is built from</a:t>
            </a:r>
            <a:endParaRPr lang="en-US" sz="32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Basic arithmetic micro-operations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3.4</a:t>
            </a:r>
            <a:endParaRPr lang="en-US" sz="16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63728" y="1188720"/>
          <a:ext cx="11064240" cy="914400"/>
        </p:xfrm>
        <a:graphic>
          <a:graphicData uri="http://schemas.openxmlformats.org/drawingml/2006/table">
            <a:tbl>
              <a:tblPr/>
              <a:tblGrid>
                <a:gridCol w="3291840">
                  <a:extLst>
                    <a:ext uri="{9D8B030D-6E8A-4147-A177-3AD203B41FA5}">
                      <a16:colId xmlns:a16="http://schemas.microsoft.com/office/drawing/2014/main" val="20000"/>
                    </a:ext>
                  </a:extLst>
                </a:gridCol>
                <a:gridCol w="7772400">
                  <a:extLst>
                    <a:ext uri="{9D8B030D-6E8A-4147-A177-3AD203B41FA5}">
                      <a16:colId xmlns:a16="http://schemas.microsoft.com/office/drawing/2014/main" val="20001"/>
                    </a:ext>
                  </a:extLst>
                </a:gridCol>
              </a:tblGrid>
              <a:tr h="512064">
                <a:tc>
                  <a:txBody>
                    <a:bodyPr/>
                    <a:lstStyle/>
                    <a:p>
                      <a:pPr marL="0" indent="0" algn="l">
                        <a:buNone/>
                      </a:pPr>
                      <a:r>
                        <a:rPr lang="en-US" sz="2400" b="1" dirty="0">
                          <a:solidFill>
                            <a:srgbClr val="FFFFFF"/>
                          </a:solidFill>
                          <a:latin typeface="Calibri" pitchFamily="34" charset="0"/>
                          <a:ea typeface="Calibri" pitchFamily="34" charset="-122"/>
                          <a:cs typeface="Calibri" pitchFamily="34" charset="-120"/>
                        </a:rPr>
                        <a:t>Operation</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l">
                        <a:buNone/>
                      </a:pPr>
                      <a:r>
                        <a:rPr lang="en-US" sz="2400" b="1" dirty="0">
                          <a:solidFill>
                            <a:srgbClr val="FFFFFF"/>
                          </a:solidFill>
                          <a:latin typeface="Calibri" pitchFamily="34" charset="0"/>
                          <a:ea typeface="Calibri" pitchFamily="34" charset="-122"/>
                          <a:cs typeface="Calibri" pitchFamily="34" charset="-120"/>
                        </a:rPr>
                        <a:t>RTL statement</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extLst>
                  <a:ext uri="{0D108BD9-81ED-4DB2-BD59-A6C34878D82A}">
                    <a16:rowId xmlns:a16="http://schemas.microsoft.com/office/drawing/2014/main" val="10000"/>
                  </a:ext>
                </a:extLst>
              </a:tr>
              <a:tr h="512064">
                <a:tc>
                  <a:txBody>
                    <a:bodyPr/>
                    <a:lstStyle/>
                    <a:p>
                      <a:pPr marL="0" indent="0" algn="l">
                        <a:buNone/>
                      </a:pPr>
                      <a:r>
                        <a:rPr lang="en-US" sz="2400" dirty="0">
                          <a:solidFill>
                            <a:srgbClr val="262626"/>
                          </a:solidFill>
                          <a:latin typeface="Calibri" pitchFamily="34" charset="0"/>
                          <a:ea typeface="Calibri" pitchFamily="34" charset="-122"/>
                          <a:cs typeface="Calibri" pitchFamily="34" charset="-120"/>
                        </a:rPr>
                        <a:t>Addition</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l">
                        <a:buNone/>
                      </a:pPr>
                      <a:r>
                        <a:rPr lang="en-US" sz="2400" dirty="0">
                          <a:solidFill>
                            <a:srgbClr val="262626"/>
                          </a:solidFill>
                          <a:latin typeface="Calibri" pitchFamily="34" charset="0"/>
                          <a:ea typeface="Calibri" pitchFamily="34" charset="-122"/>
                          <a:cs typeface="Calibri" pitchFamily="34" charset="-120"/>
                        </a:rPr>
                        <a:t>R3 ← R1 + R2</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1"/>
                  </a:ext>
                </a:extLst>
              </a:tr>
              <a:tr h="512064">
                <a:tc>
                  <a:txBody>
                    <a:bodyPr/>
                    <a:lstStyle/>
                    <a:p>
                      <a:pPr marL="0" indent="0" algn="l">
                        <a:buNone/>
                      </a:pPr>
                      <a:r>
                        <a:rPr lang="en-US" sz="2400" dirty="0">
                          <a:solidFill>
                            <a:srgbClr val="262626"/>
                          </a:solidFill>
                          <a:latin typeface="Calibri" pitchFamily="34" charset="0"/>
                          <a:ea typeface="Calibri" pitchFamily="34" charset="-122"/>
                          <a:cs typeface="Calibri" pitchFamily="34" charset="-120"/>
                        </a:rPr>
                        <a:t>Subtraction</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l">
                        <a:buNone/>
                      </a:pPr>
                      <a:r>
                        <a:rPr lang="en-US" sz="2400" dirty="0">
                          <a:solidFill>
                            <a:srgbClr val="262626"/>
                          </a:solidFill>
                          <a:latin typeface="Calibri" pitchFamily="34" charset="0"/>
                          <a:ea typeface="Calibri" pitchFamily="34" charset="-122"/>
                          <a:cs typeface="Calibri" pitchFamily="34" charset="-120"/>
                        </a:rPr>
                        <a:t>R3 ← R1 − R2   (implemented as R3 ← R1 + R2′ + 1)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12064">
                <a:tc>
                  <a:txBody>
                    <a:bodyPr/>
                    <a:lstStyle/>
                    <a:p>
                      <a:pPr marL="0" indent="0" algn="l">
                        <a:buNone/>
                      </a:pPr>
                      <a:r>
                        <a:rPr lang="en-US" sz="2400" dirty="0">
                          <a:solidFill>
                            <a:srgbClr val="262626"/>
                          </a:solidFill>
                          <a:latin typeface="Calibri" pitchFamily="34" charset="0"/>
                          <a:ea typeface="Calibri" pitchFamily="34" charset="-122"/>
                          <a:cs typeface="Calibri" pitchFamily="34" charset="-120"/>
                        </a:rPr>
                        <a:t>Increment</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l">
                        <a:buNone/>
                      </a:pPr>
                      <a:r>
                        <a:rPr lang="en-US" sz="2400" dirty="0">
                          <a:solidFill>
                            <a:srgbClr val="262626"/>
                          </a:solidFill>
                          <a:latin typeface="Calibri" pitchFamily="34" charset="0"/>
                          <a:ea typeface="Calibri" pitchFamily="34" charset="-122"/>
                          <a:cs typeface="Calibri" pitchFamily="34" charset="-120"/>
                        </a:rPr>
                        <a:t>R1 ← R1 + 1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3"/>
                  </a:ext>
                </a:extLst>
              </a:tr>
              <a:tr h="512064">
                <a:tc>
                  <a:txBody>
                    <a:bodyPr/>
                    <a:lstStyle/>
                    <a:p>
                      <a:pPr marL="0" indent="0" algn="l">
                        <a:buNone/>
                      </a:pPr>
                      <a:r>
                        <a:rPr lang="en-US" sz="2400" dirty="0">
                          <a:solidFill>
                            <a:srgbClr val="262626"/>
                          </a:solidFill>
                          <a:latin typeface="Calibri" pitchFamily="34" charset="0"/>
                          <a:ea typeface="Calibri" pitchFamily="34" charset="-122"/>
                          <a:cs typeface="Calibri" pitchFamily="34" charset="-120"/>
                        </a:rPr>
                        <a:t>Decrement</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l">
                        <a:buNone/>
                      </a:pPr>
                      <a:r>
                        <a:rPr lang="en-US" sz="2400" dirty="0">
                          <a:solidFill>
                            <a:srgbClr val="262626"/>
                          </a:solidFill>
                          <a:latin typeface="Calibri" pitchFamily="34" charset="0"/>
                          <a:ea typeface="Calibri" pitchFamily="34" charset="-122"/>
                          <a:cs typeface="Calibri" pitchFamily="34" charset="-120"/>
                        </a:rPr>
                        <a:t>R1 ← R1 − 1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Text 2"/>
          <p:cNvSpPr txBox="1"/>
          <p:nvPr/>
        </p:nvSpPr>
        <p:spPr>
          <a:xfrm>
            <a:off x="640080" y="4023360"/>
            <a:ext cx="10911535" cy="2286000"/>
          </a:xfrm>
          <a:prstGeom prst="rect">
            <a:avLst/>
          </a:prstGeom>
          <a:noFill/>
          <a:ln/>
        </p:spPr>
        <p:txBody>
          <a:bodyPr wrap="square" lIns="0" tIns="0" rIns="0" bIns="0" rtlCol="0" anchor="t"/>
          <a:lstStyle/>
          <a:p>
            <a:pPr marL="304800" indent="-304800" algn="l">
              <a:spcAft>
                <a:spcPts val="1000"/>
              </a:spcAft>
              <a:buSzPct val="100000"/>
              <a:buChar char="•"/>
            </a:pPr>
            <a:r>
              <a:rPr lang="en-US" sz="2800" dirty="0">
                <a:solidFill>
                  <a:srgbClr val="262626"/>
                </a:solidFill>
                <a:latin typeface="Calibri" pitchFamily="34" charset="0"/>
                <a:ea typeface="Calibri" pitchFamily="34" charset="-122"/>
                <a:cs typeface="Calibri" pitchFamily="34" charset="-120"/>
              </a:rPr>
              <a:t>Subtraction adds the 2’s complement: R2′ (bitwise complement) plus a carry-in of 1</a:t>
            </a:r>
            <a:endParaRPr lang="en-US" sz="2800" dirty="0"/>
          </a:p>
        </p:txBody>
      </p:sp>
      <p:sp>
        <p:nvSpPr>
          <p:cNvPr id="4"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One circuit, four operations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3.4</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All four run on a single n-bit </a:t>
            </a:r>
            <a:r>
              <a:rPr lang="en-US" sz="3200" b="1" dirty="0">
                <a:solidFill>
                  <a:srgbClr val="262626"/>
                </a:solidFill>
                <a:latin typeface="Calibri" pitchFamily="34" charset="0"/>
                <a:ea typeface="Calibri" pitchFamily="34" charset="-122"/>
                <a:cs typeface="Calibri" pitchFamily="34" charset="-120"/>
              </a:rPr>
              <a:t>adder-subtractor</a:t>
            </a:r>
            <a:r>
              <a:rPr lang="en-US" sz="3200" dirty="0">
                <a:solidFill>
                  <a:srgbClr val="262626"/>
                </a:solidFill>
                <a:latin typeface="Calibri" pitchFamily="34" charset="0"/>
                <a:ea typeface="Calibri" pitchFamily="34" charset="-122"/>
                <a:cs typeface="Calibri" pitchFamily="34" charset="-120"/>
              </a:rPr>
              <a:t>: a chain of full adders</a:t>
            </a:r>
            <a:endParaRPr lang="en-US" sz="3200" dirty="0"/>
          </a:p>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A mode control M is XORed into the B input and feeds the first carry-in</a:t>
            </a:r>
            <a:endParaRPr lang="en-US" sz="3200" dirty="0"/>
          </a:p>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M = 0 adds; M = 1 subtracts</a:t>
            </a:r>
            <a:endParaRPr lang="en-US" sz="3200" dirty="0"/>
          </a:p>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Increment: one operand hardwired to all 0s and the carry-in forced to 1</a:t>
            </a:r>
            <a:endParaRPr lang="en-US" sz="32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n-bit adder-subtractor</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3.4</a:t>
            </a:r>
            <a:endParaRPr lang="en-US" sz="1600" dirty="0"/>
          </a:p>
        </p:txBody>
      </p:sp>
      <p:pic>
        <p:nvPicPr>
          <p:cNvPr id="5" name="Image 0" descr="/home/claude/figs/3.4_arithmetic-microoperations_fig1.png"/>
          <p:cNvPicPr>
            <a:picLocks noChangeAspect="1"/>
          </p:cNvPicPr>
          <p:nvPr/>
        </p:nvPicPr>
        <p:blipFill>
          <a:blip r:embed="rId3"/>
          <a:stretch>
            <a:fillRect/>
          </a:stretch>
        </p:blipFill>
        <p:spPr>
          <a:xfrm>
            <a:off x="274320" y="939539"/>
            <a:ext cx="11643055" cy="5070363"/>
          </a:xfrm>
          <a:prstGeom prst="rect">
            <a:avLst/>
          </a:prstGeom>
        </p:spPr>
      </p:pic>
      <p:sp>
        <p:nvSpPr>
          <p:cNvPr id="6" name="Text 2"/>
          <p:cNvSpPr txBox="1"/>
          <p:nvPr/>
        </p:nvSpPr>
        <p:spPr>
          <a:xfrm>
            <a:off x="411480" y="6355080"/>
            <a:ext cx="10424160" cy="457200"/>
          </a:xfrm>
          <a:prstGeom prst="rect">
            <a:avLst/>
          </a:prstGeom>
          <a:noFill/>
          <a:ln/>
        </p:spPr>
        <p:txBody>
          <a:bodyPr wrap="square" lIns="0" tIns="0" rIns="0" bIns="0" rtlCol="0" anchor="t"/>
          <a:lstStyle/>
          <a:p>
            <a:pPr marL="0" indent="0" algn="ctr">
              <a:buNone/>
            </a:pPr>
            <a:r>
              <a:rPr lang="en-US" sz="1400" dirty="0">
                <a:solidFill>
                  <a:srgbClr val="546E7A"/>
                </a:solidFill>
                <a:latin typeface="Calibri" pitchFamily="34" charset="0"/>
                <a:ea typeface="Calibri" pitchFamily="34" charset="-122"/>
                <a:cs typeface="Calibri" pitchFamily="34" charset="-120"/>
              </a:rPr>
              <a:t>n-bit adder-subtractor: mode input M selects addition (M=0) or subtraction (M=1) via XOR gates and carry-in. Adapted from M. Morris Mano, Computer System Architecture, Fig. 4-7.</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4-bit binary incrementer</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3.4</a:t>
            </a:r>
            <a:endParaRPr lang="en-US" sz="1600" dirty="0"/>
          </a:p>
        </p:txBody>
      </p:sp>
      <p:pic>
        <p:nvPicPr>
          <p:cNvPr id="5" name="Image 0" descr="/home/claude/figs/3.4_arithmetic-microoperations_fig2.png"/>
          <p:cNvPicPr>
            <a:picLocks noChangeAspect="1"/>
          </p:cNvPicPr>
          <p:nvPr/>
        </p:nvPicPr>
        <p:blipFill>
          <a:blip r:embed="rId3"/>
          <a:stretch>
            <a:fillRect/>
          </a:stretch>
        </p:blipFill>
        <p:spPr>
          <a:xfrm>
            <a:off x="274320" y="1083735"/>
            <a:ext cx="11643055" cy="4781969"/>
          </a:xfrm>
          <a:prstGeom prst="rect">
            <a:avLst/>
          </a:prstGeom>
        </p:spPr>
      </p:pic>
      <p:sp>
        <p:nvSpPr>
          <p:cNvPr id="6" name="Text 2"/>
          <p:cNvSpPr txBox="1"/>
          <p:nvPr/>
        </p:nvSpPr>
        <p:spPr>
          <a:xfrm>
            <a:off x="411480" y="6355080"/>
            <a:ext cx="10424160" cy="457200"/>
          </a:xfrm>
          <a:prstGeom prst="rect">
            <a:avLst/>
          </a:prstGeom>
          <a:noFill/>
          <a:ln/>
        </p:spPr>
        <p:txBody>
          <a:bodyPr wrap="square" lIns="0" tIns="0" rIns="0" bIns="0" rtlCol="0" anchor="t"/>
          <a:lstStyle/>
          <a:p>
            <a:pPr marL="0" indent="0" algn="ctr">
              <a:buNone/>
            </a:pPr>
            <a:r>
              <a:rPr lang="en-US" sz="1400" dirty="0">
                <a:solidFill>
                  <a:srgbClr val="546E7A"/>
                </a:solidFill>
                <a:latin typeface="Calibri" pitchFamily="34" charset="0"/>
                <a:ea typeface="Calibri" pitchFamily="34" charset="-122"/>
                <a:cs typeface="Calibri" pitchFamily="34" charset="-120"/>
              </a:rPr>
              <a:t>4-bit binary incrementer. Adapted from M. Morris Mano, Computer System Architecture, Fig. 4-8.</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4-bit arithmetic circuit</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3.4</a:t>
            </a:r>
            <a:endParaRPr lang="en-US" sz="1600" dirty="0"/>
          </a:p>
        </p:txBody>
      </p:sp>
      <p:pic>
        <p:nvPicPr>
          <p:cNvPr id="5" name="Image 0" descr="/home/claude/figs/3.4_arithmetic-microoperations_fig3.png"/>
          <p:cNvPicPr>
            <a:picLocks noChangeAspect="1"/>
          </p:cNvPicPr>
          <p:nvPr/>
        </p:nvPicPr>
        <p:blipFill>
          <a:blip r:embed="rId3"/>
          <a:stretch>
            <a:fillRect/>
          </a:stretch>
        </p:blipFill>
        <p:spPr>
          <a:xfrm>
            <a:off x="411480" y="621792"/>
            <a:ext cx="5071872" cy="5705856"/>
          </a:xfrm>
          <a:prstGeom prst="rect">
            <a:avLst/>
          </a:prstGeom>
        </p:spPr>
      </p:pic>
      <p:sp>
        <p:nvSpPr>
          <p:cNvPr id="6" name="Text 2"/>
          <p:cNvSpPr txBox="1"/>
          <p:nvPr/>
        </p:nvSpPr>
        <p:spPr>
          <a:xfrm>
            <a:off x="5849112" y="713232"/>
            <a:ext cx="5931103" cy="5522976"/>
          </a:xfrm>
          <a:prstGeom prst="roundRect">
            <a:avLst>
              <a:gd name="adj" fmla="val 1987"/>
            </a:avLst>
          </a:prstGeom>
          <a:solidFill>
            <a:srgbClr val="EAF2FB"/>
          </a:solidFill>
          <a:ln w="6350">
            <a:solidFill>
              <a:srgbClr val="EAF2FB"/>
            </a:solidFill>
          </a:ln>
        </p:spPr>
        <p:txBody>
          <a:bodyPr wrap="square" lIns="203200" tIns="279400" rIns="279400" bIns="203200" rtlCol="0" anchor="ctr"/>
          <a:lstStyle/>
          <a:p>
            <a:pPr marL="304800" indent="-304800" algn="l">
              <a:spcAft>
                <a:spcPts val="1000"/>
              </a:spcAft>
              <a:buSzPct val="100000"/>
              <a:buChar char="•"/>
            </a:pPr>
            <a:r>
              <a:rPr lang="en-US" sz="2600" dirty="0">
                <a:solidFill>
                  <a:srgbClr val="262626"/>
                </a:solidFill>
                <a:latin typeface="Calibri" pitchFamily="34" charset="0"/>
                <a:ea typeface="Calibri" pitchFamily="34" charset="-122"/>
                <a:cs typeface="Calibri" pitchFamily="34" charset="-120"/>
              </a:rPr>
              <a:t>One parallel adder; its Y inputs come from 4 × 1 multiplexers</a:t>
            </a:r>
            <a:endParaRPr lang="en-US" sz="2600" dirty="0"/>
          </a:p>
          <a:p>
            <a:pPr marL="304800" indent="-304800" algn="l">
              <a:spcAft>
                <a:spcPts val="1000"/>
              </a:spcAft>
              <a:buSzPct val="100000"/>
              <a:buChar char="•"/>
            </a:pPr>
            <a:r>
              <a:rPr lang="en-US" sz="2600" dirty="0">
                <a:solidFill>
                  <a:srgbClr val="262626"/>
                </a:solidFill>
                <a:latin typeface="Calibri" pitchFamily="34" charset="0"/>
                <a:ea typeface="Calibri" pitchFamily="34" charset="-122"/>
                <a:cs typeface="Calibri" pitchFamily="34" charset="-120"/>
              </a:rPr>
              <a:t>S₁S₀ choose B, B′, all 0s or all 1s for Y</a:t>
            </a:r>
            <a:endParaRPr lang="en-US" sz="2600" dirty="0"/>
          </a:p>
          <a:p>
            <a:pPr marL="304800" indent="-304800" algn="l">
              <a:spcAft>
                <a:spcPts val="1000"/>
              </a:spcAft>
              <a:buSzPct val="100000"/>
              <a:buChar char="•"/>
            </a:pPr>
            <a:r>
              <a:rPr lang="en-US" sz="2600" dirty="0">
                <a:solidFill>
                  <a:srgbClr val="262626"/>
                </a:solidFill>
                <a:latin typeface="Calibri" pitchFamily="34" charset="0"/>
                <a:ea typeface="Calibri" pitchFamily="34" charset="-122"/>
                <a:cs typeface="Calibri" pitchFamily="34" charset="-120"/>
              </a:rPr>
              <a:t>The input carry C</a:t>
            </a:r>
            <a:r>
              <a:rPr lang="en-US" sz="2600" baseline="-40000" dirty="0">
                <a:solidFill>
                  <a:srgbClr val="262626"/>
                </a:solidFill>
                <a:latin typeface="Calibri" pitchFamily="34" charset="0"/>
                <a:ea typeface="Calibri" pitchFamily="34" charset="-122"/>
                <a:cs typeface="Calibri" pitchFamily="34" charset="-120"/>
              </a:rPr>
              <a:t>in</a:t>
            </a:r>
            <a:r>
              <a:rPr lang="en-US" sz="2600" dirty="0">
                <a:solidFill>
                  <a:srgbClr val="262626"/>
                </a:solidFill>
                <a:latin typeface="Calibri" pitchFamily="34" charset="0"/>
                <a:ea typeface="Calibri" pitchFamily="34" charset="-122"/>
                <a:cs typeface="Calibri" pitchFamily="34" charset="-120"/>
              </a:rPr>
              <a:t> adds 0 or 1</a:t>
            </a:r>
            <a:endParaRPr lang="en-US" sz="2600" dirty="0"/>
          </a:p>
          <a:p>
            <a:pPr marL="304800" indent="-304800" algn="l">
              <a:spcAft>
                <a:spcPts val="1000"/>
              </a:spcAft>
              <a:buSzPct val="100000"/>
              <a:buChar char="•"/>
            </a:pPr>
            <a:r>
              <a:rPr lang="en-US" sz="2600" dirty="0">
                <a:solidFill>
                  <a:srgbClr val="262626"/>
                </a:solidFill>
                <a:latin typeface="Calibri" pitchFamily="34" charset="0"/>
                <a:ea typeface="Calibri" pitchFamily="34" charset="-122"/>
                <a:cs typeface="Calibri" pitchFamily="34" charset="-120"/>
              </a:rPr>
              <a:t>Output: D = A + Y + C</a:t>
            </a:r>
            <a:r>
              <a:rPr lang="en-US" sz="2600" baseline="-40000" dirty="0">
                <a:solidFill>
                  <a:srgbClr val="262626"/>
                </a:solidFill>
                <a:latin typeface="Calibri" pitchFamily="34" charset="0"/>
                <a:ea typeface="Calibri" pitchFamily="34" charset="-122"/>
                <a:cs typeface="Calibri" pitchFamily="34" charset="-120"/>
              </a:rPr>
              <a:t>in</a:t>
            </a:r>
            <a:endParaRPr lang="en-US" sz="2600" dirty="0"/>
          </a:p>
        </p:txBody>
      </p:sp>
      <p:sp>
        <p:nvSpPr>
          <p:cNvPr id="7" name="Text 3"/>
          <p:cNvSpPr txBox="1"/>
          <p:nvPr/>
        </p:nvSpPr>
        <p:spPr>
          <a:xfrm>
            <a:off x="411480" y="6355080"/>
            <a:ext cx="10424160" cy="457200"/>
          </a:xfrm>
          <a:prstGeom prst="rect">
            <a:avLst/>
          </a:prstGeom>
          <a:noFill/>
          <a:ln/>
        </p:spPr>
        <p:txBody>
          <a:bodyPr wrap="square" lIns="0" tIns="0" rIns="0" bIns="0" rtlCol="0" anchor="t"/>
          <a:lstStyle/>
          <a:p>
            <a:pPr marL="0" indent="0" algn="l">
              <a:buNone/>
            </a:pPr>
            <a:r>
              <a:rPr lang="en-US" sz="1400" dirty="0">
                <a:solidFill>
                  <a:srgbClr val="546E7A"/>
                </a:solidFill>
                <a:latin typeface="Calibri" pitchFamily="34" charset="0"/>
                <a:ea typeface="Calibri" pitchFamily="34" charset="-122"/>
                <a:cs typeface="Calibri" pitchFamily="34" charset="-120"/>
              </a:rPr>
              <a:t>4-bit arithmetic circuit. Adapted from M. Morris Mano, Computer System Architecture, Fig. 4-9.</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Arithmetic circuit function table</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3.4</a:t>
            </a:r>
            <a:endParaRPr lang="en-US" sz="16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63728" y="1188720"/>
          <a:ext cx="11064240" cy="914400"/>
        </p:xfrm>
        <a:graphic>
          <a:graphicData uri="http://schemas.openxmlformats.org/drawingml/2006/table">
            <a:tbl>
              <a:tblPr/>
              <a:tblGrid>
                <a:gridCol w="914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3657600">
                  <a:extLst>
                    <a:ext uri="{9D8B030D-6E8A-4147-A177-3AD203B41FA5}">
                      <a16:colId xmlns:a16="http://schemas.microsoft.com/office/drawing/2014/main" val="20004"/>
                    </a:ext>
                  </a:extLst>
                </a:gridCol>
                <a:gridCol w="3383280">
                  <a:extLst>
                    <a:ext uri="{9D8B030D-6E8A-4147-A177-3AD203B41FA5}">
                      <a16:colId xmlns:a16="http://schemas.microsoft.com/office/drawing/2014/main" val="20005"/>
                    </a:ext>
                  </a:extLst>
                </a:gridCol>
              </a:tblGrid>
              <a:tr h="451104">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S₁</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S₀</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C</a:t>
                      </a:r>
                      <a:r>
                        <a:rPr lang="en-US" sz="2000" b="1" baseline="-40000" dirty="0">
                          <a:solidFill>
                            <a:srgbClr val="FFFFFF"/>
                          </a:solidFill>
                          <a:latin typeface="Calibri" pitchFamily="34" charset="0"/>
                          <a:ea typeface="Calibri" pitchFamily="34" charset="-122"/>
                          <a:cs typeface="Calibri" pitchFamily="34" charset="-120"/>
                        </a:rPr>
                        <a:t>in</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Y</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l">
                        <a:buNone/>
                      </a:pPr>
                      <a:r>
                        <a:rPr lang="en-US" sz="2000" b="1" dirty="0">
                          <a:solidFill>
                            <a:srgbClr val="FFFFFF"/>
                          </a:solidFill>
                          <a:latin typeface="Calibri" pitchFamily="34" charset="0"/>
                          <a:ea typeface="Calibri" pitchFamily="34" charset="-122"/>
                          <a:cs typeface="Calibri" pitchFamily="34" charset="-120"/>
                        </a:rPr>
                        <a:t>D = A + Y + C</a:t>
                      </a:r>
                      <a:r>
                        <a:rPr lang="en-US" sz="2000" b="1" baseline="-40000" dirty="0">
                          <a:solidFill>
                            <a:srgbClr val="FFFFFF"/>
                          </a:solidFill>
                          <a:latin typeface="Calibri" pitchFamily="34" charset="0"/>
                          <a:ea typeface="Calibri" pitchFamily="34" charset="-122"/>
                          <a:cs typeface="Calibri" pitchFamily="34" charset="-120"/>
                        </a:rPr>
                        <a:t>in</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l">
                        <a:buNone/>
                      </a:pPr>
                      <a:r>
                        <a:rPr lang="en-US" sz="2000" b="1" dirty="0">
                          <a:solidFill>
                            <a:srgbClr val="FFFFFF"/>
                          </a:solidFill>
                          <a:latin typeface="Calibri" pitchFamily="34" charset="0"/>
                          <a:ea typeface="Calibri" pitchFamily="34" charset="-122"/>
                          <a:cs typeface="Calibri" pitchFamily="34" charset="-120"/>
                        </a:rPr>
                        <a:t>Micro-operation</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extLst>
                  <a:ext uri="{0D108BD9-81ED-4DB2-BD59-A6C34878D82A}">
                    <a16:rowId xmlns:a16="http://schemas.microsoft.com/office/drawing/2014/main" val="10000"/>
                  </a:ext>
                </a:extLst>
              </a:tr>
              <a:tr h="451104">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B</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D = A + B</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Add</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1"/>
                  </a:ext>
                </a:extLst>
              </a:tr>
              <a:tr h="451104">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B</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D = A + B + 1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Add with carry</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1104">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B′</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D = A + B′</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Subtract with borrow</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3"/>
                  </a:ext>
                </a:extLst>
              </a:tr>
              <a:tr h="451104">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B′</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D = A + B′ + 1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Subtract</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1104">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D = A</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Transfer A</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5"/>
                  </a:ext>
                </a:extLst>
              </a:tr>
              <a:tr h="451104">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D = A + 1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Increment A</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51104">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D = A − 1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Decrement A</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7"/>
                  </a:ext>
                </a:extLst>
              </a:tr>
              <a:tr h="451104">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D = A</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Transfer A</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6" name="Text 2"/>
          <p:cNvSpPr txBox="1"/>
          <p:nvPr/>
        </p:nvSpPr>
        <p:spPr>
          <a:xfrm>
            <a:off x="548640" y="5943600"/>
            <a:ext cx="11094415" cy="457200"/>
          </a:xfrm>
          <a:prstGeom prst="rect">
            <a:avLst/>
          </a:prstGeom>
          <a:noFill/>
          <a:ln/>
        </p:spPr>
        <p:txBody>
          <a:bodyPr wrap="square" lIns="0" tIns="0" rIns="0" bIns="0" rtlCol="0" anchor="t"/>
          <a:lstStyle/>
          <a:p>
            <a:pPr marL="0" indent="0" algn="ctr">
              <a:buNone/>
            </a:pPr>
            <a:r>
              <a:rPr lang="en-US" sz="1400" dirty="0">
                <a:solidFill>
                  <a:srgbClr val="546E7A"/>
                </a:solidFill>
                <a:latin typeface="Calibri" pitchFamily="34" charset="0"/>
                <a:ea typeface="Calibri" pitchFamily="34" charset="-122"/>
                <a:cs typeface="Calibri" pitchFamily="34" charset="-120"/>
              </a:rPr>
              <a:t>Arithmetic circuit function table. Adapted from M. Morris Mano, Computer System Architecture, Table 4-4.</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Overflow detection</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3.4</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marL="304800" indent="-304800" algn="l">
              <a:spcAft>
                <a:spcPts val="1000"/>
              </a:spcAft>
              <a:buSzPct val="100000"/>
              <a:buChar char="•"/>
            </a:pPr>
            <a:r>
              <a:rPr lang="en-US" sz="3000" dirty="0">
                <a:solidFill>
                  <a:srgbClr val="262626"/>
                </a:solidFill>
                <a:latin typeface="Calibri" pitchFamily="34" charset="0"/>
                <a:ea typeface="Calibri" pitchFamily="34" charset="-122"/>
                <a:cs typeface="Calibri" pitchFamily="34" charset="-120"/>
              </a:rPr>
              <a:t>Adding two </a:t>
            </a:r>
            <a:r>
              <a:rPr lang="en-US" sz="3000" b="1" dirty="0">
                <a:solidFill>
                  <a:srgbClr val="262626"/>
                </a:solidFill>
                <a:latin typeface="Calibri" pitchFamily="34" charset="0"/>
                <a:ea typeface="Calibri" pitchFamily="34" charset="-122"/>
                <a:cs typeface="Calibri" pitchFamily="34" charset="-120"/>
              </a:rPr>
              <a:t>signed</a:t>
            </a:r>
            <a:r>
              <a:rPr lang="en-US" sz="3000" dirty="0">
                <a:solidFill>
                  <a:srgbClr val="262626"/>
                </a:solidFill>
                <a:latin typeface="Calibri" pitchFamily="34" charset="0"/>
                <a:ea typeface="Calibri" pitchFamily="34" charset="-122"/>
                <a:cs typeface="Calibri" pitchFamily="34" charset="-120"/>
              </a:rPr>
              <a:t> numbers can give a result outside the representable range</a:t>
            </a:r>
            <a:endParaRPr lang="en-US" sz="3000" dirty="0"/>
          </a:p>
          <a:p>
            <a:pPr marL="304800" indent="-304800" algn="l">
              <a:spcAft>
                <a:spcPts val="1000"/>
              </a:spcAft>
              <a:buSzPct val="100000"/>
              <a:buChar char="•"/>
            </a:pPr>
            <a:r>
              <a:rPr lang="en-US" sz="3000" dirty="0">
                <a:solidFill>
                  <a:srgbClr val="262626"/>
                </a:solidFill>
                <a:latin typeface="Calibri" pitchFamily="34" charset="0"/>
                <a:ea typeface="Calibri" pitchFamily="34" charset="-122"/>
                <a:cs typeface="Calibri" pitchFamily="34" charset="-120"/>
              </a:rPr>
              <a:t>The adder itself still “succeeds”; that is </a:t>
            </a:r>
            <a:r>
              <a:rPr lang="en-US" sz="3000" b="1" dirty="0">
                <a:solidFill>
                  <a:srgbClr val="262626"/>
                </a:solidFill>
                <a:latin typeface="Calibri" pitchFamily="34" charset="0"/>
                <a:ea typeface="Calibri" pitchFamily="34" charset="-122"/>
                <a:cs typeface="Calibri" pitchFamily="34" charset="-120"/>
              </a:rPr>
              <a:t>overflow</a:t>
            </a:r>
            <a:endParaRPr lang="en-US" sz="3000" dirty="0"/>
          </a:p>
          <a:p>
            <a:pPr marL="304800" indent="-304800" algn="l">
              <a:spcAft>
                <a:spcPts val="1000"/>
              </a:spcAft>
              <a:buSzPct val="100000"/>
              <a:buChar char="•"/>
            </a:pPr>
            <a:r>
              <a:rPr lang="en-US" sz="3000" dirty="0">
                <a:solidFill>
                  <a:srgbClr val="262626"/>
                </a:solidFill>
                <a:latin typeface="Calibri" pitchFamily="34" charset="0"/>
                <a:ea typeface="Calibri" pitchFamily="34" charset="-122"/>
                <a:cs typeface="Calibri" pitchFamily="34" charset="-120"/>
              </a:rPr>
              <a:t>Compare the carry into the sign bit with the carry out of it</a:t>
            </a:r>
            <a:endParaRPr lang="en-US" sz="3000" dirty="0"/>
          </a:p>
          <a:p>
            <a:pPr marL="304800" indent="-304800" algn="l">
              <a:spcAft>
                <a:spcPts val="1000"/>
              </a:spcAft>
              <a:buSzPct val="100000"/>
              <a:buChar char="•"/>
            </a:pPr>
            <a:r>
              <a:rPr lang="en-US" sz="3000" b="1" dirty="0">
                <a:solidFill>
                  <a:srgbClr val="262626"/>
                </a:solidFill>
                <a:latin typeface="Calibri" pitchFamily="34" charset="0"/>
                <a:ea typeface="Calibri" pitchFamily="34" charset="-122"/>
                <a:cs typeface="Calibri" pitchFamily="34" charset="-120"/>
              </a:rPr>
              <a:t>V = C</a:t>
            </a:r>
            <a:r>
              <a:rPr lang="en-US" sz="3000" b="1" baseline="-40000" dirty="0">
                <a:solidFill>
                  <a:srgbClr val="262626"/>
                </a:solidFill>
                <a:latin typeface="Calibri" pitchFamily="34" charset="0"/>
                <a:ea typeface="Calibri" pitchFamily="34" charset="-122"/>
                <a:cs typeface="Calibri" pitchFamily="34" charset="-120"/>
              </a:rPr>
              <a:t>n</a:t>
            </a:r>
            <a:r>
              <a:rPr lang="en-US" sz="3000" b="1" dirty="0">
                <a:solidFill>
                  <a:srgbClr val="262626"/>
                </a:solidFill>
                <a:latin typeface="Calibri" pitchFamily="34" charset="0"/>
                <a:ea typeface="Calibri" pitchFamily="34" charset="-122"/>
                <a:cs typeface="Calibri" pitchFamily="34" charset="-120"/>
              </a:rPr>
              <a:t> ⊕ C</a:t>
            </a:r>
            <a:r>
              <a:rPr lang="en-US" sz="3000" b="1" baseline="-40000" dirty="0">
                <a:solidFill>
                  <a:srgbClr val="262626"/>
                </a:solidFill>
                <a:latin typeface="Calibri" pitchFamily="34" charset="0"/>
                <a:ea typeface="Calibri" pitchFamily="34" charset="-122"/>
                <a:cs typeface="Calibri" pitchFamily="34" charset="-120"/>
              </a:rPr>
              <a:t>n−1</a:t>
            </a:r>
            <a:endParaRPr lang="en-US" sz="3000" dirty="0"/>
          </a:p>
          <a:p>
            <a:pPr marL="304800" indent="-304800" algn="l">
              <a:spcAft>
                <a:spcPts val="1000"/>
              </a:spcAft>
              <a:buSzPct val="100000"/>
              <a:buChar char="•"/>
            </a:pPr>
            <a:r>
              <a:rPr lang="en-US" sz="3000" dirty="0">
                <a:solidFill>
                  <a:srgbClr val="262626"/>
                </a:solidFill>
                <a:latin typeface="Calibri" pitchFamily="34" charset="0"/>
                <a:ea typeface="Calibri" pitchFamily="34" charset="-122"/>
                <a:cs typeface="Calibri" pitchFamily="34" charset="-120"/>
              </a:rPr>
              <a:t>C</a:t>
            </a:r>
            <a:r>
              <a:rPr lang="en-US" sz="3000" baseline="-40000" dirty="0">
                <a:solidFill>
                  <a:srgbClr val="262626"/>
                </a:solidFill>
                <a:latin typeface="Calibri" pitchFamily="34" charset="0"/>
                <a:ea typeface="Calibri" pitchFamily="34" charset="-122"/>
                <a:cs typeface="Calibri" pitchFamily="34" charset="-120"/>
              </a:rPr>
              <a:t>n</a:t>
            </a:r>
            <a:r>
              <a:rPr lang="en-US" sz="3000" dirty="0">
                <a:solidFill>
                  <a:srgbClr val="262626"/>
                </a:solidFill>
                <a:latin typeface="Calibri" pitchFamily="34" charset="0"/>
                <a:ea typeface="Calibri" pitchFamily="34" charset="-122"/>
                <a:cs typeface="Calibri" pitchFamily="34" charset="-120"/>
              </a:rPr>
              <a:t> is the final carry-out; C</a:t>
            </a:r>
            <a:r>
              <a:rPr lang="en-US" sz="3000" baseline="-40000" dirty="0">
                <a:solidFill>
                  <a:srgbClr val="262626"/>
                </a:solidFill>
                <a:latin typeface="Calibri" pitchFamily="34" charset="0"/>
                <a:ea typeface="Calibri" pitchFamily="34" charset="-122"/>
                <a:cs typeface="Calibri" pitchFamily="34" charset="-120"/>
              </a:rPr>
              <a:t>n−1</a:t>
            </a:r>
            <a:r>
              <a:rPr lang="en-US" sz="3000" dirty="0">
                <a:solidFill>
                  <a:srgbClr val="262626"/>
                </a:solidFill>
                <a:latin typeface="Calibri" pitchFamily="34" charset="0"/>
                <a:ea typeface="Calibri" pitchFamily="34" charset="-122"/>
                <a:cs typeface="Calibri" pitchFamily="34" charset="-120"/>
              </a:rPr>
              <a:t> is the carry into the sign bit</a:t>
            </a:r>
            <a:endParaRPr lang="en-US" sz="3000" dirty="0"/>
          </a:p>
          <a:p>
            <a:pPr marL="304800" indent="-304800" algn="l">
              <a:spcAft>
                <a:spcPts val="1000"/>
              </a:spcAft>
              <a:buSzPct val="100000"/>
              <a:buChar char="•"/>
            </a:pPr>
            <a:r>
              <a:rPr lang="en-US" sz="3000" dirty="0">
                <a:solidFill>
                  <a:srgbClr val="262626"/>
                </a:solidFill>
                <a:latin typeface="Calibri" pitchFamily="34" charset="0"/>
                <a:ea typeface="Calibri" pitchFamily="34" charset="-122"/>
                <a:cs typeface="Calibri" pitchFamily="34" charset="-120"/>
              </a:rPr>
              <a:t>If the two disagree, the sign bit was corrupted: overflow</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Worked example: overflow</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3.4</a:t>
            </a:r>
            <a:endParaRPr lang="en-US" sz="1600" dirty="0"/>
          </a:p>
        </p:txBody>
      </p:sp>
      <p:sp>
        <p:nvSpPr>
          <p:cNvPr id="5" name="Text 2"/>
          <p:cNvSpPr txBox="1"/>
          <p:nvPr/>
        </p:nvSpPr>
        <p:spPr>
          <a:xfrm>
            <a:off x="548640" y="1280160"/>
            <a:ext cx="11094415" cy="2133600"/>
          </a:xfrm>
          <a:prstGeom prst="roundRect">
            <a:avLst>
              <a:gd name="adj" fmla="val 4286"/>
            </a:avLst>
          </a:prstGeom>
          <a:solidFill>
            <a:srgbClr val="F4F6F8"/>
          </a:solidFill>
          <a:ln w="25400">
            <a:solidFill>
              <a:srgbClr val="FF8F00"/>
            </a:solidFill>
          </a:ln>
        </p:spPr>
        <p:txBody>
          <a:bodyPr wrap="square" lIns="152400" tIns="279400" rIns="279400" bIns="152400" rtlCol="0" anchor="ctr"/>
          <a:lstStyle/>
          <a:p>
            <a:pPr marL="0" indent="0">
              <a:spcAft>
                <a:spcPts val="200"/>
              </a:spcAft>
              <a:buNone/>
            </a:pPr>
            <a:r>
              <a:rPr lang="en-US" sz="2400" dirty="0">
                <a:solidFill>
                  <a:srgbClr val="262626"/>
                </a:solidFill>
                <a:latin typeface="Courier New" pitchFamily="34" charset="0"/>
                <a:ea typeface="Courier New" pitchFamily="34" charset="-122"/>
                <a:cs typeface="Courier New" pitchFamily="34" charset="-120"/>
              </a:rPr>
              <a:t>  0101  (+5)</a:t>
            </a:r>
            <a:endParaRPr lang="en-US" sz="2400" dirty="0"/>
          </a:p>
          <a:p>
            <a:pPr marL="0" indent="0">
              <a:spcAft>
                <a:spcPts val="200"/>
              </a:spcAft>
              <a:buNone/>
            </a:pPr>
            <a:r>
              <a:rPr lang="en-US" sz="2400" dirty="0">
                <a:solidFill>
                  <a:srgbClr val="262626"/>
                </a:solidFill>
                <a:latin typeface="Courier New" pitchFamily="34" charset="0"/>
                <a:ea typeface="Courier New" pitchFamily="34" charset="-122"/>
                <a:cs typeface="Courier New" pitchFamily="34" charset="-120"/>
              </a:rPr>
              <a:t>+ 0100  (+4)</a:t>
            </a:r>
            <a:endParaRPr lang="en-US" sz="2400" dirty="0"/>
          </a:p>
          <a:p>
            <a:pPr marL="0" indent="0">
              <a:spcAft>
                <a:spcPts val="200"/>
              </a:spcAft>
              <a:buNone/>
            </a:pPr>
            <a:r>
              <a:rPr lang="en-US" sz="2400" dirty="0">
                <a:solidFill>
                  <a:srgbClr val="262626"/>
                </a:solidFill>
                <a:latin typeface="Courier New" pitchFamily="34" charset="0"/>
                <a:ea typeface="Courier New" pitchFamily="34" charset="-122"/>
                <a:cs typeface="Courier New" pitchFamily="34" charset="-120"/>
              </a:rPr>
              <a:t>  ----</a:t>
            </a:r>
            <a:endParaRPr lang="en-US" sz="2400" dirty="0"/>
          </a:p>
          <a:p>
            <a:pPr marL="0" indent="0">
              <a:spcAft>
                <a:spcPts val="200"/>
              </a:spcAft>
              <a:buNone/>
            </a:pPr>
            <a:r>
              <a:rPr lang="en-US" sz="2400" dirty="0">
                <a:solidFill>
                  <a:srgbClr val="262626"/>
                </a:solidFill>
                <a:latin typeface="Courier New" pitchFamily="34" charset="0"/>
                <a:ea typeface="Courier New" pitchFamily="34" charset="-122"/>
                <a:cs typeface="Courier New" pitchFamily="34" charset="-120"/>
              </a:rPr>
              <a:t>  1001  reads as −7, but 5 + 4 = 9 does not fit</a:t>
            </a:r>
            <a:endParaRPr lang="en-US" sz="2400" dirty="0"/>
          </a:p>
        </p:txBody>
      </p:sp>
      <p:sp>
        <p:nvSpPr>
          <p:cNvPr id="6" name="Text 3"/>
          <p:cNvSpPr txBox="1"/>
          <p:nvPr/>
        </p:nvSpPr>
        <p:spPr>
          <a:xfrm>
            <a:off x="640080" y="3733800"/>
            <a:ext cx="10911535" cy="2575560"/>
          </a:xfrm>
          <a:prstGeom prst="rect">
            <a:avLst/>
          </a:prstGeom>
          <a:noFill/>
          <a:ln/>
        </p:spPr>
        <p:txBody>
          <a:bodyPr wrap="square" lIns="0" tIns="0" rIns="0" bIns="0" rtlCol="0" anchor="t"/>
          <a:lstStyle/>
          <a:p>
            <a:pPr marL="304800" indent="-304800" algn="l">
              <a:spcAft>
                <a:spcPts val="1000"/>
              </a:spcAft>
              <a:buSzPct val="100000"/>
              <a:buChar char="•"/>
            </a:pPr>
            <a:r>
              <a:rPr lang="en-US" sz="2800" dirty="0">
                <a:solidFill>
                  <a:srgbClr val="262626"/>
                </a:solidFill>
                <a:latin typeface="Calibri" pitchFamily="34" charset="0"/>
                <a:ea typeface="Calibri" pitchFamily="34" charset="-122"/>
                <a:cs typeface="Calibri" pitchFamily="34" charset="-120"/>
              </a:rPr>
              <a:t>4-bit signed numbers, range −8 to +7</a:t>
            </a:r>
            <a:endParaRPr lang="en-US" sz="2800" dirty="0"/>
          </a:p>
          <a:p>
            <a:pPr marL="304800" indent="-304800" algn="l">
              <a:spcAft>
                <a:spcPts val="1000"/>
              </a:spcAft>
              <a:buSzPct val="100000"/>
              <a:buChar char="•"/>
            </a:pPr>
            <a:r>
              <a:rPr lang="en-US" sz="2800" dirty="0">
                <a:solidFill>
                  <a:srgbClr val="262626"/>
                </a:solidFill>
                <a:latin typeface="Calibri" pitchFamily="34" charset="0"/>
                <a:ea typeface="Calibri" pitchFamily="34" charset="-122"/>
                <a:cs typeface="Calibri" pitchFamily="34" charset="-120"/>
              </a:rPr>
              <a:t>C₄ (carry out of bit 3) = 0 and C₃ (carry into bit 3) = 1</a:t>
            </a:r>
            <a:endParaRPr lang="en-US" sz="2800" dirty="0"/>
          </a:p>
          <a:p>
            <a:pPr marL="304800" indent="-304800" algn="l">
              <a:spcAft>
                <a:spcPts val="1000"/>
              </a:spcAft>
              <a:buSzPct val="100000"/>
              <a:buChar char="•"/>
            </a:pPr>
            <a:r>
              <a:rPr lang="en-US" sz="2800" b="1" dirty="0">
                <a:solidFill>
                  <a:srgbClr val="262626"/>
                </a:solidFill>
                <a:latin typeface="Calibri" pitchFamily="34" charset="0"/>
                <a:ea typeface="Calibri" pitchFamily="34" charset="-122"/>
                <a:cs typeface="Calibri" pitchFamily="34" charset="-120"/>
              </a:rPr>
              <a:t>V = C₄ ⊕ C₃ = 0 ⊕ 1 = 1</a:t>
            </a:r>
            <a:r>
              <a:rPr lang="en-US" sz="2800" dirty="0">
                <a:solidFill>
                  <a:srgbClr val="262626"/>
                </a:solidFill>
                <a:latin typeface="Calibri" pitchFamily="34" charset="0"/>
                <a:ea typeface="Calibri" pitchFamily="34" charset="-122"/>
                <a:cs typeface="Calibri" pitchFamily="34" charset="-120"/>
              </a:rPr>
              <a:t>: overflow correctly flagged</a:t>
            </a:r>
            <a:endParaRPr lang="en-US" sz="28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3.5  Logic Micro-operations</a:t>
            </a:r>
            <a:endParaRPr lang="en-US" sz="3000" dirty="0"/>
          </a:p>
        </p:txBody>
      </p:sp>
      <p:sp>
        <p:nvSpPr>
          <p:cNvPr id="4" name="Text 1"/>
          <p:cNvSpPr txBox="1"/>
          <p:nvPr/>
        </p:nvSpPr>
        <p:spPr>
          <a:xfrm>
            <a:off x="914400" y="1417320"/>
            <a:ext cx="5486400" cy="365760"/>
          </a:xfrm>
          <a:prstGeom prst="rect">
            <a:avLst/>
          </a:prstGeom>
          <a:noFill/>
          <a:ln/>
        </p:spPr>
        <p:txBody>
          <a:bodyPr wrap="square" lIns="0" tIns="0" rIns="0" bIns="0" rtlCol="0" anchor="ctr"/>
          <a:lstStyle/>
          <a:p>
            <a:pPr marL="0" indent="0">
              <a:buNone/>
            </a:pPr>
            <a:r>
              <a:rPr lang="en-US" sz="2000" b="1" dirty="0">
                <a:solidFill>
                  <a:srgbClr val="1565C0"/>
                </a:solidFill>
                <a:latin typeface="Calibri" pitchFamily="34" charset="0"/>
                <a:ea typeface="Calibri" pitchFamily="34" charset="-122"/>
                <a:cs typeface="Calibri" pitchFamily="34" charset="-120"/>
              </a:rPr>
              <a:t>IN SIMPLE TERMS</a:t>
            </a:r>
            <a:endParaRPr lang="en-US" sz="2000" dirty="0"/>
          </a:p>
        </p:txBody>
      </p:sp>
      <p:sp>
        <p:nvSpPr>
          <p:cNvPr id="5" name="Text 2"/>
          <p:cNvSpPr txBox="1"/>
          <p:nvPr/>
        </p:nvSpPr>
        <p:spPr>
          <a:xfrm>
            <a:off x="914400" y="1920240"/>
            <a:ext cx="10362895" cy="3566160"/>
          </a:xfrm>
          <a:prstGeom prst="roundRect">
            <a:avLst>
              <a:gd name="adj" fmla="val 3846"/>
            </a:avLst>
          </a:prstGeom>
          <a:solidFill>
            <a:srgbClr val="FFF3E0"/>
          </a:solidFill>
          <a:ln w="31750">
            <a:solidFill>
              <a:srgbClr val="FF8F00"/>
            </a:solidFill>
          </a:ln>
        </p:spPr>
        <p:txBody>
          <a:bodyPr wrap="square" lIns="304800" tIns="457200" rIns="457200" bIns="304800" rtlCol="0" anchor="ctr"/>
          <a:lstStyle/>
          <a:p>
            <a:pPr marL="0" indent="0" algn="l">
              <a:buNone/>
            </a:pPr>
            <a:r>
              <a:rPr lang="en-US" sz="3400" dirty="0">
                <a:solidFill>
                  <a:srgbClr val="262626"/>
                </a:solidFill>
                <a:latin typeface="Calibri" pitchFamily="34" charset="0"/>
                <a:ea typeface="Calibri" pitchFamily="34" charset="-122"/>
                <a:cs typeface="Calibri" pitchFamily="34" charset="-120"/>
              </a:rPr>
              <a:t>Logic micro-operations work on each bit separately, with no carries. With a mask in a second register you can set, clear or flip chosen bits and leave the rest alone.</a:t>
            </a:r>
            <a:endParaRPr lang="en-US" sz="3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Logic versus arithmetic</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3.5</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Arithmetic treats a register as one number, with carries between bit positions</a:t>
            </a:r>
            <a:endParaRPr lang="en-US" sz="3200" dirty="0"/>
          </a:p>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Logic treats it as an array of </a:t>
            </a:r>
            <a:r>
              <a:rPr lang="en-US" sz="3200" b="1" dirty="0">
                <a:solidFill>
                  <a:srgbClr val="262626"/>
                </a:solidFill>
                <a:latin typeface="Calibri" pitchFamily="34" charset="0"/>
                <a:ea typeface="Calibri" pitchFamily="34" charset="-122"/>
                <a:cs typeface="Calibri" pitchFamily="34" charset="-120"/>
              </a:rPr>
              <a:t>independent bits</a:t>
            </a:r>
            <a:r>
              <a:rPr lang="en-US" sz="3200" dirty="0">
                <a:solidFill>
                  <a:srgbClr val="262626"/>
                </a:solidFill>
                <a:latin typeface="Calibri" pitchFamily="34" charset="0"/>
                <a:ea typeface="Calibri" pitchFamily="34" charset="-122"/>
                <a:cs typeface="Calibri" pitchFamily="34" charset="-120"/>
              </a:rPr>
              <a:t>: no interaction between neighbours</a:t>
            </a:r>
            <a:endParaRPr lang="en-US" sz="3200" dirty="0"/>
          </a:p>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That independence makes it ideal for changing individual bits on purpose</a:t>
            </a:r>
            <a:endParaRPr lang="en-US" sz="32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The four basic logic micro-operations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3.5</a:t>
            </a:r>
            <a:endParaRPr lang="en-US" sz="16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63728" y="1188720"/>
          <a:ext cx="11064240" cy="914400"/>
        </p:xfrm>
        <a:graphic>
          <a:graphicData uri="http://schemas.openxmlformats.org/drawingml/2006/table">
            <a:tbl>
              <a:tblPr/>
              <a:tblGrid>
                <a:gridCol w="256032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5394960">
                  <a:extLst>
                    <a:ext uri="{9D8B030D-6E8A-4147-A177-3AD203B41FA5}">
                      <a16:colId xmlns:a16="http://schemas.microsoft.com/office/drawing/2014/main" val="20002"/>
                    </a:ext>
                  </a:extLst>
                </a:gridCol>
              </a:tblGrid>
              <a:tr h="512064">
                <a:tc>
                  <a:txBody>
                    <a:bodyPr/>
                    <a:lstStyle/>
                    <a:p>
                      <a:pPr marL="0" indent="0" algn="l">
                        <a:buNone/>
                      </a:pPr>
                      <a:r>
                        <a:rPr lang="en-US" sz="2400" b="1" dirty="0">
                          <a:solidFill>
                            <a:srgbClr val="FFFFFF"/>
                          </a:solidFill>
                          <a:latin typeface="Calibri" pitchFamily="34" charset="0"/>
                          <a:ea typeface="Calibri" pitchFamily="34" charset="-122"/>
                          <a:cs typeface="Calibri" pitchFamily="34" charset="-120"/>
                        </a:rPr>
                        <a:t>Operation</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l">
                        <a:buNone/>
                      </a:pPr>
                      <a:r>
                        <a:rPr lang="en-US" sz="2400" b="1" dirty="0">
                          <a:solidFill>
                            <a:srgbClr val="FFFFFF"/>
                          </a:solidFill>
                          <a:latin typeface="Calibri" pitchFamily="34" charset="0"/>
                          <a:ea typeface="Calibri" pitchFamily="34" charset="-122"/>
                          <a:cs typeface="Calibri" pitchFamily="34" charset="-120"/>
                        </a:rPr>
                        <a:t>RTL statement</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l">
                        <a:buNone/>
                      </a:pPr>
                      <a:r>
                        <a:rPr lang="en-US" sz="2400" b="1" dirty="0">
                          <a:solidFill>
                            <a:srgbClr val="FFFFFF"/>
                          </a:solidFill>
                          <a:latin typeface="Calibri" pitchFamily="34" charset="0"/>
                          <a:ea typeface="Calibri" pitchFamily="34" charset="-122"/>
                          <a:cs typeface="Calibri" pitchFamily="34" charset="-120"/>
                        </a:rPr>
                        <a:t>Per-bit rule</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extLst>
                  <a:ext uri="{0D108BD9-81ED-4DB2-BD59-A6C34878D82A}">
                    <a16:rowId xmlns:a16="http://schemas.microsoft.com/office/drawing/2014/main" val="10000"/>
                  </a:ext>
                </a:extLst>
              </a:tr>
              <a:tr h="512064">
                <a:tc>
                  <a:txBody>
                    <a:bodyPr/>
                    <a:lstStyle/>
                    <a:p>
                      <a:pPr marL="0" indent="0" algn="l">
                        <a:buNone/>
                      </a:pPr>
                      <a:r>
                        <a:rPr lang="en-US" sz="2400" dirty="0">
                          <a:solidFill>
                            <a:srgbClr val="262626"/>
                          </a:solidFill>
                          <a:latin typeface="Calibri" pitchFamily="34" charset="0"/>
                          <a:ea typeface="Calibri" pitchFamily="34" charset="-122"/>
                          <a:cs typeface="Calibri" pitchFamily="34" charset="-120"/>
                        </a:rPr>
                        <a:t>AND</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l">
                        <a:buNone/>
                      </a:pPr>
                      <a:r>
                        <a:rPr lang="en-US" sz="2400" dirty="0">
                          <a:solidFill>
                            <a:srgbClr val="262626"/>
                          </a:solidFill>
                          <a:latin typeface="Calibri" pitchFamily="34" charset="0"/>
                          <a:ea typeface="Calibri" pitchFamily="34" charset="-122"/>
                          <a:cs typeface="Calibri" pitchFamily="34" charset="-120"/>
                        </a:rPr>
                        <a:t>A ← A ∧ B</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l">
                        <a:buNone/>
                      </a:pPr>
                      <a:r>
                        <a:rPr lang="en-US" sz="2400" dirty="0">
                          <a:solidFill>
                            <a:srgbClr val="262626"/>
                          </a:solidFill>
                          <a:latin typeface="Calibri" pitchFamily="34" charset="0"/>
                          <a:ea typeface="Calibri" pitchFamily="34" charset="-122"/>
                          <a:cs typeface="Calibri" pitchFamily="34" charset="-120"/>
                        </a:rPr>
                        <a:t>1 only where both bits are 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1"/>
                  </a:ext>
                </a:extLst>
              </a:tr>
              <a:tr h="512064">
                <a:tc>
                  <a:txBody>
                    <a:bodyPr/>
                    <a:lstStyle/>
                    <a:p>
                      <a:pPr marL="0" indent="0" algn="l">
                        <a:buNone/>
                      </a:pPr>
                      <a:r>
                        <a:rPr lang="en-US" sz="2400" dirty="0">
                          <a:solidFill>
                            <a:srgbClr val="262626"/>
                          </a:solidFill>
                          <a:latin typeface="Calibri" pitchFamily="34" charset="0"/>
                          <a:ea typeface="Calibri" pitchFamily="34" charset="-122"/>
                          <a:cs typeface="Calibri" pitchFamily="34" charset="-120"/>
                        </a:rPr>
                        <a:t>OR</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l">
                        <a:buNone/>
                      </a:pPr>
                      <a:r>
                        <a:rPr lang="en-US" sz="2400" dirty="0">
                          <a:solidFill>
                            <a:srgbClr val="262626"/>
                          </a:solidFill>
                          <a:latin typeface="Calibri" pitchFamily="34" charset="0"/>
                          <a:ea typeface="Calibri" pitchFamily="34" charset="-122"/>
                          <a:cs typeface="Calibri" pitchFamily="34" charset="-120"/>
                        </a:rPr>
                        <a:t>A ← A ∨ B</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l">
                        <a:buNone/>
                      </a:pPr>
                      <a:r>
                        <a:rPr lang="en-US" sz="2400" dirty="0">
                          <a:solidFill>
                            <a:srgbClr val="262626"/>
                          </a:solidFill>
                          <a:latin typeface="Calibri" pitchFamily="34" charset="0"/>
                          <a:ea typeface="Calibri" pitchFamily="34" charset="-122"/>
                          <a:cs typeface="Calibri" pitchFamily="34" charset="-120"/>
                        </a:rPr>
                        <a:t>1 where either bit is 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12064">
                <a:tc>
                  <a:txBody>
                    <a:bodyPr/>
                    <a:lstStyle/>
                    <a:p>
                      <a:pPr marL="0" indent="0" algn="l">
                        <a:buNone/>
                      </a:pPr>
                      <a:r>
                        <a:rPr lang="en-US" sz="2400" dirty="0">
                          <a:solidFill>
                            <a:srgbClr val="262626"/>
                          </a:solidFill>
                          <a:latin typeface="Calibri" pitchFamily="34" charset="0"/>
                          <a:ea typeface="Calibri" pitchFamily="34" charset="-122"/>
                          <a:cs typeface="Calibri" pitchFamily="34" charset="-120"/>
                        </a:rPr>
                        <a:t>XOR</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l">
                        <a:buNone/>
                      </a:pPr>
                      <a:r>
                        <a:rPr lang="en-US" sz="2400" dirty="0">
                          <a:solidFill>
                            <a:srgbClr val="262626"/>
                          </a:solidFill>
                          <a:latin typeface="Calibri" pitchFamily="34" charset="0"/>
                          <a:ea typeface="Calibri" pitchFamily="34" charset="-122"/>
                          <a:cs typeface="Calibri" pitchFamily="34" charset="-120"/>
                        </a:rPr>
                        <a:t>A ← A ⊕ B</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l">
                        <a:buNone/>
                      </a:pPr>
                      <a:r>
                        <a:rPr lang="en-US" sz="2400" dirty="0">
                          <a:solidFill>
                            <a:srgbClr val="262626"/>
                          </a:solidFill>
                          <a:latin typeface="Calibri" pitchFamily="34" charset="0"/>
                          <a:ea typeface="Calibri" pitchFamily="34" charset="-122"/>
                          <a:cs typeface="Calibri" pitchFamily="34" charset="-120"/>
                        </a:rPr>
                        <a:t>1 where the bits differ</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3"/>
                  </a:ext>
                </a:extLst>
              </a:tr>
              <a:tr h="512064">
                <a:tc>
                  <a:txBody>
                    <a:bodyPr/>
                    <a:lstStyle/>
                    <a:p>
                      <a:pPr marL="0" indent="0" algn="l">
                        <a:buNone/>
                      </a:pPr>
                      <a:r>
                        <a:rPr lang="en-US" sz="2400" dirty="0">
                          <a:solidFill>
                            <a:srgbClr val="262626"/>
                          </a:solidFill>
                          <a:latin typeface="Calibri" pitchFamily="34" charset="0"/>
                          <a:ea typeface="Calibri" pitchFamily="34" charset="-122"/>
                          <a:cs typeface="Calibri" pitchFamily="34" charset="-120"/>
                        </a:rPr>
                        <a:t>Complement</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l">
                        <a:buNone/>
                      </a:pPr>
                      <a:r>
                        <a:rPr lang="en-US" sz="2400" dirty="0">
                          <a:solidFill>
                            <a:srgbClr val="262626"/>
                          </a:solidFill>
                          <a:latin typeface="Calibri" pitchFamily="34" charset="0"/>
                          <a:ea typeface="Calibri" pitchFamily="34" charset="-122"/>
                          <a:cs typeface="Calibri" pitchFamily="34" charset="-120"/>
                        </a:rPr>
                        <a:t>A ← A′</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l">
                        <a:buNone/>
                      </a:pPr>
                      <a:r>
                        <a:rPr lang="en-US" sz="2400" dirty="0">
                          <a:solidFill>
                            <a:srgbClr val="262626"/>
                          </a:solidFill>
                          <a:latin typeface="Calibri" pitchFamily="34" charset="0"/>
                          <a:ea typeface="Calibri" pitchFamily="34" charset="-122"/>
                          <a:cs typeface="Calibri" pitchFamily="34" charset="-120"/>
                        </a:rPr>
                        <a:t>every bit flipped</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Hardware: one stage</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3.5</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Each logic micro-operation needs only one gate per bit</a:t>
            </a:r>
            <a:endParaRPr lang="en-US" sz="3200" dirty="0"/>
          </a:p>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One stage has an AND, an OR, an XOR gate and an inverter</a:t>
            </a:r>
            <a:endParaRPr lang="en-US" sz="3200" dirty="0"/>
          </a:p>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A 4 × 1 multiplexer with select inputs S₁S₀ passes one result to E</a:t>
            </a:r>
            <a:r>
              <a:rPr lang="en-US" sz="3200" baseline="-40000" dirty="0">
                <a:solidFill>
                  <a:srgbClr val="262626"/>
                </a:solidFill>
                <a:latin typeface="Calibri" pitchFamily="34" charset="0"/>
                <a:ea typeface="Calibri" pitchFamily="34" charset="-122"/>
                <a:cs typeface="Calibri" pitchFamily="34" charset="-120"/>
              </a:rPr>
              <a:t>i</a:t>
            </a:r>
            <a:endParaRPr lang="en-US" sz="3200" dirty="0"/>
          </a:p>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Repeat the stage n times for an n-bit logic circuit</a:t>
            </a:r>
            <a:endParaRPr lang="en-US" sz="32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One stage of the logic circuit</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3.5</a:t>
            </a:r>
            <a:endParaRPr lang="en-US" sz="1600" dirty="0"/>
          </a:p>
        </p:txBody>
      </p:sp>
      <p:pic>
        <p:nvPicPr>
          <p:cNvPr id="5" name="Image 0" descr="/home/claude/figs/3.5_logic-microoperations_fig1.png"/>
          <p:cNvPicPr>
            <a:picLocks noChangeAspect="1"/>
          </p:cNvPicPr>
          <p:nvPr/>
        </p:nvPicPr>
        <p:blipFill>
          <a:blip r:embed="rId3"/>
          <a:stretch>
            <a:fillRect/>
          </a:stretch>
        </p:blipFill>
        <p:spPr>
          <a:xfrm>
            <a:off x="274320" y="875824"/>
            <a:ext cx="11643055" cy="5197792"/>
          </a:xfrm>
          <a:prstGeom prst="rect">
            <a:avLst/>
          </a:prstGeom>
        </p:spPr>
      </p:pic>
      <p:sp>
        <p:nvSpPr>
          <p:cNvPr id="6" name="Text 2"/>
          <p:cNvSpPr txBox="1"/>
          <p:nvPr/>
        </p:nvSpPr>
        <p:spPr>
          <a:xfrm>
            <a:off x="411480" y="6355080"/>
            <a:ext cx="10424160" cy="457200"/>
          </a:xfrm>
          <a:prstGeom prst="rect">
            <a:avLst/>
          </a:prstGeom>
          <a:noFill/>
          <a:ln/>
        </p:spPr>
        <p:txBody>
          <a:bodyPr wrap="square" lIns="0" tIns="0" rIns="0" bIns="0" rtlCol="0" anchor="t"/>
          <a:lstStyle/>
          <a:p>
            <a:pPr marL="0" indent="0" algn="ctr">
              <a:buNone/>
            </a:pPr>
            <a:r>
              <a:rPr lang="en-US" sz="1400" dirty="0">
                <a:solidFill>
                  <a:srgbClr val="546E7A"/>
                </a:solidFill>
                <a:latin typeface="Calibri" pitchFamily="34" charset="0"/>
                <a:ea typeface="Calibri" pitchFamily="34" charset="-122"/>
                <a:cs typeface="Calibri" pitchFamily="34" charset="-120"/>
              </a:rPr>
              <a:t>One stage of logic circuit: (a) logic diagram, (b) function table. Adapted from M. Morris Mano, Computer System Architecture, Fig. 4-10.</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Selective bit manipulation with a mask</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3.5</a:t>
            </a:r>
            <a:endParaRPr lang="en-US" sz="1600" dirty="0"/>
          </a:p>
        </p:txBody>
      </p:sp>
      <p:sp>
        <p:nvSpPr>
          <p:cNvPr id="5" name="Text 2"/>
          <p:cNvSpPr txBox="1"/>
          <p:nvPr/>
        </p:nvSpPr>
        <p:spPr>
          <a:xfrm>
            <a:off x="548640" y="1188720"/>
            <a:ext cx="11094415" cy="457200"/>
          </a:xfrm>
          <a:prstGeom prst="rect">
            <a:avLst/>
          </a:prstGeom>
          <a:noFill/>
          <a:ln/>
        </p:spPr>
        <p:txBody>
          <a:bodyPr wrap="square" lIns="0" tIns="0" rIns="0" bIns="0" rtlCol="0" anchor="ctr"/>
          <a:lstStyle/>
          <a:p>
            <a:pPr marL="0" indent="0">
              <a:buNone/>
            </a:pPr>
            <a:r>
              <a:rPr lang="en-US" sz="2000" dirty="0">
                <a:solidFill>
                  <a:srgbClr val="262626"/>
                </a:solidFill>
                <a:latin typeface="Calibri" pitchFamily="34" charset="0"/>
                <a:ea typeface="Calibri" pitchFamily="34" charset="-122"/>
                <a:cs typeface="Calibri" pitchFamily="34" charset="-120"/>
              </a:rPr>
              <a:t>B is the mask: a 1 means “touch this bit of A”, a 0 means “leave it alone”.</a:t>
            </a:r>
            <a:endParaRPr lang="en-US" sz="20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63728" y="1783080"/>
          <a:ext cx="11064240" cy="914400"/>
        </p:xfrm>
        <a:graphic>
          <a:graphicData uri="http://schemas.openxmlformats.org/drawingml/2006/table">
            <a:tbl>
              <a:tblPr/>
              <a:tblGrid>
                <a:gridCol w="347472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4937760">
                  <a:extLst>
                    <a:ext uri="{9D8B030D-6E8A-4147-A177-3AD203B41FA5}">
                      <a16:colId xmlns:a16="http://schemas.microsoft.com/office/drawing/2014/main" val="20002"/>
                    </a:ext>
                  </a:extLst>
                </a:gridCol>
              </a:tblGrid>
              <a:tr h="512064">
                <a:tc>
                  <a:txBody>
                    <a:bodyPr/>
                    <a:lstStyle/>
                    <a:p>
                      <a:pPr marL="0" indent="0" algn="l">
                        <a:buNone/>
                      </a:pPr>
                      <a:r>
                        <a:rPr lang="en-US" sz="2400" b="1" dirty="0">
                          <a:solidFill>
                            <a:srgbClr val="FFFFFF"/>
                          </a:solidFill>
                          <a:latin typeface="Calibri" pitchFamily="34" charset="0"/>
                          <a:ea typeface="Calibri" pitchFamily="34" charset="-122"/>
                          <a:cs typeface="Calibri" pitchFamily="34" charset="-120"/>
                        </a:rPr>
                        <a:t>Name</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l">
                        <a:buNone/>
                      </a:pPr>
                      <a:r>
                        <a:rPr lang="en-US" sz="2400" b="1" dirty="0">
                          <a:solidFill>
                            <a:srgbClr val="FFFFFF"/>
                          </a:solidFill>
                          <a:latin typeface="Calibri" pitchFamily="34" charset="0"/>
                          <a:ea typeface="Calibri" pitchFamily="34" charset="-122"/>
                          <a:cs typeface="Calibri" pitchFamily="34" charset="-120"/>
                        </a:rPr>
                        <a:t>RTL</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l">
                        <a:buNone/>
                      </a:pPr>
                      <a:r>
                        <a:rPr lang="en-US" sz="2400" b="1" dirty="0">
                          <a:solidFill>
                            <a:srgbClr val="FFFFFF"/>
                          </a:solidFill>
                          <a:latin typeface="Calibri" pitchFamily="34" charset="0"/>
                          <a:ea typeface="Calibri" pitchFamily="34" charset="-122"/>
                          <a:cs typeface="Calibri" pitchFamily="34" charset="-120"/>
                        </a:rPr>
                        <a:t>Effect on marked bits (B = 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extLst>
                  <a:ext uri="{0D108BD9-81ED-4DB2-BD59-A6C34878D82A}">
                    <a16:rowId xmlns:a16="http://schemas.microsoft.com/office/drawing/2014/main" val="10000"/>
                  </a:ext>
                </a:extLst>
              </a:tr>
              <a:tr h="512064">
                <a:tc>
                  <a:txBody>
                    <a:bodyPr/>
                    <a:lstStyle/>
                    <a:p>
                      <a:pPr marL="0" indent="0" algn="l">
                        <a:buNone/>
                      </a:pPr>
                      <a:r>
                        <a:rPr lang="en-US" sz="2400" dirty="0">
                          <a:solidFill>
                            <a:srgbClr val="262626"/>
                          </a:solidFill>
                          <a:latin typeface="Calibri" pitchFamily="34" charset="0"/>
                          <a:ea typeface="Calibri" pitchFamily="34" charset="-122"/>
                          <a:cs typeface="Calibri" pitchFamily="34" charset="-120"/>
                        </a:rPr>
                        <a:t>Selective-set</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l">
                        <a:buNone/>
                      </a:pPr>
                      <a:r>
                        <a:rPr lang="en-US" sz="2400" dirty="0">
                          <a:solidFill>
                            <a:srgbClr val="262626"/>
                          </a:solidFill>
                          <a:latin typeface="Calibri" pitchFamily="34" charset="0"/>
                          <a:ea typeface="Calibri" pitchFamily="34" charset="-122"/>
                          <a:cs typeface="Calibri" pitchFamily="34" charset="-120"/>
                        </a:rPr>
                        <a:t>A ← A ∨ B</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l">
                        <a:buNone/>
                      </a:pPr>
                      <a:r>
                        <a:rPr lang="en-US" sz="2400" dirty="0">
                          <a:solidFill>
                            <a:srgbClr val="262626"/>
                          </a:solidFill>
                          <a:latin typeface="Calibri" pitchFamily="34" charset="0"/>
                          <a:ea typeface="Calibri" pitchFamily="34" charset="-122"/>
                          <a:cs typeface="Calibri" pitchFamily="34" charset="-120"/>
                        </a:rPr>
                        <a:t>Forced to 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1"/>
                  </a:ext>
                </a:extLst>
              </a:tr>
              <a:tr h="512064">
                <a:tc>
                  <a:txBody>
                    <a:bodyPr/>
                    <a:lstStyle/>
                    <a:p>
                      <a:pPr marL="0" indent="0" algn="l">
                        <a:buNone/>
                      </a:pPr>
                      <a:r>
                        <a:rPr lang="en-US" sz="2400" dirty="0">
                          <a:solidFill>
                            <a:srgbClr val="262626"/>
                          </a:solidFill>
                          <a:latin typeface="Calibri" pitchFamily="34" charset="0"/>
                          <a:ea typeface="Calibri" pitchFamily="34" charset="-122"/>
                          <a:cs typeface="Calibri" pitchFamily="34" charset="-120"/>
                        </a:rPr>
                        <a:t>Selective-complement</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l">
                        <a:buNone/>
                      </a:pPr>
                      <a:r>
                        <a:rPr lang="en-US" sz="2400" dirty="0">
                          <a:solidFill>
                            <a:srgbClr val="262626"/>
                          </a:solidFill>
                          <a:latin typeface="Calibri" pitchFamily="34" charset="0"/>
                          <a:ea typeface="Calibri" pitchFamily="34" charset="-122"/>
                          <a:cs typeface="Calibri" pitchFamily="34" charset="-120"/>
                        </a:rPr>
                        <a:t>A ← A ⊕ B</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l">
                        <a:buNone/>
                      </a:pPr>
                      <a:r>
                        <a:rPr lang="en-US" sz="2400" dirty="0">
                          <a:solidFill>
                            <a:srgbClr val="262626"/>
                          </a:solidFill>
                          <a:latin typeface="Calibri" pitchFamily="34" charset="0"/>
                          <a:ea typeface="Calibri" pitchFamily="34" charset="-122"/>
                          <a:cs typeface="Calibri" pitchFamily="34" charset="-120"/>
                        </a:rPr>
                        <a:t>Flipped</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12064">
                <a:tc>
                  <a:txBody>
                    <a:bodyPr/>
                    <a:lstStyle/>
                    <a:p>
                      <a:pPr marL="0" indent="0" algn="l">
                        <a:buNone/>
                      </a:pPr>
                      <a:r>
                        <a:rPr lang="en-US" sz="2400" dirty="0">
                          <a:solidFill>
                            <a:srgbClr val="262626"/>
                          </a:solidFill>
                          <a:latin typeface="Calibri" pitchFamily="34" charset="0"/>
                          <a:ea typeface="Calibri" pitchFamily="34" charset="-122"/>
                          <a:cs typeface="Calibri" pitchFamily="34" charset="-120"/>
                        </a:rPr>
                        <a:t>Selective-clear</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l">
                        <a:buNone/>
                      </a:pPr>
                      <a:r>
                        <a:rPr lang="en-US" sz="2400" dirty="0">
                          <a:solidFill>
                            <a:srgbClr val="262626"/>
                          </a:solidFill>
                          <a:latin typeface="Calibri" pitchFamily="34" charset="0"/>
                          <a:ea typeface="Calibri" pitchFamily="34" charset="-122"/>
                          <a:cs typeface="Calibri" pitchFamily="34" charset="-120"/>
                        </a:rPr>
                        <a:t>A ← A ∧ B′</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l">
                        <a:buNone/>
                      </a:pPr>
                      <a:r>
                        <a:rPr lang="en-US" sz="2400" dirty="0">
                          <a:solidFill>
                            <a:srgbClr val="262626"/>
                          </a:solidFill>
                          <a:latin typeface="Calibri" pitchFamily="34" charset="0"/>
                          <a:ea typeface="Calibri" pitchFamily="34" charset="-122"/>
                          <a:cs typeface="Calibri" pitchFamily="34" charset="-120"/>
                        </a:rPr>
                        <a:t>Forced to 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3"/>
                  </a:ext>
                </a:extLst>
              </a:tr>
              <a:tr h="877824">
                <a:tc>
                  <a:txBody>
                    <a:bodyPr/>
                    <a:lstStyle/>
                    <a:p>
                      <a:pPr marL="0" indent="0" algn="l">
                        <a:buNone/>
                      </a:pPr>
                      <a:r>
                        <a:rPr lang="en-US" sz="2400" dirty="0">
                          <a:solidFill>
                            <a:srgbClr val="262626"/>
                          </a:solidFill>
                          <a:latin typeface="Calibri" pitchFamily="34" charset="0"/>
                          <a:ea typeface="Calibri" pitchFamily="34" charset="-122"/>
                          <a:cs typeface="Calibri" pitchFamily="34" charset="-120"/>
                        </a:rPr>
                        <a:t>Mask (AND)</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l">
                        <a:buNone/>
                      </a:pPr>
                      <a:r>
                        <a:rPr lang="en-US" sz="2400" dirty="0">
                          <a:solidFill>
                            <a:srgbClr val="262626"/>
                          </a:solidFill>
                          <a:latin typeface="Calibri" pitchFamily="34" charset="0"/>
                          <a:ea typeface="Calibri" pitchFamily="34" charset="-122"/>
                          <a:cs typeface="Calibri" pitchFamily="34" charset="-120"/>
                        </a:rPr>
                        <a:t>A ← A ∧ B</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l">
                        <a:buNone/>
                      </a:pPr>
                      <a:r>
                        <a:rPr lang="en-US" sz="2400" dirty="0">
                          <a:solidFill>
                            <a:srgbClr val="262626"/>
                          </a:solidFill>
                          <a:latin typeface="Calibri" pitchFamily="34" charset="0"/>
                          <a:ea typeface="Calibri" pitchFamily="34" charset="-122"/>
                          <a:cs typeface="Calibri" pitchFamily="34" charset="-120"/>
                        </a:rPr>
                        <a:t>Kept as is; unmarked bits (B = 0) are forced to 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Worked example: A = 1010 1100, B = 0000 1111</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3.5</a:t>
            </a:r>
            <a:endParaRPr lang="en-US" sz="16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82016" y="1188720"/>
          <a:ext cx="11027664" cy="914400"/>
        </p:xfrm>
        <a:graphic>
          <a:graphicData uri="http://schemas.openxmlformats.org/drawingml/2006/table">
            <a:tbl>
              <a:tblPr/>
              <a:tblGrid>
                <a:gridCol w="3566160">
                  <a:extLst>
                    <a:ext uri="{9D8B030D-6E8A-4147-A177-3AD203B41FA5}">
                      <a16:colId xmlns:a16="http://schemas.microsoft.com/office/drawing/2014/main" val="20000"/>
                    </a:ext>
                  </a:extLst>
                </a:gridCol>
                <a:gridCol w="932688">
                  <a:extLst>
                    <a:ext uri="{9D8B030D-6E8A-4147-A177-3AD203B41FA5}">
                      <a16:colId xmlns:a16="http://schemas.microsoft.com/office/drawing/2014/main" val="20001"/>
                    </a:ext>
                  </a:extLst>
                </a:gridCol>
                <a:gridCol w="932688">
                  <a:extLst>
                    <a:ext uri="{9D8B030D-6E8A-4147-A177-3AD203B41FA5}">
                      <a16:colId xmlns:a16="http://schemas.microsoft.com/office/drawing/2014/main" val="20002"/>
                    </a:ext>
                  </a:extLst>
                </a:gridCol>
                <a:gridCol w="932688">
                  <a:extLst>
                    <a:ext uri="{9D8B030D-6E8A-4147-A177-3AD203B41FA5}">
                      <a16:colId xmlns:a16="http://schemas.microsoft.com/office/drawing/2014/main" val="20003"/>
                    </a:ext>
                  </a:extLst>
                </a:gridCol>
                <a:gridCol w="932688">
                  <a:extLst>
                    <a:ext uri="{9D8B030D-6E8A-4147-A177-3AD203B41FA5}">
                      <a16:colId xmlns:a16="http://schemas.microsoft.com/office/drawing/2014/main" val="20004"/>
                    </a:ext>
                  </a:extLst>
                </a:gridCol>
                <a:gridCol w="932688">
                  <a:extLst>
                    <a:ext uri="{9D8B030D-6E8A-4147-A177-3AD203B41FA5}">
                      <a16:colId xmlns:a16="http://schemas.microsoft.com/office/drawing/2014/main" val="20005"/>
                    </a:ext>
                  </a:extLst>
                </a:gridCol>
                <a:gridCol w="932688">
                  <a:extLst>
                    <a:ext uri="{9D8B030D-6E8A-4147-A177-3AD203B41FA5}">
                      <a16:colId xmlns:a16="http://schemas.microsoft.com/office/drawing/2014/main" val="20006"/>
                    </a:ext>
                  </a:extLst>
                </a:gridCol>
                <a:gridCol w="932688">
                  <a:extLst>
                    <a:ext uri="{9D8B030D-6E8A-4147-A177-3AD203B41FA5}">
                      <a16:colId xmlns:a16="http://schemas.microsoft.com/office/drawing/2014/main" val="20007"/>
                    </a:ext>
                  </a:extLst>
                </a:gridCol>
                <a:gridCol w="932688">
                  <a:extLst>
                    <a:ext uri="{9D8B030D-6E8A-4147-A177-3AD203B41FA5}">
                      <a16:colId xmlns:a16="http://schemas.microsoft.com/office/drawing/2014/main" val="20008"/>
                    </a:ext>
                  </a:extLst>
                </a:gridCol>
              </a:tblGrid>
              <a:tr h="481584">
                <a:tc>
                  <a:txBody>
                    <a:bodyPr/>
                    <a:lstStyle/>
                    <a:p>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200" b="1" dirty="0">
                          <a:solidFill>
                            <a:srgbClr val="FFFFFF"/>
                          </a:solidFill>
                          <a:latin typeface="Calibri" pitchFamily="34" charset="0"/>
                          <a:ea typeface="Calibri" pitchFamily="34" charset="-122"/>
                          <a:cs typeface="Calibri" pitchFamily="34" charset="-120"/>
                        </a:rPr>
                        <a:t>b₇</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200" b="1" dirty="0">
                          <a:solidFill>
                            <a:srgbClr val="FFFFFF"/>
                          </a:solidFill>
                          <a:latin typeface="Calibri" pitchFamily="34" charset="0"/>
                          <a:ea typeface="Calibri" pitchFamily="34" charset="-122"/>
                          <a:cs typeface="Calibri" pitchFamily="34" charset="-120"/>
                        </a:rPr>
                        <a:t>b₆</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200" b="1" dirty="0">
                          <a:solidFill>
                            <a:srgbClr val="FFFFFF"/>
                          </a:solidFill>
                          <a:latin typeface="Calibri" pitchFamily="34" charset="0"/>
                          <a:ea typeface="Calibri" pitchFamily="34" charset="-122"/>
                          <a:cs typeface="Calibri" pitchFamily="34" charset="-120"/>
                        </a:rPr>
                        <a:t>b₅</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200" b="1" dirty="0">
                          <a:solidFill>
                            <a:srgbClr val="FFFFFF"/>
                          </a:solidFill>
                          <a:latin typeface="Calibri" pitchFamily="34" charset="0"/>
                          <a:ea typeface="Calibri" pitchFamily="34" charset="-122"/>
                          <a:cs typeface="Calibri" pitchFamily="34" charset="-120"/>
                        </a:rPr>
                        <a:t>b₄</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200" b="1" dirty="0">
                          <a:solidFill>
                            <a:srgbClr val="FFFFFF"/>
                          </a:solidFill>
                          <a:latin typeface="Calibri" pitchFamily="34" charset="0"/>
                          <a:ea typeface="Calibri" pitchFamily="34" charset="-122"/>
                          <a:cs typeface="Calibri" pitchFamily="34" charset="-120"/>
                        </a:rPr>
                        <a:t>b₃</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200" b="1" dirty="0">
                          <a:solidFill>
                            <a:srgbClr val="FFFFFF"/>
                          </a:solidFill>
                          <a:latin typeface="Calibri" pitchFamily="34" charset="0"/>
                          <a:ea typeface="Calibri" pitchFamily="34" charset="-122"/>
                          <a:cs typeface="Calibri" pitchFamily="34" charset="-120"/>
                        </a:rPr>
                        <a:t>b₂</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200" b="1" dirty="0">
                          <a:solidFill>
                            <a:srgbClr val="FFFFFF"/>
                          </a:solidFill>
                          <a:latin typeface="Calibri" pitchFamily="34" charset="0"/>
                          <a:ea typeface="Calibri" pitchFamily="34" charset="-122"/>
                          <a:cs typeface="Calibri" pitchFamily="34" charset="-120"/>
                        </a:rPr>
                        <a:t>b₁</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200" b="1" dirty="0">
                          <a:solidFill>
                            <a:srgbClr val="FFFFFF"/>
                          </a:solidFill>
                          <a:latin typeface="Calibri" pitchFamily="34" charset="0"/>
                          <a:ea typeface="Calibri" pitchFamily="34" charset="-122"/>
                          <a:cs typeface="Calibri" pitchFamily="34" charset="-120"/>
                        </a:rPr>
                        <a:t>b₀</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extLst>
                  <a:ext uri="{0D108BD9-81ED-4DB2-BD59-A6C34878D82A}">
                    <a16:rowId xmlns:a16="http://schemas.microsoft.com/office/drawing/2014/main" val="10000"/>
                  </a:ext>
                </a:extLst>
              </a:tr>
              <a:tr h="481584">
                <a:tc>
                  <a:txBody>
                    <a:bodyPr/>
                    <a:lstStyle/>
                    <a:p>
                      <a:pPr marL="0" indent="0" algn="l">
                        <a:buNone/>
                      </a:pPr>
                      <a:r>
                        <a:rPr lang="en-US" sz="2200" dirty="0">
                          <a:solidFill>
                            <a:srgbClr val="262626"/>
                          </a:solidFill>
                          <a:latin typeface="Calibri" pitchFamily="34" charset="0"/>
                          <a:ea typeface="Calibri" pitchFamily="34" charset="-122"/>
                          <a:cs typeface="Calibri" pitchFamily="34" charset="-120"/>
                        </a:rPr>
                        <a:t>A</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200" dirty="0">
                          <a:solidFill>
                            <a:srgbClr val="262626"/>
                          </a:solidFill>
                          <a:latin typeface="Calibri" pitchFamily="34" charset="0"/>
                          <a:ea typeface="Calibri" pitchFamily="34" charset="-122"/>
                          <a:cs typeface="Calibri" pitchFamily="34" charset="-120"/>
                        </a:rPr>
                        <a:t>1</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200" dirty="0">
                          <a:solidFill>
                            <a:srgbClr val="262626"/>
                          </a:solidFill>
                          <a:latin typeface="Calibri" pitchFamily="34" charset="0"/>
                          <a:ea typeface="Calibri" pitchFamily="34" charset="-122"/>
                          <a:cs typeface="Calibri" pitchFamily="34" charset="-120"/>
                        </a:rPr>
                        <a:t>0</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200" dirty="0">
                          <a:solidFill>
                            <a:srgbClr val="262626"/>
                          </a:solidFill>
                          <a:latin typeface="Calibri" pitchFamily="34" charset="0"/>
                          <a:ea typeface="Calibri" pitchFamily="34" charset="-122"/>
                          <a:cs typeface="Calibri" pitchFamily="34" charset="-120"/>
                        </a:rPr>
                        <a:t>1</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200" dirty="0">
                          <a:solidFill>
                            <a:srgbClr val="262626"/>
                          </a:solidFill>
                          <a:latin typeface="Calibri" pitchFamily="34" charset="0"/>
                          <a:ea typeface="Calibri" pitchFamily="34" charset="-122"/>
                          <a:cs typeface="Calibri" pitchFamily="34" charset="-120"/>
                        </a:rPr>
                        <a:t>0</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200" dirty="0">
                          <a:solidFill>
                            <a:srgbClr val="262626"/>
                          </a:solidFill>
                          <a:latin typeface="Calibri" pitchFamily="34" charset="0"/>
                          <a:ea typeface="Calibri" pitchFamily="34" charset="-122"/>
                          <a:cs typeface="Calibri" pitchFamily="34" charset="-120"/>
                        </a:rPr>
                        <a:t>1</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E0B2"/>
                    </a:solidFill>
                  </a:tcPr>
                </a:tc>
                <a:tc>
                  <a:txBody>
                    <a:bodyPr/>
                    <a:lstStyle/>
                    <a:p>
                      <a:pPr marL="0" indent="0" algn="ctr">
                        <a:buNone/>
                      </a:pPr>
                      <a:r>
                        <a:rPr lang="en-US" sz="2200" dirty="0">
                          <a:solidFill>
                            <a:srgbClr val="262626"/>
                          </a:solidFill>
                          <a:latin typeface="Calibri" pitchFamily="34" charset="0"/>
                          <a:ea typeface="Calibri" pitchFamily="34" charset="-122"/>
                          <a:cs typeface="Calibri" pitchFamily="34" charset="-120"/>
                        </a:rPr>
                        <a:t>1</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E0B2"/>
                    </a:solidFill>
                  </a:tcPr>
                </a:tc>
                <a:tc>
                  <a:txBody>
                    <a:bodyPr/>
                    <a:lstStyle/>
                    <a:p>
                      <a:pPr marL="0" indent="0" algn="ctr">
                        <a:buNone/>
                      </a:pPr>
                      <a:r>
                        <a:rPr lang="en-US" sz="2200" dirty="0">
                          <a:solidFill>
                            <a:srgbClr val="262626"/>
                          </a:solidFill>
                          <a:latin typeface="Calibri" pitchFamily="34" charset="0"/>
                          <a:ea typeface="Calibri" pitchFamily="34" charset="-122"/>
                          <a:cs typeface="Calibri" pitchFamily="34" charset="-120"/>
                        </a:rPr>
                        <a:t>0</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E0B2"/>
                    </a:solidFill>
                  </a:tcPr>
                </a:tc>
                <a:tc>
                  <a:txBody>
                    <a:bodyPr/>
                    <a:lstStyle/>
                    <a:p>
                      <a:pPr marL="0" indent="0" algn="ctr">
                        <a:buNone/>
                      </a:pPr>
                      <a:r>
                        <a:rPr lang="en-US" sz="2200" dirty="0">
                          <a:solidFill>
                            <a:srgbClr val="262626"/>
                          </a:solidFill>
                          <a:latin typeface="Calibri" pitchFamily="34" charset="0"/>
                          <a:ea typeface="Calibri" pitchFamily="34" charset="-122"/>
                          <a:cs typeface="Calibri" pitchFamily="34" charset="-120"/>
                        </a:rPr>
                        <a:t>0</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E0B2"/>
                    </a:solidFill>
                  </a:tcPr>
                </a:tc>
                <a:extLst>
                  <a:ext uri="{0D108BD9-81ED-4DB2-BD59-A6C34878D82A}">
                    <a16:rowId xmlns:a16="http://schemas.microsoft.com/office/drawing/2014/main" val="10001"/>
                  </a:ext>
                </a:extLst>
              </a:tr>
              <a:tr h="481584">
                <a:tc>
                  <a:txBody>
                    <a:bodyPr/>
                    <a:lstStyle/>
                    <a:p>
                      <a:pPr marL="0" indent="0" algn="l">
                        <a:buNone/>
                      </a:pPr>
                      <a:r>
                        <a:rPr lang="en-US" sz="2200" dirty="0">
                          <a:solidFill>
                            <a:srgbClr val="262626"/>
                          </a:solidFill>
                          <a:latin typeface="Calibri" pitchFamily="34" charset="0"/>
                          <a:ea typeface="Calibri" pitchFamily="34" charset="-122"/>
                          <a:cs typeface="Calibri" pitchFamily="34" charset="-120"/>
                        </a:rPr>
                        <a:t>B (mask)</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200" dirty="0">
                          <a:solidFill>
                            <a:srgbClr val="262626"/>
                          </a:solidFill>
                          <a:latin typeface="Calibri" pitchFamily="34" charset="0"/>
                          <a:ea typeface="Calibri" pitchFamily="34" charset="-122"/>
                          <a:cs typeface="Calibri" pitchFamily="34" charset="-120"/>
                        </a:rPr>
                        <a:t>0</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200" dirty="0">
                          <a:solidFill>
                            <a:srgbClr val="262626"/>
                          </a:solidFill>
                          <a:latin typeface="Calibri" pitchFamily="34" charset="0"/>
                          <a:ea typeface="Calibri" pitchFamily="34" charset="-122"/>
                          <a:cs typeface="Calibri" pitchFamily="34" charset="-120"/>
                        </a:rPr>
                        <a:t>0</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200" dirty="0">
                          <a:solidFill>
                            <a:srgbClr val="262626"/>
                          </a:solidFill>
                          <a:latin typeface="Calibri" pitchFamily="34" charset="0"/>
                          <a:ea typeface="Calibri" pitchFamily="34" charset="-122"/>
                          <a:cs typeface="Calibri" pitchFamily="34" charset="-120"/>
                        </a:rPr>
                        <a:t>0</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200" dirty="0">
                          <a:solidFill>
                            <a:srgbClr val="262626"/>
                          </a:solidFill>
                          <a:latin typeface="Calibri" pitchFamily="34" charset="0"/>
                          <a:ea typeface="Calibri" pitchFamily="34" charset="-122"/>
                          <a:cs typeface="Calibri" pitchFamily="34" charset="-120"/>
                        </a:rPr>
                        <a:t>0</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200" dirty="0">
                          <a:solidFill>
                            <a:srgbClr val="262626"/>
                          </a:solidFill>
                          <a:latin typeface="Calibri" pitchFamily="34" charset="0"/>
                          <a:ea typeface="Calibri" pitchFamily="34" charset="-122"/>
                          <a:cs typeface="Calibri" pitchFamily="34" charset="-120"/>
                        </a:rPr>
                        <a:t>1</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E0B2"/>
                    </a:solidFill>
                  </a:tcPr>
                </a:tc>
                <a:tc>
                  <a:txBody>
                    <a:bodyPr/>
                    <a:lstStyle/>
                    <a:p>
                      <a:pPr marL="0" indent="0" algn="ctr">
                        <a:buNone/>
                      </a:pPr>
                      <a:r>
                        <a:rPr lang="en-US" sz="2200" dirty="0">
                          <a:solidFill>
                            <a:srgbClr val="262626"/>
                          </a:solidFill>
                          <a:latin typeface="Calibri" pitchFamily="34" charset="0"/>
                          <a:ea typeface="Calibri" pitchFamily="34" charset="-122"/>
                          <a:cs typeface="Calibri" pitchFamily="34" charset="-120"/>
                        </a:rPr>
                        <a:t>1</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E0B2"/>
                    </a:solidFill>
                  </a:tcPr>
                </a:tc>
                <a:tc>
                  <a:txBody>
                    <a:bodyPr/>
                    <a:lstStyle/>
                    <a:p>
                      <a:pPr marL="0" indent="0" algn="ctr">
                        <a:buNone/>
                      </a:pPr>
                      <a:r>
                        <a:rPr lang="en-US" sz="2200" dirty="0">
                          <a:solidFill>
                            <a:srgbClr val="262626"/>
                          </a:solidFill>
                          <a:latin typeface="Calibri" pitchFamily="34" charset="0"/>
                          <a:ea typeface="Calibri" pitchFamily="34" charset="-122"/>
                          <a:cs typeface="Calibri" pitchFamily="34" charset="-120"/>
                        </a:rPr>
                        <a:t>1</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E0B2"/>
                    </a:solidFill>
                  </a:tcPr>
                </a:tc>
                <a:tc>
                  <a:txBody>
                    <a:bodyPr/>
                    <a:lstStyle/>
                    <a:p>
                      <a:pPr marL="0" indent="0" algn="ctr">
                        <a:buNone/>
                      </a:pPr>
                      <a:r>
                        <a:rPr lang="en-US" sz="2200" dirty="0">
                          <a:solidFill>
                            <a:srgbClr val="262626"/>
                          </a:solidFill>
                          <a:latin typeface="Calibri" pitchFamily="34" charset="0"/>
                          <a:ea typeface="Calibri" pitchFamily="34" charset="-122"/>
                          <a:cs typeface="Calibri" pitchFamily="34" charset="-120"/>
                        </a:rPr>
                        <a:t>1</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E0B2"/>
                    </a:solidFill>
                  </a:tcPr>
                </a:tc>
                <a:extLst>
                  <a:ext uri="{0D108BD9-81ED-4DB2-BD59-A6C34878D82A}">
                    <a16:rowId xmlns:a16="http://schemas.microsoft.com/office/drawing/2014/main" val="10002"/>
                  </a:ext>
                </a:extLst>
              </a:tr>
              <a:tr h="481584">
                <a:tc>
                  <a:txBody>
                    <a:bodyPr/>
                    <a:lstStyle/>
                    <a:p>
                      <a:pPr marL="0" indent="0" algn="l">
                        <a:buNone/>
                      </a:pPr>
                      <a:r>
                        <a:rPr lang="en-US" sz="2200" dirty="0">
                          <a:solidFill>
                            <a:srgbClr val="262626"/>
                          </a:solidFill>
                          <a:latin typeface="Calibri" pitchFamily="34" charset="0"/>
                          <a:ea typeface="Calibri" pitchFamily="34" charset="-122"/>
                          <a:cs typeface="Calibri" pitchFamily="34" charset="-120"/>
                        </a:rPr>
                        <a:t>Selective-set (A∨B)</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200" dirty="0">
                          <a:solidFill>
                            <a:srgbClr val="262626"/>
                          </a:solidFill>
                          <a:latin typeface="Calibri" pitchFamily="34" charset="0"/>
                          <a:ea typeface="Calibri" pitchFamily="34" charset="-122"/>
                          <a:cs typeface="Calibri" pitchFamily="34" charset="-120"/>
                        </a:rPr>
                        <a:t>1</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200" dirty="0">
                          <a:solidFill>
                            <a:srgbClr val="262626"/>
                          </a:solidFill>
                          <a:latin typeface="Calibri" pitchFamily="34" charset="0"/>
                          <a:ea typeface="Calibri" pitchFamily="34" charset="-122"/>
                          <a:cs typeface="Calibri" pitchFamily="34" charset="-120"/>
                        </a:rPr>
                        <a:t>0</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200" dirty="0">
                          <a:solidFill>
                            <a:srgbClr val="262626"/>
                          </a:solidFill>
                          <a:latin typeface="Calibri" pitchFamily="34" charset="0"/>
                          <a:ea typeface="Calibri" pitchFamily="34" charset="-122"/>
                          <a:cs typeface="Calibri" pitchFamily="34" charset="-120"/>
                        </a:rPr>
                        <a:t>1</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200" dirty="0">
                          <a:solidFill>
                            <a:srgbClr val="262626"/>
                          </a:solidFill>
                          <a:latin typeface="Calibri" pitchFamily="34" charset="0"/>
                          <a:ea typeface="Calibri" pitchFamily="34" charset="-122"/>
                          <a:cs typeface="Calibri" pitchFamily="34" charset="-120"/>
                        </a:rPr>
                        <a:t>0</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200" dirty="0">
                          <a:solidFill>
                            <a:srgbClr val="262626"/>
                          </a:solidFill>
                          <a:latin typeface="Calibri" pitchFamily="34" charset="0"/>
                          <a:ea typeface="Calibri" pitchFamily="34" charset="-122"/>
                          <a:cs typeface="Calibri" pitchFamily="34" charset="-120"/>
                        </a:rPr>
                        <a:t>1</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E0B2"/>
                    </a:solidFill>
                  </a:tcPr>
                </a:tc>
                <a:tc>
                  <a:txBody>
                    <a:bodyPr/>
                    <a:lstStyle/>
                    <a:p>
                      <a:pPr marL="0" indent="0" algn="ctr">
                        <a:buNone/>
                      </a:pPr>
                      <a:r>
                        <a:rPr lang="en-US" sz="2200" dirty="0">
                          <a:solidFill>
                            <a:srgbClr val="262626"/>
                          </a:solidFill>
                          <a:latin typeface="Calibri" pitchFamily="34" charset="0"/>
                          <a:ea typeface="Calibri" pitchFamily="34" charset="-122"/>
                          <a:cs typeface="Calibri" pitchFamily="34" charset="-120"/>
                        </a:rPr>
                        <a:t>1</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E0B2"/>
                    </a:solidFill>
                  </a:tcPr>
                </a:tc>
                <a:tc>
                  <a:txBody>
                    <a:bodyPr/>
                    <a:lstStyle/>
                    <a:p>
                      <a:pPr marL="0" indent="0" algn="ctr">
                        <a:buNone/>
                      </a:pPr>
                      <a:r>
                        <a:rPr lang="en-US" sz="2200" dirty="0">
                          <a:solidFill>
                            <a:srgbClr val="262626"/>
                          </a:solidFill>
                          <a:latin typeface="Calibri" pitchFamily="34" charset="0"/>
                          <a:ea typeface="Calibri" pitchFamily="34" charset="-122"/>
                          <a:cs typeface="Calibri" pitchFamily="34" charset="-120"/>
                        </a:rPr>
                        <a:t>1</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E0B2"/>
                    </a:solidFill>
                  </a:tcPr>
                </a:tc>
                <a:tc>
                  <a:txBody>
                    <a:bodyPr/>
                    <a:lstStyle/>
                    <a:p>
                      <a:pPr marL="0" indent="0" algn="ctr">
                        <a:buNone/>
                      </a:pPr>
                      <a:r>
                        <a:rPr lang="en-US" sz="2200" dirty="0">
                          <a:solidFill>
                            <a:srgbClr val="262626"/>
                          </a:solidFill>
                          <a:latin typeface="Calibri" pitchFamily="34" charset="0"/>
                          <a:ea typeface="Calibri" pitchFamily="34" charset="-122"/>
                          <a:cs typeface="Calibri" pitchFamily="34" charset="-120"/>
                        </a:rPr>
                        <a:t>1</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E0B2"/>
                    </a:solidFill>
                  </a:tcPr>
                </a:tc>
                <a:extLst>
                  <a:ext uri="{0D108BD9-81ED-4DB2-BD59-A6C34878D82A}">
                    <a16:rowId xmlns:a16="http://schemas.microsoft.com/office/drawing/2014/main" val="10003"/>
                  </a:ext>
                </a:extLst>
              </a:tr>
              <a:tr h="481584">
                <a:tc>
                  <a:txBody>
                    <a:bodyPr/>
                    <a:lstStyle/>
                    <a:p>
                      <a:pPr marL="0" indent="0" algn="l">
                        <a:buNone/>
                      </a:pPr>
                      <a:r>
                        <a:rPr lang="en-US" sz="2200" dirty="0">
                          <a:solidFill>
                            <a:srgbClr val="262626"/>
                          </a:solidFill>
                          <a:latin typeface="Calibri" pitchFamily="34" charset="0"/>
                          <a:ea typeface="Calibri" pitchFamily="34" charset="-122"/>
                          <a:cs typeface="Calibri" pitchFamily="34" charset="-120"/>
                        </a:rPr>
                        <a:t>Sel.-complement (A⊕B)</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200" dirty="0">
                          <a:solidFill>
                            <a:srgbClr val="262626"/>
                          </a:solidFill>
                          <a:latin typeface="Calibri" pitchFamily="34" charset="0"/>
                          <a:ea typeface="Calibri" pitchFamily="34" charset="-122"/>
                          <a:cs typeface="Calibri" pitchFamily="34" charset="-120"/>
                        </a:rPr>
                        <a:t>1</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200" dirty="0">
                          <a:solidFill>
                            <a:srgbClr val="262626"/>
                          </a:solidFill>
                          <a:latin typeface="Calibri" pitchFamily="34" charset="0"/>
                          <a:ea typeface="Calibri" pitchFamily="34" charset="-122"/>
                          <a:cs typeface="Calibri" pitchFamily="34" charset="-120"/>
                        </a:rPr>
                        <a:t>0</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200" dirty="0">
                          <a:solidFill>
                            <a:srgbClr val="262626"/>
                          </a:solidFill>
                          <a:latin typeface="Calibri" pitchFamily="34" charset="0"/>
                          <a:ea typeface="Calibri" pitchFamily="34" charset="-122"/>
                          <a:cs typeface="Calibri" pitchFamily="34" charset="-120"/>
                        </a:rPr>
                        <a:t>1</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200" dirty="0">
                          <a:solidFill>
                            <a:srgbClr val="262626"/>
                          </a:solidFill>
                          <a:latin typeface="Calibri" pitchFamily="34" charset="0"/>
                          <a:ea typeface="Calibri" pitchFamily="34" charset="-122"/>
                          <a:cs typeface="Calibri" pitchFamily="34" charset="-120"/>
                        </a:rPr>
                        <a:t>0</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200" dirty="0">
                          <a:solidFill>
                            <a:srgbClr val="262626"/>
                          </a:solidFill>
                          <a:latin typeface="Calibri" pitchFamily="34" charset="0"/>
                          <a:ea typeface="Calibri" pitchFamily="34" charset="-122"/>
                          <a:cs typeface="Calibri" pitchFamily="34" charset="-120"/>
                        </a:rPr>
                        <a:t>0</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E0B2"/>
                    </a:solidFill>
                  </a:tcPr>
                </a:tc>
                <a:tc>
                  <a:txBody>
                    <a:bodyPr/>
                    <a:lstStyle/>
                    <a:p>
                      <a:pPr marL="0" indent="0" algn="ctr">
                        <a:buNone/>
                      </a:pPr>
                      <a:r>
                        <a:rPr lang="en-US" sz="2200" dirty="0">
                          <a:solidFill>
                            <a:srgbClr val="262626"/>
                          </a:solidFill>
                          <a:latin typeface="Calibri" pitchFamily="34" charset="0"/>
                          <a:ea typeface="Calibri" pitchFamily="34" charset="-122"/>
                          <a:cs typeface="Calibri" pitchFamily="34" charset="-120"/>
                        </a:rPr>
                        <a:t>0</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E0B2"/>
                    </a:solidFill>
                  </a:tcPr>
                </a:tc>
                <a:tc>
                  <a:txBody>
                    <a:bodyPr/>
                    <a:lstStyle/>
                    <a:p>
                      <a:pPr marL="0" indent="0" algn="ctr">
                        <a:buNone/>
                      </a:pPr>
                      <a:r>
                        <a:rPr lang="en-US" sz="2200" dirty="0">
                          <a:solidFill>
                            <a:srgbClr val="262626"/>
                          </a:solidFill>
                          <a:latin typeface="Calibri" pitchFamily="34" charset="0"/>
                          <a:ea typeface="Calibri" pitchFamily="34" charset="-122"/>
                          <a:cs typeface="Calibri" pitchFamily="34" charset="-120"/>
                        </a:rPr>
                        <a:t>1</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E0B2"/>
                    </a:solidFill>
                  </a:tcPr>
                </a:tc>
                <a:tc>
                  <a:txBody>
                    <a:bodyPr/>
                    <a:lstStyle/>
                    <a:p>
                      <a:pPr marL="0" indent="0" algn="ctr">
                        <a:buNone/>
                      </a:pPr>
                      <a:r>
                        <a:rPr lang="en-US" sz="2200" dirty="0">
                          <a:solidFill>
                            <a:srgbClr val="262626"/>
                          </a:solidFill>
                          <a:latin typeface="Calibri" pitchFamily="34" charset="0"/>
                          <a:ea typeface="Calibri" pitchFamily="34" charset="-122"/>
                          <a:cs typeface="Calibri" pitchFamily="34" charset="-120"/>
                        </a:rPr>
                        <a:t>1</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E0B2"/>
                    </a:solidFill>
                  </a:tcPr>
                </a:tc>
                <a:extLst>
                  <a:ext uri="{0D108BD9-81ED-4DB2-BD59-A6C34878D82A}">
                    <a16:rowId xmlns:a16="http://schemas.microsoft.com/office/drawing/2014/main" val="10004"/>
                  </a:ext>
                </a:extLst>
              </a:tr>
              <a:tr h="481584">
                <a:tc>
                  <a:txBody>
                    <a:bodyPr/>
                    <a:lstStyle/>
                    <a:p>
                      <a:pPr marL="0" indent="0" algn="l">
                        <a:buNone/>
                      </a:pPr>
                      <a:r>
                        <a:rPr lang="en-US" sz="2200" dirty="0">
                          <a:solidFill>
                            <a:srgbClr val="262626"/>
                          </a:solidFill>
                          <a:latin typeface="Calibri" pitchFamily="34" charset="0"/>
                          <a:ea typeface="Calibri" pitchFamily="34" charset="-122"/>
                          <a:cs typeface="Calibri" pitchFamily="34" charset="-120"/>
                        </a:rPr>
                        <a:t>Selective-clear (A∧B′)</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200" dirty="0">
                          <a:solidFill>
                            <a:srgbClr val="262626"/>
                          </a:solidFill>
                          <a:latin typeface="Calibri" pitchFamily="34" charset="0"/>
                          <a:ea typeface="Calibri" pitchFamily="34" charset="-122"/>
                          <a:cs typeface="Calibri" pitchFamily="34" charset="-120"/>
                        </a:rPr>
                        <a:t>1</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200" dirty="0">
                          <a:solidFill>
                            <a:srgbClr val="262626"/>
                          </a:solidFill>
                          <a:latin typeface="Calibri" pitchFamily="34" charset="0"/>
                          <a:ea typeface="Calibri" pitchFamily="34" charset="-122"/>
                          <a:cs typeface="Calibri" pitchFamily="34" charset="-120"/>
                        </a:rPr>
                        <a:t>0</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200" dirty="0">
                          <a:solidFill>
                            <a:srgbClr val="262626"/>
                          </a:solidFill>
                          <a:latin typeface="Calibri" pitchFamily="34" charset="0"/>
                          <a:ea typeface="Calibri" pitchFamily="34" charset="-122"/>
                          <a:cs typeface="Calibri" pitchFamily="34" charset="-120"/>
                        </a:rPr>
                        <a:t>1</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200" dirty="0">
                          <a:solidFill>
                            <a:srgbClr val="262626"/>
                          </a:solidFill>
                          <a:latin typeface="Calibri" pitchFamily="34" charset="0"/>
                          <a:ea typeface="Calibri" pitchFamily="34" charset="-122"/>
                          <a:cs typeface="Calibri" pitchFamily="34" charset="-120"/>
                        </a:rPr>
                        <a:t>0</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200" dirty="0">
                          <a:solidFill>
                            <a:srgbClr val="262626"/>
                          </a:solidFill>
                          <a:latin typeface="Calibri" pitchFamily="34" charset="0"/>
                          <a:ea typeface="Calibri" pitchFamily="34" charset="-122"/>
                          <a:cs typeface="Calibri" pitchFamily="34" charset="-120"/>
                        </a:rPr>
                        <a:t>0</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E0B2"/>
                    </a:solidFill>
                  </a:tcPr>
                </a:tc>
                <a:tc>
                  <a:txBody>
                    <a:bodyPr/>
                    <a:lstStyle/>
                    <a:p>
                      <a:pPr marL="0" indent="0" algn="ctr">
                        <a:buNone/>
                      </a:pPr>
                      <a:r>
                        <a:rPr lang="en-US" sz="2200" dirty="0">
                          <a:solidFill>
                            <a:srgbClr val="262626"/>
                          </a:solidFill>
                          <a:latin typeface="Calibri" pitchFamily="34" charset="0"/>
                          <a:ea typeface="Calibri" pitchFamily="34" charset="-122"/>
                          <a:cs typeface="Calibri" pitchFamily="34" charset="-120"/>
                        </a:rPr>
                        <a:t>0</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E0B2"/>
                    </a:solidFill>
                  </a:tcPr>
                </a:tc>
                <a:tc>
                  <a:txBody>
                    <a:bodyPr/>
                    <a:lstStyle/>
                    <a:p>
                      <a:pPr marL="0" indent="0" algn="ctr">
                        <a:buNone/>
                      </a:pPr>
                      <a:r>
                        <a:rPr lang="en-US" sz="2200" dirty="0">
                          <a:solidFill>
                            <a:srgbClr val="262626"/>
                          </a:solidFill>
                          <a:latin typeface="Calibri" pitchFamily="34" charset="0"/>
                          <a:ea typeface="Calibri" pitchFamily="34" charset="-122"/>
                          <a:cs typeface="Calibri" pitchFamily="34" charset="-120"/>
                        </a:rPr>
                        <a:t>0</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E0B2"/>
                    </a:solidFill>
                  </a:tcPr>
                </a:tc>
                <a:tc>
                  <a:txBody>
                    <a:bodyPr/>
                    <a:lstStyle/>
                    <a:p>
                      <a:pPr marL="0" indent="0" algn="ctr">
                        <a:buNone/>
                      </a:pPr>
                      <a:r>
                        <a:rPr lang="en-US" sz="2200" dirty="0">
                          <a:solidFill>
                            <a:srgbClr val="262626"/>
                          </a:solidFill>
                          <a:latin typeface="Calibri" pitchFamily="34" charset="0"/>
                          <a:ea typeface="Calibri" pitchFamily="34" charset="-122"/>
                          <a:cs typeface="Calibri" pitchFamily="34" charset="-120"/>
                        </a:rPr>
                        <a:t>0</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E0B2"/>
                    </a:solidFill>
                  </a:tcPr>
                </a:tc>
                <a:extLst>
                  <a:ext uri="{0D108BD9-81ED-4DB2-BD59-A6C34878D82A}">
                    <a16:rowId xmlns:a16="http://schemas.microsoft.com/office/drawing/2014/main" val="10005"/>
                  </a:ext>
                </a:extLst>
              </a:tr>
              <a:tr h="481584">
                <a:tc>
                  <a:txBody>
                    <a:bodyPr/>
                    <a:lstStyle/>
                    <a:p>
                      <a:pPr marL="0" indent="0" algn="l">
                        <a:buNone/>
                      </a:pPr>
                      <a:r>
                        <a:rPr lang="en-US" sz="2200" dirty="0">
                          <a:solidFill>
                            <a:srgbClr val="262626"/>
                          </a:solidFill>
                          <a:latin typeface="Calibri" pitchFamily="34" charset="0"/>
                          <a:ea typeface="Calibri" pitchFamily="34" charset="-122"/>
                          <a:cs typeface="Calibri" pitchFamily="34" charset="-120"/>
                        </a:rPr>
                        <a:t>Mask (A∧B)</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200" dirty="0">
                          <a:solidFill>
                            <a:srgbClr val="262626"/>
                          </a:solidFill>
                          <a:latin typeface="Calibri" pitchFamily="34" charset="0"/>
                          <a:ea typeface="Calibri" pitchFamily="34" charset="-122"/>
                          <a:cs typeface="Calibri" pitchFamily="34" charset="-120"/>
                        </a:rPr>
                        <a:t>0</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200" dirty="0">
                          <a:solidFill>
                            <a:srgbClr val="262626"/>
                          </a:solidFill>
                          <a:latin typeface="Calibri" pitchFamily="34" charset="0"/>
                          <a:ea typeface="Calibri" pitchFamily="34" charset="-122"/>
                          <a:cs typeface="Calibri" pitchFamily="34" charset="-120"/>
                        </a:rPr>
                        <a:t>0</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200" dirty="0">
                          <a:solidFill>
                            <a:srgbClr val="262626"/>
                          </a:solidFill>
                          <a:latin typeface="Calibri" pitchFamily="34" charset="0"/>
                          <a:ea typeface="Calibri" pitchFamily="34" charset="-122"/>
                          <a:cs typeface="Calibri" pitchFamily="34" charset="-120"/>
                        </a:rPr>
                        <a:t>0</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200" dirty="0">
                          <a:solidFill>
                            <a:srgbClr val="262626"/>
                          </a:solidFill>
                          <a:latin typeface="Calibri" pitchFamily="34" charset="0"/>
                          <a:ea typeface="Calibri" pitchFamily="34" charset="-122"/>
                          <a:cs typeface="Calibri" pitchFamily="34" charset="-120"/>
                        </a:rPr>
                        <a:t>0</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200" dirty="0">
                          <a:solidFill>
                            <a:srgbClr val="262626"/>
                          </a:solidFill>
                          <a:latin typeface="Calibri" pitchFamily="34" charset="0"/>
                          <a:ea typeface="Calibri" pitchFamily="34" charset="-122"/>
                          <a:cs typeface="Calibri" pitchFamily="34" charset="-120"/>
                        </a:rPr>
                        <a:t>1</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E0B2"/>
                    </a:solidFill>
                  </a:tcPr>
                </a:tc>
                <a:tc>
                  <a:txBody>
                    <a:bodyPr/>
                    <a:lstStyle/>
                    <a:p>
                      <a:pPr marL="0" indent="0" algn="ctr">
                        <a:buNone/>
                      </a:pPr>
                      <a:r>
                        <a:rPr lang="en-US" sz="2200" dirty="0">
                          <a:solidFill>
                            <a:srgbClr val="262626"/>
                          </a:solidFill>
                          <a:latin typeface="Calibri" pitchFamily="34" charset="0"/>
                          <a:ea typeface="Calibri" pitchFamily="34" charset="-122"/>
                          <a:cs typeface="Calibri" pitchFamily="34" charset="-120"/>
                        </a:rPr>
                        <a:t>1</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E0B2"/>
                    </a:solidFill>
                  </a:tcPr>
                </a:tc>
                <a:tc>
                  <a:txBody>
                    <a:bodyPr/>
                    <a:lstStyle/>
                    <a:p>
                      <a:pPr marL="0" indent="0" algn="ctr">
                        <a:buNone/>
                      </a:pPr>
                      <a:r>
                        <a:rPr lang="en-US" sz="2200" dirty="0">
                          <a:solidFill>
                            <a:srgbClr val="262626"/>
                          </a:solidFill>
                          <a:latin typeface="Calibri" pitchFamily="34" charset="0"/>
                          <a:ea typeface="Calibri" pitchFamily="34" charset="-122"/>
                          <a:cs typeface="Calibri" pitchFamily="34" charset="-120"/>
                        </a:rPr>
                        <a:t>0</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E0B2"/>
                    </a:solidFill>
                  </a:tcPr>
                </a:tc>
                <a:tc>
                  <a:txBody>
                    <a:bodyPr/>
                    <a:lstStyle/>
                    <a:p>
                      <a:pPr marL="0" indent="0" algn="ctr">
                        <a:buNone/>
                      </a:pPr>
                      <a:r>
                        <a:rPr lang="en-US" sz="2200" dirty="0">
                          <a:solidFill>
                            <a:srgbClr val="262626"/>
                          </a:solidFill>
                          <a:latin typeface="Calibri" pitchFamily="34" charset="0"/>
                          <a:ea typeface="Calibri" pitchFamily="34" charset="-122"/>
                          <a:cs typeface="Calibri" pitchFamily="34" charset="-120"/>
                        </a:rPr>
                        <a:t>0</a:t>
                      </a:r>
                      <a:endParaRPr lang="en-US" sz="22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E0B2"/>
                    </a:solidFill>
                  </a:tcPr>
                </a:tc>
                <a:extLst>
                  <a:ext uri="{0D108BD9-81ED-4DB2-BD59-A6C34878D82A}">
                    <a16:rowId xmlns:a16="http://schemas.microsoft.com/office/drawing/2014/main" val="10006"/>
                  </a:ext>
                </a:extLst>
              </a:tr>
            </a:tbl>
          </a:graphicData>
        </a:graphic>
      </p:graphicFrame>
      <p:sp>
        <p:nvSpPr>
          <p:cNvPr id="6" name="Text 2"/>
          <p:cNvSpPr txBox="1"/>
          <p:nvPr/>
        </p:nvSpPr>
        <p:spPr>
          <a:xfrm>
            <a:off x="640080" y="4834128"/>
            <a:ext cx="10911535" cy="1475232"/>
          </a:xfrm>
          <a:prstGeom prst="rect">
            <a:avLst/>
          </a:prstGeom>
          <a:noFill/>
          <a:ln/>
        </p:spPr>
        <p:txBody>
          <a:bodyPr wrap="square" lIns="0" tIns="0" rIns="0" bIns="0" rtlCol="0" anchor="t"/>
          <a:lstStyle/>
          <a:p>
            <a:pPr marL="304800" indent="-304800" algn="l">
              <a:spcAft>
                <a:spcPts val="1000"/>
              </a:spcAft>
              <a:buSzPct val="100000"/>
              <a:buChar char="•"/>
            </a:pPr>
            <a:r>
              <a:rPr lang="en-US" sz="2600" dirty="0">
                <a:solidFill>
                  <a:srgbClr val="262626"/>
                </a:solidFill>
                <a:latin typeface="Calibri" pitchFamily="34" charset="0"/>
                <a:ea typeface="Calibri" pitchFamily="34" charset="-122"/>
                <a:cs typeface="Calibri" pitchFamily="34" charset="-120"/>
              </a:rPr>
              <a:t>Only b₃–b₀ (highlighted, where B = 1) are affected by set, complement and clear</a:t>
            </a:r>
            <a:endParaRPr lang="en-US" sz="2600" dirty="0"/>
          </a:p>
          <a:p>
            <a:pPr marL="304800" indent="-304800" algn="l">
              <a:spcAft>
                <a:spcPts val="1000"/>
              </a:spcAft>
              <a:buSzPct val="100000"/>
              <a:buChar char="•"/>
            </a:pPr>
            <a:r>
              <a:rPr lang="en-US" sz="2600" dirty="0">
                <a:solidFill>
                  <a:srgbClr val="262626"/>
                </a:solidFill>
                <a:latin typeface="Calibri" pitchFamily="34" charset="0"/>
                <a:ea typeface="Calibri" pitchFamily="34" charset="-122"/>
                <a:cs typeface="Calibri" pitchFamily="34" charset="-120"/>
              </a:rPr>
              <a:t>Mask keeps the marked bits but forces the unmarked ones to 0</a:t>
            </a:r>
            <a:endParaRPr lang="en-US" sz="26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Insert, and a free clear</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3.5</a:t>
            </a:r>
            <a:endParaRPr lang="en-US" sz="1600" dirty="0"/>
          </a:p>
        </p:txBody>
      </p:sp>
      <p:sp>
        <p:nvSpPr>
          <p:cNvPr id="5" name="Text 2"/>
          <p:cNvSpPr txBox="1"/>
          <p:nvPr/>
        </p:nvSpPr>
        <p:spPr>
          <a:xfrm>
            <a:off x="548640" y="1280160"/>
            <a:ext cx="11094415" cy="1473200"/>
          </a:xfrm>
          <a:prstGeom prst="roundRect">
            <a:avLst>
              <a:gd name="adj" fmla="val 6207"/>
            </a:avLst>
          </a:prstGeom>
          <a:solidFill>
            <a:srgbClr val="F4F6F8"/>
          </a:solidFill>
          <a:ln w="25400">
            <a:solidFill>
              <a:srgbClr val="FF8F00"/>
            </a:solidFill>
          </a:ln>
        </p:spPr>
        <p:txBody>
          <a:bodyPr wrap="square" lIns="152400" tIns="279400" rIns="279400" bIns="152400" rtlCol="0" anchor="ctr"/>
          <a:lstStyle/>
          <a:p>
            <a:pPr marL="0" indent="0">
              <a:spcAft>
                <a:spcPts val="200"/>
              </a:spcAft>
              <a:buNone/>
            </a:pPr>
            <a:r>
              <a:rPr lang="en-US" sz="2800" dirty="0">
                <a:solidFill>
                  <a:srgbClr val="262626"/>
                </a:solidFill>
                <a:latin typeface="Courier New" pitchFamily="34" charset="0"/>
                <a:ea typeface="Courier New" pitchFamily="34" charset="-122"/>
                <a:cs typeface="Courier New" pitchFamily="34" charset="-120"/>
              </a:rPr>
              <a:t>A ← A ∧ 1111 0000   (clear the low nibble)</a:t>
            </a:r>
            <a:endParaRPr lang="en-US" sz="2800" dirty="0"/>
          </a:p>
          <a:p>
            <a:pPr marL="0" indent="0">
              <a:spcAft>
                <a:spcPts val="200"/>
              </a:spcAft>
              <a:buNone/>
            </a:pPr>
            <a:r>
              <a:rPr lang="en-US" sz="2800" dirty="0">
                <a:solidFill>
                  <a:srgbClr val="262626"/>
                </a:solidFill>
                <a:latin typeface="Courier New" pitchFamily="34" charset="0"/>
                <a:ea typeface="Courier New" pitchFamily="34" charset="-122"/>
                <a:cs typeface="Courier New" pitchFamily="34" charset="-120"/>
              </a:rPr>
              <a:t>A ← A ∨ 0000 1010   (insert the new value 1010)</a:t>
            </a:r>
            <a:endParaRPr lang="en-US" sz="2800" dirty="0"/>
          </a:p>
        </p:txBody>
      </p:sp>
      <p:sp>
        <p:nvSpPr>
          <p:cNvPr id="6" name="Text 3"/>
          <p:cNvSpPr txBox="1"/>
          <p:nvPr/>
        </p:nvSpPr>
        <p:spPr>
          <a:xfrm>
            <a:off x="640080" y="3073400"/>
            <a:ext cx="10911535" cy="3235960"/>
          </a:xfrm>
          <a:prstGeom prst="rect">
            <a:avLst/>
          </a:prstGeom>
          <a:noFill/>
          <a:ln/>
        </p:spPr>
        <p:txBody>
          <a:bodyPr wrap="square" lIns="0" tIns="0" rIns="0" bIns="0" rtlCol="0" anchor="t"/>
          <a:lstStyle/>
          <a:p>
            <a:pPr marL="304800" indent="-304800" algn="l">
              <a:spcAft>
                <a:spcPts val="1000"/>
              </a:spcAft>
              <a:buSzPct val="100000"/>
              <a:buChar char="•"/>
            </a:pPr>
            <a:r>
              <a:rPr lang="en-US" sz="2800" b="1" dirty="0">
                <a:solidFill>
                  <a:srgbClr val="262626"/>
                </a:solidFill>
                <a:latin typeface="Calibri" pitchFamily="34" charset="0"/>
                <a:ea typeface="Calibri" pitchFamily="34" charset="-122"/>
                <a:cs typeface="Calibri" pitchFamily="34" charset="-120"/>
              </a:rPr>
              <a:t>Insert</a:t>
            </a:r>
            <a:r>
              <a:rPr lang="en-US" sz="2800" dirty="0">
                <a:solidFill>
                  <a:srgbClr val="262626"/>
                </a:solidFill>
                <a:latin typeface="Calibri" pitchFamily="34" charset="0"/>
                <a:ea typeface="Calibri" pitchFamily="34" charset="-122"/>
                <a:cs typeface="Calibri" pitchFamily="34" charset="-120"/>
              </a:rPr>
              <a:t> is two micro-operations: clear the target field with a mask, then OR in the new field value</a:t>
            </a:r>
            <a:endParaRPr lang="en-US" sz="2800" dirty="0"/>
          </a:p>
          <a:p>
            <a:pPr marL="304800" indent="-304800" algn="l">
              <a:spcAft>
                <a:spcPts val="1000"/>
              </a:spcAft>
              <a:buSzPct val="100000"/>
              <a:buChar char="•"/>
            </a:pPr>
            <a:r>
              <a:rPr lang="en-US" sz="2800" b="1" dirty="0">
                <a:solidFill>
                  <a:srgbClr val="262626"/>
                </a:solidFill>
                <a:latin typeface="Calibri" pitchFamily="34" charset="0"/>
                <a:ea typeface="Calibri" pitchFamily="34" charset="-122"/>
                <a:cs typeface="Calibri" pitchFamily="34" charset="-120"/>
              </a:rPr>
              <a:t>A ← A ⊕ A</a:t>
            </a:r>
            <a:r>
              <a:rPr lang="en-US" sz="2800" dirty="0">
                <a:solidFill>
                  <a:srgbClr val="262626"/>
                </a:solidFill>
                <a:latin typeface="Calibri" pitchFamily="34" charset="0"/>
                <a:ea typeface="Calibri" pitchFamily="34" charset="-122"/>
                <a:cs typeface="Calibri" pitchFamily="34" charset="-120"/>
              </a:rPr>
              <a:t> clears A to all 0s without a separate constant-0 source</a:t>
            </a:r>
            <a:endParaRPr lang="en-US" sz="28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3.6  Shift Micro-operations</a:t>
            </a:r>
            <a:endParaRPr lang="en-US" sz="3000" dirty="0"/>
          </a:p>
        </p:txBody>
      </p:sp>
      <p:sp>
        <p:nvSpPr>
          <p:cNvPr id="4" name="Text 1"/>
          <p:cNvSpPr txBox="1"/>
          <p:nvPr/>
        </p:nvSpPr>
        <p:spPr>
          <a:xfrm>
            <a:off x="914400" y="1417320"/>
            <a:ext cx="5486400" cy="365760"/>
          </a:xfrm>
          <a:prstGeom prst="rect">
            <a:avLst/>
          </a:prstGeom>
          <a:noFill/>
          <a:ln/>
        </p:spPr>
        <p:txBody>
          <a:bodyPr wrap="square" lIns="0" tIns="0" rIns="0" bIns="0" rtlCol="0" anchor="ctr"/>
          <a:lstStyle/>
          <a:p>
            <a:pPr marL="0" indent="0">
              <a:buNone/>
            </a:pPr>
            <a:r>
              <a:rPr lang="en-US" sz="2000" b="1" dirty="0">
                <a:solidFill>
                  <a:srgbClr val="1565C0"/>
                </a:solidFill>
                <a:latin typeface="Calibri" pitchFamily="34" charset="0"/>
                <a:ea typeface="Calibri" pitchFamily="34" charset="-122"/>
                <a:cs typeface="Calibri" pitchFamily="34" charset="-120"/>
              </a:rPr>
              <a:t>IN SIMPLE TERMS</a:t>
            </a:r>
            <a:endParaRPr lang="en-US" sz="2000" dirty="0"/>
          </a:p>
        </p:txBody>
      </p:sp>
      <p:sp>
        <p:nvSpPr>
          <p:cNvPr id="5" name="Text 2"/>
          <p:cNvSpPr txBox="1"/>
          <p:nvPr/>
        </p:nvSpPr>
        <p:spPr>
          <a:xfrm>
            <a:off x="914400" y="1920240"/>
            <a:ext cx="10362895" cy="3566160"/>
          </a:xfrm>
          <a:prstGeom prst="roundRect">
            <a:avLst>
              <a:gd name="adj" fmla="val 3846"/>
            </a:avLst>
          </a:prstGeom>
          <a:solidFill>
            <a:srgbClr val="FFF3E0"/>
          </a:solidFill>
          <a:ln w="31750">
            <a:solidFill>
              <a:srgbClr val="FF8F00"/>
            </a:solidFill>
          </a:ln>
        </p:spPr>
        <p:txBody>
          <a:bodyPr wrap="square" lIns="304800" tIns="457200" rIns="457200" bIns="304800" rtlCol="0" anchor="ctr"/>
          <a:lstStyle/>
          <a:p>
            <a:pPr marL="0" indent="0" algn="l">
              <a:buNone/>
            </a:pPr>
            <a:r>
              <a:rPr lang="en-US" sz="3400" dirty="0">
                <a:solidFill>
                  <a:srgbClr val="262626"/>
                </a:solidFill>
                <a:latin typeface="Calibri" pitchFamily="34" charset="0"/>
                <a:ea typeface="Calibri" pitchFamily="34" charset="-122"/>
                <a:cs typeface="Calibri" pitchFamily="34" charset="-120"/>
              </a:rPr>
              <a:t>A shift moves every bit one place left or right. The three kinds differ only in what fills the empty end: a 0 (logical), the bit that fell off (circular), or a copy of the sign bit (arithmetic right).</a:t>
            </a:r>
            <a:endParaRPr lang="en-US" sz="3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Three kinds of shift</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3.6</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marL="304800" indent="-304800" algn="l">
              <a:spcAft>
                <a:spcPts val="1000"/>
              </a:spcAft>
              <a:buSzPct val="100000"/>
              <a:buChar char="•"/>
            </a:pPr>
            <a:r>
              <a:rPr lang="en-US" sz="3000" dirty="0">
                <a:solidFill>
                  <a:srgbClr val="262626"/>
                </a:solidFill>
                <a:latin typeface="Calibri" pitchFamily="34" charset="0"/>
                <a:ea typeface="Calibri" pitchFamily="34" charset="-122"/>
                <a:cs typeface="Calibri" pitchFamily="34" charset="-120"/>
              </a:rPr>
              <a:t>A </a:t>
            </a:r>
            <a:r>
              <a:rPr lang="en-US" sz="3000" b="1" dirty="0">
                <a:solidFill>
                  <a:srgbClr val="262626"/>
                </a:solidFill>
                <a:latin typeface="Calibri" pitchFamily="34" charset="0"/>
                <a:ea typeface="Calibri" pitchFamily="34" charset="-122"/>
                <a:cs typeface="Calibri" pitchFamily="34" charset="-120"/>
              </a:rPr>
              <a:t>shift</a:t>
            </a:r>
            <a:r>
              <a:rPr lang="en-US" sz="3000" dirty="0">
                <a:solidFill>
                  <a:srgbClr val="262626"/>
                </a:solidFill>
                <a:latin typeface="Calibri" pitchFamily="34" charset="0"/>
                <a:ea typeface="Calibri" pitchFamily="34" charset="-122"/>
                <a:cs typeface="Calibri" pitchFamily="34" charset="-120"/>
              </a:rPr>
              <a:t> moves every bit of a register one position left or right in one clock cycle</a:t>
            </a:r>
            <a:endParaRPr lang="en-US" sz="3000" dirty="0"/>
          </a:p>
          <a:p>
            <a:pPr marL="304800" indent="-304800" algn="l">
              <a:spcAft>
                <a:spcPts val="1000"/>
              </a:spcAft>
              <a:buSzPct val="100000"/>
              <a:buChar char="•"/>
            </a:pPr>
            <a:r>
              <a:rPr lang="en-US" sz="3000" dirty="0">
                <a:solidFill>
                  <a:srgbClr val="262626"/>
                </a:solidFill>
                <a:latin typeface="Calibri" pitchFamily="34" charset="0"/>
                <a:ea typeface="Calibri" pitchFamily="34" charset="-122"/>
                <a:cs typeface="Calibri" pitchFamily="34" charset="-120"/>
              </a:rPr>
              <a:t>The direction of movement is the same in all three kinds</a:t>
            </a:r>
            <a:endParaRPr lang="en-US" sz="3000" dirty="0"/>
          </a:p>
          <a:p>
            <a:pPr marL="304800" indent="-304800" algn="l">
              <a:spcAft>
                <a:spcPts val="1000"/>
              </a:spcAft>
              <a:buSzPct val="100000"/>
              <a:buChar char="•"/>
            </a:pPr>
            <a:r>
              <a:rPr lang="en-US" sz="3000" dirty="0">
                <a:solidFill>
                  <a:srgbClr val="262626"/>
                </a:solidFill>
                <a:latin typeface="Calibri" pitchFamily="34" charset="0"/>
                <a:ea typeface="Calibri" pitchFamily="34" charset="-122"/>
                <a:cs typeface="Calibri" pitchFamily="34" charset="-120"/>
              </a:rPr>
              <a:t>They differ only in the value that fills the vacated bit</a:t>
            </a:r>
            <a:endParaRPr lang="en-US" sz="3000" dirty="0"/>
          </a:p>
          <a:p>
            <a:pPr marL="304800" indent="-304800" algn="l">
              <a:spcAft>
                <a:spcPts val="1000"/>
              </a:spcAft>
              <a:buSzPct val="100000"/>
              <a:buChar char="•"/>
            </a:pPr>
            <a:r>
              <a:rPr lang="en-US" sz="3000" b="1" dirty="0">
                <a:solidFill>
                  <a:srgbClr val="262626"/>
                </a:solidFill>
                <a:latin typeface="Calibri" pitchFamily="34" charset="0"/>
                <a:ea typeface="Calibri" pitchFamily="34" charset="-122"/>
                <a:cs typeface="Calibri" pitchFamily="34" charset="-120"/>
              </a:rPr>
              <a:t>Logical</a:t>
            </a:r>
            <a:r>
              <a:rPr lang="en-US" sz="3000" dirty="0">
                <a:solidFill>
                  <a:srgbClr val="262626"/>
                </a:solidFill>
                <a:latin typeface="Calibri" pitchFamily="34" charset="0"/>
                <a:ea typeface="Calibri" pitchFamily="34" charset="-122"/>
                <a:cs typeface="Calibri" pitchFamily="34" charset="-120"/>
              </a:rPr>
              <a:t>: a 0 fills it</a:t>
            </a:r>
            <a:endParaRPr lang="en-US" sz="3000" dirty="0"/>
          </a:p>
          <a:p>
            <a:pPr marL="304800" indent="-304800" algn="l">
              <a:spcAft>
                <a:spcPts val="1000"/>
              </a:spcAft>
              <a:buSzPct val="100000"/>
              <a:buChar char="•"/>
            </a:pPr>
            <a:r>
              <a:rPr lang="en-US" sz="3000" b="1" dirty="0">
                <a:solidFill>
                  <a:srgbClr val="262626"/>
                </a:solidFill>
                <a:latin typeface="Calibri" pitchFamily="34" charset="0"/>
                <a:ea typeface="Calibri" pitchFamily="34" charset="-122"/>
                <a:cs typeface="Calibri" pitchFamily="34" charset="-120"/>
              </a:rPr>
              <a:t>Circular</a:t>
            </a:r>
            <a:r>
              <a:rPr lang="en-US" sz="3000" dirty="0">
                <a:solidFill>
                  <a:srgbClr val="262626"/>
                </a:solidFill>
                <a:latin typeface="Calibri" pitchFamily="34" charset="0"/>
                <a:ea typeface="Calibri" pitchFamily="34" charset="-122"/>
                <a:cs typeface="Calibri" pitchFamily="34" charset="-120"/>
              </a:rPr>
              <a:t>: the bit that fell off fills it</a:t>
            </a:r>
            <a:endParaRPr lang="en-US" sz="3000" dirty="0"/>
          </a:p>
          <a:p>
            <a:pPr marL="304800" indent="-304800" algn="l">
              <a:spcAft>
                <a:spcPts val="1000"/>
              </a:spcAft>
              <a:buSzPct val="100000"/>
              <a:buChar char="•"/>
            </a:pPr>
            <a:r>
              <a:rPr lang="en-US" sz="3000" b="1" dirty="0">
                <a:solidFill>
                  <a:srgbClr val="262626"/>
                </a:solidFill>
                <a:latin typeface="Calibri" pitchFamily="34" charset="0"/>
                <a:ea typeface="Calibri" pitchFamily="34" charset="-122"/>
                <a:cs typeface="Calibri" pitchFamily="34" charset="-120"/>
              </a:rPr>
              <a:t>Arithmetic right</a:t>
            </a:r>
            <a:r>
              <a:rPr lang="en-US" sz="3000" dirty="0">
                <a:solidFill>
                  <a:srgbClr val="262626"/>
                </a:solidFill>
                <a:latin typeface="Calibri" pitchFamily="34" charset="0"/>
                <a:ea typeface="Calibri" pitchFamily="34" charset="-122"/>
                <a:cs typeface="Calibri" pitchFamily="34" charset="-120"/>
              </a:rPr>
              <a:t>: a copy of the sign bit fills it</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Logical shift right (shr)</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3.6</a:t>
            </a:r>
            <a:endParaRPr lang="en-US" sz="1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1478128" y="1188720"/>
          <a:ext cx="9235440" cy="914400"/>
        </p:xfrm>
        <a:graphic>
          <a:graphicData uri="http://schemas.openxmlformats.org/drawingml/2006/table">
            <a:tbl>
              <a:tblPr/>
              <a:tblGrid>
                <a:gridCol w="374904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tblGrid>
              <a:tr h="512064">
                <a:tc>
                  <a:txBody>
                    <a:bodyPr/>
                    <a:lstStyle/>
                    <a:p>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b₃</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b₂</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b₁</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b₀</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extLst>
                  <a:ext uri="{0D108BD9-81ED-4DB2-BD59-A6C34878D82A}">
                    <a16:rowId xmlns:a16="http://schemas.microsoft.com/office/drawing/2014/main" val="10000"/>
                  </a:ext>
                </a:extLst>
              </a:tr>
              <a:tr h="512064">
                <a:tc>
                  <a:txBody>
                    <a:bodyPr/>
                    <a:lstStyle/>
                    <a:p>
                      <a:pPr marL="0" indent="0" algn="l">
                        <a:buNone/>
                      </a:pPr>
                      <a:r>
                        <a:rPr lang="en-US" sz="2400" dirty="0">
                          <a:solidFill>
                            <a:srgbClr val="262626"/>
                          </a:solidFill>
                          <a:latin typeface="Calibri" pitchFamily="34" charset="0"/>
                          <a:ea typeface="Calibri" pitchFamily="34" charset="-122"/>
                          <a:cs typeface="Calibri" pitchFamily="34" charset="-120"/>
                        </a:rPr>
                        <a:t>Before (R = 1100)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262626"/>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262626"/>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262626"/>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262626"/>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1"/>
                  </a:ext>
                </a:extLst>
              </a:tr>
              <a:tr h="512064">
                <a:tc>
                  <a:txBody>
                    <a:bodyPr/>
                    <a:lstStyle/>
                    <a:p>
                      <a:pPr marL="0" indent="0" algn="l">
                        <a:buNone/>
                      </a:pPr>
                      <a:r>
                        <a:rPr lang="en-US" sz="2400" dirty="0">
                          <a:solidFill>
                            <a:srgbClr val="262626"/>
                          </a:solidFill>
                          <a:latin typeface="Calibri" pitchFamily="34" charset="0"/>
                          <a:ea typeface="Calibri" pitchFamily="34" charset="-122"/>
                          <a:cs typeface="Calibri" pitchFamily="34" charset="-120"/>
                        </a:rPr>
                        <a:t>After shr</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262626"/>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E0B2"/>
                    </a:solidFill>
                  </a:tcPr>
                </a:tc>
                <a:tc>
                  <a:txBody>
                    <a:bodyPr/>
                    <a:lstStyle/>
                    <a:p>
                      <a:pPr marL="0" indent="0" algn="ctr">
                        <a:buNone/>
                      </a:pPr>
                      <a:r>
                        <a:rPr lang="en-US" sz="2400" dirty="0">
                          <a:solidFill>
                            <a:srgbClr val="262626"/>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262626"/>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262626"/>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6" name="Text 2"/>
          <p:cNvSpPr txBox="1"/>
          <p:nvPr/>
        </p:nvSpPr>
        <p:spPr>
          <a:xfrm>
            <a:off x="640080" y="2999232"/>
            <a:ext cx="10911535" cy="3310128"/>
          </a:xfrm>
          <a:prstGeom prst="rect">
            <a:avLst/>
          </a:prstGeom>
          <a:noFill/>
          <a:ln/>
        </p:spPr>
        <p:txBody>
          <a:bodyPr wrap="square" lIns="0" tIns="0" rIns="0" bIns="0" rtlCol="0" anchor="t"/>
          <a:lstStyle/>
          <a:p>
            <a:pPr marL="304800" indent="-304800" algn="l">
              <a:spcAft>
                <a:spcPts val="1000"/>
              </a:spcAft>
              <a:buSzPct val="100000"/>
              <a:buChar char="•"/>
            </a:pPr>
            <a:r>
              <a:rPr lang="en-US" sz="2800" dirty="0">
                <a:solidFill>
                  <a:srgbClr val="262626"/>
                </a:solidFill>
                <a:latin typeface="Calibri" pitchFamily="34" charset="0"/>
                <a:ea typeface="Calibri" pitchFamily="34" charset="-122"/>
                <a:cs typeface="Calibri" pitchFamily="34" charset="-120"/>
              </a:rPr>
              <a:t>A 0 always fills the vacated position; the bit that falls off is discarded</a:t>
            </a:r>
            <a:endParaRPr lang="en-US" sz="2800" dirty="0"/>
          </a:p>
          <a:p>
            <a:pPr marL="304800" indent="-304800" algn="l">
              <a:spcAft>
                <a:spcPts val="1000"/>
              </a:spcAft>
              <a:buSzPct val="100000"/>
              <a:buChar char="•"/>
            </a:pPr>
            <a:r>
              <a:rPr lang="en-US" sz="2800" dirty="0">
                <a:solidFill>
                  <a:srgbClr val="262626"/>
                </a:solidFill>
                <a:latin typeface="Calibri" pitchFamily="34" charset="0"/>
                <a:ea typeface="Calibri" pitchFamily="34" charset="-122"/>
                <a:cs typeface="Calibri" pitchFamily="34" charset="-120"/>
              </a:rPr>
              <a:t>The rightmost bit (0) is lost and a fresh 0 (highlighted) enters at b₃</a:t>
            </a:r>
            <a:endParaRPr lang="en-US" sz="2800" dirty="0"/>
          </a:p>
          <a:p>
            <a:pPr marL="304800" indent="-304800" algn="l">
              <a:spcAft>
                <a:spcPts val="1000"/>
              </a:spcAft>
              <a:buSzPct val="100000"/>
              <a:buChar char="•"/>
            </a:pPr>
            <a:r>
              <a:rPr lang="en-US" sz="2800" dirty="0">
                <a:solidFill>
                  <a:srgbClr val="262626"/>
                </a:solidFill>
                <a:latin typeface="Calibri" pitchFamily="34" charset="0"/>
                <a:ea typeface="Calibri" pitchFamily="34" charset="-122"/>
                <a:cs typeface="Calibri" pitchFamily="34" charset="-120"/>
              </a:rPr>
              <a:t>Right choice for unsigned data with no sign bit to protect</a:t>
            </a:r>
            <a:endParaRPr lang="en-US" sz="28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Circular shift right (cir)</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3.6</a:t>
            </a:r>
            <a:endParaRPr lang="en-US" sz="1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1478128" y="1188720"/>
          <a:ext cx="9235440" cy="914400"/>
        </p:xfrm>
        <a:graphic>
          <a:graphicData uri="http://schemas.openxmlformats.org/drawingml/2006/table">
            <a:tbl>
              <a:tblPr/>
              <a:tblGrid>
                <a:gridCol w="374904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tblGrid>
              <a:tr h="512064">
                <a:tc>
                  <a:txBody>
                    <a:bodyPr/>
                    <a:lstStyle/>
                    <a:p>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b₃</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b₂</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b₁</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b₀</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extLst>
                  <a:ext uri="{0D108BD9-81ED-4DB2-BD59-A6C34878D82A}">
                    <a16:rowId xmlns:a16="http://schemas.microsoft.com/office/drawing/2014/main" val="10000"/>
                  </a:ext>
                </a:extLst>
              </a:tr>
              <a:tr h="512064">
                <a:tc>
                  <a:txBody>
                    <a:bodyPr/>
                    <a:lstStyle/>
                    <a:p>
                      <a:pPr marL="0" indent="0" algn="l">
                        <a:buNone/>
                      </a:pPr>
                      <a:r>
                        <a:rPr lang="en-US" sz="2400" dirty="0">
                          <a:solidFill>
                            <a:srgbClr val="262626"/>
                          </a:solidFill>
                          <a:latin typeface="Calibri" pitchFamily="34" charset="0"/>
                          <a:ea typeface="Calibri" pitchFamily="34" charset="-122"/>
                          <a:cs typeface="Calibri" pitchFamily="34" charset="-120"/>
                        </a:rPr>
                        <a:t>Before (R = 1011)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262626"/>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262626"/>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262626"/>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262626"/>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1"/>
                  </a:ext>
                </a:extLst>
              </a:tr>
              <a:tr h="512064">
                <a:tc>
                  <a:txBody>
                    <a:bodyPr/>
                    <a:lstStyle/>
                    <a:p>
                      <a:pPr marL="0" indent="0" algn="l">
                        <a:buNone/>
                      </a:pPr>
                      <a:r>
                        <a:rPr lang="en-US" sz="2400" dirty="0">
                          <a:solidFill>
                            <a:srgbClr val="262626"/>
                          </a:solidFill>
                          <a:latin typeface="Calibri" pitchFamily="34" charset="0"/>
                          <a:ea typeface="Calibri" pitchFamily="34" charset="-122"/>
                          <a:cs typeface="Calibri" pitchFamily="34" charset="-120"/>
                        </a:rPr>
                        <a:t>After cir</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262626"/>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E0B2"/>
                    </a:solidFill>
                  </a:tcPr>
                </a:tc>
                <a:tc>
                  <a:txBody>
                    <a:bodyPr/>
                    <a:lstStyle/>
                    <a:p>
                      <a:pPr marL="0" indent="0" algn="ctr">
                        <a:buNone/>
                      </a:pPr>
                      <a:r>
                        <a:rPr lang="en-US" sz="2400" dirty="0">
                          <a:solidFill>
                            <a:srgbClr val="262626"/>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262626"/>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262626"/>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6" name="Text 2"/>
          <p:cNvSpPr txBox="1"/>
          <p:nvPr/>
        </p:nvSpPr>
        <p:spPr>
          <a:xfrm>
            <a:off x="640080" y="2999232"/>
            <a:ext cx="10911535" cy="3310128"/>
          </a:xfrm>
          <a:prstGeom prst="rect">
            <a:avLst/>
          </a:prstGeom>
          <a:noFill/>
          <a:ln/>
        </p:spPr>
        <p:txBody>
          <a:bodyPr wrap="square" lIns="0" tIns="0" rIns="0" bIns="0" rtlCol="0" anchor="t"/>
          <a:lstStyle/>
          <a:p>
            <a:pPr marL="304800" indent="-304800" algn="l">
              <a:spcAft>
                <a:spcPts val="1000"/>
              </a:spcAft>
              <a:buSzPct val="100000"/>
              <a:buChar char="•"/>
            </a:pPr>
            <a:r>
              <a:rPr lang="en-US" sz="2800" dirty="0">
                <a:solidFill>
                  <a:srgbClr val="262626"/>
                </a:solidFill>
                <a:latin typeface="Calibri" pitchFamily="34" charset="0"/>
                <a:ea typeface="Calibri" pitchFamily="34" charset="-122"/>
                <a:cs typeface="Calibri" pitchFamily="34" charset="-120"/>
              </a:rPr>
              <a:t>The bit that falls off is fed back in at the other end</a:t>
            </a:r>
            <a:endParaRPr lang="en-US" sz="2800" dirty="0"/>
          </a:p>
          <a:p>
            <a:pPr marL="304800" indent="-304800" algn="l">
              <a:spcAft>
                <a:spcPts val="1000"/>
              </a:spcAft>
              <a:buSzPct val="100000"/>
              <a:buChar char="•"/>
            </a:pPr>
            <a:r>
              <a:rPr lang="en-US" sz="2800" dirty="0">
                <a:solidFill>
                  <a:srgbClr val="262626"/>
                </a:solidFill>
                <a:latin typeface="Calibri" pitchFamily="34" charset="0"/>
                <a:ea typeface="Calibri" pitchFamily="34" charset="-122"/>
                <a:cs typeface="Calibri" pitchFamily="34" charset="-120"/>
              </a:rPr>
              <a:t>b₀’s original value (1) reappears at b₃ (highlighted); nothing is discarded</a:t>
            </a:r>
            <a:endParaRPr lang="en-US" sz="2800" dirty="0"/>
          </a:p>
          <a:p>
            <a:pPr marL="304800" indent="-304800" algn="l">
              <a:spcAft>
                <a:spcPts val="1000"/>
              </a:spcAft>
              <a:buSzPct val="100000"/>
              <a:buChar char="•"/>
            </a:pPr>
            <a:r>
              <a:rPr lang="en-US" sz="2800" dirty="0">
                <a:solidFill>
                  <a:srgbClr val="262626"/>
                </a:solidFill>
                <a:latin typeface="Calibri" pitchFamily="34" charset="0"/>
                <a:ea typeface="Calibri" pitchFamily="34" charset="-122"/>
                <a:cs typeface="Calibri" pitchFamily="34" charset="-120"/>
              </a:rPr>
              <a:t>n circular shifts in the same direction return the register to its original value</a:t>
            </a:r>
            <a:endParaRPr lang="en-US" sz="28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Arithmetic shift</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3.6</a:t>
            </a:r>
            <a:endParaRPr lang="en-US" sz="1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1569568" y="1188720"/>
          <a:ext cx="9052560" cy="914400"/>
        </p:xfrm>
        <a:graphic>
          <a:graphicData uri="http://schemas.openxmlformats.org/drawingml/2006/table">
            <a:tbl>
              <a:tblPr/>
              <a:tblGrid>
                <a:gridCol w="3749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tblGrid>
              <a:tr h="451104">
                <a:tc>
                  <a:txBody>
                    <a:bodyPr/>
                    <a:lstStyle/>
                    <a:p>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b₃ (sign)</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b₂</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b₁</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b₀</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extLst>
                  <a:ext uri="{0D108BD9-81ED-4DB2-BD59-A6C34878D82A}">
                    <a16:rowId xmlns:a16="http://schemas.microsoft.com/office/drawing/2014/main" val="10000"/>
                  </a:ext>
                </a:extLst>
              </a:tr>
              <a:tr h="451104">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Before (R = 1001, i.e. −7)</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1"/>
                  </a:ext>
                </a:extLst>
              </a:tr>
              <a:tr h="451104">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After ashr</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E0B2"/>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6" name="Text 2"/>
          <p:cNvSpPr txBox="1"/>
          <p:nvPr/>
        </p:nvSpPr>
        <p:spPr>
          <a:xfrm>
            <a:off x="640080" y="2816352"/>
            <a:ext cx="10911535" cy="3493008"/>
          </a:xfrm>
          <a:prstGeom prst="rect">
            <a:avLst/>
          </a:prstGeom>
          <a:noFill/>
          <a:ln/>
        </p:spPr>
        <p:txBody>
          <a:bodyPr wrap="square" lIns="0" tIns="0" rIns="0" bIns="0" rtlCol="0" anchor="t"/>
          <a:lstStyle/>
          <a:p>
            <a:pPr marL="304800" indent="-304800" algn="l">
              <a:spcAft>
                <a:spcPts val="1000"/>
              </a:spcAft>
              <a:buSzPct val="100000"/>
              <a:buChar char="•"/>
            </a:pPr>
            <a:r>
              <a:rPr lang="en-US" sz="2400" dirty="0">
                <a:solidFill>
                  <a:srgbClr val="262626"/>
                </a:solidFill>
                <a:latin typeface="Calibri" pitchFamily="34" charset="0"/>
                <a:ea typeface="Calibri" pitchFamily="34" charset="-122"/>
                <a:cs typeface="Calibri" pitchFamily="34" charset="-120"/>
              </a:rPr>
              <a:t>Arithmetic </a:t>
            </a:r>
            <a:r>
              <a:rPr lang="en-US" sz="2400" b="1" dirty="0">
                <a:solidFill>
                  <a:srgbClr val="262626"/>
                </a:solidFill>
                <a:latin typeface="Calibri" pitchFamily="34" charset="0"/>
                <a:ea typeface="Calibri" pitchFamily="34" charset="-122"/>
                <a:cs typeface="Calibri" pitchFamily="34" charset="-120"/>
              </a:rPr>
              <a:t>right</a:t>
            </a:r>
            <a:r>
              <a:rPr lang="en-US" sz="2400" dirty="0">
                <a:solidFill>
                  <a:srgbClr val="262626"/>
                </a:solidFill>
                <a:latin typeface="Calibri" pitchFamily="34" charset="0"/>
                <a:ea typeface="Calibri" pitchFamily="34" charset="-122"/>
                <a:cs typeface="Calibri" pitchFamily="34" charset="-120"/>
              </a:rPr>
              <a:t> shift fills the vacated bit with a copy of the sign bit</a:t>
            </a:r>
            <a:endParaRPr lang="en-US" sz="2400" dirty="0"/>
          </a:p>
          <a:p>
            <a:pPr marL="304800" indent="-304800" algn="l">
              <a:spcAft>
                <a:spcPts val="1000"/>
              </a:spcAft>
              <a:buSzPct val="100000"/>
              <a:buChar char="•"/>
            </a:pPr>
            <a:r>
              <a:rPr lang="en-US" sz="2400" dirty="0">
                <a:solidFill>
                  <a:srgbClr val="262626"/>
                </a:solidFill>
                <a:latin typeface="Calibri" pitchFamily="34" charset="0"/>
                <a:ea typeface="Calibri" pitchFamily="34" charset="-122"/>
                <a:cs typeface="Calibri" pitchFamily="34" charset="-120"/>
              </a:rPr>
              <a:t>1100₂ = −4, and −7 ÷ 2 rounded toward −∞ is −4; a logical shift would turn the number positive</a:t>
            </a:r>
            <a:endParaRPr lang="en-US" sz="2400" dirty="0"/>
          </a:p>
          <a:p>
            <a:pPr marL="304800" indent="-304800" algn="l">
              <a:spcAft>
                <a:spcPts val="1000"/>
              </a:spcAft>
              <a:buSzPct val="100000"/>
              <a:buChar char="•"/>
            </a:pPr>
            <a:r>
              <a:rPr lang="en-US" sz="2400" dirty="0">
                <a:solidFill>
                  <a:srgbClr val="262626"/>
                </a:solidFill>
                <a:latin typeface="Calibri" pitchFamily="34" charset="0"/>
                <a:ea typeface="Calibri" pitchFamily="34" charset="-122"/>
                <a:cs typeface="Calibri" pitchFamily="34" charset="-120"/>
              </a:rPr>
              <a:t>Arithmetic </a:t>
            </a:r>
            <a:r>
              <a:rPr lang="en-US" sz="2400" b="1" dirty="0">
                <a:solidFill>
                  <a:srgbClr val="262626"/>
                </a:solidFill>
                <a:latin typeface="Calibri" pitchFamily="34" charset="0"/>
                <a:ea typeface="Calibri" pitchFamily="34" charset="-122"/>
                <a:cs typeface="Calibri" pitchFamily="34" charset="-120"/>
              </a:rPr>
              <a:t>left</a:t>
            </a:r>
            <a:r>
              <a:rPr lang="en-US" sz="2400" dirty="0">
                <a:solidFill>
                  <a:srgbClr val="262626"/>
                </a:solidFill>
                <a:latin typeface="Calibri" pitchFamily="34" charset="0"/>
                <a:ea typeface="Calibri" pitchFamily="34" charset="-122"/>
                <a:cs typeface="Calibri" pitchFamily="34" charset="-120"/>
              </a:rPr>
              <a:t> shift moves bits exactly like a logical left shift (0 fills the bottom)</a:t>
            </a:r>
            <a:endParaRPr lang="en-US" sz="2400" dirty="0"/>
          </a:p>
          <a:p>
            <a:pPr marL="304800" indent="-304800" algn="l">
              <a:spcAft>
                <a:spcPts val="1000"/>
              </a:spcAft>
              <a:buSzPct val="100000"/>
              <a:buChar char="•"/>
            </a:pPr>
            <a:r>
              <a:rPr lang="en-US" sz="2400" dirty="0">
                <a:solidFill>
                  <a:srgbClr val="262626"/>
                </a:solidFill>
                <a:latin typeface="Calibri" pitchFamily="34" charset="0"/>
                <a:ea typeface="Calibri" pitchFamily="34" charset="-122"/>
                <a:cs typeface="Calibri" pitchFamily="34" charset="-120"/>
              </a:rPr>
              <a:t>It means “multiply by 2”, so check overflow: if the sign bit changes, the result no longer fits</a:t>
            </a:r>
            <a:endParaRPr lang="en-US" sz="2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A combinational shifter</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3.6</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marL="304800" indent="-304800" algn="l">
              <a:spcAft>
                <a:spcPts val="1000"/>
              </a:spcAft>
              <a:buSzPct val="100000"/>
              <a:buChar char="•"/>
            </a:pPr>
            <a:r>
              <a:rPr lang="en-US" sz="2800" dirty="0">
                <a:solidFill>
                  <a:srgbClr val="262626"/>
                </a:solidFill>
                <a:latin typeface="Calibri" pitchFamily="34" charset="0"/>
                <a:ea typeface="Calibri" pitchFamily="34" charset="-122"/>
                <a:cs typeface="Calibri" pitchFamily="34" charset="-120"/>
              </a:rPr>
              <a:t>Built from four 2-input multiplexers sharing one select line S</a:t>
            </a:r>
            <a:endParaRPr lang="en-US" sz="2800" dirty="0"/>
          </a:p>
          <a:p>
            <a:pPr marL="304800" indent="-304800" algn="l">
              <a:spcAft>
                <a:spcPts val="1000"/>
              </a:spcAft>
              <a:buSzPct val="100000"/>
              <a:buChar char="•"/>
            </a:pPr>
            <a:r>
              <a:rPr lang="en-US" sz="2800" dirty="0">
                <a:solidFill>
                  <a:srgbClr val="262626"/>
                </a:solidFill>
                <a:latin typeface="Calibri" pitchFamily="34" charset="0"/>
                <a:ea typeface="Calibri" pitchFamily="34" charset="-122"/>
                <a:cs typeface="Calibri" pitchFamily="34" charset="-120"/>
              </a:rPr>
              <a:t>S = 0: each output H</a:t>
            </a:r>
            <a:r>
              <a:rPr lang="en-US" sz="2800" baseline="-40000" dirty="0">
                <a:solidFill>
                  <a:srgbClr val="262626"/>
                </a:solidFill>
                <a:latin typeface="Calibri" pitchFamily="34" charset="0"/>
                <a:ea typeface="Calibri" pitchFamily="34" charset="-122"/>
                <a:cs typeface="Calibri" pitchFamily="34" charset="-120"/>
              </a:rPr>
              <a:t>i</a:t>
            </a:r>
            <a:r>
              <a:rPr lang="en-US" sz="2800" dirty="0">
                <a:solidFill>
                  <a:srgbClr val="262626"/>
                </a:solidFill>
                <a:latin typeface="Calibri" pitchFamily="34" charset="0"/>
                <a:ea typeface="Calibri" pitchFamily="34" charset="-122"/>
                <a:cs typeface="Calibri" pitchFamily="34" charset="-120"/>
              </a:rPr>
              <a:t> takes the bit above it, so the data shifts right; serial input I</a:t>
            </a:r>
            <a:r>
              <a:rPr lang="en-US" sz="2800" baseline="-40000" dirty="0">
                <a:solidFill>
                  <a:srgbClr val="262626"/>
                </a:solidFill>
                <a:latin typeface="Calibri" pitchFamily="34" charset="0"/>
                <a:ea typeface="Calibri" pitchFamily="34" charset="-122"/>
                <a:cs typeface="Calibri" pitchFamily="34" charset="-120"/>
              </a:rPr>
              <a:t>R</a:t>
            </a:r>
            <a:r>
              <a:rPr lang="en-US" sz="2800" dirty="0">
                <a:solidFill>
                  <a:srgbClr val="262626"/>
                </a:solidFill>
                <a:latin typeface="Calibri" pitchFamily="34" charset="0"/>
                <a:ea typeface="Calibri" pitchFamily="34" charset="-122"/>
                <a:cs typeface="Calibri" pitchFamily="34" charset="-120"/>
              </a:rPr>
              <a:t> enters H₀</a:t>
            </a:r>
            <a:endParaRPr lang="en-US" sz="2800" dirty="0"/>
          </a:p>
          <a:p>
            <a:pPr marL="304800" indent="-304800" algn="l">
              <a:spcAft>
                <a:spcPts val="1000"/>
              </a:spcAft>
              <a:buSzPct val="100000"/>
              <a:buChar char="•"/>
            </a:pPr>
            <a:r>
              <a:rPr lang="en-US" sz="2800" dirty="0">
                <a:solidFill>
                  <a:srgbClr val="262626"/>
                </a:solidFill>
                <a:latin typeface="Calibri" pitchFamily="34" charset="0"/>
                <a:ea typeface="Calibri" pitchFamily="34" charset="-122"/>
                <a:cs typeface="Calibri" pitchFamily="34" charset="-120"/>
              </a:rPr>
              <a:t>S = 1: each H</a:t>
            </a:r>
            <a:r>
              <a:rPr lang="en-US" sz="2800" baseline="-40000" dirty="0">
                <a:solidFill>
                  <a:srgbClr val="262626"/>
                </a:solidFill>
                <a:latin typeface="Calibri" pitchFamily="34" charset="0"/>
                <a:ea typeface="Calibri" pitchFamily="34" charset="-122"/>
                <a:cs typeface="Calibri" pitchFamily="34" charset="-120"/>
              </a:rPr>
              <a:t>i</a:t>
            </a:r>
            <a:r>
              <a:rPr lang="en-US" sz="2800" dirty="0">
                <a:solidFill>
                  <a:srgbClr val="262626"/>
                </a:solidFill>
                <a:latin typeface="Calibri" pitchFamily="34" charset="0"/>
                <a:ea typeface="Calibri" pitchFamily="34" charset="-122"/>
                <a:cs typeface="Calibri" pitchFamily="34" charset="-120"/>
              </a:rPr>
              <a:t> takes the bit below it, so the data shifts left; I</a:t>
            </a:r>
            <a:r>
              <a:rPr lang="en-US" sz="2800" baseline="-40000" dirty="0">
                <a:solidFill>
                  <a:srgbClr val="262626"/>
                </a:solidFill>
                <a:latin typeface="Calibri" pitchFamily="34" charset="0"/>
                <a:ea typeface="Calibri" pitchFamily="34" charset="-122"/>
                <a:cs typeface="Calibri" pitchFamily="34" charset="-120"/>
              </a:rPr>
              <a:t>L</a:t>
            </a:r>
            <a:r>
              <a:rPr lang="en-US" sz="2800" dirty="0">
                <a:solidFill>
                  <a:srgbClr val="262626"/>
                </a:solidFill>
                <a:latin typeface="Calibri" pitchFamily="34" charset="0"/>
                <a:ea typeface="Calibri" pitchFamily="34" charset="-122"/>
                <a:cs typeface="Calibri" pitchFamily="34" charset="-120"/>
              </a:rPr>
              <a:t> enters H₃</a:t>
            </a:r>
            <a:endParaRPr lang="en-US" sz="2800" dirty="0"/>
          </a:p>
          <a:p>
            <a:pPr marL="304800" indent="-304800" algn="l">
              <a:spcAft>
                <a:spcPts val="1000"/>
              </a:spcAft>
              <a:buSzPct val="100000"/>
              <a:buChar char="•"/>
            </a:pPr>
            <a:r>
              <a:rPr lang="en-US" sz="2800" dirty="0">
                <a:solidFill>
                  <a:srgbClr val="262626"/>
                </a:solidFill>
                <a:latin typeface="Calibri" pitchFamily="34" charset="0"/>
                <a:ea typeface="Calibri" pitchFamily="34" charset="-122"/>
                <a:cs typeface="Calibri" pitchFamily="34" charset="-120"/>
              </a:rPr>
              <a:t>One gate delay, no clock edge; the result is loaded into a register at the next clock</a:t>
            </a:r>
            <a:endParaRPr lang="en-US" sz="2800" dirty="0"/>
          </a:p>
          <a:p>
            <a:pPr marL="304800" indent="-304800" algn="l">
              <a:spcAft>
                <a:spcPts val="1000"/>
              </a:spcAft>
              <a:buSzPct val="100000"/>
              <a:buChar char="•"/>
            </a:pPr>
            <a:r>
              <a:rPr lang="en-US" sz="2800" dirty="0">
                <a:solidFill>
                  <a:srgbClr val="262626"/>
                </a:solidFill>
                <a:latin typeface="Calibri" pitchFamily="34" charset="0"/>
                <a:ea typeface="Calibri" pitchFamily="34" charset="-122"/>
                <a:cs typeface="Calibri" pitchFamily="34" charset="-120"/>
              </a:rPr>
              <a:t>No shift-register wiring needed; this is what feeds a CPU’s ALU</a:t>
            </a:r>
            <a:endParaRPr lang="en-US" sz="28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4-bit combinational shifter</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3.6</a:t>
            </a:r>
            <a:endParaRPr lang="en-US" sz="1600" dirty="0"/>
          </a:p>
        </p:txBody>
      </p:sp>
      <p:pic>
        <p:nvPicPr>
          <p:cNvPr id="5" name="Image 0" descr="/home/claude/figs/3.6_shift-microoperations_fig1.png"/>
          <p:cNvPicPr>
            <a:picLocks noChangeAspect="1"/>
          </p:cNvPicPr>
          <p:nvPr/>
        </p:nvPicPr>
        <p:blipFill>
          <a:blip r:embed="rId3"/>
          <a:stretch>
            <a:fillRect/>
          </a:stretch>
        </p:blipFill>
        <p:spPr>
          <a:xfrm>
            <a:off x="411480" y="621792"/>
            <a:ext cx="6847027" cy="5705856"/>
          </a:xfrm>
          <a:prstGeom prst="rect">
            <a:avLst/>
          </a:prstGeom>
        </p:spPr>
      </p:pic>
      <p:sp>
        <p:nvSpPr>
          <p:cNvPr id="6" name="Text 2"/>
          <p:cNvSpPr txBox="1"/>
          <p:nvPr/>
        </p:nvSpPr>
        <p:spPr>
          <a:xfrm>
            <a:off x="7624267" y="713232"/>
            <a:ext cx="4155948" cy="5522976"/>
          </a:xfrm>
          <a:prstGeom prst="roundRect">
            <a:avLst>
              <a:gd name="adj" fmla="val 2640"/>
            </a:avLst>
          </a:prstGeom>
          <a:solidFill>
            <a:srgbClr val="EAF2FB"/>
          </a:solidFill>
          <a:ln w="6350">
            <a:solidFill>
              <a:srgbClr val="EAF2FB"/>
            </a:solidFill>
          </a:ln>
        </p:spPr>
        <p:txBody>
          <a:bodyPr wrap="square" lIns="203200" tIns="279400" rIns="279400" bIns="203200" rtlCol="0" anchor="ctr"/>
          <a:lstStyle/>
          <a:p>
            <a:pPr marL="304800" indent="-304800" algn="l">
              <a:spcAft>
                <a:spcPts val="1000"/>
              </a:spcAft>
              <a:buSzPct val="100000"/>
              <a:buChar char="•"/>
            </a:pPr>
            <a:r>
              <a:rPr lang="en-US" sz="2600" dirty="0">
                <a:solidFill>
                  <a:srgbClr val="262626"/>
                </a:solidFill>
                <a:latin typeface="Calibri" pitchFamily="34" charset="0"/>
                <a:ea typeface="Calibri" pitchFamily="34" charset="-122"/>
                <a:cs typeface="Calibri" pitchFamily="34" charset="-120"/>
              </a:rPr>
              <a:t>Four 2-input MUXes share one select line S</a:t>
            </a:r>
            <a:endParaRPr lang="en-US" sz="2600" dirty="0"/>
          </a:p>
          <a:p>
            <a:pPr marL="304800" indent="-304800" algn="l">
              <a:spcAft>
                <a:spcPts val="1000"/>
              </a:spcAft>
              <a:buSzPct val="100000"/>
              <a:buChar char="•"/>
            </a:pPr>
            <a:r>
              <a:rPr lang="en-US" sz="2600" dirty="0">
                <a:solidFill>
                  <a:srgbClr val="262626"/>
                </a:solidFill>
                <a:latin typeface="Calibri" pitchFamily="34" charset="0"/>
                <a:ea typeface="Calibri" pitchFamily="34" charset="-122"/>
                <a:cs typeface="Calibri" pitchFamily="34" charset="-120"/>
              </a:rPr>
              <a:t>S = 0: shift right; serial input I</a:t>
            </a:r>
            <a:r>
              <a:rPr lang="en-US" sz="2600" baseline="-40000" dirty="0">
                <a:solidFill>
                  <a:srgbClr val="262626"/>
                </a:solidFill>
                <a:latin typeface="Calibri" pitchFamily="34" charset="0"/>
                <a:ea typeface="Calibri" pitchFamily="34" charset="-122"/>
                <a:cs typeface="Calibri" pitchFamily="34" charset="-120"/>
              </a:rPr>
              <a:t>R</a:t>
            </a:r>
            <a:r>
              <a:rPr lang="en-US" sz="2600" dirty="0">
                <a:solidFill>
                  <a:srgbClr val="262626"/>
                </a:solidFill>
                <a:latin typeface="Calibri" pitchFamily="34" charset="0"/>
                <a:ea typeface="Calibri" pitchFamily="34" charset="-122"/>
                <a:cs typeface="Calibri" pitchFamily="34" charset="-120"/>
              </a:rPr>
              <a:t> enters H₀</a:t>
            </a:r>
            <a:endParaRPr lang="en-US" sz="2600" dirty="0"/>
          </a:p>
          <a:p>
            <a:pPr marL="304800" indent="-304800" algn="l">
              <a:spcAft>
                <a:spcPts val="1000"/>
              </a:spcAft>
              <a:buSzPct val="100000"/>
              <a:buChar char="•"/>
            </a:pPr>
            <a:r>
              <a:rPr lang="en-US" sz="2600" dirty="0">
                <a:solidFill>
                  <a:srgbClr val="262626"/>
                </a:solidFill>
                <a:latin typeface="Calibri" pitchFamily="34" charset="0"/>
                <a:ea typeface="Calibri" pitchFamily="34" charset="-122"/>
                <a:cs typeface="Calibri" pitchFamily="34" charset="-120"/>
              </a:rPr>
              <a:t>S = 1: shift left; I</a:t>
            </a:r>
            <a:r>
              <a:rPr lang="en-US" sz="2600" baseline="-40000" dirty="0">
                <a:solidFill>
                  <a:srgbClr val="262626"/>
                </a:solidFill>
                <a:latin typeface="Calibri" pitchFamily="34" charset="0"/>
                <a:ea typeface="Calibri" pitchFamily="34" charset="-122"/>
                <a:cs typeface="Calibri" pitchFamily="34" charset="-120"/>
              </a:rPr>
              <a:t>L</a:t>
            </a:r>
            <a:r>
              <a:rPr lang="en-US" sz="2600" dirty="0">
                <a:solidFill>
                  <a:srgbClr val="262626"/>
                </a:solidFill>
                <a:latin typeface="Calibri" pitchFamily="34" charset="0"/>
                <a:ea typeface="Calibri" pitchFamily="34" charset="-122"/>
                <a:cs typeface="Calibri" pitchFamily="34" charset="-120"/>
              </a:rPr>
              <a:t> enters H₃</a:t>
            </a:r>
            <a:endParaRPr lang="en-US" sz="2600" dirty="0"/>
          </a:p>
          <a:p>
            <a:pPr marL="304800" indent="-304800" algn="l">
              <a:spcAft>
                <a:spcPts val="1000"/>
              </a:spcAft>
              <a:buSzPct val="100000"/>
              <a:buChar char="•"/>
            </a:pPr>
            <a:r>
              <a:rPr lang="en-US" sz="2600" dirty="0">
                <a:solidFill>
                  <a:srgbClr val="262626"/>
                </a:solidFill>
                <a:latin typeface="Calibri" pitchFamily="34" charset="0"/>
                <a:ea typeface="Calibri" pitchFamily="34" charset="-122"/>
                <a:cs typeface="Calibri" pitchFamily="34" charset="-120"/>
              </a:rPr>
              <a:t>One gate delay, no clock edge</a:t>
            </a:r>
            <a:endParaRPr lang="en-US" sz="2600" dirty="0"/>
          </a:p>
        </p:txBody>
      </p:sp>
      <p:sp>
        <p:nvSpPr>
          <p:cNvPr id="7" name="Text 3"/>
          <p:cNvSpPr txBox="1"/>
          <p:nvPr/>
        </p:nvSpPr>
        <p:spPr>
          <a:xfrm>
            <a:off x="411480" y="6355080"/>
            <a:ext cx="10424160" cy="457200"/>
          </a:xfrm>
          <a:prstGeom prst="rect">
            <a:avLst/>
          </a:prstGeom>
          <a:noFill/>
          <a:ln/>
        </p:spPr>
        <p:txBody>
          <a:bodyPr wrap="square" lIns="0" tIns="0" rIns="0" bIns="0" rtlCol="0" anchor="t"/>
          <a:lstStyle/>
          <a:p>
            <a:pPr marL="0" indent="0" algn="l">
              <a:buNone/>
            </a:pPr>
            <a:r>
              <a:rPr lang="en-US" sz="1400" dirty="0">
                <a:solidFill>
                  <a:srgbClr val="546E7A"/>
                </a:solidFill>
                <a:latin typeface="Calibri" pitchFamily="34" charset="0"/>
                <a:ea typeface="Calibri" pitchFamily="34" charset="-122"/>
                <a:cs typeface="Calibri" pitchFamily="34" charset="-120"/>
              </a:rPr>
              <a:t>4-bit combinational circuit shifter. Adapted from M. Morris Mano, Computer System Architecture, Fig. 4-12.</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3.7  Arithmetic Logic Shift Unit</a:t>
            </a:r>
            <a:endParaRPr lang="en-US" sz="3000" dirty="0"/>
          </a:p>
        </p:txBody>
      </p:sp>
      <p:sp>
        <p:nvSpPr>
          <p:cNvPr id="4" name="Text 1"/>
          <p:cNvSpPr txBox="1"/>
          <p:nvPr/>
        </p:nvSpPr>
        <p:spPr>
          <a:xfrm>
            <a:off x="914400" y="1417320"/>
            <a:ext cx="5486400" cy="365760"/>
          </a:xfrm>
          <a:prstGeom prst="rect">
            <a:avLst/>
          </a:prstGeom>
          <a:noFill/>
          <a:ln/>
        </p:spPr>
        <p:txBody>
          <a:bodyPr wrap="square" lIns="0" tIns="0" rIns="0" bIns="0" rtlCol="0" anchor="ctr"/>
          <a:lstStyle/>
          <a:p>
            <a:pPr marL="0" indent="0">
              <a:buNone/>
            </a:pPr>
            <a:r>
              <a:rPr lang="en-US" sz="2000" b="1" dirty="0">
                <a:solidFill>
                  <a:srgbClr val="1565C0"/>
                </a:solidFill>
                <a:latin typeface="Calibri" pitchFamily="34" charset="0"/>
                <a:ea typeface="Calibri" pitchFamily="34" charset="-122"/>
                <a:cs typeface="Calibri" pitchFamily="34" charset="-120"/>
              </a:rPr>
              <a:t>IN SIMPLE TERMS</a:t>
            </a:r>
            <a:endParaRPr lang="en-US" sz="2000" dirty="0"/>
          </a:p>
        </p:txBody>
      </p:sp>
      <p:sp>
        <p:nvSpPr>
          <p:cNvPr id="5" name="Text 2"/>
          <p:cNvSpPr txBox="1"/>
          <p:nvPr/>
        </p:nvSpPr>
        <p:spPr>
          <a:xfrm>
            <a:off x="914400" y="1920240"/>
            <a:ext cx="10362895" cy="3566160"/>
          </a:xfrm>
          <a:prstGeom prst="roundRect">
            <a:avLst>
              <a:gd name="adj" fmla="val 3846"/>
            </a:avLst>
          </a:prstGeom>
          <a:solidFill>
            <a:srgbClr val="FFF3E0"/>
          </a:solidFill>
          <a:ln w="31750">
            <a:solidFill>
              <a:srgbClr val="FF8F00"/>
            </a:solidFill>
          </a:ln>
        </p:spPr>
        <p:txBody>
          <a:bodyPr wrap="square" lIns="304800" tIns="457200" rIns="457200" bIns="304800" rtlCol="0" anchor="ctr"/>
          <a:lstStyle/>
          <a:p>
            <a:pPr marL="0" indent="0" algn="l">
              <a:buNone/>
            </a:pPr>
            <a:r>
              <a:rPr lang="en-US" sz="3400" dirty="0">
                <a:solidFill>
                  <a:srgbClr val="262626"/>
                </a:solidFill>
                <a:latin typeface="Calibri" pitchFamily="34" charset="0"/>
                <a:ea typeface="Calibri" pitchFamily="34" charset="-122"/>
                <a:cs typeface="Calibri" pitchFamily="34" charset="-120"/>
              </a:rPr>
              <a:t>The ALU computes arithmetic, logic and shift results side by side; the select lines decide which one becomes the output.</a:t>
            </a:r>
            <a:endParaRPr lang="en-US" sz="3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The structure</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3.7</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One combined block does any of the three families: the </a:t>
            </a:r>
            <a:r>
              <a:rPr lang="en-US" sz="3200" b="1" dirty="0">
                <a:solidFill>
                  <a:srgbClr val="262626"/>
                </a:solidFill>
                <a:latin typeface="Calibri" pitchFamily="34" charset="0"/>
                <a:ea typeface="Calibri" pitchFamily="34" charset="-122"/>
                <a:cs typeface="Calibri" pitchFamily="34" charset="-120"/>
              </a:rPr>
              <a:t>Arithmetic Logic Shift Unit (ALU)</a:t>
            </a:r>
            <a:endParaRPr lang="en-US" sz="3200" dirty="0"/>
          </a:p>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An arithmetic circuit, a logic circuit and a shifter are fed the same operands</a:t>
            </a:r>
            <a:endParaRPr lang="en-US" sz="3200" dirty="0"/>
          </a:p>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All three compute every cycle, in parallel</a:t>
            </a:r>
            <a:endParaRPr lang="en-US" sz="3200" dirty="0"/>
          </a:p>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S₃S₂ select, through a 4 × 1 multiplexer, which result reaches F</a:t>
            </a:r>
            <a:endParaRPr lang="en-US" sz="3200" dirty="0"/>
          </a:p>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It selects an entire n-bit result, not a single bit</a:t>
            </a:r>
            <a:endParaRPr lang="en-US" sz="32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One stage of the ALU</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3.7</a:t>
            </a:r>
            <a:endParaRPr lang="en-US" sz="1600" dirty="0"/>
          </a:p>
        </p:txBody>
      </p:sp>
      <p:pic>
        <p:nvPicPr>
          <p:cNvPr id="5" name="Image 0" descr="/home/claude/figs/3.7_arithmetic-logic-shift-unit_fig1.png"/>
          <p:cNvPicPr>
            <a:picLocks noChangeAspect="1"/>
          </p:cNvPicPr>
          <p:nvPr/>
        </p:nvPicPr>
        <p:blipFill>
          <a:blip r:embed="rId3"/>
          <a:stretch>
            <a:fillRect/>
          </a:stretch>
        </p:blipFill>
        <p:spPr>
          <a:xfrm>
            <a:off x="411480" y="621792"/>
            <a:ext cx="7370064" cy="5705856"/>
          </a:xfrm>
          <a:prstGeom prst="rect">
            <a:avLst/>
          </a:prstGeom>
        </p:spPr>
      </p:pic>
      <p:sp>
        <p:nvSpPr>
          <p:cNvPr id="6" name="Text 2"/>
          <p:cNvSpPr txBox="1"/>
          <p:nvPr/>
        </p:nvSpPr>
        <p:spPr>
          <a:xfrm>
            <a:off x="8147304" y="713232"/>
            <a:ext cx="3632911" cy="5522976"/>
          </a:xfrm>
          <a:prstGeom prst="roundRect">
            <a:avLst>
              <a:gd name="adj" fmla="val 3020"/>
            </a:avLst>
          </a:prstGeom>
          <a:solidFill>
            <a:srgbClr val="EAF2FB"/>
          </a:solidFill>
          <a:ln w="6350">
            <a:solidFill>
              <a:srgbClr val="EAF2FB"/>
            </a:solidFill>
          </a:ln>
        </p:spPr>
        <p:txBody>
          <a:bodyPr wrap="square" lIns="203200" tIns="279400" rIns="279400" bIns="203200" rtlCol="0" anchor="ctr"/>
          <a:lstStyle/>
          <a:p>
            <a:pPr marL="304800" indent="-304800" algn="l">
              <a:spcAft>
                <a:spcPts val="1000"/>
              </a:spcAft>
              <a:buSzPct val="100000"/>
              <a:buChar char="•"/>
            </a:pPr>
            <a:r>
              <a:rPr lang="en-US" sz="2400" dirty="0">
                <a:solidFill>
                  <a:srgbClr val="262626"/>
                </a:solidFill>
                <a:latin typeface="Calibri" pitchFamily="34" charset="0"/>
                <a:ea typeface="Calibri" pitchFamily="34" charset="-122"/>
                <a:cs typeface="Calibri" pitchFamily="34" charset="-120"/>
              </a:rPr>
              <a:t>All circuits compute every cycle, in parallel</a:t>
            </a:r>
            <a:endParaRPr lang="en-US" sz="2400" dirty="0"/>
          </a:p>
          <a:p>
            <a:pPr marL="304800" indent="-304800" algn="l">
              <a:spcAft>
                <a:spcPts val="1000"/>
              </a:spcAft>
              <a:buSzPct val="100000"/>
              <a:buChar char="•"/>
            </a:pPr>
            <a:r>
              <a:rPr lang="en-US" sz="2400" dirty="0">
                <a:solidFill>
                  <a:srgbClr val="262626"/>
                </a:solidFill>
                <a:latin typeface="Calibri" pitchFamily="34" charset="0"/>
                <a:ea typeface="Calibri" pitchFamily="34" charset="-122"/>
                <a:cs typeface="Calibri" pitchFamily="34" charset="-120"/>
              </a:rPr>
              <a:t>S₃S₂ select, through a 4 × 1 MUX, which result reaches F</a:t>
            </a:r>
            <a:endParaRPr lang="en-US" sz="2400" dirty="0"/>
          </a:p>
          <a:p>
            <a:pPr marL="304800" indent="-304800" algn="l">
              <a:spcAft>
                <a:spcPts val="1000"/>
              </a:spcAft>
              <a:buSzPct val="100000"/>
              <a:buChar char="•"/>
            </a:pPr>
            <a:r>
              <a:rPr lang="en-US" sz="2400" dirty="0">
                <a:solidFill>
                  <a:srgbClr val="262626"/>
                </a:solidFill>
                <a:latin typeface="Calibri" pitchFamily="34" charset="0"/>
                <a:ea typeface="Calibri" pitchFamily="34" charset="-122"/>
                <a:cs typeface="Calibri" pitchFamily="34" charset="-120"/>
              </a:rPr>
              <a:t>It selects an entire n-bit result, not one bit</a:t>
            </a:r>
            <a:endParaRPr lang="en-US" sz="2400" dirty="0"/>
          </a:p>
          <a:p>
            <a:pPr marL="304800" indent="-304800" algn="l">
              <a:spcAft>
                <a:spcPts val="1000"/>
              </a:spcAft>
              <a:buSzPct val="100000"/>
              <a:buChar char="•"/>
            </a:pPr>
            <a:r>
              <a:rPr lang="en-US" sz="2400" dirty="0">
                <a:solidFill>
                  <a:srgbClr val="262626"/>
                </a:solidFill>
                <a:latin typeface="Calibri" pitchFamily="34" charset="0"/>
                <a:ea typeface="Calibri" pitchFamily="34" charset="-122"/>
                <a:cs typeface="Calibri" pitchFamily="34" charset="-120"/>
              </a:rPr>
              <a:t>Five selection variables give 14 operations</a:t>
            </a:r>
            <a:endParaRPr lang="en-US" sz="2400" dirty="0"/>
          </a:p>
        </p:txBody>
      </p:sp>
      <p:sp>
        <p:nvSpPr>
          <p:cNvPr id="7" name="Text 3"/>
          <p:cNvSpPr txBox="1"/>
          <p:nvPr/>
        </p:nvSpPr>
        <p:spPr>
          <a:xfrm>
            <a:off x="411480" y="6355080"/>
            <a:ext cx="10424160" cy="457200"/>
          </a:xfrm>
          <a:prstGeom prst="rect">
            <a:avLst/>
          </a:prstGeom>
          <a:noFill/>
          <a:ln/>
        </p:spPr>
        <p:txBody>
          <a:bodyPr wrap="square" lIns="0" tIns="0" rIns="0" bIns="0" rtlCol="0" anchor="t"/>
          <a:lstStyle/>
          <a:p>
            <a:pPr marL="0" indent="0" algn="l">
              <a:buNone/>
            </a:pPr>
            <a:r>
              <a:rPr lang="en-US" sz="1400" dirty="0">
                <a:solidFill>
                  <a:srgbClr val="546E7A"/>
                </a:solidFill>
                <a:latin typeface="Calibri" pitchFamily="34" charset="0"/>
                <a:ea typeface="Calibri" pitchFamily="34" charset="-122"/>
                <a:cs typeface="Calibri" pitchFamily="34" charset="-120"/>
              </a:rPr>
              <a:t>One stage of arithmetic logic shift unit. Adapted from M. Morris Mano, Computer System Architecture, Fig. 4-13.</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The select code</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3.7</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Five selection variables, S₃, S₂, S₁, S₀ and C</a:t>
            </a:r>
            <a:r>
              <a:rPr lang="en-US" sz="3200" baseline="-40000" dirty="0">
                <a:solidFill>
                  <a:srgbClr val="262626"/>
                </a:solidFill>
                <a:latin typeface="Calibri" pitchFamily="34" charset="0"/>
                <a:ea typeface="Calibri" pitchFamily="34" charset="-122"/>
                <a:cs typeface="Calibri" pitchFamily="34" charset="-120"/>
              </a:rPr>
              <a:t>in</a:t>
            </a:r>
            <a:r>
              <a:rPr lang="en-US" sz="3200" dirty="0">
                <a:solidFill>
                  <a:srgbClr val="262626"/>
                </a:solidFill>
                <a:latin typeface="Calibri" pitchFamily="34" charset="0"/>
                <a:ea typeface="Calibri" pitchFamily="34" charset="-122"/>
                <a:cs typeface="Calibri" pitchFamily="34" charset="-120"/>
              </a:rPr>
              <a:t>, give </a:t>
            </a:r>
            <a:r>
              <a:rPr lang="en-US" sz="3200" b="1" dirty="0">
                <a:solidFill>
                  <a:srgbClr val="262626"/>
                </a:solidFill>
                <a:latin typeface="Calibri" pitchFamily="34" charset="0"/>
                <a:ea typeface="Calibri" pitchFamily="34" charset="-122"/>
                <a:cs typeface="Calibri" pitchFamily="34" charset="-120"/>
              </a:rPr>
              <a:t>14 operations</a:t>
            </a:r>
            <a:endParaRPr lang="en-US" sz="3200" dirty="0"/>
          </a:p>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S₃S₂ = 00 selects an arithmetic operation</a:t>
            </a:r>
            <a:endParaRPr lang="en-US" sz="3200" dirty="0"/>
          </a:p>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S₃S₂ = 01 selects a logic operation</a:t>
            </a:r>
            <a:endParaRPr lang="en-US" sz="3200" dirty="0"/>
          </a:p>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S₃S₂ = 10 or 11 selects a shift</a:t>
            </a:r>
            <a:endParaRPr lang="en-US" sz="3200" dirty="0"/>
          </a:p>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Every row is a micro-operation from the last three topics; the ALU adds only the selection logic</a:t>
            </a:r>
            <a:endParaRPr lang="en-US" sz="32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ALU function table: arithmetic</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3.7</a:t>
            </a:r>
            <a:endParaRPr lang="en-US" sz="1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563728" y="1188720"/>
          <a:ext cx="11064240" cy="914400"/>
        </p:xfrm>
        <a:graphic>
          <a:graphicData uri="http://schemas.openxmlformats.org/drawingml/2006/table">
            <a:tbl>
              <a:tblPr/>
              <a:tblGrid>
                <a:gridCol w="82296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3200400">
                  <a:extLst>
                    <a:ext uri="{9D8B030D-6E8A-4147-A177-3AD203B41FA5}">
                      <a16:colId xmlns:a16="http://schemas.microsoft.com/office/drawing/2014/main" val="20005"/>
                    </a:ext>
                  </a:extLst>
                </a:gridCol>
                <a:gridCol w="3657600">
                  <a:extLst>
                    <a:ext uri="{9D8B030D-6E8A-4147-A177-3AD203B41FA5}">
                      <a16:colId xmlns:a16="http://schemas.microsoft.com/office/drawing/2014/main" val="20006"/>
                    </a:ext>
                  </a:extLst>
                </a:gridCol>
              </a:tblGrid>
              <a:tr h="451104">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S₃</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S₂</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S₁</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S₀</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C</a:t>
                      </a:r>
                      <a:r>
                        <a:rPr lang="en-US" sz="2000" b="1" baseline="-40000" dirty="0">
                          <a:solidFill>
                            <a:srgbClr val="FFFFFF"/>
                          </a:solidFill>
                          <a:latin typeface="Calibri" pitchFamily="34" charset="0"/>
                          <a:ea typeface="Calibri" pitchFamily="34" charset="-122"/>
                          <a:cs typeface="Calibri" pitchFamily="34" charset="-120"/>
                        </a:rPr>
                        <a:t>in</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l">
                        <a:buNone/>
                      </a:pPr>
                      <a:r>
                        <a:rPr lang="en-US" sz="2000" b="1" dirty="0">
                          <a:solidFill>
                            <a:srgbClr val="FFFFFF"/>
                          </a:solidFill>
                          <a:latin typeface="Calibri" pitchFamily="34" charset="0"/>
                          <a:ea typeface="Calibri" pitchFamily="34" charset="-122"/>
                          <a:cs typeface="Calibri" pitchFamily="34" charset="-120"/>
                        </a:rPr>
                        <a:t>Operation</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l">
                        <a:buNone/>
                      </a:pPr>
                      <a:r>
                        <a:rPr lang="en-US" sz="2000" b="1" dirty="0">
                          <a:solidFill>
                            <a:srgbClr val="FFFFFF"/>
                          </a:solidFill>
                          <a:latin typeface="Calibri" pitchFamily="34" charset="0"/>
                          <a:ea typeface="Calibri" pitchFamily="34" charset="-122"/>
                          <a:cs typeface="Calibri" pitchFamily="34" charset="-120"/>
                        </a:rPr>
                        <a:t>Function</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extLst>
                  <a:ext uri="{0D108BD9-81ED-4DB2-BD59-A6C34878D82A}">
                    <a16:rowId xmlns:a16="http://schemas.microsoft.com/office/drawing/2014/main" val="10000"/>
                  </a:ext>
                </a:extLst>
              </a:tr>
              <a:tr h="451104">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F = A</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Transfer A</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1"/>
                  </a:ext>
                </a:extLst>
              </a:tr>
              <a:tr h="451104">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F = A + 1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Increment A</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1104">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F = A + B</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Addition</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3"/>
                  </a:ext>
                </a:extLst>
              </a:tr>
              <a:tr h="451104">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F = A + B + 1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Add with carry</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1104">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F = A + B′</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Subtract with borrow</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5"/>
                  </a:ext>
                </a:extLst>
              </a:tr>
              <a:tr h="451104">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F = A + B′ + 1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Subtraction</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51104">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F = A − 1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Decrement A</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7"/>
                  </a:ext>
                </a:extLst>
              </a:tr>
              <a:tr h="451104">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F = A</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Transfer A</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6" name="Text 2"/>
          <p:cNvSpPr txBox="1"/>
          <p:nvPr/>
        </p:nvSpPr>
        <p:spPr>
          <a:xfrm>
            <a:off x="548640" y="5943600"/>
            <a:ext cx="11094415" cy="457200"/>
          </a:xfrm>
          <a:prstGeom prst="rect">
            <a:avLst/>
          </a:prstGeom>
          <a:noFill/>
          <a:ln/>
        </p:spPr>
        <p:txBody>
          <a:bodyPr wrap="square" lIns="0" tIns="0" rIns="0" bIns="0" rtlCol="0" anchor="t"/>
          <a:lstStyle/>
          <a:p>
            <a:pPr marL="0" indent="0" algn="ctr">
              <a:buNone/>
            </a:pPr>
            <a:r>
              <a:rPr lang="en-US" sz="1400" dirty="0">
                <a:solidFill>
                  <a:srgbClr val="546E7A"/>
                </a:solidFill>
                <a:latin typeface="Calibri" pitchFamily="34" charset="0"/>
                <a:ea typeface="Calibri" pitchFamily="34" charset="-122"/>
                <a:cs typeface="Calibri" pitchFamily="34" charset="-120"/>
              </a:rPr>
              <a:t>Function table for arithmetic logic shift unit. Adapted from M. Morris Mano, Computer System Architecture, Table 4-8.</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ALU function table: logic and shift</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3.7</a:t>
            </a:r>
            <a:endParaRPr lang="en-US" sz="1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563728" y="1188720"/>
          <a:ext cx="11064240" cy="914400"/>
        </p:xfrm>
        <a:graphic>
          <a:graphicData uri="http://schemas.openxmlformats.org/drawingml/2006/table">
            <a:tbl>
              <a:tblPr/>
              <a:tblGrid>
                <a:gridCol w="82296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3200400">
                  <a:extLst>
                    <a:ext uri="{9D8B030D-6E8A-4147-A177-3AD203B41FA5}">
                      <a16:colId xmlns:a16="http://schemas.microsoft.com/office/drawing/2014/main" val="20005"/>
                    </a:ext>
                  </a:extLst>
                </a:gridCol>
                <a:gridCol w="3657600">
                  <a:extLst>
                    <a:ext uri="{9D8B030D-6E8A-4147-A177-3AD203B41FA5}">
                      <a16:colId xmlns:a16="http://schemas.microsoft.com/office/drawing/2014/main" val="20006"/>
                    </a:ext>
                  </a:extLst>
                </a:gridCol>
              </a:tblGrid>
              <a:tr h="451104">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S₃</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S₂</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S₁</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S₀</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C</a:t>
                      </a:r>
                      <a:r>
                        <a:rPr lang="en-US" sz="2000" b="1" baseline="-40000" dirty="0">
                          <a:solidFill>
                            <a:srgbClr val="FFFFFF"/>
                          </a:solidFill>
                          <a:latin typeface="Calibri" pitchFamily="34" charset="0"/>
                          <a:ea typeface="Calibri" pitchFamily="34" charset="-122"/>
                          <a:cs typeface="Calibri" pitchFamily="34" charset="-120"/>
                        </a:rPr>
                        <a:t>in</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l">
                        <a:buNone/>
                      </a:pPr>
                      <a:r>
                        <a:rPr lang="en-US" sz="2000" b="1" dirty="0">
                          <a:solidFill>
                            <a:srgbClr val="FFFFFF"/>
                          </a:solidFill>
                          <a:latin typeface="Calibri" pitchFamily="34" charset="0"/>
                          <a:ea typeface="Calibri" pitchFamily="34" charset="-122"/>
                          <a:cs typeface="Calibri" pitchFamily="34" charset="-120"/>
                        </a:rPr>
                        <a:t>Operation</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l">
                        <a:buNone/>
                      </a:pPr>
                      <a:r>
                        <a:rPr lang="en-US" sz="2000" b="1" dirty="0">
                          <a:solidFill>
                            <a:srgbClr val="FFFFFF"/>
                          </a:solidFill>
                          <a:latin typeface="Calibri" pitchFamily="34" charset="0"/>
                          <a:ea typeface="Calibri" pitchFamily="34" charset="-122"/>
                          <a:cs typeface="Calibri" pitchFamily="34" charset="-120"/>
                        </a:rPr>
                        <a:t>Function</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extLst>
                  <a:ext uri="{0D108BD9-81ED-4DB2-BD59-A6C34878D82A}">
                    <a16:rowId xmlns:a16="http://schemas.microsoft.com/office/drawing/2014/main" val="10000"/>
                  </a:ext>
                </a:extLst>
              </a:tr>
              <a:tr h="451104">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F = A ∧ B</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AND</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1"/>
                  </a:ext>
                </a:extLst>
              </a:tr>
              <a:tr h="451104">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F = A ∨ B</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OR</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1104">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F = A ⊕ B</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XOR</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3"/>
                  </a:ext>
                </a:extLst>
              </a:tr>
              <a:tr h="451104">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F = A′</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Complement A</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1104">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F = shr A</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Shift right A into F</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5"/>
                  </a:ext>
                </a:extLst>
              </a:tr>
              <a:tr h="451104">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F = shl A</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Shift left A into F</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Text 2"/>
          <p:cNvSpPr txBox="1"/>
          <p:nvPr/>
        </p:nvSpPr>
        <p:spPr>
          <a:xfrm>
            <a:off x="640080" y="4620768"/>
            <a:ext cx="10911535" cy="1139952"/>
          </a:xfrm>
          <a:prstGeom prst="rect">
            <a:avLst/>
          </a:prstGeom>
          <a:noFill/>
          <a:ln/>
        </p:spPr>
        <p:txBody>
          <a:bodyPr wrap="square" lIns="0" tIns="0" rIns="0" bIns="0" rtlCol="0" anchor="t"/>
          <a:lstStyle/>
          <a:p>
            <a:pPr marL="304800" indent="-304800" algn="l">
              <a:spcAft>
                <a:spcPts val="1000"/>
              </a:spcAft>
              <a:buSzPct val="100000"/>
              <a:buChar char="•"/>
            </a:pPr>
            <a:r>
              <a:rPr lang="en-US" sz="2800" dirty="0">
                <a:solidFill>
                  <a:srgbClr val="262626"/>
                </a:solidFill>
                <a:latin typeface="Calibri" pitchFamily="34" charset="0"/>
                <a:ea typeface="Calibri" pitchFamily="34" charset="-122"/>
                <a:cs typeface="Calibri" pitchFamily="34" charset="-120"/>
              </a:rPr>
              <a:t>× means don’t care</a:t>
            </a:r>
            <a:endParaRPr lang="en-US" sz="2800" dirty="0"/>
          </a:p>
        </p:txBody>
      </p:sp>
      <p:sp>
        <p:nvSpPr>
          <p:cNvPr id="7" name="Text 3"/>
          <p:cNvSpPr txBox="1"/>
          <p:nvPr/>
        </p:nvSpPr>
        <p:spPr>
          <a:xfrm>
            <a:off x="548640" y="5943600"/>
            <a:ext cx="11094415" cy="457200"/>
          </a:xfrm>
          <a:prstGeom prst="rect">
            <a:avLst/>
          </a:prstGeom>
          <a:noFill/>
          <a:ln/>
        </p:spPr>
        <p:txBody>
          <a:bodyPr wrap="square" lIns="0" tIns="0" rIns="0" bIns="0" rtlCol="0" anchor="t"/>
          <a:lstStyle/>
          <a:p>
            <a:pPr marL="0" indent="0" algn="ctr">
              <a:buNone/>
            </a:pPr>
            <a:r>
              <a:rPr lang="en-US" sz="1400" dirty="0">
                <a:solidFill>
                  <a:srgbClr val="546E7A"/>
                </a:solidFill>
                <a:latin typeface="Calibri" pitchFamily="34" charset="0"/>
                <a:ea typeface="Calibri" pitchFamily="34" charset="-122"/>
                <a:cs typeface="Calibri" pitchFamily="34" charset="-120"/>
              </a:rPr>
              <a:t>Function table for arithmetic logic shift unit. Adapted from M. Morris Mano, Computer System Architecture, Table 4-8.</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3.8  Instruction Codes</a:t>
            </a:r>
            <a:endParaRPr lang="en-US" sz="3000" dirty="0"/>
          </a:p>
        </p:txBody>
      </p:sp>
      <p:sp>
        <p:nvSpPr>
          <p:cNvPr id="4" name="Text 1"/>
          <p:cNvSpPr txBox="1"/>
          <p:nvPr/>
        </p:nvSpPr>
        <p:spPr>
          <a:xfrm>
            <a:off x="914400" y="1417320"/>
            <a:ext cx="5486400" cy="365760"/>
          </a:xfrm>
          <a:prstGeom prst="rect">
            <a:avLst/>
          </a:prstGeom>
          <a:noFill/>
          <a:ln/>
        </p:spPr>
        <p:txBody>
          <a:bodyPr wrap="square" lIns="0" tIns="0" rIns="0" bIns="0" rtlCol="0" anchor="ctr"/>
          <a:lstStyle/>
          <a:p>
            <a:pPr marL="0" indent="0">
              <a:buNone/>
            </a:pPr>
            <a:r>
              <a:rPr lang="en-US" sz="2000" b="1" dirty="0">
                <a:solidFill>
                  <a:srgbClr val="1565C0"/>
                </a:solidFill>
                <a:latin typeface="Calibri" pitchFamily="34" charset="0"/>
                <a:ea typeface="Calibri" pitchFamily="34" charset="-122"/>
                <a:cs typeface="Calibri" pitchFamily="34" charset="-120"/>
              </a:rPr>
              <a:t>IN SIMPLE TERMS</a:t>
            </a:r>
            <a:endParaRPr lang="en-US" sz="2000" dirty="0"/>
          </a:p>
        </p:txBody>
      </p:sp>
      <p:sp>
        <p:nvSpPr>
          <p:cNvPr id="5" name="Text 2"/>
          <p:cNvSpPr txBox="1"/>
          <p:nvPr/>
        </p:nvSpPr>
        <p:spPr>
          <a:xfrm>
            <a:off x="914400" y="1920240"/>
            <a:ext cx="10362895" cy="3566160"/>
          </a:xfrm>
          <a:prstGeom prst="roundRect">
            <a:avLst>
              <a:gd name="adj" fmla="val 3846"/>
            </a:avLst>
          </a:prstGeom>
          <a:solidFill>
            <a:srgbClr val="FFF3E0"/>
          </a:solidFill>
          <a:ln w="31750">
            <a:solidFill>
              <a:srgbClr val="FF8F00"/>
            </a:solidFill>
          </a:ln>
        </p:spPr>
        <p:txBody>
          <a:bodyPr wrap="square" lIns="304800" tIns="457200" rIns="457200" bIns="304800" rtlCol="0" anchor="ctr"/>
          <a:lstStyle/>
          <a:p>
            <a:pPr marL="0" indent="0" algn="l">
              <a:buNone/>
            </a:pPr>
            <a:r>
              <a:rPr lang="en-US" sz="3400" dirty="0">
                <a:solidFill>
                  <a:srgbClr val="262626"/>
                </a:solidFill>
                <a:latin typeface="Calibri" pitchFamily="34" charset="0"/>
                <a:ea typeface="Calibri" pitchFamily="34" charset="-122"/>
                <a:cs typeface="Calibri" pitchFamily="34" charset="-120"/>
              </a:rPr>
              <a:t>An instruction tells the computer what to do (opcode) and where the data is (address). The I bit says whether the address is the data’s location itself or the location of its address.</a:t>
            </a:r>
            <a:endParaRPr lang="en-US" sz="3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The Basic Computer</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3.8</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From here to the end of the unit we build one concrete machine: the </a:t>
            </a:r>
            <a:r>
              <a:rPr lang="en-US" sz="3200" b="1" dirty="0">
                <a:solidFill>
                  <a:srgbClr val="262626"/>
                </a:solidFill>
                <a:latin typeface="Calibri" pitchFamily="34" charset="0"/>
                <a:ea typeface="Calibri" pitchFamily="34" charset="-122"/>
                <a:cs typeface="Calibri" pitchFamily="34" charset="-120"/>
              </a:rPr>
              <a:t>Basic Computer</a:t>
            </a:r>
            <a:endParaRPr lang="en-US" sz="3200" dirty="0"/>
          </a:p>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Memory: 4096 words of 16 bits each, so a 12-bit address</a:t>
            </a:r>
            <a:endParaRPr lang="en-US" sz="3200" dirty="0"/>
          </a:p>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Stored program: the same memory holds data and instructions</a:t>
            </a:r>
            <a:endParaRPr lang="en-US" sz="3200" dirty="0"/>
          </a:p>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A word is an instruction when the CPU treats it as one, not because of its bit pattern</a:t>
            </a:r>
            <a:endParaRPr lang="en-US" sz="32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The 16-bit instruction word</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3.8</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marL="304800" indent="-304800" algn="l">
              <a:spcAft>
                <a:spcPts val="1000"/>
              </a:spcAft>
              <a:buSzPct val="100000"/>
              <a:buChar char="•"/>
            </a:pPr>
            <a:r>
              <a:rPr lang="en-US" sz="3000" dirty="0">
                <a:solidFill>
                  <a:srgbClr val="262626"/>
                </a:solidFill>
                <a:latin typeface="Calibri" pitchFamily="34" charset="0"/>
                <a:ea typeface="Calibri" pitchFamily="34" charset="-122"/>
                <a:cs typeface="Calibri" pitchFamily="34" charset="-120"/>
              </a:rPr>
              <a:t>Every instruction is one 16-bit word with three fields: </a:t>
            </a:r>
            <a:r>
              <a:rPr lang="en-US" sz="3000" b="1" dirty="0">
                <a:solidFill>
                  <a:srgbClr val="262626"/>
                </a:solidFill>
                <a:latin typeface="Calibri" pitchFamily="34" charset="0"/>
                <a:ea typeface="Calibri" pitchFamily="34" charset="-122"/>
                <a:cs typeface="Calibri" pitchFamily="34" charset="-120"/>
              </a:rPr>
              <a:t>I</a:t>
            </a:r>
            <a:r>
              <a:rPr lang="en-US" sz="3000" dirty="0">
                <a:solidFill>
                  <a:srgbClr val="262626"/>
                </a:solidFill>
                <a:latin typeface="Calibri" pitchFamily="34" charset="0"/>
                <a:ea typeface="Calibri" pitchFamily="34" charset="-122"/>
                <a:cs typeface="Calibri" pitchFamily="34" charset="-120"/>
              </a:rPr>
              <a:t> (bit 15), </a:t>
            </a:r>
            <a:r>
              <a:rPr lang="en-US" sz="3000" b="1" dirty="0">
                <a:solidFill>
                  <a:srgbClr val="262626"/>
                </a:solidFill>
                <a:latin typeface="Calibri" pitchFamily="34" charset="0"/>
                <a:ea typeface="Calibri" pitchFamily="34" charset="-122"/>
                <a:cs typeface="Calibri" pitchFamily="34" charset="-120"/>
              </a:rPr>
              <a:t>opcode</a:t>
            </a:r>
            <a:r>
              <a:rPr lang="en-US" sz="3000" dirty="0">
                <a:solidFill>
                  <a:srgbClr val="262626"/>
                </a:solidFill>
                <a:latin typeface="Calibri" pitchFamily="34" charset="0"/>
                <a:ea typeface="Calibri" pitchFamily="34" charset="-122"/>
                <a:cs typeface="Calibri" pitchFamily="34" charset="-120"/>
              </a:rPr>
              <a:t> (bits 14–12), </a:t>
            </a:r>
            <a:r>
              <a:rPr lang="en-US" sz="3000" b="1" dirty="0">
                <a:solidFill>
                  <a:srgbClr val="262626"/>
                </a:solidFill>
                <a:latin typeface="Calibri" pitchFamily="34" charset="0"/>
                <a:ea typeface="Calibri" pitchFamily="34" charset="-122"/>
                <a:cs typeface="Calibri" pitchFamily="34" charset="-120"/>
              </a:rPr>
              <a:t>address</a:t>
            </a:r>
            <a:r>
              <a:rPr lang="en-US" sz="3000" dirty="0">
                <a:solidFill>
                  <a:srgbClr val="262626"/>
                </a:solidFill>
                <a:latin typeface="Calibri" pitchFamily="34" charset="0"/>
                <a:ea typeface="Calibri" pitchFamily="34" charset="-122"/>
                <a:cs typeface="Calibri" pitchFamily="34" charset="-120"/>
              </a:rPr>
              <a:t> (bits 11–0)</a:t>
            </a:r>
            <a:endParaRPr lang="en-US" sz="3000" dirty="0"/>
          </a:p>
          <a:p>
            <a:pPr marL="304800" indent="-304800" algn="l">
              <a:spcAft>
                <a:spcPts val="1000"/>
              </a:spcAft>
              <a:buSzPct val="100000"/>
              <a:buChar char="•"/>
            </a:pPr>
            <a:r>
              <a:rPr lang="en-US" sz="3000" dirty="0">
                <a:solidFill>
                  <a:srgbClr val="262626"/>
                </a:solidFill>
                <a:latin typeface="Calibri" pitchFamily="34" charset="0"/>
                <a:ea typeface="Calibri" pitchFamily="34" charset="-122"/>
                <a:cs typeface="Calibri" pitchFamily="34" charset="-120"/>
              </a:rPr>
              <a:t>The 3-bit opcode distinguishes 8 categories</a:t>
            </a:r>
            <a:endParaRPr lang="en-US" sz="3000" dirty="0"/>
          </a:p>
          <a:p>
            <a:pPr marL="304800" indent="-304800" algn="l">
              <a:spcAft>
                <a:spcPts val="1000"/>
              </a:spcAft>
              <a:buSzPct val="100000"/>
              <a:buChar char="•"/>
            </a:pPr>
            <a:r>
              <a:rPr lang="en-US" sz="3000" dirty="0">
                <a:solidFill>
                  <a:srgbClr val="262626"/>
                </a:solidFill>
                <a:latin typeface="Calibri" pitchFamily="34" charset="0"/>
                <a:ea typeface="Calibri" pitchFamily="34" charset="-122"/>
                <a:cs typeface="Calibri" pitchFamily="34" charset="-120"/>
              </a:rPr>
              <a:t>7 are </a:t>
            </a:r>
            <a:r>
              <a:rPr lang="en-US" sz="3000" b="1" dirty="0">
                <a:solidFill>
                  <a:srgbClr val="262626"/>
                </a:solidFill>
                <a:latin typeface="Calibri" pitchFamily="34" charset="0"/>
                <a:ea typeface="Calibri" pitchFamily="34" charset="-122"/>
                <a:cs typeface="Calibri" pitchFamily="34" charset="-120"/>
              </a:rPr>
              <a:t>memory-reference</a:t>
            </a:r>
            <a:r>
              <a:rPr lang="en-US" sz="3000" dirty="0">
                <a:solidFill>
                  <a:srgbClr val="262626"/>
                </a:solidFill>
                <a:latin typeface="Calibri" pitchFamily="34" charset="0"/>
                <a:ea typeface="Calibri" pitchFamily="34" charset="-122"/>
                <a:cs typeface="Calibri" pitchFamily="34" charset="-120"/>
              </a:rPr>
              <a:t> instructions, each with a 12-bit address: exactly enough for 4096 words</a:t>
            </a:r>
            <a:endParaRPr lang="en-US" sz="3000" dirty="0"/>
          </a:p>
          <a:p>
            <a:pPr marL="304800" indent="-304800" algn="l">
              <a:spcAft>
                <a:spcPts val="1000"/>
              </a:spcAft>
              <a:buSzPct val="100000"/>
              <a:buChar char="•"/>
            </a:pPr>
            <a:r>
              <a:rPr lang="en-US" sz="3000" dirty="0">
                <a:solidFill>
                  <a:srgbClr val="262626"/>
                </a:solidFill>
                <a:latin typeface="Calibri" pitchFamily="34" charset="0"/>
                <a:ea typeface="Calibri" pitchFamily="34" charset="-122"/>
                <a:cs typeface="Calibri" pitchFamily="34" charset="-120"/>
              </a:rPr>
              <a:t>The 8th pattern, </a:t>
            </a:r>
            <a:r>
              <a:rPr lang="en-US" sz="3000" b="1" dirty="0">
                <a:solidFill>
                  <a:srgbClr val="262626"/>
                </a:solidFill>
                <a:latin typeface="Calibri" pitchFamily="34" charset="0"/>
                <a:ea typeface="Calibri" pitchFamily="34" charset="-122"/>
                <a:cs typeface="Calibri" pitchFamily="34" charset="-120"/>
              </a:rPr>
              <a:t>111</a:t>
            </a:r>
            <a:r>
              <a:rPr lang="en-US" sz="3000" dirty="0">
                <a:solidFill>
                  <a:srgbClr val="262626"/>
                </a:solidFill>
                <a:latin typeface="Calibri" pitchFamily="34" charset="0"/>
                <a:ea typeface="Calibri" pitchFamily="34" charset="-122"/>
                <a:cs typeface="Calibri" pitchFamily="34" charset="-120"/>
              </a:rPr>
              <a:t>, has no address: its 12 bits are individually decoded</a:t>
            </a:r>
            <a:endParaRPr lang="en-US" sz="3000" dirty="0"/>
          </a:p>
          <a:p>
            <a:pPr marL="304800" indent="-304800" algn="l">
              <a:spcAft>
                <a:spcPts val="1000"/>
              </a:spcAft>
              <a:buSzPct val="100000"/>
              <a:buChar char="•"/>
            </a:pPr>
            <a:r>
              <a:rPr lang="en-US" sz="3000" dirty="0">
                <a:solidFill>
                  <a:srgbClr val="262626"/>
                </a:solidFill>
                <a:latin typeface="Calibri" pitchFamily="34" charset="0"/>
                <a:ea typeface="Calibri" pitchFamily="34" charset="-122"/>
                <a:cs typeface="Calibri" pitchFamily="34" charset="-120"/>
              </a:rPr>
              <a:t>That frees two more categories, register-reference and I/O, without using address space</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Direct and indirect address</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3.8</a:t>
            </a:r>
            <a:endParaRPr lang="en-US" sz="1600" dirty="0"/>
          </a:p>
        </p:txBody>
      </p:sp>
      <p:pic>
        <p:nvPicPr>
          <p:cNvPr id="5" name="Image 0" descr="/home/claude/figs/3.8_instruction-codes_fig1.png"/>
          <p:cNvPicPr>
            <a:picLocks noChangeAspect="1"/>
          </p:cNvPicPr>
          <p:nvPr/>
        </p:nvPicPr>
        <p:blipFill>
          <a:blip r:embed="rId3"/>
          <a:stretch>
            <a:fillRect/>
          </a:stretch>
        </p:blipFill>
        <p:spPr>
          <a:xfrm>
            <a:off x="411480" y="621792"/>
            <a:ext cx="7261999" cy="5705856"/>
          </a:xfrm>
          <a:prstGeom prst="rect">
            <a:avLst/>
          </a:prstGeom>
        </p:spPr>
      </p:pic>
      <p:sp>
        <p:nvSpPr>
          <p:cNvPr id="6" name="Text 2"/>
          <p:cNvSpPr txBox="1"/>
          <p:nvPr/>
        </p:nvSpPr>
        <p:spPr>
          <a:xfrm>
            <a:off x="8039239" y="713232"/>
            <a:ext cx="3740977" cy="5522976"/>
          </a:xfrm>
          <a:prstGeom prst="roundRect">
            <a:avLst>
              <a:gd name="adj" fmla="val 2933"/>
            </a:avLst>
          </a:prstGeom>
          <a:solidFill>
            <a:srgbClr val="EAF2FB"/>
          </a:solidFill>
          <a:ln w="6350">
            <a:solidFill>
              <a:srgbClr val="EAF2FB"/>
            </a:solidFill>
          </a:ln>
        </p:spPr>
        <p:txBody>
          <a:bodyPr wrap="square" lIns="203200" tIns="279400" rIns="279400" bIns="203200" rtlCol="0" anchor="ctr"/>
          <a:lstStyle/>
          <a:p>
            <a:pPr marL="304800" indent="-304800" algn="l">
              <a:spcAft>
                <a:spcPts val="1000"/>
              </a:spcAft>
              <a:buSzPct val="100000"/>
              <a:buChar char="•"/>
            </a:pPr>
            <a:r>
              <a:rPr lang="en-US" sz="2600" dirty="0">
                <a:solidFill>
                  <a:srgbClr val="262626"/>
                </a:solidFill>
                <a:latin typeface="Calibri" pitchFamily="34" charset="0"/>
                <a:ea typeface="Calibri" pitchFamily="34" charset="-122"/>
                <a:cs typeface="Calibri" pitchFamily="34" charset="-120"/>
              </a:rPr>
              <a:t>(b) Direct: address field 457 is the operand’s address</a:t>
            </a:r>
            <a:endParaRPr lang="en-US" sz="2600" dirty="0"/>
          </a:p>
          <a:p>
            <a:pPr marL="304800" indent="-304800" algn="l">
              <a:spcAft>
                <a:spcPts val="1000"/>
              </a:spcAft>
              <a:buSzPct val="100000"/>
              <a:buChar char="•"/>
            </a:pPr>
            <a:r>
              <a:rPr lang="en-US" sz="2600" dirty="0">
                <a:solidFill>
                  <a:srgbClr val="262626"/>
                </a:solidFill>
                <a:latin typeface="Calibri" pitchFamily="34" charset="0"/>
                <a:ea typeface="Calibri" pitchFamily="34" charset="-122"/>
                <a:cs typeface="Calibri" pitchFamily="34" charset="-120"/>
              </a:rPr>
              <a:t>(c) Indirect: field 300 points to a word holding 1350, the effective address</a:t>
            </a:r>
            <a:endParaRPr lang="en-US" sz="2600" dirty="0"/>
          </a:p>
          <a:p>
            <a:pPr marL="304800" indent="-304800" algn="l">
              <a:spcAft>
                <a:spcPts val="1000"/>
              </a:spcAft>
              <a:buSzPct val="100000"/>
              <a:buChar char="•"/>
            </a:pPr>
            <a:r>
              <a:rPr lang="en-US" sz="2600" dirty="0">
                <a:solidFill>
                  <a:srgbClr val="262626"/>
                </a:solidFill>
                <a:latin typeface="Calibri" pitchFamily="34" charset="0"/>
                <a:ea typeface="Calibri" pitchFamily="34" charset="-122"/>
                <a:cs typeface="Calibri" pitchFamily="34" charset="-120"/>
              </a:rPr>
              <a:t>Indirect costs one extra memory read</a:t>
            </a:r>
            <a:endParaRPr lang="en-US" sz="2600" dirty="0"/>
          </a:p>
        </p:txBody>
      </p:sp>
      <p:sp>
        <p:nvSpPr>
          <p:cNvPr id="7" name="Text 3"/>
          <p:cNvSpPr txBox="1"/>
          <p:nvPr/>
        </p:nvSpPr>
        <p:spPr>
          <a:xfrm>
            <a:off x="411480" y="6355080"/>
            <a:ext cx="10424160" cy="457200"/>
          </a:xfrm>
          <a:prstGeom prst="rect">
            <a:avLst/>
          </a:prstGeom>
          <a:noFill/>
          <a:ln/>
        </p:spPr>
        <p:txBody>
          <a:bodyPr wrap="square" lIns="0" tIns="0" rIns="0" bIns="0" rtlCol="0" anchor="t"/>
          <a:lstStyle/>
          <a:p>
            <a:pPr marL="0" indent="0" algn="l">
              <a:buNone/>
            </a:pPr>
            <a:r>
              <a:rPr lang="en-US" sz="1400" dirty="0">
                <a:solidFill>
                  <a:srgbClr val="546E7A"/>
                </a:solidFill>
                <a:latin typeface="Calibri" pitchFamily="34" charset="0"/>
                <a:ea typeface="Calibri" pitchFamily="34" charset="-122"/>
                <a:cs typeface="Calibri" pitchFamily="34" charset="-120"/>
              </a:rPr>
              <a:t>Instruction format with direct and indirect address. Adapted from M. Morris Mano, Computer System Architecture, Fig. 5-2.</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Direct versus indirect addressing</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3.8</a:t>
            </a:r>
            <a:endParaRPr lang="en-US" sz="16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563728" y="1188720"/>
          <a:ext cx="11064240" cy="914400"/>
        </p:xfrm>
        <a:graphic>
          <a:graphicData uri="http://schemas.openxmlformats.org/drawingml/2006/table">
            <a:tbl>
              <a:tblPr/>
              <a:tblGrid>
                <a:gridCol w="82296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8046720">
                  <a:extLst>
                    <a:ext uri="{9D8B030D-6E8A-4147-A177-3AD203B41FA5}">
                      <a16:colId xmlns:a16="http://schemas.microsoft.com/office/drawing/2014/main" val="20002"/>
                    </a:ext>
                  </a:extLst>
                </a:gridCol>
              </a:tblGrid>
              <a:tr h="512064">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I</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l">
                        <a:buNone/>
                      </a:pPr>
                      <a:r>
                        <a:rPr lang="en-US" sz="2400" b="1" dirty="0">
                          <a:solidFill>
                            <a:srgbClr val="FFFFFF"/>
                          </a:solidFill>
                          <a:latin typeface="Calibri" pitchFamily="34" charset="0"/>
                          <a:ea typeface="Calibri" pitchFamily="34" charset="-122"/>
                          <a:cs typeface="Calibri" pitchFamily="34" charset="-120"/>
                        </a:rPr>
                        <a:t>Mode</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l">
                        <a:buNone/>
                      </a:pPr>
                      <a:r>
                        <a:rPr lang="en-US" sz="2400" b="1" dirty="0">
                          <a:solidFill>
                            <a:srgbClr val="FFFFFF"/>
                          </a:solidFill>
                          <a:latin typeface="Calibri" pitchFamily="34" charset="0"/>
                          <a:ea typeface="Calibri" pitchFamily="34" charset="-122"/>
                          <a:cs typeface="Calibri" pitchFamily="34" charset="-120"/>
                        </a:rPr>
                        <a:t>Meaning</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extLst>
                  <a:ext uri="{0D108BD9-81ED-4DB2-BD59-A6C34878D82A}">
                    <a16:rowId xmlns:a16="http://schemas.microsoft.com/office/drawing/2014/main" val="10000"/>
                  </a:ext>
                </a:extLst>
              </a:tr>
              <a:tr h="877824">
                <a:tc>
                  <a:txBody>
                    <a:bodyPr/>
                    <a:lstStyle/>
                    <a:p>
                      <a:pPr marL="0" indent="0" algn="ctr">
                        <a:buNone/>
                      </a:pPr>
                      <a:r>
                        <a:rPr lang="en-US" sz="2400" dirty="0">
                          <a:solidFill>
                            <a:srgbClr val="262626"/>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l">
                        <a:buNone/>
                      </a:pPr>
                      <a:r>
                        <a:rPr lang="en-US" sz="2400" dirty="0">
                          <a:solidFill>
                            <a:srgbClr val="262626"/>
                          </a:solidFill>
                          <a:latin typeface="Calibri" pitchFamily="34" charset="0"/>
                          <a:ea typeface="Calibri" pitchFamily="34" charset="-122"/>
                          <a:cs typeface="Calibri" pitchFamily="34" charset="-120"/>
                        </a:rPr>
                        <a:t>Direct</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l">
                        <a:buNone/>
                      </a:pPr>
                      <a:r>
                        <a:rPr lang="en-US" sz="2400" dirty="0">
                          <a:solidFill>
                            <a:srgbClr val="262626"/>
                          </a:solidFill>
                          <a:latin typeface="Calibri" pitchFamily="34" charset="0"/>
                          <a:ea typeface="Calibri" pitchFamily="34" charset="-122"/>
                          <a:cs typeface="Calibri" pitchFamily="34" charset="-120"/>
                        </a:rPr>
                        <a:t>The address field is the effective address: AR ← IR(0–11)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1"/>
                  </a:ext>
                </a:extLst>
              </a:tr>
              <a:tr h="877824">
                <a:tc>
                  <a:txBody>
                    <a:bodyPr/>
                    <a:lstStyle/>
                    <a:p>
                      <a:pPr marL="0" indent="0" algn="ctr">
                        <a:buNone/>
                      </a:pPr>
                      <a:r>
                        <a:rPr lang="en-US" sz="2400" dirty="0">
                          <a:solidFill>
                            <a:srgbClr val="262626"/>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l">
                        <a:buNone/>
                      </a:pPr>
                      <a:r>
                        <a:rPr lang="en-US" sz="2400" dirty="0">
                          <a:solidFill>
                            <a:srgbClr val="262626"/>
                          </a:solidFill>
                          <a:latin typeface="Calibri" pitchFamily="34" charset="0"/>
                          <a:ea typeface="Calibri" pitchFamily="34" charset="-122"/>
                          <a:cs typeface="Calibri" pitchFamily="34" charset="-120"/>
                        </a:rPr>
                        <a:t>Indirect</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l">
                        <a:buNone/>
                      </a:pPr>
                      <a:r>
                        <a:rPr lang="en-US" sz="2400" dirty="0">
                          <a:solidFill>
                            <a:srgbClr val="262626"/>
                          </a:solidFill>
                          <a:latin typeface="Calibri" pitchFamily="34" charset="0"/>
                          <a:ea typeface="Calibri" pitchFamily="34" charset="-122"/>
                          <a:cs typeface="Calibri" pitchFamily="34" charset="-120"/>
                        </a:rPr>
                        <a:t>The address field points to a word that holds the effective address: AR ← M[IR(0–11)], one extra memory read</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6" name="Text 2"/>
          <p:cNvSpPr txBox="1"/>
          <p:nvPr/>
        </p:nvSpPr>
        <p:spPr>
          <a:xfrm>
            <a:off x="640080" y="3730752"/>
            <a:ext cx="10911535" cy="2578608"/>
          </a:xfrm>
          <a:prstGeom prst="rect">
            <a:avLst/>
          </a:prstGeom>
          <a:noFill/>
          <a:ln/>
        </p:spPr>
        <p:txBody>
          <a:bodyPr wrap="square" lIns="0" tIns="0" rIns="0" bIns="0" rtlCol="0" anchor="t"/>
          <a:lstStyle/>
          <a:p>
            <a:pPr marL="304800" indent="-304800" algn="l">
              <a:spcAft>
                <a:spcPts val="1000"/>
              </a:spcAft>
              <a:buSzPct val="100000"/>
              <a:buChar char="•"/>
            </a:pPr>
            <a:r>
              <a:rPr lang="en-US" sz="2800" dirty="0">
                <a:solidFill>
                  <a:srgbClr val="262626"/>
                </a:solidFill>
                <a:latin typeface="Calibri" pitchFamily="34" charset="0"/>
                <a:ea typeface="Calibri" pitchFamily="34" charset="-122"/>
                <a:cs typeface="Calibri" pitchFamily="34" charset="-120"/>
              </a:rPr>
              <a:t>Indirect trades one extra memory access for an effective address that can change at runtime: array indexing, pointer following</a:t>
            </a:r>
            <a:endParaRPr lang="en-US" sz="28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Recognising the instruction category</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3.8</a:t>
            </a:r>
            <a:endParaRPr lang="en-US" sz="16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563728" y="1188720"/>
          <a:ext cx="11064240" cy="914400"/>
        </p:xfrm>
        <a:graphic>
          <a:graphicData uri="http://schemas.openxmlformats.org/drawingml/2006/table">
            <a:tbl>
              <a:tblPr/>
              <a:tblGrid>
                <a:gridCol w="32918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6309360">
                  <a:extLst>
                    <a:ext uri="{9D8B030D-6E8A-4147-A177-3AD203B41FA5}">
                      <a16:colId xmlns:a16="http://schemas.microsoft.com/office/drawing/2014/main" val="20002"/>
                    </a:ext>
                  </a:extLst>
                </a:gridCol>
              </a:tblGrid>
              <a:tr h="512064">
                <a:tc>
                  <a:txBody>
                    <a:bodyPr/>
                    <a:lstStyle/>
                    <a:p>
                      <a:pPr marL="0" indent="0" algn="l">
                        <a:buNone/>
                      </a:pPr>
                      <a:r>
                        <a:rPr lang="en-US" sz="2400" b="1" dirty="0">
                          <a:solidFill>
                            <a:srgbClr val="FFFFFF"/>
                          </a:solidFill>
                          <a:latin typeface="Calibri" pitchFamily="34" charset="0"/>
                          <a:ea typeface="Calibri" pitchFamily="34" charset="-122"/>
                          <a:cs typeface="Calibri" pitchFamily="34" charset="-120"/>
                        </a:rPr>
                        <a:t>Opcode (IR bits 14–12)</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I</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l">
                        <a:buNone/>
                      </a:pPr>
                      <a:r>
                        <a:rPr lang="en-US" sz="2400" b="1" dirty="0">
                          <a:solidFill>
                            <a:srgbClr val="FFFFFF"/>
                          </a:solidFill>
                          <a:latin typeface="Calibri" pitchFamily="34" charset="0"/>
                          <a:ea typeface="Calibri" pitchFamily="34" charset="-122"/>
                          <a:cs typeface="Calibri" pitchFamily="34" charset="-120"/>
                        </a:rPr>
                        <a:t>Category</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extLst>
                  <a:ext uri="{0D108BD9-81ED-4DB2-BD59-A6C34878D82A}">
                    <a16:rowId xmlns:a16="http://schemas.microsoft.com/office/drawing/2014/main" val="10000"/>
                  </a:ext>
                </a:extLst>
              </a:tr>
              <a:tr h="877824">
                <a:tc>
                  <a:txBody>
                    <a:bodyPr/>
                    <a:lstStyle/>
                    <a:p>
                      <a:pPr marL="0" indent="0" algn="l">
                        <a:buNone/>
                      </a:pPr>
                      <a:r>
                        <a:rPr lang="en-US" sz="2400" dirty="0">
                          <a:solidFill>
                            <a:srgbClr val="262626"/>
                          </a:solidFill>
                          <a:latin typeface="Calibri" pitchFamily="34" charset="0"/>
                          <a:ea typeface="Calibri" pitchFamily="34" charset="-122"/>
                          <a:cs typeface="Calibri" pitchFamily="34" charset="-120"/>
                        </a:rPr>
                        <a:t>not 111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262626"/>
                          </a:solidFill>
                          <a:latin typeface="Calibri" pitchFamily="34" charset="0"/>
                          <a:ea typeface="Calibri" pitchFamily="34" charset="-122"/>
                          <a:cs typeface="Calibri" pitchFamily="34" charset="-120"/>
                        </a:rPr>
                        <a:t>0 or 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l">
                        <a:buNone/>
                      </a:pPr>
                      <a:r>
                        <a:rPr lang="en-US" sz="2400" dirty="0">
                          <a:solidFill>
                            <a:srgbClr val="262626"/>
                          </a:solidFill>
                          <a:latin typeface="Calibri" pitchFamily="34" charset="0"/>
                          <a:ea typeface="Calibri" pitchFamily="34" charset="-122"/>
                          <a:cs typeface="Calibri" pitchFamily="34" charset="-120"/>
                        </a:rPr>
                        <a:t>Memory-reference (bits 11–0 are the address)</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1"/>
                  </a:ext>
                </a:extLst>
              </a:tr>
              <a:tr h="877824">
                <a:tc>
                  <a:txBody>
                    <a:bodyPr/>
                    <a:lstStyle/>
                    <a:p>
                      <a:pPr marL="0" indent="0" algn="l">
                        <a:buNone/>
                      </a:pPr>
                      <a:r>
                        <a:rPr lang="en-US" sz="2400" dirty="0">
                          <a:solidFill>
                            <a:srgbClr val="262626"/>
                          </a:solidFill>
                          <a:latin typeface="Calibri" pitchFamily="34" charset="0"/>
                          <a:ea typeface="Calibri" pitchFamily="34" charset="-122"/>
                          <a:cs typeface="Calibri" pitchFamily="34" charset="-120"/>
                        </a:rPr>
                        <a:t>111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262626"/>
                          </a:solidFill>
                          <a:latin typeface="Calibri" pitchFamily="34" charset="0"/>
                          <a:ea typeface="Calibri" pitchFamily="34" charset="-122"/>
                          <a:cs typeface="Calibri" pitchFamily="34" charset="-120"/>
                        </a:rPr>
                        <a:t>0</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l">
                        <a:buNone/>
                      </a:pPr>
                      <a:r>
                        <a:rPr lang="en-US" sz="2400" dirty="0">
                          <a:solidFill>
                            <a:srgbClr val="262626"/>
                          </a:solidFill>
                          <a:latin typeface="Calibri" pitchFamily="34" charset="0"/>
                          <a:ea typeface="Calibri" pitchFamily="34" charset="-122"/>
                          <a:cs typeface="Calibri" pitchFamily="34" charset="-120"/>
                        </a:rPr>
                        <a:t>Register-reference (bits 11–0 individually decoded)</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77824">
                <a:tc>
                  <a:txBody>
                    <a:bodyPr/>
                    <a:lstStyle/>
                    <a:p>
                      <a:pPr marL="0" indent="0" algn="l">
                        <a:buNone/>
                      </a:pPr>
                      <a:r>
                        <a:rPr lang="en-US" sz="2400" dirty="0">
                          <a:solidFill>
                            <a:srgbClr val="262626"/>
                          </a:solidFill>
                          <a:latin typeface="Calibri" pitchFamily="34" charset="0"/>
                          <a:ea typeface="Calibri" pitchFamily="34" charset="-122"/>
                          <a:cs typeface="Calibri" pitchFamily="34" charset="-120"/>
                        </a:rPr>
                        <a:t>111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400" dirty="0">
                          <a:solidFill>
                            <a:srgbClr val="262626"/>
                          </a:solidFill>
                          <a:latin typeface="Calibri" pitchFamily="34" charset="0"/>
                          <a:ea typeface="Calibri" pitchFamily="34" charset="-122"/>
                          <a:cs typeface="Calibri" pitchFamily="34" charset="-120"/>
                        </a:rPr>
                        <a:t>1</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l">
                        <a:buNone/>
                      </a:pPr>
                      <a:r>
                        <a:rPr lang="en-US" sz="2400" dirty="0">
                          <a:solidFill>
                            <a:srgbClr val="262626"/>
                          </a:solidFill>
                          <a:latin typeface="Calibri" pitchFamily="34" charset="0"/>
                          <a:ea typeface="Calibri" pitchFamily="34" charset="-122"/>
                          <a:cs typeface="Calibri" pitchFamily="34" charset="-120"/>
                        </a:rPr>
                        <a:t>Input-output (bits 11–0 individually decoded)</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3"/>
                  </a:ext>
                </a:extLst>
              </a:tr>
            </a:tbl>
          </a:graphicData>
        </a:graphic>
      </p:graphicFrame>
      <p:sp>
        <p:nvSpPr>
          <p:cNvPr id="6" name="Text 2"/>
          <p:cNvSpPr txBox="1"/>
          <p:nvPr/>
        </p:nvSpPr>
        <p:spPr>
          <a:xfrm>
            <a:off x="640080" y="4608576"/>
            <a:ext cx="10911535" cy="1700784"/>
          </a:xfrm>
          <a:prstGeom prst="rect">
            <a:avLst/>
          </a:prstGeom>
          <a:noFill/>
          <a:ln/>
        </p:spPr>
        <p:txBody>
          <a:bodyPr wrap="square" lIns="0" tIns="0" rIns="0" bIns="0" rtlCol="0" anchor="t"/>
          <a:lstStyle/>
          <a:p>
            <a:pPr marL="304800" indent="-304800" algn="l">
              <a:spcAft>
                <a:spcPts val="1000"/>
              </a:spcAft>
              <a:buSzPct val="100000"/>
              <a:buChar char="•"/>
            </a:pPr>
            <a:r>
              <a:rPr lang="en-US" sz="2400" dirty="0">
                <a:solidFill>
                  <a:srgbClr val="262626"/>
                </a:solidFill>
                <a:latin typeface="Calibri" pitchFamily="34" charset="0"/>
                <a:ea typeface="Calibri" pitchFamily="34" charset="-122"/>
                <a:cs typeface="Calibri" pitchFamily="34" charset="-120"/>
              </a:rPr>
              <a:t>Indirect addressing (I = 1) only means something for a memory-reference instruction</a:t>
            </a:r>
            <a:endParaRPr lang="en-US" sz="2400" dirty="0"/>
          </a:p>
          <a:p>
            <a:pPr marL="304800" indent="-304800" algn="l">
              <a:spcAft>
                <a:spcPts val="1000"/>
              </a:spcAft>
              <a:buSzPct val="100000"/>
              <a:buChar char="•"/>
            </a:pPr>
            <a:r>
              <a:rPr lang="en-US" sz="2400" dirty="0">
                <a:solidFill>
                  <a:srgbClr val="262626"/>
                </a:solidFill>
                <a:latin typeface="Calibri" pitchFamily="34" charset="0"/>
                <a:ea typeface="Calibri" pitchFamily="34" charset="-122"/>
                <a:cs typeface="Calibri" pitchFamily="34" charset="-120"/>
              </a:rPr>
              <a:t>For opcode 111 the same bit switches between register-reference and I/O</a:t>
            </a:r>
            <a:endParaRPr lang="en-US" sz="2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3.9  Computer Registers</a:t>
            </a:r>
            <a:endParaRPr lang="en-US" sz="3000" dirty="0"/>
          </a:p>
        </p:txBody>
      </p:sp>
      <p:sp>
        <p:nvSpPr>
          <p:cNvPr id="4" name="Text 1"/>
          <p:cNvSpPr txBox="1"/>
          <p:nvPr/>
        </p:nvSpPr>
        <p:spPr>
          <a:xfrm>
            <a:off x="914400" y="1417320"/>
            <a:ext cx="5486400" cy="365760"/>
          </a:xfrm>
          <a:prstGeom prst="rect">
            <a:avLst/>
          </a:prstGeom>
          <a:noFill/>
          <a:ln/>
        </p:spPr>
        <p:txBody>
          <a:bodyPr wrap="square" lIns="0" tIns="0" rIns="0" bIns="0" rtlCol="0" anchor="ctr"/>
          <a:lstStyle/>
          <a:p>
            <a:pPr marL="0" indent="0">
              <a:buNone/>
            </a:pPr>
            <a:r>
              <a:rPr lang="en-US" sz="2000" b="1" dirty="0">
                <a:solidFill>
                  <a:srgbClr val="1565C0"/>
                </a:solidFill>
                <a:latin typeface="Calibri" pitchFamily="34" charset="0"/>
                <a:ea typeface="Calibri" pitchFamily="34" charset="-122"/>
                <a:cs typeface="Calibri" pitchFamily="34" charset="-120"/>
              </a:rPr>
              <a:t>IN SIMPLE TERMS</a:t>
            </a:r>
            <a:endParaRPr lang="en-US" sz="2000" dirty="0"/>
          </a:p>
        </p:txBody>
      </p:sp>
      <p:sp>
        <p:nvSpPr>
          <p:cNvPr id="5" name="Text 2"/>
          <p:cNvSpPr txBox="1"/>
          <p:nvPr/>
        </p:nvSpPr>
        <p:spPr>
          <a:xfrm>
            <a:off x="914400" y="1920240"/>
            <a:ext cx="10362895" cy="3566160"/>
          </a:xfrm>
          <a:prstGeom prst="roundRect">
            <a:avLst>
              <a:gd name="adj" fmla="val 3846"/>
            </a:avLst>
          </a:prstGeom>
          <a:solidFill>
            <a:srgbClr val="FFF3E0"/>
          </a:solidFill>
          <a:ln w="31750">
            <a:solidFill>
              <a:srgbClr val="FF8F00"/>
            </a:solidFill>
          </a:ln>
        </p:spPr>
        <p:txBody>
          <a:bodyPr wrap="square" lIns="304800" tIns="457200" rIns="457200" bIns="304800" rtlCol="0" anchor="ctr"/>
          <a:lstStyle/>
          <a:p>
            <a:pPr marL="0" indent="0" algn="l">
              <a:buNone/>
            </a:pPr>
            <a:r>
              <a:rPr lang="en-US" sz="3400" dirty="0">
                <a:solidFill>
                  <a:srgbClr val="262626"/>
                </a:solidFill>
                <a:latin typeface="Calibri" pitchFamily="34" charset="0"/>
                <a:ea typeface="Calibri" pitchFamily="34" charset="-122"/>
                <a:cs typeface="Calibri" pitchFamily="34" charset="-120"/>
              </a:rPr>
              <a:t>The Basic Computer has a handful of registers and one memory, all sharing a single 16-bit bus. Three select lines choose who talks on the bus; a load signal chooses who listens.</a:t>
            </a:r>
            <a:endParaRPr lang="en-US" sz="3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The register set</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3.9</a:t>
            </a:r>
            <a:endParaRPr lang="en-US" sz="160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563728" y="1188720"/>
          <a:ext cx="11064240" cy="914400"/>
        </p:xfrm>
        <a:graphic>
          <a:graphicData uri="http://schemas.openxmlformats.org/drawingml/2006/table">
            <a:tbl>
              <a:tblPr/>
              <a:tblGrid>
                <a:gridCol w="164592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8321040">
                  <a:extLst>
                    <a:ext uri="{9D8B030D-6E8A-4147-A177-3AD203B41FA5}">
                      <a16:colId xmlns:a16="http://schemas.microsoft.com/office/drawing/2014/main" val="20002"/>
                    </a:ext>
                  </a:extLst>
                </a:gridCol>
              </a:tblGrid>
              <a:tr h="451104">
                <a:tc>
                  <a:txBody>
                    <a:bodyPr/>
                    <a:lstStyle/>
                    <a:p>
                      <a:pPr marL="0" indent="0" algn="l">
                        <a:buNone/>
                      </a:pPr>
                      <a:r>
                        <a:rPr lang="en-US" sz="2000" b="1" dirty="0">
                          <a:solidFill>
                            <a:srgbClr val="FFFFFF"/>
                          </a:solidFill>
                          <a:latin typeface="Calibri" pitchFamily="34" charset="0"/>
                          <a:ea typeface="Calibri" pitchFamily="34" charset="-122"/>
                          <a:cs typeface="Calibri" pitchFamily="34" charset="-120"/>
                        </a:rPr>
                        <a:t>Register</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Bits</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l">
                        <a:buNone/>
                      </a:pPr>
                      <a:r>
                        <a:rPr lang="en-US" sz="2000" b="1" dirty="0">
                          <a:solidFill>
                            <a:srgbClr val="FFFFFF"/>
                          </a:solidFill>
                          <a:latin typeface="Calibri" pitchFamily="34" charset="0"/>
                          <a:ea typeface="Calibri" pitchFamily="34" charset="-122"/>
                          <a:cs typeface="Calibri" pitchFamily="34" charset="-120"/>
                        </a:rPr>
                        <a:t>Function</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extLst>
                  <a:ext uri="{0D108BD9-81ED-4DB2-BD59-A6C34878D82A}">
                    <a16:rowId xmlns:a16="http://schemas.microsoft.com/office/drawing/2014/main" val="10000"/>
                  </a:ext>
                </a:extLst>
              </a:tr>
              <a:tr h="451104">
                <a:tc>
                  <a:txBody>
                    <a:bodyPr/>
                    <a:lstStyle/>
                    <a:p>
                      <a:pPr marL="0" indent="0" algn="l">
                        <a:buNone/>
                      </a:pPr>
                      <a:r>
                        <a:rPr lang="en-US" sz="2000" b="1" dirty="0">
                          <a:solidFill>
                            <a:srgbClr val="262626"/>
                          </a:solidFill>
                          <a:latin typeface="Calibri" pitchFamily="34" charset="0"/>
                          <a:ea typeface="Calibri" pitchFamily="34" charset="-122"/>
                          <a:cs typeface="Calibri" pitchFamily="34" charset="-120"/>
                        </a:rPr>
                        <a:t>DR</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16</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Data Register: the memory operand being worked with</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1"/>
                  </a:ext>
                </a:extLst>
              </a:tr>
              <a:tr h="451104">
                <a:tc>
                  <a:txBody>
                    <a:bodyPr/>
                    <a:lstStyle/>
                    <a:p>
                      <a:pPr marL="0" indent="0" algn="l">
                        <a:buNone/>
                      </a:pPr>
                      <a:r>
                        <a:rPr lang="en-US" sz="2000" b="1" dirty="0">
                          <a:solidFill>
                            <a:srgbClr val="262626"/>
                          </a:solidFill>
                          <a:latin typeface="Calibri" pitchFamily="34" charset="0"/>
                          <a:ea typeface="Calibri" pitchFamily="34" charset="-122"/>
                          <a:cs typeface="Calibri" pitchFamily="34" charset="-120"/>
                        </a:rPr>
                        <a:t>AR</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12</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Address Register: the memory address for the current access</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1104">
                <a:tc>
                  <a:txBody>
                    <a:bodyPr/>
                    <a:lstStyle/>
                    <a:p>
                      <a:pPr marL="0" indent="0" algn="l">
                        <a:buNone/>
                      </a:pPr>
                      <a:r>
                        <a:rPr lang="en-US" sz="2000" b="1" dirty="0">
                          <a:solidFill>
                            <a:srgbClr val="262626"/>
                          </a:solidFill>
                          <a:latin typeface="Calibri" pitchFamily="34" charset="0"/>
                          <a:ea typeface="Calibri" pitchFamily="34" charset="-122"/>
                          <a:cs typeface="Calibri" pitchFamily="34" charset="-120"/>
                        </a:rPr>
                        <a:t>AC</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16</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Accumulator: the general-purpose register most operations use</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3"/>
                  </a:ext>
                </a:extLst>
              </a:tr>
              <a:tr h="451104">
                <a:tc>
                  <a:txBody>
                    <a:bodyPr/>
                    <a:lstStyle/>
                    <a:p>
                      <a:pPr marL="0" indent="0" algn="l">
                        <a:buNone/>
                      </a:pPr>
                      <a:r>
                        <a:rPr lang="en-US" sz="2000" b="1" dirty="0">
                          <a:solidFill>
                            <a:srgbClr val="262626"/>
                          </a:solidFill>
                          <a:latin typeface="Calibri" pitchFamily="34" charset="0"/>
                          <a:ea typeface="Calibri" pitchFamily="34" charset="-122"/>
                          <a:cs typeface="Calibri" pitchFamily="34" charset="-120"/>
                        </a:rPr>
                        <a:t>IR</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16</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Instruction Register: the instruction being executed</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1104">
                <a:tc>
                  <a:txBody>
                    <a:bodyPr/>
                    <a:lstStyle/>
                    <a:p>
                      <a:pPr marL="0" indent="0" algn="l">
                        <a:buNone/>
                      </a:pPr>
                      <a:r>
                        <a:rPr lang="en-US" sz="2000" b="1" dirty="0">
                          <a:solidFill>
                            <a:srgbClr val="262626"/>
                          </a:solidFill>
                          <a:latin typeface="Calibri" pitchFamily="34" charset="0"/>
                          <a:ea typeface="Calibri" pitchFamily="34" charset="-122"/>
                          <a:cs typeface="Calibri" pitchFamily="34" charset="-120"/>
                        </a:rPr>
                        <a:t>PC</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12</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Program Counter: address of the next instruction</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5"/>
                  </a:ext>
                </a:extLst>
              </a:tr>
              <a:tr h="451104">
                <a:tc>
                  <a:txBody>
                    <a:bodyPr/>
                    <a:lstStyle/>
                    <a:p>
                      <a:pPr marL="0" indent="0" algn="l">
                        <a:buNone/>
                      </a:pPr>
                      <a:r>
                        <a:rPr lang="en-US" sz="2000" b="1" dirty="0">
                          <a:solidFill>
                            <a:srgbClr val="262626"/>
                          </a:solidFill>
                          <a:latin typeface="Calibri" pitchFamily="34" charset="0"/>
                          <a:ea typeface="Calibri" pitchFamily="34" charset="-122"/>
                          <a:cs typeface="Calibri" pitchFamily="34" charset="-120"/>
                        </a:rPr>
                        <a:t>TR</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16</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Temporary Register: intermediate values</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51104">
                <a:tc>
                  <a:txBody>
                    <a:bodyPr/>
                    <a:lstStyle/>
                    <a:p>
                      <a:pPr marL="0" indent="0" algn="l">
                        <a:buNone/>
                      </a:pPr>
                      <a:r>
                        <a:rPr lang="en-US" sz="2000" b="1" dirty="0">
                          <a:solidFill>
                            <a:srgbClr val="262626"/>
                          </a:solidFill>
                          <a:latin typeface="Calibri" pitchFamily="34" charset="0"/>
                          <a:ea typeface="Calibri" pitchFamily="34" charset="-122"/>
                          <a:cs typeface="Calibri" pitchFamily="34" charset="-120"/>
                        </a:rPr>
                        <a:t>INPR</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8</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Input Register: one character from an input device</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7"/>
                  </a:ext>
                </a:extLst>
              </a:tr>
              <a:tr h="451104">
                <a:tc>
                  <a:txBody>
                    <a:bodyPr/>
                    <a:lstStyle/>
                    <a:p>
                      <a:pPr marL="0" indent="0" algn="l">
                        <a:buNone/>
                      </a:pPr>
                      <a:r>
                        <a:rPr lang="en-US" sz="2000" b="1" dirty="0">
                          <a:solidFill>
                            <a:srgbClr val="262626"/>
                          </a:solidFill>
                          <a:latin typeface="Calibri" pitchFamily="34" charset="0"/>
                          <a:ea typeface="Calibri" pitchFamily="34" charset="-122"/>
                          <a:cs typeface="Calibri" pitchFamily="34" charset="-120"/>
                        </a:rPr>
                        <a:t>OUTR</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8</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Output Register: one character for an output device</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451104">
                <a:tc>
                  <a:txBody>
                    <a:bodyPr/>
                    <a:lstStyle/>
                    <a:p>
                      <a:pPr marL="0" indent="0" algn="l">
                        <a:buNone/>
                      </a:pPr>
                      <a:r>
                        <a:rPr lang="en-US" sz="2000" b="1" dirty="0">
                          <a:solidFill>
                            <a:srgbClr val="262626"/>
                          </a:solidFill>
                          <a:latin typeface="Calibri" pitchFamily="34" charset="0"/>
                          <a:ea typeface="Calibri" pitchFamily="34" charset="-122"/>
                          <a:cs typeface="Calibri" pitchFamily="34" charset="-120"/>
                        </a:rPr>
                        <a:t>SC</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4</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Sequence Counter: times the control unit; not programmer-visible</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9"/>
                  </a:ext>
                </a:extLst>
              </a:tr>
            </a:tbl>
          </a:graphicData>
        </a:graphic>
      </p:graphicFrame>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Control flip-flops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3.9</a:t>
            </a:r>
            <a:endParaRPr lang="en-US" sz="160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563728" y="1188720"/>
          <a:ext cx="11064240" cy="914400"/>
        </p:xfrm>
        <a:graphic>
          <a:graphicData uri="http://schemas.openxmlformats.org/drawingml/2006/table">
            <a:tbl>
              <a:tblPr/>
              <a:tblGrid>
                <a:gridCol w="1828800">
                  <a:extLst>
                    <a:ext uri="{9D8B030D-6E8A-4147-A177-3AD203B41FA5}">
                      <a16:colId xmlns:a16="http://schemas.microsoft.com/office/drawing/2014/main" val="20000"/>
                    </a:ext>
                  </a:extLst>
                </a:gridCol>
                <a:gridCol w="9235440">
                  <a:extLst>
                    <a:ext uri="{9D8B030D-6E8A-4147-A177-3AD203B41FA5}">
                      <a16:colId xmlns:a16="http://schemas.microsoft.com/office/drawing/2014/main" val="20001"/>
                    </a:ext>
                  </a:extLst>
                </a:gridCol>
              </a:tblGrid>
              <a:tr h="451104">
                <a:tc>
                  <a:txBody>
                    <a:bodyPr/>
                    <a:lstStyle/>
                    <a:p>
                      <a:pPr marL="0" indent="0" algn="l">
                        <a:buNone/>
                      </a:pPr>
                      <a:r>
                        <a:rPr lang="en-US" sz="2000" b="1" dirty="0">
                          <a:solidFill>
                            <a:srgbClr val="FFFFFF"/>
                          </a:solidFill>
                          <a:latin typeface="Calibri" pitchFamily="34" charset="0"/>
                          <a:ea typeface="Calibri" pitchFamily="34" charset="-122"/>
                          <a:cs typeface="Calibri" pitchFamily="34" charset="-120"/>
                        </a:rPr>
                        <a:t>Flip-flop</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l">
                        <a:buNone/>
                      </a:pPr>
                      <a:r>
                        <a:rPr lang="en-US" sz="2000" b="1" dirty="0">
                          <a:solidFill>
                            <a:srgbClr val="FFFFFF"/>
                          </a:solidFill>
                          <a:latin typeface="Calibri" pitchFamily="34" charset="0"/>
                          <a:ea typeface="Calibri" pitchFamily="34" charset="-122"/>
                          <a:cs typeface="Calibri" pitchFamily="34" charset="-120"/>
                        </a:rPr>
                        <a:t>Meaning</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extLst>
                  <a:ext uri="{0D108BD9-81ED-4DB2-BD59-A6C34878D82A}">
                    <a16:rowId xmlns:a16="http://schemas.microsoft.com/office/drawing/2014/main" val="10000"/>
                  </a:ext>
                </a:extLst>
              </a:tr>
              <a:tr h="451104">
                <a:tc>
                  <a:txBody>
                    <a:bodyPr/>
                    <a:lstStyle/>
                    <a:p>
                      <a:pPr marL="0" indent="0" algn="l">
                        <a:buNone/>
                      </a:pPr>
                      <a:r>
                        <a:rPr lang="en-US" sz="2000" b="1" dirty="0">
                          <a:solidFill>
                            <a:srgbClr val="262626"/>
                          </a:solidFill>
                          <a:latin typeface="Calibri" pitchFamily="34" charset="0"/>
                          <a:ea typeface="Calibri" pitchFamily="34" charset="-122"/>
                          <a:cs typeface="Calibri" pitchFamily="34" charset="-120"/>
                        </a:rPr>
                        <a:t>I</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Indirect-addressing bit of the current instruction</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1"/>
                  </a:ext>
                </a:extLst>
              </a:tr>
              <a:tr h="451104">
                <a:tc>
                  <a:txBody>
                    <a:bodyPr/>
                    <a:lstStyle/>
                    <a:p>
                      <a:pPr marL="0" indent="0" algn="l">
                        <a:buNone/>
                      </a:pPr>
                      <a:r>
                        <a:rPr lang="en-US" sz="2000" b="1" dirty="0">
                          <a:solidFill>
                            <a:srgbClr val="262626"/>
                          </a:solidFill>
                          <a:latin typeface="Calibri" pitchFamily="34" charset="0"/>
                          <a:ea typeface="Calibri" pitchFamily="34" charset="-122"/>
                          <a:cs typeface="Calibri" pitchFamily="34" charset="-120"/>
                        </a:rPr>
                        <a:t>S</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Start/stop: clearing it halts the clock</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1104">
                <a:tc>
                  <a:txBody>
                    <a:bodyPr/>
                    <a:lstStyle/>
                    <a:p>
                      <a:pPr marL="0" indent="0" algn="l">
                        <a:buNone/>
                      </a:pPr>
                      <a:r>
                        <a:rPr lang="en-US" sz="2000" b="1" dirty="0">
                          <a:solidFill>
                            <a:srgbClr val="262626"/>
                          </a:solidFill>
                          <a:latin typeface="Calibri" pitchFamily="34" charset="0"/>
                          <a:ea typeface="Calibri" pitchFamily="34" charset="-122"/>
                          <a:cs typeface="Calibri" pitchFamily="34" charset="-120"/>
                        </a:rPr>
                        <a:t>E</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Extended AC bit: carry-out of addition, extra bit in a circular shift</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3"/>
                  </a:ext>
                </a:extLst>
              </a:tr>
              <a:tr h="451104">
                <a:tc>
                  <a:txBody>
                    <a:bodyPr/>
                    <a:lstStyle/>
                    <a:p>
                      <a:pPr marL="0" indent="0" algn="l">
                        <a:buNone/>
                      </a:pPr>
                      <a:r>
                        <a:rPr lang="en-US" sz="2000" b="1" dirty="0">
                          <a:solidFill>
                            <a:srgbClr val="262626"/>
                          </a:solidFill>
                          <a:latin typeface="Calibri" pitchFamily="34" charset="0"/>
                          <a:ea typeface="Calibri" pitchFamily="34" charset="-122"/>
                          <a:cs typeface="Calibri" pitchFamily="34" charset="-120"/>
                        </a:rPr>
                        <a:t>R</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Interrupt flip-flop: an interrupt is pending and about to be serviced</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1104">
                <a:tc>
                  <a:txBody>
                    <a:bodyPr/>
                    <a:lstStyle/>
                    <a:p>
                      <a:pPr marL="0" indent="0" algn="l">
                        <a:buNone/>
                      </a:pPr>
                      <a:r>
                        <a:rPr lang="en-US" sz="2000" b="1" dirty="0">
                          <a:solidFill>
                            <a:srgbClr val="262626"/>
                          </a:solidFill>
                          <a:latin typeface="Calibri" pitchFamily="34" charset="0"/>
                          <a:ea typeface="Calibri" pitchFamily="34" charset="-122"/>
                          <a:cs typeface="Calibri" pitchFamily="34" charset="-120"/>
                        </a:rPr>
                        <a:t>IEN</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Interrupt Enable: master switch for interrupts</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5"/>
                  </a:ext>
                </a:extLst>
              </a:tr>
              <a:tr h="451104">
                <a:tc>
                  <a:txBody>
                    <a:bodyPr/>
                    <a:lstStyle/>
                    <a:p>
                      <a:pPr marL="0" indent="0" algn="l">
                        <a:buNone/>
                      </a:pPr>
                      <a:r>
                        <a:rPr lang="en-US" sz="2000" b="1" dirty="0">
                          <a:solidFill>
                            <a:srgbClr val="262626"/>
                          </a:solidFill>
                          <a:latin typeface="Calibri" pitchFamily="34" charset="0"/>
                          <a:ea typeface="Calibri" pitchFamily="34" charset="-122"/>
                          <a:cs typeface="Calibri" pitchFamily="34" charset="-120"/>
                        </a:rPr>
                        <a:t>FGI</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Input flag: a new character is ready in INPR</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51104">
                <a:tc>
                  <a:txBody>
                    <a:bodyPr/>
                    <a:lstStyle/>
                    <a:p>
                      <a:pPr marL="0" indent="0" algn="l">
                        <a:buNone/>
                      </a:pPr>
                      <a:r>
                        <a:rPr lang="en-US" sz="2000" b="1" dirty="0">
                          <a:solidFill>
                            <a:srgbClr val="262626"/>
                          </a:solidFill>
                          <a:latin typeface="Calibri" pitchFamily="34" charset="0"/>
                          <a:ea typeface="Calibri" pitchFamily="34" charset="-122"/>
                          <a:cs typeface="Calibri" pitchFamily="34" charset="-120"/>
                        </a:rPr>
                        <a:t>FGO</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Output flag: the output device can accept a character in OUTR</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7"/>
                  </a:ext>
                </a:extLst>
              </a:tr>
            </a:tbl>
          </a:graphicData>
        </a:graphic>
      </p:graphicFrame>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Registers on one common bus</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3.9</a:t>
            </a:r>
            <a:endParaRPr lang="en-US" sz="1600" dirty="0"/>
          </a:p>
        </p:txBody>
      </p:sp>
      <p:pic>
        <p:nvPicPr>
          <p:cNvPr id="5" name="Image 0" descr="/home/claude/figs/3.9_computer-registers_fig1.png"/>
          <p:cNvPicPr>
            <a:picLocks noChangeAspect="1"/>
          </p:cNvPicPr>
          <p:nvPr/>
        </p:nvPicPr>
        <p:blipFill>
          <a:blip r:embed="rId3"/>
          <a:stretch>
            <a:fillRect/>
          </a:stretch>
        </p:blipFill>
        <p:spPr>
          <a:xfrm>
            <a:off x="411480" y="621792"/>
            <a:ext cx="4242816" cy="5705856"/>
          </a:xfrm>
          <a:prstGeom prst="rect">
            <a:avLst/>
          </a:prstGeom>
        </p:spPr>
      </p:pic>
      <p:sp>
        <p:nvSpPr>
          <p:cNvPr id="6" name="Text 2"/>
          <p:cNvSpPr txBox="1"/>
          <p:nvPr/>
        </p:nvSpPr>
        <p:spPr>
          <a:xfrm>
            <a:off x="5020056" y="713232"/>
            <a:ext cx="6760159" cy="5522976"/>
          </a:xfrm>
          <a:prstGeom prst="roundRect">
            <a:avLst>
              <a:gd name="adj" fmla="val 1987"/>
            </a:avLst>
          </a:prstGeom>
          <a:solidFill>
            <a:srgbClr val="EAF2FB"/>
          </a:solidFill>
          <a:ln w="6350">
            <a:solidFill>
              <a:srgbClr val="EAF2FB"/>
            </a:solidFill>
          </a:ln>
        </p:spPr>
        <p:txBody>
          <a:bodyPr wrap="square" lIns="203200" tIns="279400" rIns="279400" bIns="203200" rtlCol="0" anchor="ctr"/>
          <a:lstStyle/>
          <a:p>
            <a:pPr marL="304800" indent="-304800" algn="l">
              <a:spcAft>
                <a:spcPts val="1000"/>
              </a:spcAft>
              <a:buSzPct val="100000"/>
              <a:buChar char="•"/>
            </a:pPr>
            <a:r>
              <a:rPr lang="en-US" sz="2600" dirty="0">
                <a:solidFill>
                  <a:srgbClr val="262626"/>
                </a:solidFill>
                <a:latin typeface="Calibri" pitchFamily="34" charset="0"/>
                <a:ea typeface="Calibri" pitchFamily="34" charset="-122"/>
                <a:cs typeface="Calibri" pitchFamily="34" charset="-120"/>
              </a:rPr>
              <a:t>S₂S₁S₀ pick the bus source: 1 = AR, 2 = PC, 3 = DR, 4 = AC, 5 = IR, 6 = TR, 7 = memory</a:t>
            </a:r>
            <a:endParaRPr lang="en-US" sz="2600" dirty="0"/>
          </a:p>
          <a:p>
            <a:pPr marL="304800" indent="-304800" algn="l">
              <a:spcAft>
                <a:spcPts val="1000"/>
              </a:spcAft>
              <a:buSzPct val="100000"/>
              <a:buChar char="•"/>
            </a:pPr>
            <a:r>
              <a:rPr lang="en-US" sz="2600" dirty="0">
                <a:solidFill>
                  <a:srgbClr val="262626"/>
                </a:solidFill>
                <a:latin typeface="Calibri" pitchFamily="34" charset="0"/>
                <a:ea typeface="Calibri" pitchFamily="34" charset="-122"/>
                <a:cs typeface="Calibri" pitchFamily="34" charset="-120"/>
              </a:rPr>
              <a:t>AR alone supplies the memory address</a:t>
            </a:r>
            <a:endParaRPr lang="en-US" sz="2600" dirty="0"/>
          </a:p>
          <a:p>
            <a:pPr marL="304800" indent="-304800" algn="l">
              <a:spcAft>
                <a:spcPts val="1000"/>
              </a:spcAft>
              <a:buSzPct val="100000"/>
              <a:buChar char="•"/>
            </a:pPr>
            <a:r>
              <a:rPr lang="en-US" sz="2600" dirty="0">
                <a:solidFill>
                  <a:srgbClr val="262626"/>
                </a:solidFill>
                <a:latin typeface="Calibri" pitchFamily="34" charset="0"/>
                <a:ea typeface="Calibri" pitchFamily="34" charset="-122"/>
                <a:cs typeface="Calibri" pitchFamily="34" charset="-120"/>
              </a:rPr>
              <a:t>AC loads from the adder and logic circuit, not the bus; the carry goes to E</a:t>
            </a:r>
            <a:endParaRPr lang="en-US" sz="2600" dirty="0"/>
          </a:p>
          <a:p>
            <a:pPr marL="304800" indent="-304800" algn="l">
              <a:spcAft>
                <a:spcPts val="1000"/>
              </a:spcAft>
              <a:buSzPct val="100000"/>
              <a:buChar char="•"/>
            </a:pPr>
            <a:r>
              <a:rPr lang="en-US" sz="2600" dirty="0">
                <a:solidFill>
                  <a:srgbClr val="262626"/>
                </a:solidFill>
                <a:latin typeface="Calibri" pitchFamily="34" charset="0"/>
                <a:ea typeface="Calibri" pitchFamily="34" charset="-122"/>
                <a:cs typeface="Calibri" pitchFamily="34" charset="-120"/>
              </a:rPr>
              <a:t>LD, INR, CLR load, increment and clear; IR and OUTR can only be loaded</a:t>
            </a:r>
            <a:endParaRPr lang="en-US" sz="2600" dirty="0"/>
          </a:p>
        </p:txBody>
      </p:sp>
      <p:sp>
        <p:nvSpPr>
          <p:cNvPr id="7" name="Text 3"/>
          <p:cNvSpPr txBox="1"/>
          <p:nvPr/>
        </p:nvSpPr>
        <p:spPr>
          <a:xfrm>
            <a:off x="411480" y="6355080"/>
            <a:ext cx="10424160" cy="457200"/>
          </a:xfrm>
          <a:prstGeom prst="rect">
            <a:avLst/>
          </a:prstGeom>
          <a:noFill/>
          <a:ln/>
        </p:spPr>
        <p:txBody>
          <a:bodyPr wrap="square" lIns="0" tIns="0" rIns="0" bIns="0" rtlCol="0" anchor="t"/>
          <a:lstStyle/>
          <a:p>
            <a:pPr marL="0" indent="0" algn="l">
              <a:buNone/>
            </a:pPr>
            <a:r>
              <a:rPr lang="en-US" sz="1400" dirty="0">
                <a:solidFill>
                  <a:srgbClr val="546E7A"/>
                </a:solidFill>
                <a:latin typeface="Calibri" pitchFamily="34" charset="0"/>
                <a:ea typeface="Calibri" pitchFamily="34" charset="-122"/>
                <a:cs typeface="Calibri" pitchFamily="34" charset="-120"/>
              </a:rPr>
              <a:t>Basic computer registers connected to a common bus. Adapted from M. Morris Mano, Computer System Architecture, Fig. 5-4.</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3.10  Computer Instructions</a:t>
            </a:r>
            <a:endParaRPr lang="en-US" sz="3000" dirty="0"/>
          </a:p>
        </p:txBody>
      </p:sp>
      <p:sp>
        <p:nvSpPr>
          <p:cNvPr id="4" name="Text 1"/>
          <p:cNvSpPr txBox="1"/>
          <p:nvPr/>
        </p:nvSpPr>
        <p:spPr>
          <a:xfrm>
            <a:off x="914400" y="1417320"/>
            <a:ext cx="5486400" cy="365760"/>
          </a:xfrm>
          <a:prstGeom prst="rect">
            <a:avLst/>
          </a:prstGeom>
          <a:noFill/>
          <a:ln/>
        </p:spPr>
        <p:txBody>
          <a:bodyPr wrap="square" lIns="0" tIns="0" rIns="0" bIns="0" rtlCol="0" anchor="ctr"/>
          <a:lstStyle/>
          <a:p>
            <a:pPr marL="0" indent="0">
              <a:buNone/>
            </a:pPr>
            <a:r>
              <a:rPr lang="en-US" sz="2000" b="1" dirty="0">
                <a:solidFill>
                  <a:srgbClr val="1565C0"/>
                </a:solidFill>
                <a:latin typeface="Calibri" pitchFamily="34" charset="0"/>
                <a:ea typeface="Calibri" pitchFamily="34" charset="-122"/>
                <a:cs typeface="Calibri" pitchFamily="34" charset="-120"/>
              </a:rPr>
              <a:t>IN SIMPLE TERMS</a:t>
            </a:r>
            <a:endParaRPr lang="en-US" sz="2000" dirty="0"/>
          </a:p>
        </p:txBody>
      </p:sp>
      <p:sp>
        <p:nvSpPr>
          <p:cNvPr id="5" name="Text 2"/>
          <p:cNvSpPr txBox="1"/>
          <p:nvPr/>
        </p:nvSpPr>
        <p:spPr>
          <a:xfrm>
            <a:off x="914400" y="1920240"/>
            <a:ext cx="10362895" cy="3566160"/>
          </a:xfrm>
          <a:prstGeom prst="roundRect">
            <a:avLst>
              <a:gd name="adj" fmla="val 3846"/>
            </a:avLst>
          </a:prstGeom>
          <a:solidFill>
            <a:srgbClr val="FFF3E0"/>
          </a:solidFill>
          <a:ln w="31750">
            <a:solidFill>
              <a:srgbClr val="FF8F00"/>
            </a:solidFill>
          </a:ln>
        </p:spPr>
        <p:txBody>
          <a:bodyPr wrap="square" lIns="304800" tIns="457200" rIns="457200" bIns="304800" rtlCol="0" anchor="ctr"/>
          <a:lstStyle/>
          <a:p>
            <a:pPr marL="0" indent="0" algn="l">
              <a:buNone/>
            </a:pPr>
            <a:r>
              <a:rPr lang="en-US" sz="3000" dirty="0">
                <a:solidFill>
                  <a:srgbClr val="262626"/>
                </a:solidFill>
                <a:latin typeface="Calibri" pitchFamily="34" charset="0"/>
                <a:ea typeface="Calibri" pitchFamily="34" charset="-122"/>
                <a:cs typeface="Calibri" pitchFamily="34" charset="-120"/>
              </a:rPr>
              <a:t>Opcodes 000–110 are memory instructions with an address; opcode 111 means “no address”. Then the I bit picks register instructions or I/O instructions, and one bit of the low 12 names the exact operation.</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How opcode 111 splits in two</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3.10</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marL="304800" indent="-304800" algn="l">
              <a:spcAft>
                <a:spcPts val="1000"/>
              </a:spcAft>
              <a:buSzPct val="100000"/>
              <a:buChar char="•"/>
            </a:pPr>
            <a:r>
              <a:rPr lang="en-US" sz="3000" dirty="0">
                <a:solidFill>
                  <a:srgbClr val="262626"/>
                </a:solidFill>
                <a:latin typeface="Calibri" pitchFamily="34" charset="0"/>
                <a:ea typeface="Calibri" pitchFamily="34" charset="-122"/>
                <a:cs typeface="Calibri" pitchFamily="34" charset="-120"/>
              </a:rPr>
              <a:t>Opcodes 000–110 are memory-reference: the address field points at an operand</a:t>
            </a:r>
            <a:endParaRPr lang="en-US" sz="3000" dirty="0"/>
          </a:p>
          <a:p>
            <a:pPr marL="304800" indent="-304800" algn="l">
              <a:spcAft>
                <a:spcPts val="1000"/>
              </a:spcAft>
              <a:buSzPct val="100000"/>
              <a:buChar char="•"/>
            </a:pPr>
            <a:r>
              <a:rPr lang="en-US" sz="3000" dirty="0">
                <a:solidFill>
                  <a:srgbClr val="262626"/>
                </a:solidFill>
                <a:latin typeface="Calibri" pitchFamily="34" charset="0"/>
                <a:ea typeface="Calibri" pitchFamily="34" charset="-122"/>
                <a:cs typeface="Calibri" pitchFamily="34" charset="-120"/>
              </a:rPr>
              <a:t>Opcode 111 means the instruction needs no memory address</a:t>
            </a:r>
            <a:endParaRPr lang="en-US" sz="3000" dirty="0"/>
          </a:p>
          <a:p>
            <a:pPr marL="304800" indent="-304800" algn="l">
              <a:spcAft>
                <a:spcPts val="1000"/>
              </a:spcAft>
              <a:buSzPct val="100000"/>
              <a:buChar char="•"/>
            </a:pPr>
            <a:r>
              <a:rPr lang="en-US" sz="3000" dirty="0">
                <a:solidFill>
                  <a:srgbClr val="262626"/>
                </a:solidFill>
                <a:latin typeface="Calibri" pitchFamily="34" charset="0"/>
                <a:ea typeface="Calibri" pitchFamily="34" charset="-122"/>
                <a:cs typeface="Calibri" pitchFamily="34" charset="-120"/>
              </a:rPr>
              <a:t>Its 12 bits become individual one-hot flags</a:t>
            </a:r>
            <a:endParaRPr lang="en-US" sz="3000" dirty="0"/>
          </a:p>
          <a:p>
            <a:pPr marL="304800" indent="-304800" algn="l">
              <a:spcAft>
                <a:spcPts val="1000"/>
              </a:spcAft>
              <a:buSzPct val="100000"/>
              <a:buChar char="•"/>
            </a:pPr>
            <a:r>
              <a:rPr lang="en-US" sz="3000" dirty="0">
                <a:solidFill>
                  <a:srgbClr val="262626"/>
                </a:solidFill>
                <a:latin typeface="Calibri" pitchFamily="34" charset="0"/>
                <a:ea typeface="Calibri" pitchFamily="34" charset="-122"/>
                <a:cs typeface="Calibri" pitchFamily="34" charset="-120"/>
              </a:rPr>
              <a:t>The </a:t>
            </a:r>
            <a:r>
              <a:rPr lang="en-US" sz="3000" b="1" dirty="0">
                <a:solidFill>
                  <a:srgbClr val="262626"/>
                </a:solidFill>
                <a:latin typeface="Calibri" pitchFamily="34" charset="0"/>
                <a:ea typeface="Calibri" pitchFamily="34" charset="-122"/>
                <a:cs typeface="Calibri" pitchFamily="34" charset="-120"/>
              </a:rPr>
              <a:t>I</a:t>
            </a:r>
            <a:r>
              <a:rPr lang="en-US" sz="3000" dirty="0">
                <a:solidFill>
                  <a:srgbClr val="262626"/>
                </a:solidFill>
                <a:latin typeface="Calibri" pitchFamily="34" charset="0"/>
                <a:ea typeface="Calibri" pitchFamily="34" charset="-122"/>
                <a:cs typeface="Calibri" pitchFamily="34" charset="-120"/>
              </a:rPr>
              <a:t> bit (bit 15) picks the decoder: I = 0 register-reference, I = 1 input-output</a:t>
            </a:r>
            <a:endParaRPr lang="en-US" sz="3000" dirty="0"/>
          </a:p>
          <a:p>
            <a:pPr marL="304800" indent="-304800" algn="l">
              <a:spcAft>
                <a:spcPts val="1000"/>
              </a:spcAft>
              <a:buSzPct val="100000"/>
              <a:buChar char="•"/>
            </a:pPr>
            <a:r>
              <a:rPr lang="en-US" sz="3000" dirty="0">
                <a:solidFill>
                  <a:srgbClr val="262626"/>
                </a:solidFill>
                <a:latin typeface="Calibri" pitchFamily="34" charset="0"/>
                <a:ea typeface="Calibri" pitchFamily="34" charset="-122"/>
                <a:cs typeface="Calibri" pitchFamily="34" charset="-120"/>
              </a:rPr>
              <a:t>25 instructions in total, in three families</a:t>
            </a:r>
            <a:endParaRPr lang="en-US" sz="3000" dirty="0"/>
          </a:p>
          <a:p>
            <a:pPr marL="304800" indent="-304800" algn="l">
              <a:spcAft>
                <a:spcPts val="1000"/>
              </a:spcAft>
              <a:buSzPct val="100000"/>
              <a:buChar char="•"/>
            </a:pPr>
            <a:r>
              <a:rPr lang="en-US" sz="3000" dirty="0">
                <a:solidFill>
                  <a:srgbClr val="262626"/>
                </a:solidFill>
                <a:latin typeface="Calibri" pitchFamily="34" charset="0"/>
                <a:ea typeface="Calibri" pitchFamily="34" charset="-122"/>
                <a:cs typeface="Calibri" pitchFamily="34" charset="-120"/>
              </a:rPr>
              <a:t>The control unit tests opcode 111, the I bit and one of bits 11–0</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Basic computer instruction formats</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3.10</a:t>
            </a:r>
            <a:endParaRPr lang="en-US" sz="1600" dirty="0"/>
          </a:p>
        </p:txBody>
      </p:sp>
      <p:pic>
        <p:nvPicPr>
          <p:cNvPr id="5" name="Image 0" descr="/home/claude/figs/3.10_computer-instructions_fig1.png"/>
          <p:cNvPicPr>
            <a:picLocks noChangeAspect="1"/>
          </p:cNvPicPr>
          <p:nvPr/>
        </p:nvPicPr>
        <p:blipFill>
          <a:blip r:embed="rId3"/>
          <a:stretch>
            <a:fillRect/>
          </a:stretch>
        </p:blipFill>
        <p:spPr>
          <a:xfrm>
            <a:off x="389992" y="621792"/>
            <a:ext cx="11411712" cy="5705856"/>
          </a:xfrm>
          <a:prstGeom prst="rect">
            <a:avLst/>
          </a:prstGeom>
        </p:spPr>
      </p:pic>
      <p:sp>
        <p:nvSpPr>
          <p:cNvPr id="6" name="Text 2"/>
          <p:cNvSpPr txBox="1"/>
          <p:nvPr/>
        </p:nvSpPr>
        <p:spPr>
          <a:xfrm>
            <a:off x="411480" y="6355080"/>
            <a:ext cx="10424160" cy="457200"/>
          </a:xfrm>
          <a:prstGeom prst="rect">
            <a:avLst/>
          </a:prstGeom>
          <a:noFill/>
          <a:ln/>
        </p:spPr>
        <p:txBody>
          <a:bodyPr wrap="square" lIns="0" tIns="0" rIns="0" bIns="0" rtlCol="0" anchor="t"/>
          <a:lstStyle/>
          <a:p>
            <a:pPr marL="0" indent="0" algn="ctr">
              <a:buNone/>
            </a:pPr>
            <a:r>
              <a:rPr lang="en-US" sz="1400" dirty="0">
                <a:solidFill>
                  <a:srgbClr val="546E7A"/>
                </a:solidFill>
                <a:latin typeface="Calibri" pitchFamily="34" charset="0"/>
                <a:ea typeface="Calibri" pitchFamily="34" charset="-122"/>
                <a:cs typeface="Calibri" pitchFamily="34" charset="-120"/>
              </a:rPr>
              <a:t>Basic computer instruction formats. Adapted from M. Morris Mano, Computer System Architecture, Fig. 5-5.</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Memory-reference instructions (7)</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3.10</a:t>
            </a:r>
            <a:endParaRPr lang="en-US" sz="1600" dirty="0"/>
          </a:p>
        </p:txBody>
      </p:sp>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563728" y="1188720"/>
          <a:ext cx="11064240" cy="914400"/>
        </p:xfrm>
        <a:graphic>
          <a:graphicData uri="http://schemas.openxmlformats.org/drawingml/2006/table">
            <a:tbl>
              <a:tblPr/>
              <a:tblGrid>
                <a:gridCol w="173736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7589520">
                  <a:extLst>
                    <a:ext uri="{9D8B030D-6E8A-4147-A177-3AD203B41FA5}">
                      <a16:colId xmlns:a16="http://schemas.microsoft.com/office/drawing/2014/main" val="20002"/>
                    </a:ext>
                  </a:extLst>
                </a:gridCol>
              </a:tblGrid>
              <a:tr h="451104">
                <a:tc>
                  <a:txBody>
                    <a:bodyPr/>
                    <a:lstStyle/>
                    <a:p>
                      <a:pPr marL="0" indent="0" algn="l">
                        <a:buNone/>
                      </a:pPr>
                      <a:r>
                        <a:rPr lang="en-US" sz="2000" b="1" dirty="0">
                          <a:solidFill>
                            <a:srgbClr val="FFFFFF"/>
                          </a:solidFill>
                          <a:latin typeface="Calibri" pitchFamily="34" charset="0"/>
                          <a:ea typeface="Calibri" pitchFamily="34" charset="-122"/>
                          <a:cs typeface="Calibri" pitchFamily="34" charset="-120"/>
                        </a:rPr>
                        <a:t>Symbol</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Opcode</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l">
                        <a:buNone/>
                      </a:pPr>
                      <a:r>
                        <a:rPr lang="en-US" sz="2000" b="1" dirty="0">
                          <a:solidFill>
                            <a:srgbClr val="FFFFFF"/>
                          </a:solidFill>
                          <a:latin typeface="Calibri" pitchFamily="34" charset="0"/>
                          <a:ea typeface="Calibri" pitchFamily="34" charset="-122"/>
                          <a:cs typeface="Calibri" pitchFamily="34" charset="-120"/>
                        </a:rPr>
                        <a:t>Description</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extLst>
                  <a:ext uri="{0D108BD9-81ED-4DB2-BD59-A6C34878D82A}">
                    <a16:rowId xmlns:a16="http://schemas.microsoft.com/office/drawing/2014/main" val="10000"/>
                  </a:ext>
                </a:extLst>
              </a:tr>
              <a:tr h="451104">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AND</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000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AND memory word into AC</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1"/>
                  </a:ext>
                </a:extLst>
              </a:tr>
              <a:tr h="451104">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ADD</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001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Add memory word to AC; carry-out goes to E</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1104">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LDA</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010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Load AC from memory</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3"/>
                  </a:ext>
                </a:extLst>
              </a:tr>
              <a:tr h="451104">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STA</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011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Store AC into memory</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1104">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BUN</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100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Branch unconditionally to the address</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5"/>
                  </a:ext>
                </a:extLst>
              </a:tr>
              <a:tr h="451104">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BSA</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101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Branch and Save return Address (subroutine call)</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755904">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ISZ</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110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Increment memory word; skip next instruction if the result is zero</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7"/>
                  </a:ext>
                </a:extLst>
              </a:tr>
            </a:tbl>
          </a:graphicData>
        </a:graphic>
      </p:graphicFrame>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Register-reference instructions (12)</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3.10</a:t>
            </a:r>
            <a:endParaRPr lang="en-US" sz="1600" dirty="0"/>
          </a:p>
        </p:txBody>
      </p:sp>
      <p:sp>
        <p:nvSpPr>
          <p:cNvPr id="5" name="Text 2"/>
          <p:cNvSpPr txBox="1"/>
          <p:nvPr/>
        </p:nvSpPr>
        <p:spPr>
          <a:xfrm>
            <a:off x="548640" y="1188720"/>
            <a:ext cx="11094415" cy="457200"/>
          </a:xfrm>
          <a:prstGeom prst="rect">
            <a:avLst/>
          </a:prstGeom>
          <a:noFill/>
          <a:ln/>
        </p:spPr>
        <p:txBody>
          <a:bodyPr wrap="square" lIns="0" tIns="0" rIns="0" bIns="0" rtlCol="0" anchor="ctr"/>
          <a:lstStyle/>
          <a:p>
            <a:pPr marL="0" indent="0">
              <a:buNone/>
            </a:pPr>
            <a:r>
              <a:rPr lang="en-US" sz="2000" dirty="0">
                <a:solidFill>
                  <a:srgbClr val="262626"/>
                </a:solidFill>
                <a:latin typeface="Calibri" pitchFamily="34" charset="0"/>
                <a:ea typeface="Calibri" pitchFamily="34" charset="-122"/>
                <a:cs typeface="Calibri" pitchFamily="34" charset="-120"/>
              </a:rPr>
              <a:t>Opcode 111, I = 0. Each hex code is the full 16-bit word, since there is no separate address.</a:t>
            </a:r>
            <a:endParaRPr lang="en-US" sz="2000" dirty="0"/>
          </a:p>
        </p:txBody>
      </p:sp>
      <p:graphicFrame>
        <p:nvGraphicFramePr>
          <p:cNvPr id="68"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5440680" cy="914400"/>
        </p:xfrm>
        <a:graphic>
          <a:graphicData uri="http://schemas.openxmlformats.org/drawingml/2006/table">
            <a:tbl>
              <a:tblPr/>
              <a:tblGrid>
                <a:gridCol w="914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3611880">
                  <a:extLst>
                    <a:ext uri="{9D8B030D-6E8A-4147-A177-3AD203B41FA5}">
                      <a16:colId xmlns:a16="http://schemas.microsoft.com/office/drawing/2014/main" val="20002"/>
                    </a:ext>
                  </a:extLst>
                </a:gridCol>
              </a:tblGrid>
              <a:tr h="420624">
                <a:tc>
                  <a:txBody>
                    <a:bodyPr/>
                    <a:lstStyle/>
                    <a:p>
                      <a:pPr marL="0" indent="0" algn="l">
                        <a:buNone/>
                      </a:pPr>
                      <a:r>
                        <a:rPr lang="en-US" sz="1800" b="1" dirty="0">
                          <a:solidFill>
                            <a:srgbClr val="FFFFFF"/>
                          </a:solidFill>
                          <a:latin typeface="Calibri" pitchFamily="34" charset="0"/>
                          <a:ea typeface="Calibri" pitchFamily="34" charset="-122"/>
                          <a:cs typeface="Calibri" pitchFamily="34" charset="-120"/>
                        </a:rPr>
                        <a:t>Symbol</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Hex</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l">
                        <a:buNone/>
                      </a:pPr>
                      <a:r>
                        <a:rPr lang="en-US" sz="1800" b="1" dirty="0">
                          <a:solidFill>
                            <a:srgbClr val="FFFFFF"/>
                          </a:solidFill>
                          <a:latin typeface="Calibri" pitchFamily="34" charset="0"/>
                          <a:ea typeface="Calibri" pitchFamily="34" charset="-122"/>
                          <a:cs typeface="Calibri" pitchFamily="34" charset="-120"/>
                        </a:rPr>
                        <a:t>Description</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extLst>
                  <a:ext uri="{0D108BD9-81ED-4DB2-BD59-A6C34878D82A}">
                    <a16:rowId xmlns:a16="http://schemas.microsoft.com/office/drawing/2014/main" val="10000"/>
                  </a:ext>
                </a:extLst>
              </a:tr>
              <a:tr h="420624">
                <a:tc>
                  <a:txBody>
                    <a:bodyPr/>
                    <a:lstStyle/>
                    <a:p>
                      <a:pPr marL="0" indent="0" algn="l">
                        <a:buNone/>
                      </a:pPr>
                      <a:r>
                        <a:rPr lang="en-US" sz="1800" dirty="0">
                          <a:solidFill>
                            <a:srgbClr val="262626"/>
                          </a:solidFill>
                          <a:latin typeface="Calibri" pitchFamily="34" charset="0"/>
                          <a:ea typeface="Calibri" pitchFamily="34" charset="-122"/>
                          <a:cs typeface="Calibri" pitchFamily="34" charset="-120"/>
                        </a:rPr>
                        <a:t>CLA</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1800" dirty="0">
                          <a:solidFill>
                            <a:srgbClr val="262626"/>
                          </a:solidFill>
                          <a:latin typeface="Calibri" pitchFamily="34" charset="0"/>
                          <a:ea typeface="Calibri" pitchFamily="34" charset="-122"/>
                          <a:cs typeface="Calibri" pitchFamily="34" charset="-120"/>
                        </a:rPr>
                        <a:t>7800</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l">
                        <a:buNone/>
                      </a:pPr>
                      <a:r>
                        <a:rPr lang="en-US" sz="1800" dirty="0">
                          <a:solidFill>
                            <a:srgbClr val="262626"/>
                          </a:solidFill>
                          <a:latin typeface="Calibri" pitchFamily="34" charset="0"/>
                          <a:ea typeface="Calibri" pitchFamily="34" charset="-122"/>
                          <a:cs typeface="Calibri" pitchFamily="34" charset="-120"/>
                        </a:rPr>
                        <a:t>Clear AC</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1"/>
                  </a:ext>
                </a:extLst>
              </a:tr>
              <a:tr h="420624">
                <a:tc>
                  <a:txBody>
                    <a:bodyPr/>
                    <a:lstStyle/>
                    <a:p>
                      <a:pPr marL="0" indent="0" algn="l">
                        <a:buNone/>
                      </a:pPr>
                      <a:r>
                        <a:rPr lang="en-US" sz="1800" dirty="0">
                          <a:solidFill>
                            <a:srgbClr val="262626"/>
                          </a:solidFill>
                          <a:latin typeface="Calibri" pitchFamily="34" charset="0"/>
                          <a:ea typeface="Calibri" pitchFamily="34" charset="-122"/>
                          <a:cs typeface="Calibri" pitchFamily="34" charset="-120"/>
                        </a:rPr>
                        <a:t>CLE</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262626"/>
                          </a:solidFill>
                          <a:latin typeface="Calibri" pitchFamily="34" charset="0"/>
                          <a:ea typeface="Calibri" pitchFamily="34" charset="-122"/>
                          <a:cs typeface="Calibri" pitchFamily="34" charset="-120"/>
                        </a:rPr>
                        <a:t>7400</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l">
                        <a:buNone/>
                      </a:pPr>
                      <a:r>
                        <a:rPr lang="en-US" sz="1800" dirty="0">
                          <a:solidFill>
                            <a:srgbClr val="262626"/>
                          </a:solidFill>
                          <a:latin typeface="Calibri" pitchFamily="34" charset="0"/>
                          <a:ea typeface="Calibri" pitchFamily="34" charset="-122"/>
                          <a:cs typeface="Calibri" pitchFamily="34" charset="-120"/>
                        </a:rPr>
                        <a:t>Clear E</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624">
                <a:tc>
                  <a:txBody>
                    <a:bodyPr/>
                    <a:lstStyle/>
                    <a:p>
                      <a:pPr marL="0" indent="0" algn="l">
                        <a:buNone/>
                      </a:pPr>
                      <a:r>
                        <a:rPr lang="en-US" sz="1800" dirty="0">
                          <a:solidFill>
                            <a:srgbClr val="262626"/>
                          </a:solidFill>
                          <a:latin typeface="Calibri" pitchFamily="34" charset="0"/>
                          <a:ea typeface="Calibri" pitchFamily="34" charset="-122"/>
                          <a:cs typeface="Calibri" pitchFamily="34" charset="-120"/>
                        </a:rPr>
                        <a:t>CMA</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1800" dirty="0">
                          <a:solidFill>
                            <a:srgbClr val="262626"/>
                          </a:solidFill>
                          <a:latin typeface="Calibri" pitchFamily="34" charset="0"/>
                          <a:ea typeface="Calibri" pitchFamily="34" charset="-122"/>
                          <a:cs typeface="Calibri" pitchFamily="34" charset="-120"/>
                        </a:rPr>
                        <a:t>7200</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l">
                        <a:buNone/>
                      </a:pPr>
                      <a:r>
                        <a:rPr lang="en-US" sz="1800" dirty="0">
                          <a:solidFill>
                            <a:srgbClr val="262626"/>
                          </a:solidFill>
                          <a:latin typeface="Calibri" pitchFamily="34" charset="0"/>
                          <a:ea typeface="Calibri" pitchFamily="34" charset="-122"/>
                          <a:cs typeface="Calibri" pitchFamily="34" charset="-120"/>
                        </a:rPr>
                        <a:t>Complement AC</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3"/>
                  </a:ext>
                </a:extLst>
              </a:tr>
              <a:tr h="420624">
                <a:tc>
                  <a:txBody>
                    <a:bodyPr/>
                    <a:lstStyle/>
                    <a:p>
                      <a:pPr marL="0" indent="0" algn="l">
                        <a:buNone/>
                      </a:pPr>
                      <a:r>
                        <a:rPr lang="en-US" sz="1800" dirty="0">
                          <a:solidFill>
                            <a:srgbClr val="262626"/>
                          </a:solidFill>
                          <a:latin typeface="Calibri" pitchFamily="34" charset="0"/>
                          <a:ea typeface="Calibri" pitchFamily="34" charset="-122"/>
                          <a:cs typeface="Calibri" pitchFamily="34" charset="-120"/>
                        </a:rPr>
                        <a:t>CME</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262626"/>
                          </a:solidFill>
                          <a:latin typeface="Calibri" pitchFamily="34" charset="0"/>
                          <a:ea typeface="Calibri" pitchFamily="34" charset="-122"/>
                          <a:cs typeface="Calibri" pitchFamily="34" charset="-120"/>
                        </a:rPr>
                        <a:t>7100</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l">
                        <a:buNone/>
                      </a:pPr>
                      <a:r>
                        <a:rPr lang="en-US" sz="1800" dirty="0">
                          <a:solidFill>
                            <a:srgbClr val="262626"/>
                          </a:solidFill>
                          <a:latin typeface="Calibri" pitchFamily="34" charset="0"/>
                          <a:ea typeface="Calibri" pitchFamily="34" charset="-122"/>
                          <a:cs typeface="Calibri" pitchFamily="34" charset="-120"/>
                        </a:rPr>
                        <a:t>Complement E</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0624">
                <a:tc>
                  <a:txBody>
                    <a:bodyPr/>
                    <a:lstStyle/>
                    <a:p>
                      <a:pPr marL="0" indent="0" algn="l">
                        <a:buNone/>
                      </a:pPr>
                      <a:r>
                        <a:rPr lang="en-US" sz="1800" dirty="0">
                          <a:solidFill>
                            <a:srgbClr val="262626"/>
                          </a:solidFill>
                          <a:latin typeface="Calibri" pitchFamily="34" charset="0"/>
                          <a:ea typeface="Calibri" pitchFamily="34" charset="-122"/>
                          <a:cs typeface="Calibri" pitchFamily="34" charset="-120"/>
                        </a:rPr>
                        <a:t>CIR</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1800" dirty="0">
                          <a:solidFill>
                            <a:srgbClr val="262626"/>
                          </a:solidFill>
                          <a:latin typeface="Calibri" pitchFamily="34" charset="0"/>
                          <a:ea typeface="Calibri" pitchFamily="34" charset="-122"/>
                          <a:cs typeface="Calibri" pitchFamily="34" charset="-120"/>
                        </a:rPr>
                        <a:t>7080</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l">
                        <a:buNone/>
                      </a:pPr>
                      <a:r>
                        <a:rPr lang="en-US" sz="1800" dirty="0">
                          <a:solidFill>
                            <a:srgbClr val="262626"/>
                          </a:solidFill>
                          <a:latin typeface="Calibri" pitchFamily="34" charset="0"/>
                          <a:ea typeface="Calibri" pitchFamily="34" charset="-122"/>
                          <a:cs typeface="Calibri" pitchFamily="34" charset="-120"/>
                        </a:rPr>
                        <a:t>Circular shift right (AC, E)</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5"/>
                  </a:ext>
                </a:extLst>
              </a:tr>
              <a:tr h="420624">
                <a:tc>
                  <a:txBody>
                    <a:bodyPr/>
                    <a:lstStyle/>
                    <a:p>
                      <a:pPr marL="0" indent="0" algn="l">
                        <a:buNone/>
                      </a:pPr>
                      <a:r>
                        <a:rPr lang="en-US" sz="1800" dirty="0">
                          <a:solidFill>
                            <a:srgbClr val="262626"/>
                          </a:solidFill>
                          <a:latin typeface="Calibri" pitchFamily="34" charset="0"/>
                          <a:ea typeface="Calibri" pitchFamily="34" charset="-122"/>
                          <a:cs typeface="Calibri" pitchFamily="34" charset="-120"/>
                        </a:rPr>
                        <a:t>CIL</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262626"/>
                          </a:solidFill>
                          <a:latin typeface="Calibri" pitchFamily="34" charset="0"/>
                          <a:ea typeface="Calibri" pitchFamily="34" charset="-122"/>
                          <a:cs typeface="Calibri" pitchFamily="34" charset="-120"/>
                        </a:rPr>
                        <a:t>7040</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l">
                        <a:buNone/>
                      </a:pPr>
                      <a:r>
                        <a:rPr lang="en-US" sz="1800" dirty="0">
                          <a:solidFill>
                            <a:srgbClr val="262626"/>
                          </a:solidFill>
                          <a:latin typeface="Calibri" pitchFamily="34" charset="0"/>
                          <a:ea typeface="Calibri" pitchFamily="34" charset="-122"/>
                          <a:cs typeface="Calibri" pitchFamily="34" charset="-120"/>
                        </a:rPr>
                        <a:t>Circular shift left (AC, E)</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graphicFrame>
        <p:nvGraphicFramePr>
          <p:cNvPr id="135" name="Table 1"/>
          <p:cNvGraphicFramePr>
            <a:graphicFrameLocks noGrp="1"/>
          </p:cNvGraphicFramePr>
          <p:nvPr>
            <p:extLst>
              <p:ext uri="{D42A27DB-BD31-4B8C-83A1-F6EECF244321}">
                <p14:modId xmlns:p14="http://schemas.microsoft.com/office/powerpoint/2010/main" val="1579011935"/>
              </p:ext>
            </p:extLst>
          </p:nvPr>
        </p:nvGraphicFramePr>
        <p:xfrm>
          <a:off x="6199632" y="1828800"/>
          <a:ext cx="5440680" cy="914400"/>
        </p:xfrm>
        <a:graphic>
          <a:graphicData uri="http://schemas.openxmlformats.org/drawingml/2006/table">
            <a:tbl>
              <a:tblPr/>
              <a:tblGrid>
                <a:gridCol w="9144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3611880">
                  <a:extLst>
                    <a:ext uri="{9D8B030D-6E8A-4147-A177-3AD203B41FA5}">
                      <a16:colId xmlns:a16="http://schemas.microsoft.com/office/drawing/2014/main" val="20002"/>
                    </a:ext>
                  </a:extLst>
                </a:gridCol>
              </a:tblGrid>
              <a:tr h="420624">
                <a:tc>
                  <a:txBody>
                    <a:bodyPr/>
                    <a:lstStyle/>
                    <a:p>
                      <a:pPr marL="0" indent="0" algn="l">
                        <a:buNone/>
                      </a:pPr>
                      <a:r>
                        <a:rPr lang="en-US" sz="1800" b="1" dirty="0">
                          <a:solidFill>
                            <a:srgbClr val="FFFFFF"/>
                          </a:solidFill>
                          <a:latin typeface="Calibri" pitchFamily="34" charset="0"/>
                          <a:ea typeface="Calibri" pitchFamily="34" charset="-122"/>
                          <a:cs typeface="Calibri" pitchFamily="34" charset="-120"/>
                        </a:rPr>
                        <a:t>Symbol</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Hex</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l">
                        <a:buNone/>
                      </a:pPr>
                      <a:r>
                        <a:rPr lang="en-US" sz="1800" b="1" dirty="0">
                          <a:solidFill>
                            <a:srgbClr val="FFFFFF"/>
                          </a:solidFill>
                          <a:latin typeface="Calibri" pitchFamily="34" charset="0"/>
                          <a:ea typeface="Calibri" pitchFamily="34" charset="-122"/>
                          <a:cs typeface="Calibri" pitchFamily="34" charset="-120"/>
                        </a:rPr>
                        <a:t>Description</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extLst>
                  <a:ext uri="{0D108BD9-81ED-4DB2-BD59-A6C34878D82A}">
                    <a16:rowId xmlns:a16="http://schemas.microsoft.com/office/drawing/2014/main" val="10000"/>
                  </a:ext>
                </a:extLst>
              </a:tr>
              <a:tr h="420624">
                <a:tc>
                  <a:txBody>
                    <a:bodyPr/>
                    <a:lstStyle/>
                    <a:p>
                      <a:pPr marL="0" indent="0" algn="l">
                        <a:buNone/>
                      </a:pPr>
                      <a:r>
                        <a:rPr lang="en-US" sz="1800" dirty="0">
                          <a:solidFill>
                            <a:srgbClr val="262626"/>
                          </a:solidFill>
                          <a:latin typeface="Calibri" pitchFamily="34" charset="0"/>
                          <a:ea typeface="Calibri" pitchFamily="34" charset="-122"/>
                          <a:cs typeface="Calibri" pitchFamily="34" charset="-120"/>
                        </a:rPr>
                        <a:t>INC</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1800" dirty="0">
                          <a:solidFill>
                            <a:srgbClr val="262626"/>
                          </a:solidFill>
                          <a:latin typeface="Calibri" pitchFamily="34" charset="0"/>
                          <a:ea typeface="Calibri" pitchFamily="34" charset="-122"/>
                          <a:cs typeface="Calibri" pitchFamily="34" charset="-120"/>
                        </a:rPr>
                        <a:t>7020</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l">
                        <a:buNone/>
                      </a:pPr>
                      <a:r>
                        <a:rPr lang="en-US" sz="1800" dirty="0">
                          <a:solidFill>
                            <a:srgbClr val="262626"/>
                          </a:solidFill>
                          <a:latin typeface="Calibri" pitchFamily="34" charset="0"/>
                          <a:ea typeface="Calibri" pitchFamily="34" charset="-122"/>
                          <a:cs typeface="Calibri" pitchFamily="34" charset="-120"/>
                        </a:rPr>
                        <a:t>Increment AC</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1"/>
                  </a:ext>
                </a:extLst>
              </a:tr>
              <a:tr h="420624">
                <a:tc>
                  <a:txBody>
                    <a:bodyPr/>
                    <a:lstStyle/>
                    <a:p>
                      <a:pPr marL="0" indent="0" algn="l">
                        <a:buNone/>
                      </a:pPr>
                      <a:r>
                        <a:rPr lang="en-US" sz="1800" dirty="0">
                          <a:solidFill>
                            <a:srgbClr val="262626"/>
                          </a:solidFill>
                          <a:latin typeface="Calibri" pitchFamily="34" charset="0"/>
                          <a:ea typeface="Calibri" pitchFamily="34" charset="-122"/>
                          <a:cs typeface="Calibri" pitchFamily="34" charset="-120"/>
                        </a:rPr>
                        <a:t>SPA</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262626"/>
                          </a:solidFill>
                          <a:latin typeface="Calibri" pitchFamily="34" charset="0"/>
                          <a:ea typeface="Calibri" pitchFamily="34" charset="-122"/>
                          <a:cs typeface="Calibri" pitchFamily="34" charset="-120"/>
                        </a:rPr>
                        <a:t>7010</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l">
                        <a:buNone/>
                      </a:pPr>
                      <a:r>
                        <a:rPr lang="en-US" sz="1800" dirty="0">
                          <a:solidFill>
                            <a:srgbClr val="262626"/>
                          </a:solidFill>
                          <a:latin typeface="Calibri" pitchFamily="34" charset="0"/>
                          <a:ea typeface="Calibri" pitchFamily="34" charset="-122"/>
                          <a:cs typeface="Calibri" pitchFamily="34" charset="-120"/>
                        </a:rPr>
                        <a:t>Skip if AC is positive</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624">
                <a:tc>
                  <a:txBody>
                    <a:bodyPr/>
                    <a:lstStyle/>
                    <a:p>
                      <a:pPr marL="0" indent="0" algn="l">
                        <a:buNone/>
                      </a:pPr>
                      <a:r>
                        <a:rPr lang="en-US" sz="1800" dirty="0">
                          <a:solidFill>
                            <a:srgbClr val="262626"/>
                          </a:solidFill>
                          <a:latin typeface="Calibri" pitchFamily="34" charset="0"/>
                          <a:ea typeface="Calibri" pitchFamily="34" charset="-122"/>
                          <a:cs typeface="Calibri" pitchFamily="34" charset="-120"/>
                        </a:rPr>
                        <a:t>SNA</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1800" dirty="0">
                          <a:solidFill>
                            <a:srgbClr val="262626"/>
                          </a:solidFill>
                          <a:latin typeface="Calibri" pitchFamily="34" charset="0"/>
                          <a:ea typeface="Calibri" pitchFamily="34" charset="-122"/>
                          <a:cs typeface="Calibri" pitchFamily="34" charset="-120"/>
                        </a:rPr>
                        <a:t>7008</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l">
                        <a:buNone/>
                      </a:pPr>
                      <a:r>
                        <a:rPr lang="en-US" sz="1800" dirty="0">
                          <a:solidFill>
                            <a:srgbClr val="262626"/>
                          </a:solidFill>
                          <a:latin typeface="Calibri" pitchFamily="34" charset="0"/>
                          <a:ea typeface="Calibri" pitchFamily="34" charset="-122"/>
                          <a:cs typeface="Calibri" pitchFamily="34" charset="-120"/>
                        </a:rPr>
                        <a:t>Skip if AC is negative</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3"/>
                  </a:ext>
                </a:extLst>
              </a:tr>
              <a:tr h="420624">
                <a:tc>
                  <a:txBody>
                    <a:bodyPr/>
                    <a:lstStyle/>
                    <a:p>
                      <a:pPr marL="0" indent="0" algn="l">
                        <a:buNone/>
                      </a:pPr>
                      <a:r>
                        <a:rPr lang="en-US" sz="1800" dirty="0">
                          <a:solidFill>
                            <a:srgbClr val="262626"/>
                          </a:solidFill>
                          <a:latin typeface="Calibri" pitchFamily="34" charset="0"/>
                          <a:ea typeface="Calibri" pitchFamily="34" charset="-122"/>
                          <a:cs typeface="Calibri" pitchFamily="34" charset="-120"/>
                        </a:rPr>
                        <a:t>SZA</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262626"/>
                          </a:solidFill>
                          <a:latin typeface="Calibri" pitchFamily="34" charset="0"/>
                          <a:ea typeface="Calibri" pitchFamily="34" charset="-122"/>
                          <a:cs typeface="Calibri" pitchFamily="34" charset="-120"/>
                        </a:rPr>
                        <a:t>7004</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l">
                        <a:buNone/>
                      </a:pPr>
                      <a:r>
                        <a:rPr lang="en-US" sz="1800" dirty="0">
                          <a:solidFill>
                            <a:srgbClr val="262626"/>
                          </a:solidFill>
                          <a:latin typeface="Calibri" pitchFamily="34" charset="0"/>
                          <a:ea typeface="Calibri" pitchFamily="34" charset="-122"/>
                          <a:cs typeface="Calibri" pitchFamily="34" charset="-120"/>
                        </a:rPr>
                        <a:t>Skip if AC is zero</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0624">
                <a:tc>
                  <a:txBody>
                    <a:bodyPr/>
                    <a:lstStyle/>
                    <a:p>
                      <a:pPr marL="0" indent="0" algn="l">
                        <a:buNone/>
                      </a:pPr>
                      <a:r>
                        <a:rPr lang="en-US" sz="1800" dirty="0">
                          <a:solidFill>
                            <a:srgbClr val="262626"/>
                          </a:solidFill>
                          <a:latin typeface="Calibri" pitchFamily="34" charset="0"/>
                          <a:ea typeface="Calibri" pitchFamily="34" charset="-122"/>
                          <a:cs typeface="Calibri" pitchFamily="34" charset="-120"/>
                        </a:rPr>
                        <a:t>SZE</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1800" dirty="0">
                          <a:solidFill>
                            <a:srgbClr val="262626"/>
                          </a:solidFill>
                          <a:latin typeface="Calibri" pitchFamily="34" charset="0"/>
                          <a:ea typeface="Calibri" pitchFamily="34" charset="-122"/>
                          <a:cs typeface="Calibri" pitchFamily="34" charset="-120"/>
                        </a:rPr>
                        <a:t>7002</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l">
                        <a:buNone/>
                      </a:pPr>
                      <a:r>
                        <a:rPr lang="en-US" sz="1800" dirty="0">
                          <a:solidFill>
                            <a:srgbClr val="262626"/>
                          </a:solidFill>
                          <a:latin typeface="Calibri" pitchFamily="34" charset="0"/>
                          <a:ea typeface="Calibri" pitchFamily="34" charset="-122"/>
                          <a:cs typeface="Calibri" pitchFamily="34" charset="-120"/>
                        </a:rPr>
                        <a:t>Skip if E is zero</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5"/>
                  </a:ext>
                </a:extLst>
              </a:tr>
              <a:tr h="420624">
                <a:tc>
                  <a:txBody>
                    <a:bodyPr/>
                    <a:lstStyle/>
                    <a:p>
                      <a:pPr marL="0" indent="0" algn="l">
                        <a:buNone/>
                      </a:pPr>
                      <a:r>
                        <a:rPr lang="en-US" sz="1800" dirty="0">
                          <a:solidFill>
                            <a:srgbClr val="262626"/>
                          </a:solidFill>
                          <a:latin typeface="Calibri" pitchFamily="34" charset="0"/>
                          <a:ea typeface="Calibri" pitchFamily="34" charset="-122"/>
                          <a:cs typeface="Calibri" pitchFamily="34" charset="-120"/>
                        </a:rPr>
                        <a:t>HLT</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1800" dirty="0">
                          <a:solidFill>
                            <a:srgbClr val="262626"/>
                          </a:solidFill>
                          <a:latin typeface="Calibri" pitchFamily="34" charset="0"/>
                          <a:ea typeface="Calibri" pitchFamily="34" charset="-122"/>
                          <a:cs typeface="Calibri" pitchFamily="34" charset="-120"/>
                        </a:rPr>
                        <a:t>7001</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l">
                        <a:buNone/>
                      </a:pPr>
                      <a:r>
                        <a:rPr lang="en-US" sz="1800" dirty="0">
                          <a:solidFill>
                            <a:srgbClr val="262626"/>
                          </a:solidFill>
                          <a:latin typeface="Calibri" pitchFamily="34" charset="0"/>
                          <a:ea typeface="Calibri" pitchFamily="34" charset="-122"/>
                          <a:cs typeface="Calibri" pitchFamily="34" charset="-120"/>
                        </a:rPr>
                        <a:t>Halt: clear the S flip-flop</a:t>
                      </a:r>
                      <a:endParaRPr lang="en-US" sz="18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Input-output instructions (6)</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3.10</a:t>
            </a:r>
            <a:endParaRPr lang="en-US" sz="1600" dirty="0"/>
          </a:p>
        </p:txBody>
      </p:sp>
      <p:sp>
        <p:nvSpPr>
          <p:cNvPr id="5" name="Text 2"/>
          <p:cNvSpPr txBox="1"/>
          <p:nvPr/>
        </p:nvSpPr>
        <p:spPr>
          <a:xfrm>
            <a:off x="548640" y="1188720"/>
            <a:ext cx="11094415" cy="457200"/>
          </a:xfrm>
          <a:prstGeom prst="rect">
            <a:avLst/>
          </a:prstGeom>
          <a:noFill/>
          <a:ln/>
        </p:spPr>
        <p:txBody>
          <a:bodyPr wrap="square" lIns="0" tIns="0" rIns="0" bIns="0" rtlCol="0" anchor="ctr"/>
          <a:lstStyle/>
          <a:p>
            <a:pPr marL="0" indent="0">
              <a:buNone/>
            </a:pPr>
            <a:r>
              <a:rPr lang="en-US" sz="2000" dirty="0">
                <a:solidFill>
                  <a:srgbClr val="262626"/>
                </a:solidFill>
                <a:latin typeface="Calibri" pitchFamily="34" charset="0"/>
                <a:ea typeface="Calibri" pitchFamily="34" charset="-122"/>
                <a:cs typeface="Calibri" pitchFamily="34" charset="-120"/>
              </a:rPr>
              <a:t>Opcode 111, I = 1.</a:t>
            </a:r>
            <a:endParaRPr lang="en-US" sz="2000" dirty="0"/>
          </a:p>
        </p:txBody>
      </p:sp>
      <p:graphicFrame>
        <p:nvGraphicFramePr>
          <p:cNvPr id="69" name="Table 0"/>
          <p:cNvGraphicFramePr>
            <a:graphicFrameLocks noGrp="1"/>
          </p:cNvGraphicFramePr>
          <p:nvPr>
            <p:extLst>
              <p:ext uri="{D42A27DB-BD31-4B8C-83A1-F6EECF244321}">
                <p14:modId xmlns:p14="http://schemas.microsoft.com/office/powerpoint/2010/main" val="1579011935"/>
              </p:ext>
            </p:extLst>
          </p:nvPr>
        </p:nvGraphicFramePr>
        <p:xfrm>
          <a:off x="563728" y="1783080"/>
          <a:ext cx="11064240" cy="914400"/>
        </p:xfrm>
        <a:graphic>
          <a:graphicData uri="http://schemas.openxmlformats.org/drawingml/2006/table">
            <a:tbl>
              <a:tblPr/>
              <a:tblGrid>
                <a:gridCol w="173736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7589520">
                  <a:extLst>
                    <a:ext uri="{9D8B030D-6E8A-4147-A177-3AD203B41FA5}">
                      <a16:colId xmlns:a16="http://schemas.microsoft.com/office/drawing/2014/main" val="20002"/>
                    </a:ext>
                  </a:extLst>
                </a:gridCol>
              </a:tblGrid>
              <a:tr h="451104">
                <a:tc>
                  <a:txBody>
                    <a:bodyPr/>
                    <a:lstStyle/>
                    <a:p>
                      <a:pPr marL="0" indent="0" algn="l">
                        <a:buNone/>
                      </a:pPr>
                      <a:r>
                        <a:rPr lang="en-US" sz="2000" b="1" dirty="0">
                          <a:solidFill>
                            <a:srgbClr val="FFFFFF"/>
                          </a:solidFill>
                          <a:latin typeface="Calibri" pitchFamily="34" charset="0"/>
                          <a:ea typeface="Calibri" pitchFamily="34" charset="-122"/>
                          <a:cs typeface="Calibri" pitchFamily="34" charset="-120"/>
                        </a:rPr>
                        <a:t>Symbol</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ctr">
                        <a:buNone/>
                      </a:pPr>
                      <a:r>
                        <a:rPr lang="en-US" sz="2000" b="1" dirty="0">
                          <a:solidFill>
                            <a:srgbClr val="FFFFFF"/>
                          </a:solidFill>
                          <a:latin typeface="Calibri" pitchFamily="34" charset="0"/>
                          <a:ea typeface="Calibri" pitchFamily="34" charset="-122"/>
                          <a:cs typeface="Calibri" pitchFamily="34" charset="-120"/>
                        </a:rPr>
                        <a:t>Hex</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l">
                        <a:buNone/>
                      </a:pPr>
                      <a:r>
                        <a:rPr lang="en-US" sz="2000" b="1" dirty="0">
                          <a:solidFill>
                            <a:srgbClr val="FFFFFF"/>
                          </a:solidFill>
                          <a:latin typeface="Calibri" pitchFamily="34" charset="0"/>
                          <a:ea typeface="Calibri" pitchFamily="34" charset="-122"/>
                          <a:cs typeface="Calibri" pitchFamily="34" charset="-120"/>
                        </a:rPr>
                        <a:t>Description</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extLst>
                  <a:ext uri="{0D108BD9-81ED-4DB2-BD59-A6C34878D82A}">
                    <a16:rowId xmlns:a16="http://schemas.microsoft.com/office/drawing/2014/main" val="10000"/>
                  </a:ext>
                </a:extLst>
              </a:tr>
              <a:tr h="451104">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INP</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F800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Input a character into INPR; clear FGI</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1"/>
                  </a:ext>
                </a:extLst>
              </a:tr>
              <a:tr h="451104">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OUT</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F400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Output the character in OUTR; clear FGO</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1104">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SKI</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F200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Skip next instruction if FGI = 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3"/>
                  </a:ext>
                </a:extLst>
              </a:tr>
              <a:tr h="451104">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SKO</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F100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Skip next instruction if FGO = 1</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1104">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ION</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F080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Set IEN: interrupts enabled</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5"/>
                  </a:ext>
                </a:extLst>
              </a:tr>
              <a:tr h="451104">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IOF</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ctr">
                        <a:buNone/>
                      </a:pPr>
                      <a:r>
                        <a:rPr lang="en-US" sz="2000" dirty="0">
                          <a:solidFill>
                            <a:srgbClr val="262626"/>
                          </a:solidFill>
                          <a:latin typeface="Calibri" pitchFamily="34" charset="0"/>
                          <a:ea typeface="Calibri" pitchFamily="34" charset="-122"/>
                          <a:cs typeface="Calibri" pitchFamily="34" charset="-120"/>
                        </a:rPr>
                        <a:t>F040</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l">
                        <a:buNone/>
                      </a:pPr>
                      <a:r>
                        <a:rPr lang="en-US" sz="2000" dirty="0">
                          <a:solidFill>
                            <a:srgbClr val="262626"/>
                          </a:solidFill>
                          <a:latin typeface="Calibri" pitchFamily="34" charset="0"/>
                          <a:ea typeface="Calibri" pitchFamily="34" charset="-122"/>
                          <a:cs typeface="Calibri" pitchFamily="34" charset="-120"/>
                        </a:rPr>
                        <a:t>Clear IEN: interrupts disabled</a:t>
                      </a:r>
                      <a:endParaRPr lang="en-US" sz="20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3.11  Timing and Control</a:t>
            </a:r>
            <a:endParaRPr lang="en-US" sz="3000" dirty="0"/>
          </a:p>
        </p:txBody>
      </p:sp>
      <p:sp>
        <p:nvSpPr>
          <p:cNvPr id="4" name="Text 1"/>
          <p:cNvSpPr txBox="1"/>
          <p:nvPr/>
        </p:nvSpPr>
        <p:spPr>
          <a:xfrm>
            <a:off x="914400" y="1417320"/>
            <a:ext cx="5486400" cy="365760"/>
          </a:xfrm>
          <a:prstGeom prst="rect">
            <a:avLst/>
          </a:prstGeom>
          <a:noFill/>
          <a:ln/>
        </p:spPr>
        <p:txBody>
          <a:bodyPr wrap="square" lIns="0" tIns="0" rIns="0" bIns="0" rtlCol="0" anchor="ctr"/>
          <a:lstStyle/>
          <a:p>
            <a:pPr marL="0" indent="0">
              <a:buNone/>
            </a:pPr>
            <a:r>
              <a:rPr lang="en-US" sz="2000" b="1" dirty="0">
                <a:solidFill>
                  <a:srgbClr val="1565C0"/>
                </a:solidFill>
                <a:latin typeface="Calibri" pitchFamily="34" charset="0"/>
                <a:ea typeface="Calibri" pitchFamily="34" charset="-122"/>
                <a:cs typeface="Calibri" pitchFamily="34" charset="-120"/>
              </a:rPr>
              <a:t>IN SIMPLE TERMS</a:t>
            </a:r>
            <a:endParaRPr lang="en-US" sz="2000" dirty="0"/>
          </a:p>
        </p:txBody>
      </p:sp>
      <p:sp>
        <p:nvSpPr>
          <p:cNvPr id="5" name="Text 2"/>
          <p:cNvSpPr txBox="1"/>
          <p:nvPr/>
        </p:nvSpPr>
        <p:spPr>
          <a:xfrm>
            <a:off x="914400" y="1920240"/>
            <a:ext cx="10362895" cy="3566160"/>
          </a:xfrm>
          <a:prstGeom prst="roundRect">
            <a:avLst>
              <a:gd name="adj" fmla="val 3846"/>
            </a:avLst>
          </a:prstGeom>
          <a:solidFill>
            <a:srgbClr val="FFF3E0"/>
          </a:solidFill>
          <a:ln w="31750">
            <a:solidFill>
              <a:srgbClr val="FF8F00"/>
            </a:solidFill>
          </a:ln>
        </p:spPr>
        <p:txBody>
          <a:bodyPr wrap="square" lIns="304800" tIns="457200" rIns="457200" bIns="304800" rtlCol="0" anchor="ctr"/>
          <a:lstStyle/>
          <a:p>
            <a:pPr marL="0" indent="0" algn="l">
              <a:buNone/>
            </a:pPr>
            <a:r>
              <a:rPr lang="en-US" sz="3400" dirty="0">
                <a:solidFill>
                  <a:srgbClr val="262626"/>
                </a:solidFill>
                <a:latin typeface="Calibri" pitchFamily="34" charset="0"/>
                <a:ea typeface="Calibri" pitchFamily="34" charset="-122"/>
                <a:cs typeface="Calibri" pitchFamily="34" charset="-120"/>
              </a:rPr>
              <a:t>The sequence counter ticks T₀, T₁, T₂…; the decoded opcode says which instruction it is. Every control signal is “this instruction AND this tick”.</a:t>
            </a:r>
            <a:endParaRPr lang="en-US" sz="3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Hardwired control</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3.11</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Registers hold data and instructions say what to do, but something must decide </a:t>
            </a:r>
            <a:r>
              <a:rPr lang="en-US" sz="3200" b="1" dirty="0">
                <a:solidFill>
                  <a:srgbClr val="262626"/>
                </a:solidFill>
                <a:latin typeface="Calibri" pitchFamily="34" charset="0"/>
                <a:ea typeface="Calibri" pitchFamily="34" charset="-122"/>
                <a:cs typeface="Calibri" pitchFamily="34" charset="-120"/>
              </a:rPr>
              <a:t>when</a:t>
            </a:r>
            <a:r>
              <a:rPr lang="en-US" sz="3200" dirty="0">
                <a:solidFill>
                  <a:srgbClr val="262626"/>
                </a:solidFill>
                <a:latin typeface="Calibri" pitchFamily="34" charset="0"/>
                <a:ea typeface="Calibri" pitchFamily="34" charset="-122"/>
                <a:cs typeface="Calibri" pitchFamily="34" charset="-120"/>
              </a:rPr>
              <a:t> each register latches</a:t>
            </a:r>
            <a:endParaRPr lang="en-US" sz="3200" dirty="0"/>
          </a:p>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That is the control unit’s job</a:t>
            </a:r>
            <a:endParaRPr lang="en-US" sz="3200" dirty="0"/>
          </a:p>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The Basic Computer uses a </a:t>
            </a:r>
            <a:r>
              <a:rPr lang="en-US" sz="3200" b="1" dirty="0">
                <a:solidFill>
                  <a:srgbClr val="262626"/>
                </a:solidFill>
                <a:latin typeface="Calibri" pitchFamily="34" charset="0"/>
                <a:ea typeface="Calibri" pitchFamily="34" charset="-122"/>
                <a:cs typeface="Calibri" pitchFamily="34" charset="-120"/>
              </a:rPr>
              <a:t>hardwired</a:t>
            </a:r>
            <a:r>
              <a:rPr lang="en-US" sz="3200" dirty="0">
                <a:solidFill>
                  <a:srgbClr val="262626"/>
                </a:solidFill>
                <a:latin typeface="Calibri" pitchFamily="34" charset="0"/>
                <a:ea typeface="Calibri" pitchFamily="34" charset="-122"/>
                <a:cs typeface="Calibri" pitchFamily="34" charset="-120"/>
              </a:rPr>
              <a:t> control unit: fixed logic gates, not a program, generate every control signal</a:t>
            </a:r>
            <a:endParaRPr lang="en-US" sz="3200" dirty="0"/>
          </a:p>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Unit 4’s microprogrammed control is the ROM-based alternative</a:t>
            </a:r>
            <a:endParaRPr lang="en-US" sz="32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Generating timing signals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3.11</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marL="304800" indent="-304800" algn="l">
              <a:spcAft>
                <a:spcPts val="1000"/>
              </a:spcAft>
              <a:buSzPct val="100000"/>
              <a:buChar char="•"/>
            </a:pPr>
            <a:r>
              <a:rPr lang="en-US" sz="3000" dirty="0">
                <a:solidFill>
                  <a:srgbClr val="262626"/>
                </a:solidFill>
                <a:latin typeface="Calibri" pitchFamily="34" charset="0"/>
                <a:ea typeface="Calibri" pitchFamily="34" charset="-122"/>
                <a:cs typeface="Calibri" pitchFamily="34" charset="-120"/>
              </a:rPr>
              <a:t>SC, the 4-bit Sequence Counter, feeds a decoder with one active line per state: T₀, T₁, T₂…</a:t>
            </a:r>
            <a:endParaRPr lang="en-US" sz="3000" dirty="0"/>
          </a:p>
          <a:p>
            <a:pPr marL="304800" indent="-304800" algn="l">
              <a:spcAft>
                <a:spcPts val="1000"/>
              </a:spcAft>
              <a:buSzPct val="100000"/>
              <a:buChar char="•"/>
            </a:pPr>
            <a:r>
              <a:rPr lang="en-US" sz="3000" dirty="0">
                <a:solidFill>
                  <a:srgbClr val="262626"/>
                </a:solidFill>
                <a:latin typeface="Calibri" pitchFamily="34" charset="0"/>
                <a:ea typeface="Calibri" pitchFamily="34" charset="-122"/>
                <a:cs typeface="Calibri" pitchFamily="34" charset="-120"/>
              </a:rPr>
              <a:t>Every clock pulse increments SC, so the active timing signal advances one step per cycle</a:t>
            </a:r>
            <a:endParaRPr lang="en-US" sz="3000" dirty="0"/>
          </a:p>
          <a:p>
            <a:pPr marL="304800" indent="-304800" algn="l">
              <a:spcAft>
                <a:spcPts val="1000"/>
              </a:spcAft>
              <a:buSzPct val="100000"/>
              <a:buChar char="•"/>
            </a:pPr>
            <a:r>
              <a:rPr lang="en-US" sz="3000" dirty="0">
                <a:solidFill>
                  <a:srgbClr val="262626"/>
                </a:solidFill>
                <a:latin typeface="Calibri" pitchFamily="34" charset="0"/>
                <a:ea typeface="Calibri" pitchFamily="34" charset="-122"/>
                <a:cs typeface="Calibri" pitchFamily="34" charset="-120"/>
              </a:rPr>
              <a:t>Control logic clears SC to 0 to start the next instruction’s fetch</a:t>
            </a:r>
            <a:endParaRPr lang="en-US" sz="3000" dirty="0"/>
          </a:p>
          <a:p>
            <a:pPr marL="304800" indent="-304800" algn="l">
              <a:spcAft>
                <a:spcPts val="1000"/>
              </a:spcAft>
              <a:buSzPct val="100000"/>
              <a:buChar char="•"/>
            </a:pPr>
            <a:r>
              <a:rPr lang="en-US" sz="3000" dirty="0">
                <a:solidFill>
                  <a:srgbClr val="262626"/>
                </a:solidFill>
                <a:latin typeface="Calibri" pitchFamily="34" charset="0"/>
                <a:ea typeface="Calibri" pitchFamily="34" charset="-122"/>
                <a:cs typeface="Calibri" pitchFamily="34" charset="-120"/>
              </a:rPr>
              <a:t>Most instructions never reach T₆; a simple register-reference instruction can finish by T₃</a:t>
            </a:r>
            <a:endParaRPr lang="en-US" sz="3000" dirty="0"/>
          </a:p>
          <a:p>
            <a:pPr marL="304800" indent="-304800" algn="l">
              <a:spcAft>
                <a:spcPts val="1000"/>
              </a:spcAft>
              <a:buSzPct val="100000"/>
              <a:buChar char="•"/>
            </a:pPr>
            <a:r>
              <a:rPr lang="en-US" sz="3000" dirty="0">
                <a:solidFill>
                  <a:srgbClr val="262626"/>
                </a:solidFill>
                <a:latin typeface="Calibri" pitchFamily="34" charset="0"/>
                <a:ea typeface="Calibri" pitchFamily="34" charset="-122"/>
                <a:cs typeface="Calibri" pitchFamily="34" charset="-120"/>
              </a:rPr>
              <a:t>SC only counts as far as the current instruction needs</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Control unit of the Basic Computer</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3.11</a:t>
            </a:r>
            <a:endParaRPr lang="en-US" sz="1600" dirty="0"/>
          </a:p>
        </p:txBody>
      </p:sp>
      <p:pic>
        <p:nvPicPr>
          <p:cNvPr id="5" name="Image 0" descr="/home/claude/figs/3.11_timing-and-control_fig1.png"/>
          <p:cNvPicPr>
            <a:picLocks noChangeAspect="1"/>
          </p:cNvPicPr>
          <p:nvPr/>
        </p:nvPicPr>
        <p:blipFill>
          <a:blip r:embed="rId3"/>
          <a:stretch>
            <a:fillRect/>
          </a:stretch>
        </p:blipFill>
        <p:spPr>
          <a:xfrm>
            <a:off x="411480" y="621792"/>
            <a:ext cx="5521796" cy="5705856"/>
          </a:xfrm>
          <a:prstGeom prst="rect">
            <a:avLst/>
          </a:prstGeom>
        </p:spPr>
      </p:pic>
      <p:sp>
        <p:nvSpPr>
          <p:cNvPr id="6" name="Text 2"/>
          <p:cNvSpPr txBox="1"/>
          <p:nvPr/>
        </p:nvSpPr>
        <p:spPr>
          <a:xfrm>
            <a:off x="6299036" y="713232"/>
            <a:ext cx="5481179" cy="5522976"/>
          </a:xfrm>
          <a:prstGeom prst="roundRect">
            <a:avLst>
              <a:gd name="adj" fmla="val 2002"/>
            </a:avLst>
          </a:prstGeom>
          <a:solidFill>
            <a:srgbClr val="EAF2FB"/>
          </a:solidFill>
          <a:ln w="6350">
            <a:solidFill>
              <a:srgbClr val="EAF2FB"/>
            </a:solidFill>
          </a:ln>
        </p:spPr>
        <p:txBody>
          <a:bodyPr wrap="square" lIns="203200" tIns="279400" rIns="279400" bIns="203200" rtlCol="0" anchor="ctr"/>
          <a:lstStyle/>
          <a:p>
            <a:pPr marL="304800" indent="-304800" algn="l">
              <a:spcAft>
                <a:spcPts val="1000"/>
              </a:spcAft>
              <a:buSzPct val="100000"/>
              <a:buChar char="•"/>
            </a:pPr>
            <a:r>
              <a:rPr lang="en-US" sz="2600" dirty="0">
                <a:solidFill>
                  <a:srgbClr val="262626"/>
                </a:solidFill>
                <a:latin typeface="Calibri" pitchFamily="34" charset="0"/>
                <a:ea typeface="Calibri" pitchFamily="34" charset="-122"/>
                <a:cs typeface="Calibri" pitchFamily="34" charset="-120"/>
              </a:rPr>
              <a:t>The 3 × 8 decoder turns the opcode into D₀–D₇</a:t>
            </a:r>
            <a:endParaRPr lang="en-US" sz="2600" dirty="0"/>
          </a:p>
          <a:p>
            <a:pPr marL="304800" indent="-304800" algn="l">
              <a:spcAft>
                <a:spcPts val="1000"/>
              </a:spcAft>
              <a:buSzPct val="100000"/>
              <a:buChar char="•"/>
            </a:pPr>
            <a:r>
              <a:rPr lang="en-US" sz="2600" dirty="0">
                <a:solidFill>
                  <a:srgbClr val="262626"/>
                </a:solidFill>
                <a:latin typeface="Calibri" pitchFamily="34" charset="0"/>
                <a:ea typeface="Calibri" pitchFamily="34" charset="-122"/>
                <a:cs typeface="Calibri" pitchFamily="34" charset="-120"/>
              </a:rPr>
              <a:t>The 4 × 16 decoder turns SC into T₀–T₁₅</a:t>
            </a:r>
            <a:endParaRPr lang="en-US" sz="2600" dirty="0"/>
          </a:p>
          <a:p>
            <a:pPr marL="304800" indent="-304800" algn="l">
              <a:spcAft>
                <a:spcPts val="1000"/>
              </a:spcAft>
              <a:buSzPct val="100000"/>
              <a:buChar char="•"/>
            </a:pPr>
            <a:r>
              <a:rPr lang="en-US" sz="2600" dirty="0">
                <a:solidFill>
                  <a:srgbClr val="262626"/>
                </a:solidFill>
                <a:latin typeface="Calibri" pitchFamily="34" charset="0"/>
                <a:ea typeface="Calibri" pitchFamily="34" charset="-122"/>
                <a:cs typeface="Calibri" pitchFamily="34" charset="-120"/>
              </a:rPr>
              <a:t>Control logic gates combine them with I and IR bits 0–11</a:t>
            </a:r>
            <a:endParaRPr lang="en-US" sz="2600" dirty="0"/>
          </a:p>
          <a:p>
            <a:pPr marL="304800" indent="-304800" algn="l">
              <a:spcAft>
                <a:spcPts val="1000"/>
              </a:spcAft>
              <a:buSzPct val="100000"/>
              <a:buChar char="•"/>
            </a:pPr>
            <a:r>
              <a:rPr lang="en-US" sz="2600" dirty="0">
                <a:solidFill>
                  <a:srgbClr val="262626"/>
                </a:solidFill>
                <a:latin typeface="Calibri" pitchFamily="34" charset="0"/>
                <a:ea typeface="Calibri" pitchFamily="34" charset="-122"/>
                <a:cs typeface="Calibri" pitchFamily="34" charset="-120"/>
              </a:rPr>
              <a:t>Each control signal = decoder output AND timing signal</a:t>
            </a:r>
            <a:endParaRPr lang="en-US" sz="2600" dirty="0"/>
          </a:p>
        </p:txBody>
      </p:sp>
      <p:sp>
        <p:nvSpPr>
          <p:cNvPr id="7" name="Text 3"/>
          <p:cNvSpPr txBox="1"/>
          <p:nvPr/>
        </p:nvSpPr>
        <p:spPr>
          <a:xfrm>
            <a:off x="411480" y="6355080"/>
            <a:ext cx="10424160" cy="457200"/>
          </a:xfrm>
          <a:prstGeom prst="rect">
            <a:avLst/>
          </a:prstGeom>
          <a:noFill/>
          <a:ln/>
        </p:spPr>
        <p:txBody>
          <a:bodyPr wrap="square" lIns="0" tIns="0" rIns="0" bIns="0" rtlCol="0" anchor="t"/>
          <a:lstStyle/>
          <a:p>
            <a:pPr marL="0" indent="0" algn="l">
              <a:buNone/>
            </a:pPr>
            <a:r>
              <a:rPr lang="en-US" sz="1400" dirty="0">
                <a:solidFill>
                  <a:srgbClr val="546E7A"/>
                </a:solidFill>
                <a:latin typeface="Calibri" pitchFamily="34" charset="0"/>
                <a:ea typeface="Calibri" pitchFamily="34" charset="-122"/>
                <a:cs typeface="Calibri" pitchFamily="34" charset="-120"/>
              </a:rPr>
              <a:t>Control unit of basic computer. Adapted from M. Morris Mano, Computer System Architecture, Fig. 5-6.</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Forming a control statement</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3.11</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A timing signal alone does nothing</a:t>
            </a:r>
            <a:endParaRPr lang="en-US" sz="3200" dirty="0"/>
          </a:p>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It becomes an action when ANDed with an opcode-decoder output and, when needed, a flip-flop condition</a:t>
            </a:r>
            <a:endParaRPr lang="en-US" sz="3200" dirty="0"/>
          </a:p>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The 3-to-8 decoder reads IR bits 14–12 and produces D₀ through D₇</a:t>
            </a:r>
            <a:endParaRPr lang="en-US" sz="3200" dirty="0"/>
          </a:p>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Each control signal is the AND of a decoder output and a timing signal</a:t>
            </a:r>
            <a:endParaRPr lang="en-US" sz="3200" dirty="0"/>
          </a:p>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This is the whole “hardwired” idea in one picture</a:t>
            </a:r>
            <a:endParaRPr lang="en-US" sz="32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Example: LDA (D₂)</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3.11</a:t>
            </a:r>
            <a:endParaRPr lang="en-US" sz="1600" dirty="0"/>
          </a:p>
        </p:txBody>
      </p:sp>
      <p:sp>
        <p:nvSpPr>
          <p:cNvPr id="5" name="Text 2"/>
          <p:cNvSpPr txBox="1"/>
          <p:nvPr/>
        </p:nvSpPr>
        <p:spPr>
          <a:xfrm>
            <a:off x="548640" y="1280160"/>
            <a:ext cx="11094415" cy="1473200"/>
          </a:xfrm>
          <a:prstGeom prst="roundRect">
            <a:avLst>
              <a:gd name="adj" fmla="val 6207"/>
            </a:avLst>
          </a:prstGeom>
          <a:solidFill>
            <a:srgbClr val="F4F6F8"/>
          </a:solidFill>
          <a:ln w="25400">
            <a:solidFill>
              <a:srgbClr val="FF8F00"/>
            </a:solidFill>
          </a:ln>
        </p:spPr>
        <p:txBody>
          <a:bodyPr wrap="square" lIns="152400" tIns="279400" rIns="279400" bIns="152400" rtlCol="0" anchor="ctr"/>
          <a:lstStyle/>
          <a:p>
            <a:pPr marL="0" indent="0">
              <a:spcAft>
                <a:spcPts val="200"/>
              </a:spcAft>
              <a:buNone/>
            </a:pPr>
            <a:r>
              <a:rPr lang="en-US" sz="2800" dirty="0">
                <a:solidFill>
                  <a:srgbClr val="262626"/>
                </a:solidFill>
                <a:latin typeface="Courier New" pitchFamily="34" charset="0"/>
                <a:ea typeface="Courier New" pitchFamily="34" charset="-122"/>
                <a:cs typeface="Courier New" pitchFamily="34" charset="-120"/>
              </a:rPr>
              <a:t>D₂T₄: DR ← M[AR]</a:t>
            </a:r>
            <a:endParaRPr lang="en-US" sz="2800" dirty="0"/>
          </a:p>
          <a:p>
            <a:pPr marL="0" indent="0">
              <a:spcAft>
                <a:spcPts val="200"/>
              </a:spcAft>
              <a:buNone/>
            </a:pPr>
            <a:r>
              <a:rPr lang="en-US" sz="2800" dirty="0">
                <a:solidFill>
                  <a:srgbClr val="262626"/>
                </a:solidFill>
                <a:latin typeface="Courier New" pitchFamily="34" charset="0"/>
                <a:ea typeface="Courier New" pitchFamily="34" charset="-122"/>
                <a:cs typeface="Courier New" pitchFamily="34" charset="-120"/>
              </a:rPr>
              <a:t>D₂T₅: AC ← DR, SC ← 0</a:t>
            </a:r>
            <a:endParaRPr lang="en-US" sz="2800" dirty="0"/>
          </a:p>
        </p:txBody>
      </p:sp>
      <p:sp>
        <p:nvSpPr>
          <p:cNvPr id="6" name="Text 3"/>
          <p:cNvSpPr txBox="1"/>
          <p:nvPr/>
        </p:nvSpPr>
        <p:spPr>
          <a:xfrm>
            <a:off x="640080" y="3073400"/>
            <a:ext cx="10911535" cy="3235960"/>
          </a:xfrm>
          <a:prstGeom prst="rect">
            <a:avLst/>
          </a:prstGeom>
          <a:noFill/>
          <a:ln/>
        </p:spPr>
        <p:txBody>
          <a:bodyPr wrap="square" lIns="0" tIns="0" rIns="0" bIns="0" rtlCol="0" anchor="t"/>
          <a:lstStyle/>
          <a:p>
            <a:pPr marL="304800" indent="-304800" algn="l">
              <a:spcAft>
                <a:spcPts val="1000"/>
              </a:spcAft>
              <a:buSzPct val="100000"/>
              <a:buChar char="•"/>
            </a:pPr>
            <a:r>
              <a:rPr lang="en-US" sz="2800" dirty="0">
                <a:solidFill>
                  <a:srgbClr val="262626"/>
                </a:solidFill>
                <a:latin typeface="Calibri" pitchFamily="34" charset="0"/>
                <a:ea typeface="Calibri" pitchFamily="34" charset="-122"/>
                <a:cs typeface="Calibri" pitchFamily="34" charset="-120"/>
              </a:rPr>
              <a:t>LDA is opcode 010, so its decoder output is D₂</a:t>
            </a:r>
            <a:endParaRPr lang="en-US" sz="2800" dirty="0"/>
          </a:p>
          <a:p>
            <a:pPr marL="304800" indent="-304800" algn="l">
              <a:spcAft>
                <a:spcPts val="1000"/>
              </a:spcAft>
              <a:buSzPct val="100000"/>
              <a:buChar char="•"/>
            </a:pPr>
            <a:r>
              <a:rPr lang="en-US" sz="2800" dirty="0">
                <a:solidFill>
                  <a:srgbClr val="262626"/>
                </a:solidFill>
                <a:latin typeface="Calibri" pitchFamily="34" charset="0"/>
                <a:ea typeface="Calibri" pitchFamily="34" charset="-122"/>
                <a:cs typeface="Calibri" pitchFamily="34" charset="-120"/>
              </a:rPr>
              <a:t>It takes two steps, one at T₄ and one at T₅</a:t>
            </a:r>
            <a:endParaRPr lang="en-US" sz="2800" dirty="0"/>
          </a:p>
          <a:p>
            <a:pPr marL="304800" indent="-304800" algn="l">
              <a:spcAft>
                <a:spcPts val="1000"/>
              </a:spcAft>
              <a:buSzPct val="100000"/>
              <a:buChar char="•"/>
            </a:pPr>
            <a:r>
              <a:rPr lang="en-US" sz="2800" dirty="0">
                <a:solidFill>
                  <a:srgbClr val="262626"/>
                </a:solidFill>
                <a:latin typeface="Calibri" pitchFamily="34" charset="0"/>
                <a:ea typeface="Calibri" pitchFamily="34" charset="-122"/>
                <a:cs typeface="Calibri" pitchFamily="34" charset="-120"/>
              </a:rPr>
              <a:t>The last step clears SC to start the next fetch</a:t>
            </a:r>
            <a:endParaRPr lang="en-US" sz="28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Example of control timing signals</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3.11</a:t>
            </a:r>
            <a:endParaRPr lang="en-US" sz="1600" dirty="0"/>
          </a:p>
        </p:txBody>
      </p:sp>
      <p:pic>
        <p:nvPicPr>
          <p:cNvPr id="5" name="Image 0" descr="/home/claude/figs/3.11_timing-and-control_fig2.png"/>
          <p:cNvPicPr>
            <a:picLocks noChangeAspect="1"/>
          </p:cNvPicPr>
          <p:nvPr/>
        </p:nvPicPr>
        <p:blipFill>
          <a:blip r:embed="rId3"/>
          <a:stretch>
            <a:fillRect/>
          </a:stretch>
        </p:blipFill>
        <p:spPr>
          <a:xfrm>
            <a:off x="1816456" y="621792"/>
            <a:ext cx="8558784" cy="5705856"/>
          </a:xfrm>
          <a:prstGeom prst="rect">
            <a:avLst/>
          </a:prstGeom>
        </p:spPr>
      </p:pic>
      <p:sp>
        <p:nvSpPr>
          <p:cNvPr id="6" name="Text 2"/>
          <p:cNvSpPr txBox="1"/>
          <p:nvPr/>
        </p:nvSpPr>
        <p:spPr>
          <a:xfrm>
            <a:off x="411480" y="6355080"/>
            <a:ext cx="10424160" cy="457200"/>
          </a:xfrm>
          <a:prstGeom prst="rect">
            <a:avLst/>
          </a:prstGeom>
          <a:noFill/>
          <a:ln/>
        </p:spPr>
        <p:txBody>
          <a:bodyPr wrap="square" lIns="0" tIns="0" rIns="0" bIns="0" rtlCol="0" anchor="t"/>
          <a:lstStyle/>
          <a:p>
            <a:pPr marL="0" indent="0" algn="ctr">
              <a:buNone/>
            </a:pPr>
            <a:r>
              <a:rPr lang="en-US" sz="1400" dirty="0">
                <a:solidFill>
                  <a:srgbClr val="546E7A"/>
                </a:solidFill>
                <a:latin typeface="Calibri" pitchFamily="34" charset="0"/>
                <a:ea typeface="Calibri" pitchFamily="34" charset="-122"/>
                <a:cs typeface="Calibri" pitchFamily="34" charset="-120"/>
              </a:rPr>
              <a:t>Example of control timing signals. Adapted from M. Morris Mano, Computer System Architecture, Fig. 5-7.</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3.12  Instruction Cycle</a:t>
            </a:r>
            <a:endParaRPr lang="en-US" sz="3000" dirty="0"/>
          </a:p>
        </p:txBody>
      </p:sp>
      <p:sp>
        <p:nvSpPr>
          <p:cNvPr id="4" name="Text 1"/>
          <p:cNvSpPr txBox="1"/>
          <p:nvPr/>
        </p:nvSpPr>
        <p:spPr>
          <a:xfrm>
            <a:off x="914400" y="1417320"/>
            <a:ext cx="5486400" cy="365760"/>
          </a:xfrm>
          <a:prstGeom prst="rect">
            <a:avLst/>
          </a:prstGeom>
          <a:noFill/>
          <a:ln/>
        </p:spPr>
        <p:txBody>
          <a:bodyPr wrap="square" lIns="0" tIns="0" rIns="0" bIns="0" rtlCol="0" anchor="ctr"/>
          <a:lstStyle/>
          <a:p>
            <a:pPr marL="0" indent="0">
              <a:buNone/>
            </a:pPr>
            <a:r>
              <a:rPr lang="en-US" sz="2000" b="1" dirty="0">
                <a:solidFill>
                  <a:srgbClr val="1565C0"/>
                </a:solidFill>
                <a:latin typeface="Calibri" pitchFamily="34" charset="0"/>
                <a:ea typeface="Calibri" pitchFamily="34" charset="-122"/>
                <a:cs typeface="Calibri" pitchFamily="34" charset="-120"/>
              </a:rPr>
              <a:t>IN SIMPLE TERMS</a:t>
            </a:r>
            <a:endParaRPr lang="en-US" sz="2000" dirty="0"/>
          </a:p>
        </p:txBody>
      </p:sp>
      <p:sp>
        <p:nvSpPr>
          <p:cNvPr id="5" name="Text 2"/>
          <p:cNvSpPr txBox="1"/>
          <p:nvPr/>
        </p:nvSpPr>
        <p:spPr>
          <a:xfrm>
            <a:off x="914400" y="1920240"/>
            <a:ext cx="10362895" cy="3566160"/>
          </a:xfrm>
          <a:prstGeom prst="roundRect">
            <a:avLst>
              <a:gd name="adj" fmla="val 3846"/>
            </a:avLst>
          </a:prstGeom>
          <a:solidFill>
            <a:srgbClr val="FFF3E0"/>
          </a:solidFill>
          <a:ln w="31750">
            <a:solidFill>
              <a:srgbClr val="FF8F00"/>
            </a:solidFill>
          </a:ln>
        </p:spPr>
        <p:txBody>
          <a:bodyPr wrap="square" lIns="304800" tIns="457200" rIns="457200" bIns="304800" rtlCol="0" anchor="ctr"/>
          <a:lstStyle/>
          <a:p>
            <a:pPr marL="0" indent="0" algn="l">
              <a:buNone/>
            </a:pPr>
            <a:r>
              <a:rPr lang="en-US" sz="3400" dirty="0">
                <a:solidFill>
                  <a:srgbClr val="262626"/>
                </a:solidFill>
                <a:latin typeface="Calibri" pitchFamily="34" charset="0"/>
                <a:ea typeface="Calibri" pitchFamily="34" charset="-122"/>
                <a:cs typeface="Calibri" pitchFamily="34" charset="-120"/>
              </a:rPr>
              <a:t>Every instruction runs the same three opening steps (fetch, decode, find the address) and then follows one of four short execute paths before starting again.</a:t>
            </a:r>
            <a:endParaRPr lang="en-US" sz="3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One repeating loop</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3.12</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Everything in this unit exists to run one loop: </a:t>
            </a:r>
            <a:r>
              <a:rPr lang="en-US" sz="3200" b="1" dirty="0">
                <a:solidFill>
                  <a:srgbClr val="262626"/>
                </a:solidFill>
                <a:latin typeface="Calibri" pitchFamily="34" charset="0"/>
                <a:ea typeface="Calibri" pitchFamily="34" charset="-122"/>
                <a:cs typeface="Calibri" pitchFamily="34" charset="-120"/>
              </a:rPr>
              <a:t>fetch</a:t>
            </a:r>
            <a:r>
              <a:rPr lang="en-US" sz="3200" dirty="0">
                <a:solidFill>
                  <a:srgbClr val="262626"/>
                </a:solidFill>
                <a:latin typeface="Calibri" pitchFamily="34" charset="0"/>
                <a:ea typeface="Calibri" pitchFamily="34" charset="-122"/>
                <a:cs typeface="Calibri" pitchFamily="34" charset="-120"/>
              </a:rPr>
              <a:t> an instruction, </a:t>
            </a:r>
            <a:r>
              <a:rPr lang="en-US" sz="3200" b="1" dirty="0">
                <a:solidFill>
                  <a:srgbClr val="262626"/>
                </a:solidFill>
                <a:latin typeface="Calibri" pitchFamily="34" charset="0"/>
                <a:ea typeface="Calibri" pitchFamily="34" charset="-122"/>
                <a:cs typeface="Calibri" pitchFamily="34" charset="-120"/>
              </a:rPr>
              <a:t>decode</a:t>
            </a:r>
            <a:r>
              <a:rPr lang="en-US" sz="3200" dirty="0">
                <a:solidFill>
                  <a:srgbClr val="262626"/>
                </a:solidFill>
                <a:latin typeface="Calibri" pitchFamily="34" charset="0"/>
                <a:ea typeface="Calibri" pitchFamily="34" charset="-122"/>
                <a:cs typeface="Calibri" pitchFamily="34" charset="-120"/>
              </a:rPr>
              <a:t> it, </a:t>
            </a:r>
            <a:r>
              <a:rPr lang="en-US" sz="3200" b="1" dirty="0">
                <a:solidFill>
                  <a:srgbClr val="262626"/>
                </a:solidFill>
                <a:latin typeface="Calibri" pitchFamily="34" charset="0"/>
                <a:ea typeface="Calibri" pitchFamily="34" charset="-122"/>
                <a:cs typeface="Calibri" pitchFamily="34" charset="-120"/>
              </a:rPr>
              <a:t>execute</a:t>
            </a:r>
            <a:r>
              <a:rPr lang="en-US" sz="3200" dirty="0">
                <a:solidFill>
                  <a:srgbClr val="262626"/>
                </a:solidFill>
                <a:latin typeface="Calibri" pitchFamily="34" charset="0"/>
                <a:ea typeface="Calibri" pitchFamily="34" charset="-122"/>
                <a:cs typeface="Calibri" pitchFamily="34" charset="-120"/>
              </a:rPr>
              <a:t> it</a:t>
            </a:r>
            <a:endParaRPr lang="en-US" sz="3200" dirty="0"/>
          </a:p>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Then do it again for the next instruction</a:t>
            </a:r>
            <a:endParaRPr lang="en-US" sz="3200" dirty="0"/>
          </a:p>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T₀, T₁ and T₂ are identical for </a:t>
            </a:r>
            <a:r>
              <a:rPr lang="en-US" sz="3200" b="1" dirty="0">
                <a:solidFill>
                  <a:srgbClr val="262626"/>
                </a:solidFill>
                <a:latin typeface="Calibri" pitchFamily="34" charset="0"/>
                <a:ea typeface="Calibri" pitchFamily="34" charset="-122"/>
                <a:cs typeface="Calibri" pitchFamily="34" charset="-120"/>
              </a:rPr>
              <a:t>every</a:t>
            </a:r>
            <a:r>
              <a:rPr lang="en-US" sz="3200" dirty="0">
                <a:solidFill>
                  <a:srgbClr val="262626"/>
                </a:solidFill>
                <a:latin typeface="Calibri" pitchFamily="34" charset="0"/>
                <a:ea typeface="Calibri" pitchFamily="34" charset="-122"/>
                <a:cs typeface="Calibri" pitchFamily="34" charset="-120"/>
              </a:rPr>
              <a:t> instruction</a:t>
            </a:r>
            <a:endParaRPr lang="en-US" sz="32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Fetch and decode: T₀, T₁, T₂</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3.12</a:t>
            </a:r>
            <a:endParaRPr lang="en-US" sz="1600" dirty="0"/>
          </a:p>
        </p:txBody>
      </p:sp>
      <p:sp>
        <p:nvSpPr>
          <p:cNvPr id="5" name="Text 2"/>
          <p:cNvSpPr txBox="1"/>
          <p:nvPr/>
        </p:nvSpPr>
        <p:spPr>
          <a:xfrm>
            <a:off x="548640" y="1280160"/>
            <a:ext cx="11094415" cy="1869440"/>
          </a:xfrm>
          <a:prstGeom prst="roundRect">
            <a:avLst>
              <a:gd name="adj" fmla="val 4891"/>
            </a:avLst>
          </a:prstGeom>
          <a:solidFill>
            <a:srgbClr val="F4F6F8"/>
          </a:solidFill>
          <a:ln w="25400">
            <a:solidFill>
              <a:srgbClr val="FF8F00"/>
            </a:solidFill>
          </a:ln>
        </p:spPr>
        <p:txBody>
          <a:bodyPr wrap="square" lIns="152400" tIns="279400" rIns="279400" bIns="152400" rtlCol="0" anchor="ctr"/>
          <a:lstStyle/>
          <a:p>
            <a:pPr marL="0" indent="0">
              <a:spcAft>
                <a:spcPts val="200"/>
              </a:spcAft>
              <a:buNone/>
            </a:pPr>
            <a:r>
              <a:rPr lang="en-US" sz="2000" dirty="0">
                <a:solidFill>
                  <a:srgbClr val="262626"/>
                </a:solidFill>
                <a:latin typeface="Courier New" pitchFamily="34" charset="0"/>
                <a:ea typeface="Courier New" pitchFamily="34" charset="-122"/>
                <a:cs typeface="Courier New" pitchFamily="34" charset="-120"/>
              </a:rPr>
              <a:t>T₀:  AR ← PC</a:t>
            </a:r>
            <a:endParaRPr lang="en-US" sz="2000" dirty="0"/>
          </a:p>
          <a:p>
            <a:pPr marL="0" indent="0">
              <a:spcAft>
                <a:spcPts val="200"/>
              </a:spcAft>
              <a:buNone/>
            </a:pPr>
            <a:r>
              <a:rPr lang="en-US" sz="2000" dirty="0">
                <a:solidFill>
                  <a:srgbClr val="262626"/>
                </a:solidFill>
                <a:latin typeface="Courier New" pitchFamily="34" charset="0"/>
                <a:ea typeface="Courier New" pitchFamily="34" charset="-122"/>
                <a:cs typeface="Courier New" pitchFamily="34" charset="-120"/>
              </a:rPr>
              <a:t>T₁:  IR ← M[AR],  PC ← PC + 1</a:t>
            </a:r>
            <a:endParaRPr lang="en-US" sz="2000" dirty="0"/>
          </a:p>
          <a:p>
            <a:pPr marL="0" indent="0">
              <a:spcAft>
                <a:spcPts val="200"/>
              </a:spcAft>
              <a:buNone/>
            </a:pPr>
            <a:r>
              <a:rPr lang="en-US" sz="2000" dirty="0">
                <a:solidFill>
                  <a:srgbClr val="262626"/>
                </a:solidFill>
                <a:latin typeface="Courier New" pitchFamily="34" charset="0"/>
                <a:ea typeface="Courier New" pitchFamily="34" charset="-122"/>
                <a:cs typeface="Courier New" pitchFamily="34" charset="-120"/>
              </a:rPr>
              <a:t>T₂:  D₀,…,D₇ ← Decode IR(14-12),</a:t>
            </a:r>
            <a:endParaRPr lang="en-US" sz="2000" dirty="0"/>
          </a:p>
          <a:p>
            <a:pPr marL="0" indent="0">
              <a:spcAft>
                <a:spcPts val="200"/>
              </a:spcAft>
              <a:buNone/>
            </a:pPr>
            <a:r>
              <a:rPr lang="en-US" sz="2000" dirty="0">
                <a:solidFill>
                  <a:srgbClr val="262626"/>
                </a:solidFill>
                <a:latin typeface="Courier New" pitchFamily="34" charset="0"/>
                <a:ea typeface="Courier New" pitchFamily="34" charset="-122"/>
                <a:cs typeface="Courier New" pitchFamily="34" charset="-120"/>
              </a:rPr>
              <a:t>       AR ← IR(11-0),  I ← IR(15)</a:t>
            </a:r>
            <a:endParaRPr lang="en-US" sz="2000" dirty="0"/>
          </a:p>
        </p:txBody>
      </p:sp>
      <p:sp>
        <p:nvSpPr>
          <p:cNvPr id="6" name="Text 3"/>
          <p:cNvSpPr txBox="1"/>
          <p:nvPr/>
        </p:nvSpPr>
        <p:spPr>
          <a:xfrm>
            <a:off x="640080" y="3469640"/>
            <a:ext cx="10911535" cy="2839720"/>
          </a:xfrm>
          <a:prstGeom prst="rect">
            <a:avLst/>
          </a:prstGeom>
          <a:noFill/>
          <a:ln/>
        </p:spPr>
        <p:txBody>
          <a:bodyPr wrap="square" lIns="0" tIns="0" rIns="0" bIns="0" rtlCol="0" anchor="t"/>
          <a:lstStyle/>
          <a:p>
            <a:pPr marL="304800" indent="-304800" algn="l">
              <a:spcAft>
                <a:spcPts val="1000"/>
              </a:spcAft>
              <a:buSzPct val="100000"/>
              <a:buChar char="•"/>
            </a:pPr>
            <a:r>
              <a:rPr lang="en-US" sz="2800" dirty="0">
                <a:solidFill>
                  <a:srgbClr val="262626"/>
                </a:solidFill>
                <a:latin typeface="Calibri" pitchFamily="34" charset="0"/>
                <a:ea typeface="Calibri" pitchFamily="34" charset="-122"/>
                <a:cs typeface="Calibri" pitchFamily="34" charset="-120"/>
              </a:rPr>
              <a:t>T₀ points AR at the next instruction</a:t>
            </a:r>
            <a:endParaRPr lang="en-US" sz="2800" dirty="0"/>
          </a:p>
          <a:p>
            <a:pPr marL="304800" indent="-304800" algn="l">
              <a:spcAft>
                <a:spcPts val="1000"/>
              </a:spcAft>
              <a:buSzPct val="100000"/>
              <a:buChar char="•"/>
            </a:pPr>
            <a:r>
              <a:rPr lang="en-US" sz="2800" dirty="0">
                <a:solidFill>
                  <a:srgbClr val="262626"/>
                </a:solidFill>
                <a:latin typeface="Calibri" pitchFamily="34" charset="0"/>
                <a:ea typeface="Calibri" pitchFamily="34" charset="-122"/>
                <a:cs typeface="Calibri" pitchFamily="34" charset="-120"/>
              </a:rPr>
              <a:t>T₁ reads it into IR and advances PC, so PC already points past the current instruction</a:t>
            </a:r>
            <a:endParaRPr lang="en-US" sz="2800" dirty="0"/>
          </a:p>
          <a:p>
            <a:pPr marL="304800" indent="-304800" algn="l">
              <a:spcAft>
                <a:spcPts val="1000"/>
              </a:spcAft>
              <a:buSzPct val="100000"/>
              <a:buChar char="•"/>
            </a:pPr>
            <a:r>
              <a:rPr lang="en-US" sz="2800" dirty="0">
                <a:solidFill>
                  <a:srgbClr val="262626"/>
                </a:solidFill>
                <a:latin typeface="Calibri" pitchFamily="34" charset="0"/>
                <a:ea typeface="Calibri" pitchFamily="34" charset="-122"/>
                <a:cs typeface="Calibri" pitchFamily="34" charset="-120"/>
              </a:rPr>
              <a:t>T₂ decodes the opcode, copies the low 12 bits into AR as a tentative address, and captures I</a:t>
            </a:r>
            <a:endParaRPr lang="en-US" sz="28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Instruction cycle flowchart</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3.12</a:t>
            </a:r>
            <a:endParaRPr lang="en-US" sz="1600" dirty="0"/>
          </a:p>
        </p:txBody>
      </p:sp>
      <p:pic>
        <p:nvPicPr>
          <p:cNvPr id="5" name="Image 0" descr="/home/claude/figs/3.12_instruction-cycle_fig1.png"/>
          <p:cNvPicPr>
            <a:picLocks noChangeAspect="1"/>
          </p:cNvPicPr>
          <p:nvPr/>
        </p:nvPicPr>
        <p:blipFill>
          <a:blip r:embed="rId3"/>
          <a:stretch>
            <a:fillRect/>
          </a:stretch>
        </p:blipFill>
        <p:spPr>
          <a:xfrm>
            <a:off x="411480" y="621792"/>
            <a:ext cx="6317198" cy="5705856"/>
          </a:xfrm>
          <a:prstGeom prst="rect">
            <a:avLst/>
          </a:prstGeom>
        </p:spPr>
      </p:pic>
      <p:sp>
        <p:nvSpPr>
          <p:cNvPr id="6" name="Text 2"/>
          <p:cNvSpPr txBox="1"/>
          <p:nvPr/>
        </p:nvSpPr>
        <p:spPr>
          <a:xfrm>
            <a:off x="7094438" y="713232"/>
            <a:ext cx="4685777" cy="5522976"/>
          </a:xfrm>
          <a:prstGeom prst="roundRect">
            <a:avLst>
              <a:gd name="adj" fmla="val 2342"/>
            </a:avLst>
          </a:prstGeom>
          <a:solidFill>
            <a:srgbClr val="EAF2FB"/>
          </a:solidFill>
          <a:ln w="6350">
            <a:solidFill>
              <a:srgbClr val="EAF2FB"/>
            </a:solidFill>
          </a:ln>
        </p:spPr>
        <p:txBody>
          <a:bodyPr wrap="square" lIns="203200" tIns="279400" rIns="279400" bIns="203200" rtlCol="0" anchor="ctr"/>
          <a:lstStyle/>
          <a:p>
            <a:pPr marL="304800" indent="-304800" algn="l">
              <a:spcAft>
                <a:spcPts val="1000"/>
              </a:spcAft>
              <a:buSzPct val="100000"/>
              <a:buChar char="•"/>
            </a:pPr>
            <a:r>
              <a:rPr lang="en-US" sz="2600" dirty="0">
                <a:solidFill>
                  <a:srgbClr val="262626"/>
                </a:solidFill>
                <a:latin typeface="Calibri" pitchFamily="34" charset="0"/>
                <a:ea typeface="Calibri" pitchFamily="34" charset="-122"/>
                <a:cs typeface="Calibri" pitchFamily="34" charset="-120"/>
              </a:rPr>
              <a:t>D₇ splits the two kinds of instruction</a:t>
            </a:r>
            <a:endParaRPr lang="en-US" sz="2600" dirty="0"/>
          </a:p>
          <a:p>
            <a:pPr marL="304800" indent="-304800" algn="l">
              <a:spcAft>
                <a:spcPts val="1000"/>
              </a:spcAft>
              <a:buSzPct val="100000"/>
              <a:buChar char="•"/>
            </a:pPr>
            <a:r>
              <a:rPr lang="en-US" sz="2600" dirty="0">
                <a:solidFill>
                  <a:srgbClr val="262626"/>
                </a:solidFill>
                <a:latin typeface="Calibri" pitchFamily="34" charset="0"/>
                <a:ea typeface="Calibri" pitchFamily="34" charset="-122"/>
                <a:cs typeface="Calibri" pitchFamily="34" charset="-120"/>
              </a:rPr>
              <a:t>D₇ = 0: if I = 1, T₃ does AR ← M[AR]; execution starts at T₄</a:t>
            </a:r>
            <a:endParaRPr lang="en-US" sz="2600" dirty="0"/>
          </a:p>
          <a:p>
            <a:pPr marL="304800" indent="-304800" algn="l">
              <a:spcAft>
                <a:spcPts val="1000"/>
              </a:spcAft>
              <a:buSzPct val="100000"/>
              <a:buChar char="•"/>
            </a:pPr>
            <a:r>
              <a:rPr lang="en-US" sz="2600" dirty="0">
                <a:solidFill>
                  <a:srgbClr val="262626"/>
                </a:solidFill>
                <a:latin typeface="Calibri" pitchFamily="34" charset="0"/>
                <a:ea typeface="Calibri" pitchFamily="34" charset="-122"/>
                <a:cs typeface="Calibri" pitchFamily="34" charset="-120"/>
              </a:rPr>
              <a:t>D₇ = 1: I = 0 register-reference, I = 1 input-output, both at T₃</a:t>
            </a:r>
            <a:endParaRPr lang="en-US" sz="2600" dirty="0"/>
          </a:p>
          <a:p>
            <a:pPr marL="304800" indent="-304800" algn="l">
              <a:spcAft>
                <a:spcPts val="1000"/>
              </a:spcAft>
              <a:buSzPct val="100000"/>
              <a:buChar char="•"/>
            </a:pPr>
            <a:r>
              <a:rPr lang="en-US" sz="2600" dirty="0">
                <a:solidFill>
                  <a:srgbClr val="262626"/>
                </a:solidFill>
                <a:latin typeface="Calibri" pitchFamily="34" charset="0"/>
                <a:ea typeface="Calibri" pitchFamily="34" charset="-122"/>
                <a:cs typeface="Calibri" pitchFamily="34" charset="-120"/>
              </a:rPr>
              <a:t>Every path clears SC; next fetch at T₀</a:t>
            </a:r>
            <a:endParaRPr lang="en-US" sz="2600" dirty="0"/>
          </a:p>
        </p:txBody>
      </p:sp>
      <p:sp>
        <p:nvSpPr>
          <p:cNvPr id="7" name="Text 3"/>
          <p:cNvSpPr txBox="1"/>
          <p:nvPr/>
        </p:nvSpPr>
        <p:spPr>
          <a:xfrm>
            <a:off x="411480" y="6355080"/>
            <a:ext cx="10424160" cy="457200"/>
          </a:xfrm>
          <a:prstGeom prst="rect">
            <a:avLst/>
          </a:prstGeom>
          <a:noFill/>
          <a:ln/>
        </p:spPr>
        <p:txBody>
          <a:bodyPr wrap="square" lIns="0" tIns="0" rIns="0" bIns="0" rtlCol="0" anchor="t"/>
          <a:lstStyle/>
          <a:p>
            <a:pPr marL="0" indent="0" algn="l">
              <a:buNone/>
            </a:pPr>
            <a:r>
              <a:rPr lang="en-US" sz="1400" dirty="0">
                <a:solidFill>
                  <a:srgbClr val="546E7A"/>
                </a:solidFill>
                <a:latin typeface="Calibri" pitchFamily="34" charset="0"/>
                <a:ea typeface="Calibri" pitchFamily="34" charset="-122"/>
                <a:cs typeface="Calibri" pitchFamily="34" charset="-120"/>
              </a:rPr>
              <a:t>Flowchart for instruction cycle (initial configuration). Adapted from M. Morris Mano, Computer System Architecture, Fig. 5-9.</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After decoding at T₂</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3.12</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marL="304800" indent="-304800" algn="l">
              <a:spcAft>
                <a:spcPts val="1000"/>
              </a:spcAft>
              <a:buSzPct val="100000"/>
              <a:buChar char="•"/>
            </a:pPr>
            <a:r>
              <a:rPr lang="en-US" sz="3000" b="1" dirty="0">
                <a:solidFill>
                  <a:srgbClr val="262626"/>
                </a:solidFill>
                <a:latin typeface="Calibri" pitchFamily="34" charset="0"/>
                <a:ea typeface="Calibri" pitchFamily="34" charset="-122"/>
                <a:cs typeface="Calibri" pitchFamily="34" charset="-120"/>
              </a:rPr>
              <a:t>D₇</a:t>
            </a:r>
            <a:r>
              <a:rPr lang="en-US" sz="3000" dirty="0">
                <a:solidFill>
                  <a:srgbClr val="262626"/>
                </a:solidFill>
                <a:latin typeface="Calibri" pitchFamily="34" charset="0"/>
                <a:ea typeface="Calibri" pitchFamily="34" charset="-122"/>
                <a:cs typeface="Calibri" pitchFamily="34" charset="-120"/>
              </a:rPr>
              <a:t> separates the two kinds of instruction</a:t>
            </a:r>
            <a:endParaRPr lang="en-US" sz="3000" dirty="0"/>
          </a:p>
          <a:p>
            <a:pPr marL="304800" indent="-304800" algn="l">
              <a:spcAft>
                <a:spcPts val="1000"/>
              </a:spcAft>
              <a:buSzPct val="100000"/>
              <a:buChar char="•"/>
            </a:pPr>
            <a:r>
              <a:rPr lang="en-US" sz="3000" dirty="0">
                <a:solidFill>
                  <a:srgbClr val="262626"/>
                </a:solidFill>
                <a:latin typeface="Calibri" pitchFamily="34" charset="0"/>
                <a:ea typeface="Calibri" pitchFamily="34" charset="-122"/>
                <a:cs typeface="Calibri" pitchFamily="34" charset="-120"/>
              </a:rPr>
              <a:t>D₇ = 0 (memory-reference): I = 1 fetches the effective address at T₃ (AR ← M[AR]); I = 0 does nothing</a:t>
            </a:r>
            <a:endParaRPr lang="en-US" sz="3000" dirty="0"/>
          </a:p>
          <a:p>
            <a:pPr marL="304800" indent="-304800" algn="l">
              <a:spcAft>
                <a:spcPts val="1000"/>
              </a:spcAft>
              <a:buSzPct val="100000"/>
              <a:buChar char="•"/>
            </a:pPr>
            <a:r>
              <a:rPr lang="en-US" sz="3000" dirty="0">
                <a:solidFill>
                  <a:srgbClr val="262626"/>
                </a:solidFill>
                <a:latin typeface="Calibri" pitchFamily="34" charset="0"/>
                <a:ea typeface="Calibri" pitchFamily="34" charset="-122"/>
                <a:cs typeface="Calibri" pitchFamily="34" charset="-120"/>
              </a:rPr>
              <a:t>Execution of a memory-reference instruction then starts at T₄</a:t>
            </a:r>
            <a:endParaRPr lang="en-US" sz="3000" dirty="0"/>
          </a:p>
          <a:p>
            <a:pPr marL="304800" indent="-304800" algn="l">
              <a:spcAft>
                <a:spcPts val="1000"/>
              </a:spcAft>
              <a:buSzPct val="100000"/>
              <a:buChar char="•"/>
            </a:pPr>
            <a:r>
              <a:rPr lang="en-US" sz="3000" dirty="0">
                <a:solidFill>
                  <a:srgbClr val="262626"/>
                </a:solidFill>
                <a:latin typeface="Calibri" pitchFamily="34" charset="0"/>
                <a:ea typeface="Calibri" pitchFamily="34" charset="-122"/>
                <a:cs typeface="Calibri" pitchFamily="34" charset="-120"/>
              </a:rPr>
              <a:t>D₇ = 1: I = 0 is a register-reference instruction, I = 1 is input-output; both execute at T₃</a:t>
            </a:r>
            <a:endParaRPr lang="en-US" sz="3000" dirty="0"/>
          </a:p>
          <a:p>
            <a:pPr marL="304800" indent="-304800" algn="l">
              <a:spcAft>
                <a:spcPts val="1000"/>
              </a:spcAft>
              <a:buSzPct val="100000"/>
              <a:buChar char="•"/>
            </a:pPr>
            <a:r>
              <a:rPr lang="en-US" sz="3000" dirty="0">
                <a:solidFill>
                  <a:srgbClr val="262626"/>
                </a:solidFill>
                <a:latin typeface="Calibri" pitchFamily="34" charset="0"/>
                <a:ea typeface="Calibri" pitchFamily="34" charset="-122"/>
                <a:cs typeface="Calibri" pitchFamily="34" charset="-120"/>
              </a:rPr>
              <a:t>Every path ends by clearing SC, which starts the next fetch at T₀</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3.13  Memory Reference Instructions</a:t>
            </a:r>
            <a:endParaRPr lang="en-US" sz="3000" dirty="0"/>
          </a:p>
        </p:txBody>
      </p:sp>
      <p:sp>
        <p:nvSpPr>
          <p:cNvPr id="4" name="Text 1"/>
          <p:cNvSpPr txBox="1"/>
          <p:nvPr/>
        </p:nvSpPr>
        <p:spPr>
          <a:xfrm>
            <a:off x="914400" y="1417320"/>
            <a:ext cx="5486400" cy="365760"/>
          </a:xfrm>
          <a:prstGeom prst="rect">
            <a:avLst/>
          </a:prstGeom>
          <a:noFill/>
          <a:ln/>
        </p:spPr>
        <p:txBody>
          <a:bodyPr wrap="square" lIns="0" tIns="0" rIns="0" bIns="0" rtlCol="0" anchor="ctr"/>
          <a:lstStyle/>
          <a:p>
            <a:pPr marL="0" indent="0">
              <a:buNone/>
            </a:pPr>
            <a:r>
              <a:rPr lang="en-US" sz="2000" b="1" dirty="0">
                <a:solidFill>
                  <a:srgbClr val="1565C0"/>
                </a:solidFill>
                <a:latin typeface="Calibri" pitchFamily="34" charset="0"/>
                <a:ea typeface="Calibri" pitchFamily="34" charset="-122"/>
                <a:cs typeface="Calibri" pitchFamily="34" charset="-120"/>
              </a:rPr>
              <a:t>IN SIMPLE TERMS</a:t>
            </a:r>
            <a:endParaRPr lang="en-US" sz="2000" dirty="0"/>
          </a:p>
        </p:txBody>
      </p:sp>
      <p:sp>
        <p:nvSpPr>
          <p:cNvPr id="5" name="Text 2"/>
          <p:cNvSpPr txBox="1"/>
          <p:nvPr/>
        </p:nvSpPr>
        <p:spPr>
          <a:xfrm>
            <a:off x="914400" y="1920240"/>
            <a:ext cx="10362895" cy="3566160"/>
          </a:xfrm>
          <a:prstGeom prst="roundRect">
            <a:avLst>
              <a:gd name="adj" fmla="val 3846"/>
            </a:avLst>
          </a:prstGeom>
          <a:solidFill>
            <a:srgbClr val="FFF3E0"/>
          </a:solidFill>
          <a:ln w="31750">
            <a:solidFill>
              <a:srgbClr val="FF8F00"/>
            </a:solidFill>
          </a:ln>
        </p:spPr>
        <p:txBody>
          <a:bodyPr wrap="square" lIns="304800" tIns="457200" rIns="457200" bIns="304800" rtlCol="0" anchor="ctr"/>
          <a:lstStyle/>
          <a:p>
            <a:pPr marL="0" indent="0" algn="l">
              <a:buNone/>
            </a:pPr>
            <a:r>
              <a:rPr lang="en-US" sz="3400" dirty="0">
                <a:solidFill>
                  <a:srgbClr val="262626"/>
                </a:solidFill>
                <a:latin typeface="Calibri" pitchFamily="34" charset="0"/>
                <a:ea typeface="Calibri" pitchFamily="34" charset="-122"/>
                <a:cs typeface="Calibri" pitchFamily="34" charset="-120"/>
              </a:rPr>
              <a:t>Each memory instruction is a few register transfers, one per clock tick, starting at T₄; most read the memory word into DR first and then use it.</a:t>
            </a:r>
            <a:endParaRPr lang="en-US" sz="3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Where execution starts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3.13</a:t>
            </a:r>
            <a:endParaRPr lang="en-US" sz="1600" dirty="0"/>
          </a:p>
        </p:txBody>
      </p:sp>
      <p:sp>
        <p:nvSpPr>
          <p:cNvPr id="5" name="Text 2"/>
          <p:cNvSpPr txBox="1"/>
          <p:nvPr/>
        </p:nvSpPr>
        <p:spPr>
          <a:xfrm>
            <a:off x="548640" y="1280160"/>
            <a:ext cx="11094415" cy="911860"/>
          </a:xfrm>
          <a:prstGeom prst="roundRect">
            <a:avLst>
              <a:gd name="adj" fmla="val 10028"/>
            </a:avLst>
          </a:prstGeom>
          <a:solidFill>
            <a:srgbClr val="F4F6F8"/>
          </a:solidFill>
          <a:ln w="25400">
            <a:solidFill>
              <a:srgbClr val="FF8F00"/>
            </a:solidFill>
          </a:ln>
        </p:spPr>
        <p:txBody>
          <a:bodyPr wrap="square" lIns="152400" tIns="279400" rIns="279400" bIns="152400" rtlCol="0" anchor="ctr"/>
          <a:lstStyle/>
          <a:p>
            <a:pPr marL="0" indent="0">
              <a:spcAft>
                <a:spcPts val="200"/>
              </a:spcAft>
              <a:buNone/>
            </a:pPr>
            <a:r>
              <a:rPr lang="en-US" sz="2200" dirty="0">
                <a:solidFill>
                  <a:srgbClr val="262626"/>
                </a:solidFill>
                <a:latin typeface="Courier New" pitchFamily="34" charset="0"/>
                <a:ea typeface="Courier New" pitchFamily="34" charset="-122"/>
                <a:cs typeface="Courier New" pitchFamily="34" charset="-120"/>
              </a:rPr>
              <a:t>D₇′ I T₃:   AR ← M[AR]</a:t>
            </a:r>
            <a:endParaRPr lang="en-US" sz="2200" dirty="0"/>
          </a:p>
        </p:txBody>
      </p:sp>
      <p:sp>
        <p:nvSpPr>
          <p:cNvPr id="6" name="Text 3"/>
          <p:cNvSpPr txBox="1"/>
          <p:nvPr/>
        </p:nvSpPr>
        <p:spPr>
          <a:xfrm>
            <a:off x="640080" y="2512060"/>
            <a:ext cx="10911535" cy="3797300"/>
          </a:xfrm>
          <a:prstGeom prst="rect">
            <a:avLst/>
          </a:prstGeom>
          <a:noFill/>
          <a:ln/>
        </p:spPr>
        <p:txBody>
          <a:bodyPr wrap="square" lIns="0" tIns="0" rIns="0" bIns="0" rtlCol="0" anchor="t"/>
          <a:lstStyle/>
          <a:p>
            <a:pPr marL="304800" indent="-304800" algn="l">
              <a:spcAft>
                <a:spcPts val="1000"/>
              </a:spcAft>
              <a:buSzPct val="100000"/>
              <a:buChar char="•"/>
            </a:pPr>
            <a:r>
              <a:rPr lang="en-US" sz="2800" dirty="0">
                <a:solidFill>
                  <a:srgbClr val="262626"/>
                </a:solidFill>
                <a:latin typeface="Calibri" pitchFamily="34" charset="0"/>
                <a:ea typeface="Calibri" pitchFamily="34" charset="-122"/>
                <a:cs typeface="Calibri" pitchFamily="34" charset="-120"/>
              </a:rPr>
              <a:t>The flowchart compressed all seven instructions into one box; this topic expands it</a:t>
            </a:r>
            <a:endParaRPr lang="en-US" sz="2800" dirty="0"/>
          </a:p>
          <a:p>
            <a:pPr marL="304800" indent="-304800" algn="l">
              <a:spcAft>
                <a:spcPts val="1000"/>
              </a:spcAft>
              <a:buSzPct val="100000"/>
              <a:buChar char="•"/>
            </a:pPr>
            <a:r>
              <a:rPr lang="en-US" sz="2800" dirty="0">
                <a:solidFill>
                  <a:srgbClr val="262626"/>
                </a:solidFill>
                <a:latin typeface="Calibri" pitchFamily="34" charset="0"/>
                <a:ea typeface="Calibri" pitchFamily="34" charset="-122"/>
                <a:cs typeface="Calibri" pitchFamily="34" charset="-120"/>
              </a:rPr>
              <a:t>Execution always starts at </a:t>
            </a:r>
            <a:r>
              <a:rPr lang="en-US" sz="2800" b="1" dirty="0">
                <a:solidFill>
                  <a:srgbClr val="262626"/>
                </a:solidFill>
                <a:latin typeface="Calibri" pitchFamily="34" charset="0"/>
                <a:ea typeface="Calibri" pitchFamily="34" charset="-122"/>
                <a:cs typeface="Calibri" pitchFamily="34" charset="-120"/>
              </a:rPr>
              <a:t>T₄</a:t>
            </a:r>
            <a:r>
              <a:rPr lang="en-US" sz="2800" dirty="0">
                <a:solidFill>
                  <a:srgbClr val="262626"/>
                </a:solidFill>
                <a:latin typeface="Calibri" pitchFamily="34" charset="0"/>
                <a:ea typeface="Calibri" pitchFamily="34" charset="-122"/>
                <a:cs typeface="Calibri" pitchFamily="34" charset="-120"/>
              </a:rPr>
              <a:t>, never T₃</a:t>
            </a:r>
            <a:endParaRPr lang="en-US" sz="2800" dirty="0"/>
          </a:p>
          <a:p>
            <a:pPr marL="304800" indent="-304800" algn="l">
              <a:spcAft>
                <a:spcPts val="1000"/>
              </a:spcAft>
              <a:buSzPct val="100000"/>
              <a:buChar char="•"/>
            </a:pPr>
            <a:r>
              <a:rPr lang="en-US" sz="2800" dirty="0">
                <a:solidFill>
                  <a:srgbClr val="262626"/>
                </a:solidFill>
                <a:latin typeface="Calibri" pitchFamily="34" charset="0"/>
                <a:ea typeface="Calibri" pitchFamily="34" charset="-122"/>
                <a:cs typeface="Calibri" pitchFamily="34" charset="-120"/>
              </a:rPr>
              <a:t>T₃ only resolves an indirect address (when I = 1)</a:t>
            </a:r>
            <a:endParaRPr lang="en-US" sz="2800" dirty="0"/>
          </a:p>
          <a:p>
            <a:pPr marL="304800" indent="-304800" algn="l">
              <a:spcAft>
                <a:spcPts val="1000"/>
              </a:spcAft>
              <a:buSzPct val="100000"/>
              <a:buChar char="•"/>
            </a:pPr>
            <a:r>
              <a:rPr lang="en-US" sz="2800" dirty="0">
                <a:solidFill>
                  <a:srgbClr val="262626"/>
                </a:solidFill>
                <a:latin typeface="Calibri" pitchFamily="34" charset="0"/>
                <a:ea typeface="Calibri" pitchFamily="34" charset="-122"/>
                <a:cs typeface="Calibri" pitchFamily="34" charset="-120"/>
              </a:rPr>
              <a:t>By T₄, AR holds the operand’s real address either way</a:t>
            </a:r>
            <a:endParaRPr lang="en-US" sz="28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Memory-reference RTL (1 of 2)</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3.13</a:t>
            </a:r>
            <a:endParaRPr lang="en-US" sz="1600" dirty="0"/>
          </a:p>
        </p:txBody>
      </p:sp>
      <p:graphicFrame>
        <p:nvGraphicFramePr>
          <p:cNvPr id="84"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2194560">
                  <a:extLst>
                    <a:ext uri="{9D8B030D-6E8A-4147-A177-3AD203B41FA5}">
                      <a16:colId xmlns:a16="http://schemas.microsoft.com/office/drawing/2014/main" val="20000"/>
                    </a:ext>
                  </a:extLst>
                </a:gridCol>
                <a:gridCol w="8899855">
                  <a:extLst>
                    <a:ext uri="{9D8B030D-6E8A-4147-A177-3AD203B41FA5}">
                      <a16:colId xmlns:a16="http://schemas.microsoft.com/office/drawing/2014/main" val="20001"/>
                    </a:ext>
                  </a:extLst>
                </a:gridCol>
              </a:tblGrid>
              <a:tr h="457200">
                <a:tc>
                  <a:txBody>
                    <a:bodyPr/>
                    <a:lstStyle/>
                    <a:p>
                      <a:pPr marL="0" indent="0">
                        <a:buNone/>
                      </a:pPr>
                      <a:r>
                        <a:rPr lang="en-US" sz="2000" b="1" dirty="0">
                          <a:solidFill>
                            <a:srgbClr val="FFFFFF"/>
                          </a:solidFill>
                          <a:latin typeface="Calibri" pitchFamily="34" charset="0"/>
                          <a:ea typeface="Calibri" pitchFamily="34" charset="-122"/>
                          <a:cs typeface="Calibri" pitchFamily="34" charset="-120"/>
                        </a:rPr>
                        <a:t>Instruction</a:t>
                      </a:r>
                      <a:endParaRPr lang="en-US" sz="1200" dirty="0"/>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buNone/>
                      </a:pPr>
                      <a:r>
                        <a:rPr lang="en-US" sz="2000" b="1" dirty="0">
                          <a:solidFill>
                            <a:srgbClr val="FFFFFF"/>
                          </a:solidFill>
                          <a:latin typeface="Calibri" pitchFamily="34" charset="0"/>
                          <a:ea typeface="Calibri" pitchFamily="34" charset="-122"/>
                          <a:cs typeface="Calibri" pitchFamily="34" charset="-120"/>
                        </a:rPr>
                        <a:t>Timing step and RTL</a:t>
                      </a:r>
                      <a:endParaRPr lang="en-US" sz="1200" dirty="0"/>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extLst>
                  <a:ext uri="{0D108BD9-81ED-4DB2-BD59-A6C34878D82A}">
                    <a16:rowId xmlns:a16="http://schemas.microsoft.com/office/drawing/2014/main" val="10000"/>
                  </a:ext>
                </a:extLst>
              </a:tr>
              <a:tr h="502920">
                <a:tc rowSpan="2">
                  <a:txBody>
                    <a:bodyPr/>
                    <a:lstStyle/>
                    <a:p>
                      <a:pPr marL="0" indent="0">
                        <a:buNone/>
                      </a:pPr>
                      <a:r>
                        <a:rPr lang="en-US" sz="2000" b="1" dirty="0">
                          <a:solidFill>
                            <a:srgbClr val="262626"/>
                          </a:solidFill>
                          <a:latin typeface="Calibri" pitchFamily="34" charset="0"/>
                          <a:ea typeface="Calibri" pitchFamily="34" charset="-122"/>
                          <a:cs typeface="Calibri" pitchFamily="34" charset="-120"/>
                        </a:rPr>
                        <a:t>AND (D₀)</a:t>
                      </a:r>
                      <a:endParaRPr lang="en-US" sz="1200" dirty="0"/>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buNone/>
                      </a:pPr>
                      <a:r>
                        <a:rPr lang="en-US" sz="1800" dirty="0">
                          <a:solidFill>
                            <a:srgbClr val="262626"/>
                          </a:solidFill>
                          <a:latin typeface="Courier New" pitchFamily="34" charset="0"/>
                          <a:ea typeface="Courier New" pitchFamily="34" charset="-122"/>
                          <a:cs typeface="Courier New" pitchFamily="34" charset="-120"/>
                        </a:rPr>
                        <a:t>D₀T₄: DR ← M[AR]</a:t>
                      </a:r>
                      <a:endParaRPr lang="en-US" sz="1200" dirty="0"/>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1"/>
                  </a:ext>
                </a:extLst>
              </a:tr>
              <a:tr h="502920">
                <a:tc vMerge="1">
                  <a:txBody>
                    <a:bodyPr/>
                    <a:lstStyle/>
                    <a:p>
                      <a:endParaRPr lang="en-US"/>
                    </a:p>
                  </a:txBody>
                  <a:tcPr/>
                </a:tc>
                <a:tc>
                  <a:txBody>
                    <a:bodyPr/>
                    <a:lstStyle/>
                    <a:p>
                      <a:pPr marL="0" indent="0">
                        <a:buNone/>
                      </a:pPr>
                      <a:r>
                        <a:rPr lang="en-US" sz="1800" dirty="0">
                          <a:solidFill>
                            <a:srgbClr val="262626"/>
                          </a:solidFill>
                          <a:latin typeface="Courier New" pitchFamily="34" charset="0"/>
                          <a:ea typeface="Courier New" pitchFamily="34" charset="-122"/>
                          <a:cs typeface="Courier New" pitchFamily="34" charset="-120"/>
                        </a:rPr>
                        <a:t>D₀T₅: AC ← AC ∧ DR, SC ← 0</a:t>
                      </a:r>
                      <a:endParaRPr lang="en-US" sz="1200" dirty="0"/>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2"/>
                  </a:ext>
                </a:extLst>
              </a:tr>
              <a:tr h="502920">
                <a:tc rowSpan="2">
                  <a:txBody>
                    <a:bodyPr/>
                    <a:lstStyle/>
                    <a:p>
                      <a:pPr marL="0" indent="0">
                        <a:buNone/>
                      </a:pPr>
                      <a:r>
                        <a:rPr lang="en-US" sz="2000" b="1" dirty="0">
                          <a:solidFill>
                            <a:srgbClr val="262626"/>
                          </a:solidFill>
                          <a:latin typeface="Calibri" pitchFamily="34" charset="0"/>
                          <a:ea typeface="Calibri" pitchFamily="34" charset="-122"/>
                          <a:cs typeface="Calibri" pitchFamily="34" charset="-120"/>
                        </a:rPr>
                        <a:t>ADD (D₁)</a:t>
                      </a:r>
                      <a:endParaRPr lang="en-US" sz="1200" dirty="0"/>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buNone/>
                      </a:pPr>
                      <a:r>
                        <a:rPr lang="en-US" sz="1800" dirty="0">
                          <a:solidFill>
                            <a:srgbClr val="262626"/>
                          </a:solidFill>
                          <a:latin typeface="Courier New" pitchFamily="34" charset="0"/>
                          <a:ea typeface="Courier New" pitchFamily="34" charset="-122"/>
                          <a:cs typeface="Courier New" pitchFamily="34" charset="-120"/>
                        </a:rPr>
                        <a:t>D₁T₄: DR ← M[AR]</a:t>
                      </a:r>
                      <a:endParaRPr lang="en-US" sz="1200" dirty="0"/>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vMerge="1">
                  <a:txBody>
                    <a:bodyPr/>
                    <a:lstStyle/>
                    <a:p>
                      <a:endParaRPr lang="en-US"/>
                    </a:p>
                  </a:txBody>
                  <a:tcPr/>
                </a:tc>
                <a:tc>
                  <a:txBody>
                    <a:bodyPr/>
                    <a:lstStyle/>
                    <a:p>
                      <a:pPr marL="0" indent="0">
                        <a:buNone/>
                      </a:pPr>
                      <a:r>
                        <a:rPr lang="en-US" sz="1800" dirty="0">
                          <a:solidFill>
                            <a:srgbClr val="262626"/>
                          </a:solidFill>
                          <a:latin typeface="Courier New" pitchFamily="34" charset="0"/>
                          <a:ea typeface="Courier New" pitchFamily="34" charset="-122"/>
                          <a:cs typeface="Courier New" pitchFamily="34" charset="-120"/>
                        </a:rPr>
                        <a:t>D₁T₅: AC ← AC + DR, E ← C</a:t>
                      </a:r>
                      <a:r>
                        <a:rPr lang="en-US" sz="1800" baseline="-40000" dirty="0">
                          <a:solidFill>
                            <a:srgbClr val="262626"/>
                          </a:solidFill>
                          <a:latin typeface="Courier New" pitchFamily="34" charset="0"/>
                          <a:ea typeface="Courier New" pitchFamily="34" charset="-122"/>
                          <a:cs typeface="Courier New" pitchFamily="34" charset="-120"/>
                        </a:rPr>
                        <a:t>out</a:t>
                      </a:r>
                      <a:r>
                        <a:rPr lang="en-US" sz="1800" dirty="0">
                          <a:solidFill>
                            <a:srgbClr val="262626"/>
                          </a:solidFill>
                          <a:latin typeface="Courier New" pitchFamily="34" charset="0"/>
                          <a:ea typeface="Courier New" pitchFamily="34" charset="-122"/>
                          <a:cs typeface="Courier New" pitchFamily="34" charset="-120"/>
                        </a:rPr>
                        <a:t>, SC ← 0</a:t>
                      </a:r>
                      <a:endParaRPr lang="en-US" sz="1200" dirty="0"/>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2920">
                <a:tc rowSpan="2">
                  <a:txBody>
                    <a:bodyPr/>
                    <a:lstStyle/>
                    <a:p>
                      <a:pPr marL="0" indent="0">
                        <a:buNone/>
                      </a:pPr>
                      <a:r>
                        <a:rPr lang="en-US" sz="2000" b="1" dirty="0">
                          <a:solidFill>
                            <a:srgbClr val="262626"/>
                          </a:solidFill>
                          <a:latin typeface="Calibri" pitchFamily="34" charset="0"/>
                          <a:ea typeface="Calibri" pitchFamily="34" charset="-122"/>
                          <a:cs typeface="Calibri" pitchFamily="34" charset="-120"/>
                        </a:rPr>
                        <a:t>LDA (D₂)</a:t>
                      </a:r>
                      <a:endParaRPr lang="en-US" sz="1200" dirty="0"/>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buNone/>
                      </a:pPr>
                      <a:r>
                        <a:rPr lang="en-US" sz="1800" dirty="0">
                          <a:solidFill>
                            <a:srgbClr val="262626"/>
                          </a:solidFill>
                          <a:latin typeface="Courier New" pitchFamily="34" charset="0"/>
                          <a:ea typeface="Courier New" pitchFamily="34" charset="-122"/>
                          <a:cs typeface="Courier New" pitchFamily="34" charset="-120"/>
                        </a:rPr>
                        <a:t>D₂T₄: DR ← M[AR]</a:t>
                      </a:r>
                      <a:endParaRPr lang="en-US" sz="1200" dirty="0"/>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5"/>
                  </a:ext>
                </a:extLst>
              </a:tr>
              <a:tr h="502920">
                <a:tc vMerge="1">
                  <a:txBody>
                    <a:bodyPr/>
                    <a:lstStyle/>
                    <a:p>
                      <a:endParaRPr lang="en-US"/>
                    </a:p>
                  </a:txBody>
                  <a:tcPr/>
                </a:tc>
                <a:tc>
                  <a:txBody>
                    <a:bodyPr/>
                    <a:lstStyle/>
                    <a:p>
                      <a:pPr marL="0" indent="0">
                        <a:buNone/>
                      </a:pPr>
                      <a:r>
                        <a:rPr lang="en-US" sz="1800" dirty="0">
                          <a:solidFill>
                            <a:srgbClr val="262626"/>
                          </a:solidFill>
                          <a:latin typeface="Courier New" pitchFamily="34" charset="0"/>
                          <a:ea typeface="Courier New" pitchFamily="34" charset="-122"/>
                          <a:cs typeface="Courier New" pitchFamily="34" charset="-120"/>
                        </a:rPr>
                        <a:t>D₂T₅: AC ← DR, SC ← 0</a:t>
                      </a:r>
                      <a:endParaRPr lang="en-US" sz="1200" dirty="0"/>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6"/>
                  </a:ext>
                </a:extLst>
              </a:tr>
              <a:tr h="502920">
                <a:tc>
                  <a:txBody>
                    <a:bodyPr/>
                    <a:lstStyle/>
                    <a:p>
                      <a:pPr marL="0" indent="0">
                        <a:buNone/>
                      </a:pPr>
                      <a:r>
                        <a:rPr lang="en-US" sz="2000" b="1" dirty="0">
                          <a:solidFill>
                            <a:srgbClr val="262626"/>
                          </a:solidFill>
                          <a:latin typeface="Calibri" pitchFamily="34" charset="0"/>
                          <a:ea typeface="Calibri" pitchFamily="34" charset="-122"/>
                          <a:cs typeface="Calibri" pitchFamily="34" charset="-120"/>
                        </a:rPr>
                        <a:t>STA (D₃)</a:t>
                      </a:r>
                      <a:endParaRPr lang="en-US" sz="1200" dirty="0"/>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buNone/>
                      </a:pPr>
                      <a:r>
                        <a:rPr lang="en-US" sz="1800" dirty="0">
                          <a:solidFill>
                            <a:srgbClr val="262626"/>
                          </a:solidFill>
                          <a:latin typeface="Courier New" pitchFamily="34" charset="0"/>
                          <a:ea typeface="Courier New" pitchFamily="34" charset="-122"/>
                          <a:cs typeface="Courier New" pitchFamily="34" charset="-120"/>
                        </a:rPr>
                        <a:t>D₃T₄: M[AR] ← AC, SC ← 0</a:t>
                      </a:r>
                      <a:endParaRPr lang="en-US" sz="1200" dirty="0"/>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Memory-reference RTL (2 of 2)</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3.13</a:t>
            </a:r>
            <a:endParaRPr lang="en-US" sz="1600" dirty="0"/>
          </a:p>
        </p:txBody>
      </p:sp>
      <p:graphicFrame>
        <p:nvGraphicFramePr>
          <p:cNvPr id="85"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2194560">
                  <a:extLst>
                    <a:ext uri="{9D8B030D-6E8A-4147-A177-3AD203B41FA5}">
                      <a16:colId xmlns:a16="http://schemas.microsoft.com/office/drawing/2014/main" val="20000"/>
                    </a:ext>
                  </a:extLst>
                </a:gridCol>
                <a:gridCol w="8899855">
                  <a:extLst>
                    <a:ext uri="{9D8B030D-6E8A-4147-A177-3AD203B41FA5}">
                      <a16:colId xmlns:a16="http://schemas.microsoft.com/office/drawing/2014/main" val="20001"/>
                    </a:ext>
                  </a:extLst>
                </a:gridCol>
              </a:tblGrid>
              <a:tr h="457200">
                <a:tc>
                  <a:txBody>
                    <a:bodyPr/>
                    <a:lstStyle/>
                    <a:p>
                      <a:pPr marL="0" indent="0">
                        <a:buNone/>
                      </a:pPr>
                      <a:r>
                        <a:rPr lang="en-US" sz="2000" b="1" dirty="0">
                          <a:solidFill>
                            <a:srgbClr val="FFFFFF"/>
                          </a:solidFill>
                          <a:latin typeface="Calibri" pitchFamily="34" charset="0"/>
                          <a:ea typeface="Calibri" pitchFamily="34" charset="-122"/>
                          <a:cs typeface="Calibri" pitchFamily="34" charset="-120"/>
                        </a:rPr>
                        <a:t>Instruction</a:t>
                      </a:r>
                      <a:endParaRPr lang="en-US" sz="1200" dirty="0"/>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buNone/>
                      </a:pPr>
                      <a:r>
                        <a:rPr lang="en-US" sz="2000" b="1" dirty="0">
                          <a:solidFill>
                            <a:srgbClr val="FFFFFF"/>
                          </a:solidFill>
                          <a:latin typeface="Calibri" pitchFamily="34" charset="0"/>
                          <a:ea typeface="Calibri" pitchFamily="34" charset="-122"/>
                          <a:cs typeface="Calibri" pitchFamily="34" charset="-120"/>
                        </a:rPr>
                        <a:t>Timing step and RTL</a:t>
                      </a:r>
                      <a:endParaRPr lang="en-US" sz="1200" dirty="0"/>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extLst>
                  <a:ext uri="{0D108BD9-81ED-4DB2-BD59-A6C34878D82A}">
                    <a16:rowId xmlns:a16="http://schemas.microsoft.com/office/drawing/2014/main" val="10000"/>
                  </a:ext>
                </a:extLst>
              </a:tr>
              <a:tr h="502920">
                <a:tc>
                  <a:txBody>
                    <a:bodyPr/>
                    <a:lstStyle/>
                    <a:p>
                      <a:pPr marL="0" indent="0">
                        <a:buNone/>
                      </a:pPr>
                      <a:r>
                        <a:rPr lang="en-US" sz="2000" b="1" dirty="0">
                          <a:solidFill>
                            <a:srgbClr val="262626"/>
                          </a:solidFill>
                          <a:latin typeface="Calibri" pitchFamily="34" charset="0"/>
                          <a:ea typeface="Calibri" pitchFamily="34" charset="-122"/>
                          <a:cs typeface="Calibri" pitchFamily="34" charset="-120"/>
                        </a:rPr>
                        <a:t>BUN (D₄)</a:t>
                      </a:r>
                      <a:endParaRPr lang="en-US" sz="1200" dirty="0"/>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buNone/>
                      </a:pPr>
                      <a:r>
                        <a:rPr lang="en-US" sz="1800" dirty="0">
                          <a:solidFill>
                            <a:srgbClr val="262626"/>
                          </a:solidFill>
                          <a:latin typeface="Courier New" pitchFamily="34" charset="0"/>
                          <a:ea typeface="Courier New" pitchFamily="34" charset="-122"/>
                          <a:cs typeface="Courier New" pitchFamily="34" charset="-120"/>
                        </a:rPr>
                        <a:t>D₄T₄: PC ← AR, SC ← 0</a:t>
                      </a:r>
                      <a:endParaRPr lang="en-US" sz="1200" dirty="0"/>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1"/>
                  </a:ext>
                </a:extLst>
              </a:tr>
              <a:tr h="502920">
                <a:tc rowSpan="2">
                  <a:txBody>
                    <a:bodyPr/>
                    <a:lstStyle/>
                    <a:p>
                      <a:pPr marL="0" indent="0">
                        <a:buNone/>
                      </a:pPr>
                      <a:r>
                        <a:rPr lang="en-US" sz="2000" b="1" dirty="0">
                          <a:solidFill>
                            <a:srgbClr val="262626"/>
                          </a:solidFill>
                          <a:latin typeface="Calibri" pitchFamily="34" charset="0"/>
                          <a:ea typeface="Calibri" pitchFamily="34" charset="-122"/>
                          <a:cs typeface="Calibri" pitchFamily="34" charset="-120"/>
                        </a:rPr>
                        <a:t>BSA (D₅)</a:t>
                      </a:r>
                      <a:endParaRPr lang="en-US" sz="1200" dirty="0"/>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buNone/>
                      </a:pPr>
                      <a:r>
                        <a:rPr lang="en-US" sz="1800" dirty="0">
                          <a:solidFill>
                            <a:srgbClr val="262626"/>
                          </a:solidFill>
                          <a:latin typeface="Courier New" pitchFamily="34" charset="0"/>
                          <a:ea typeface="Courier New" pitchFamily="34" charset="-122"/>
                          <a:cs typeface="Courier New" pitchFamily="34" charset="-120"/>
                        </a:rPr>
                        <a:t>D₅T₄: M[AR] ← PC, AR ← AR + 1</a:t>
                      </a:r>
                      <a:endParaRPr lang="en-US" sz="1200" dirty="0"/>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vMerge="1">
                  <a:txBody>
                    <a:bodyPr/>
                    <a:lstStyle/>
                    <a:p>
                      <a:endParaRPr lang="en-US"/>
                    </a:p>
                  </a:txBody>
                  <a:tcPr/>
                </a:tc>
                <a:tc>
                  <a:txBody>
                    <a:bodyPr/>
                    <a:lstStyle/>
                    <a:p>
                      <a:pPr marL="0" indent="0">
                        <a:buNone/>
                      </a:pPr>
                      <a:r>
                        <a:rPr lang="en-US" sz="1800" dirty="0">
                          <a:solidFill>
                            <a:srgbClr val="262626"/>
                          </a:solidFill>
                          <a:latin typeface="Courier New" pitchFamily="34" charset="0"/>
                          <a:ea typeface="Courier New" pitchFamily="34" charset="-122"/>
                          <a:cs typeface="Courier New" pitchFamily="34" charset="-120"/>
                        </a:rPr>
                        <a:t>D₅T₅: PC ← AR, SC ← 0</a:t>
                      </a:r>
                      <a:endParaRPr lang="en-US" sz="1200" dirty="0"/>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rowSpan="3">
                  <a:txBody>
                    <a:bodyPr/>
                    <a:lstStyle/>
                    <a:p>
                      <a:pPr marL="0" indent="0">
                        <a:buNone/>
                      </a:pPr>
                      <a:r>
                        <a:rPr lang="en-US" sz="2000" b="1" dirty="0">
                          <a:solidFill>
                            <a:srgbClr val="262626"/>
                          </a:solidFill>
                          <a:latin typeface="Calibri" pitchFamily="34" charset="0"/>
                          <a:ea typeface="Calibri" pitchFamily="34" charset="-122"/>
                          <a:cs typeface="Calibri" pitchFamily="34" charset="-120"/>
                        </a:rPr>
                        <a:t>ISZ (D₆)</a:t>
                      </a:r>
                      <a:endParaRPr lang="en-US" sz="1200" dirty="0"/>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buNone/>
                      </a:pPr>
                      <a:r>
                        <a:rPr lang="en-US" sz="1800" dirty="0">
                          <a:solidFill>
                            <a:srgbClr val="262626"/>
                          </a:solidFill>
                          <a:latin typeface="Courier New" pitchFamily="34" charset="0"/>
                          <a:ea typeface="Courier New" pitchFamily="34" charset="-122"/>
                          <a:cs typeface="Courier New" pitchFamily="34" charset="-120"/>
                        </a:rPr>
                        <a:t>D₆T₄: DR ← M[AR]</a:t>
                      </a:r>
                      <a:endParaRPr lang="en-US" sz="1200" dirty="0"/>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4"/>
                  </a:ext>
                </a:extLst>
              </a:tr>
              <a:tr h="502920">
                <a:tc vMerge="1">
                  <a:txBody>
                    <a:bodyPr/>
                    <a:lstStyle/>
                    <a:p>
                      <a:endParaRPr lang="en-US"/>
                    </a:p>
                  </a:txBody>
                  <a:tcPr/>
                </a:tc>
                <a:tc>
                  <a:txBody>
                    <a:bodyPr/>
                    <a:lstStyle/>
                    <a:p>
                      <a:pPr marL="0" indent="0">
                        <a:buNone/>
                      </a:pPr>
                      <a:r>
                        <a:rPr lang="en-US" sz="1800" dirty="0">
                          <a:solidFill>
                            <a:srgbClr val="262626"/>
                          </a:solidFill>
                          <a:latin typeface="Courier New" pitchFamily="34" charset="0"/>
                          <a:ea typeface="Courier New" pitchFamily="34" charset="-122"/>
                          <a:cs typeface="Courier New" pitchFamily="34" charset="-120"/>
                        </a:rPr>
                        <a:t>D₆T₅: DR ← DR + 1</a:t>
                      </a:r>
                      <a:endParaRPr lang="en-US" sz="1200" dirty="0"/>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5"/>
                  </a:ext>
                </a:extLst>
              </a:tr>
              <a:tr h="502920">
                <a:tc vMerge="1">
                  <a:txBody>
                    <a:bodyPr/>
                    <a:lstStyle/>
                    <a:p>
                      <a:endParaRPr lang="en-US"/>
                    </a:p>
                  </a:txBody>
                  <a:tcPr/>
                </a:tc>
                <a:tc>
                  <a:txBody>
                    <a:bodyPr/>
                    <a:lstStyle/>
                    <a:p>
                      <a:pPr marL="0" indent="0">
                        <a:buNone/>
                      </a:pPr>
                      <a:r>
                        <a:rPr lang="en-US" sz="1800" dirty="0">
                          <a:solidFill>
                            <a:srgbClr val="262626"/>
                          </a:solidFill>
                          <a:latin typeface="Courier New" pitchFamily="34" charset="0"/>
                          <a:ea typeface="Courier New" pitchFamily="34" charset="-122"/>
                          <a:cs typeface="Courier New" pitchFamily="34" charset="-120"/>
                        </a:rPr>
                        <a:t>D₆T₆: M[AR] ← DR, if (DR = 0) then (PC ← PC + 1), SC ← 0</a:t>
                      </a:r>
                      <a:endParaRPr lang="en-US" sz="1200" dirty="0"/>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Memory-reference flowchart</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3.13</a:t>
            </a:r>
            <a:endParaRPr lang="en-US" sz="1600" dirty="0"/>
          </a:p>
        </p:txBody>
      </p:sp>
      <p:pic>
        <p:nvPicPr>
          <p:cNvPr id="5" name="Image 0" descr="/home/claude/figs/3.13_memory-reference-instructions_fig1.png"/>
          <p:cNvPicPr>
            <a:picLocks noChangeAspect="1"/>
          </p:cNvPicPr>
          <p:nvPr/>
        </p:nvPicPr>
        <p:blipFill>
          <a:blip r:embed="rId3"/>
          <a:stretch>
            <a:fillRect/>
          </a:stretch>
        </p:blipFill>
        <p:spPr>
          <a:xfrm>
            <a:off x="1771409" y="621792"/>
            <a:ext cx="8648876" cy="5705856"/>
          </a:xfrm>
          <a:prstGeom prst="rect">
            <a:avLst/>
          </a:prstGeom>
        </p:spPr>
      </p:pic>
      <p:sp>
        <p:nvSpPr>
          <p:cNvPr id="6" name="Text 2"/>
          <p:cNvSpPr txBox="1"/>
          <p:nvPr/>
        </p:nvSpPr>
        <p:spPr>
          <a:xfrm>
            <a:off x="411480" y="6355080"/>
            <a:ext cx="10424160" cy="457200"/>
          </a:xfrm>
          <a:prstGeom prst="rect">
            <a:avLst/>
          </a:prstGeom>
          <a:noFill/>
          <a:ln/>
        </p:spPr>
        <p:txBody>
          <a:bodyPr wrap="square" lIns="0" tIns="0" rIns="0" bIns="0" rtlCol="0" anchor="t"/>
          <a:lstStyle/>
          <a:p>
            <a:pPr marL="0" indent="0" algn="ctr">
              <a:buNone/>
            </a:pPr>
            <a:r>
              <a:rPr lang="en-US" sz="1400" dirty="0">
                <a:solidFill>
                  <a:srgbClr val="546E7A"/>
                </a:solidFill>
                <a:latin typeface="Calibri" pitchFamily="34" charset="0"/>
                <a:ea typeface="Calibri" pitchFamily="34" charset="-122"/>
                <a:cs typeface="Calibri" pitchFamily="34" charset="-120"/>
              </a:rPr>
              <a:t>Flowchart for memory-reference instructions. Adapted from M. Morris Mano, Computer System Architecture, Fig. 5-11.</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Why DR shows up so often</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3.13</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AND, ADD, LDA and ISZ all read memory into DR first</a:t>
            </a:r>
            <a:endParaRPr lang="en-US" sz="3200" dirty="0"/>
          </a:p>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This is a hard constraint: the common bus carries one value per clock pulse</a:t>
            </a:r>
            <a:endParaRPr lang="en-US" sz="3200" dirty="0"/>
          </a:p>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A memory word must land in a register before it can be combined with AC on the next pulse</a:t>
            </a:r>
            <a:endParaRPr lang="en-US" sz="3200" dirty="0"/>
          </a:p>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DR exists to be that landing spot</a:t>
            </a:r>
            <a:endParaRPr lang="en-US" sz="32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Two instructions worth slowing down on</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3.13</a:t>
            </a:r>
            <a:endParaRPr lang="en-US" sz="1600" dirty="0"/>
          </a:p>
        </p:txBody>
      </p:sp>
      <p:graphicFrame>
        <p:nvGraphicFramePr>
          <p:cNvPr id="88" name="Table 0"/>
          <p:cNvGraphicFramePr>
            <a:graphicFrameLocks noGrp="1"/>
          </p:cNvGraphicFramePr>
          <p:nvPr>
            <p:extLst>
              <p:ext uri="{D42A27DB-BD31-4B8C-83A1-F6EECF244321}">
                <p14:modId xmlns:p14="http://schemas.microsoft.com/office/powerpoint/2010/main" val="1579011935"/>
              </p:ext>
            </p:extLst>
          </p:nvPr>
        </p:nvGraphicFramePr>
        <p:xfrm>
          <a:off x="563728" y="1188720"/>
          <a:ext cx="11064240" cy="914400"/>
        </p:xfrm>
        <a:graphic>
          <a:graphicData uri="http://schemas.openxmlformats.org/drawingml/2006/table">
            <a:tbl>
              <a:tblPr/>
              <a:tblGrid>
                <a:gridCol w="2011680">
                  <a:extLst>
                    <a:ext uri="{9D8B030D-6E8A-4147-A177-3AD203B41FA5}">
                      <a16:colId xmlns:a16="http://schemas.microsoft.com/office/drawing/2014/main" val="20000"/>
                    </a:ext>
                  </a:extLst>
                </a:gridCol>
                <a:gridCol w="9052560">
                  <a:extLst>
                    <a:ext uri="{9D8B030D-6E8A-4147-A177-3AD203B41FA5}">
                      <a16:colId xmlns:a16="http://schemas.microsoft.com/office/drawing/2014/main" val="20001"/>
                    </a:ext>
                  </a:extLst>
                </a:gridCol>
              </a:tblGrid>
              <a:tr h="512064">
                <a:tc>
                  <a:txBody>
                    <a:bodyPr/>
                    <a:lstStyle/>
                    <a:p>
                      <a:pPr marL="0" indent="0" algn="l">
                        <a:buNone/>
                      </a:pPr>
                      <a:r>
                        <a:rPr lang="en-US" sz="2400" b="1" dirty="0">
                          <a:solidFill>
                            <a:srgbClr val="FFFFFF"/>
                          </a:solidFill>
                          <a:latin typeface="Calibri" pitchFamily="34" charset="0"/>
                          <a:ea typeface="Calibri" pitchFamily="34" charset="-122"/>
                          <a:cs typeface="Calibri" pitchFamily="34" charset="-120"/>
                        </a:rPr>
                        <a:t>Instruction</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marL="0" indent="0" algn="l">
                        <a:buNone/>
                      </a:pPr>
                      <a:r>
                        <a:rPr lang="en-US" sz="2400" b="1" dirty="0">
                          <a:solidFill>
                            <a:srgbClr val="FFFFFF"/>
                          </a:solidFill>
                          <a:latin typeface="Calibri" pitchFamily="34" charset="0"/>
                          <a:ea typeface="Calibri" pitchFamily="34" charset="-122"/>
                          <a:cs typeface="Calibri" pitchFamily="34" charset="-120"/>
                        </a:rPr>
                        <a:t>What is actually happening</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extLst>
                  <a:ext uri="{0D108BD9-81ED-4DB2-BD59-A6C34878D82A}">
                    <a16:rowId xmlns:a16="http://schemas.microsoft.com/office/drawing/2014/main" val="10000"/>
                  </a:ext>
                </a:extLst>
              </a:tr>
              <a:tr h="1609344">
                <a:tc>
                  <a:txBody>
                    <a:bodyPr/>
                    <a:lstStyle/>
                    <a:p>
                      <a:pPr marL="0" indent="0" algn="l">
                        <a:buNone/>
                      </a:pPr>
                      <a:r>
                        <a:rPr lang="en-US" sz="2400" dirty="0">
                          <a:solidFill>
                            <a:srgbClr val="262626"/>
                          </a:solidFill>
                          <a:latin typeface="Calibri" pitchFamily="34" charset="0"/>
                          <a:ea typeface="Calibri" pitchFamily="34" charset="-122"/>
                          <a:cs typeface="Calibri" pitchFamily="34" charset="-120"/>
                        </a:rPr>
                        <a:t>BSA</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marL="0" indent="0" algn="l">
                        <a:buNone/>
                      </a:pPr>
                      <a:r>
                        <a:rPr lang="en-US" sz="2400" dirty="0">
                          <a:solidFill>
                            <a:srgbClr val="262626"/>
                          </a:solidFill>
                          <a:latin typeface="Calibri" pitchFamily="34" charset="0"/>
                          <a:ea typeface="Calibri" pitchFamily="34" charset="-122"/>
                          <a:cs typeface="Calibri" pitchFamily="34" charset="-120"/>
                        </a:rPr>
                        <a:t>Stores the return address (PC, already past this instruction) at the target location, then increments AR and jumps there. The subroutine starts right after its own stored return address, and an indirect BUN through that location returns.</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extLst>
                  <a:ext uri="{0D108BD9-81ED-4DB2-BD59-A6C34878D82A}">
                    <a16:rowId xmlns:a16="http://schemas.microsoft.com/office/drawing/2014/main" val="10001"/>
                  </a:ext>
                </a:extLst>
              </a:tr>
              <a:tr h="1243584">
                <a:tc>
                  <a:txBody>
                    <a:bodyPr/>
                    <a:lstStyle/>
                    <a:p>
                      <a:pPr marL="0" indent="0" algn="l">
                        <a:buNone/>
                      </a:pPr>
                      <a:r>
                        <a:rPr lang="en-US" sz="2400" dirty="0">
                          <a:solidFill>
                            <a:srgbClr val="262626"/>
                          </a:solidFill>
                          <a:latin typeface="Calibri" pitchFamily="34" charset="0"/>
                          <a:ea typeface="Calibri" pitchFamily="34" charset="-122"/>
                          <a:cs typeface="Calibri" pitchFamily="34" charset="-120"/>
                        </a:rPr>
                        <a:t>ISZ</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marL="0" indent="0" algn="l">
                        <a:buNone/>
                      </a:pPr>
                      <a:r>
                        <a:rPr lang="en-US" sz="2400" dirty="0">
                          <a:solidFill>
                            <a:srgbClr val="262626"/>
                          </a:solidFill>
                          <a:latin typeface="Calibri" pitchFamily="34" charset="0"/>
                          <a:ea typeface="Calibri" pitchFamily="34" charset="-122"/>
                          <a:cs typeface="Calibri" pitchFamily="34" charset="-120"/>
                        </a:rPr>
                        <a:t>Increments the memory word first, then tests whether the new value is zero, not the original. A built-in loop counter that counts up to zero.</a:t>
                      </a:r>
                      <a:endParaRPr lang="en-US" sz="2400" dirty="0">
                        <a:latin typeface="Calibri" charset="0"/>
                        <a:ea typeface="Calibri" charset="0"/>
                        <a:cs typeface="Calibri" charset="0"/>
                      </a:endParaRPr>
                    </a:p>
                  </a:txBody>
                  <a:tcPr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BSA instruction example</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3.13</a:t>
            </a:r>
            <a:endParaRPr lang="en-US" sz="1600" dirty="0"/>
          </a:p>
        </p:txBody>
      </p:sp>
      <p:pic>
        <p:nvPicPr>
          <p:cNvPr id="5" name="Image 0" descr="/home/claude/figs/3.13_memory-reference-instructions_fig2.png"/>
          <p:cNvPicPr>
            <a:picLocks noChangeAspect="1"/>
          </p:cNvPicPr>
          <p:nvPr/>
        </p:nvPicPr>
        <p:blipFill>
          <a:blip r:embed="rId3"/>
          <a:stretch>
            <a:fillRect/>
          </a:stretch>
        </p:blipFill>
        <p:spPr>
          <a:xfrm>
            <a:off x="995158" y="621792"/>
            <a:ext cx="10201379" cy="5705856"/>
          </a:xfrm>
          <a:prstGeom prst="rect">
            <a:avLst/>
          </a:prstGeom>
        </p:spPr>
      </p:pic>
      <p:sp>
        <p:nvSpPr>
          <p:cNvPr id="6" name="Text 2"/>
          <p:cNvSpPr txBox="1"/>
          <p:nvPr/>
        </p:nvSpPr>
        <p:spPr>
          <a:xfrm>
            <a:off x="411480" y="6355080"/>
            <a:ext cx="10424160" cy="457200"/>
          </a:xfrm>
          <a:prstGeom prst="rect">
            <a:avLst/>
          </a:prstGeom>
          <a:noFill/>
          <a:ln/>
        </p:spPr>
        <p:txBody>
          <a:bodyPr wrap="square" lIns="0" tIns="0" rIns="0" bIns="0" rtlCol="0" anchor="t"/>
          <a:lstStyle/>
          <a:p>
            <a:pPr marL="0" indent="0" algn="ctr">
              <a:buNone/>
            </a:pPr>
            <a:r>
              <a:rPr lang="en-US" sz="1400" dirty="0">
                <a:solidFill>
                  <a:srgbClr val="546E7A"/>
                </a:solidFill>
                <a:latin typeface="Calibri" pitchFamily="34" charset="0"/>
                <a:ea typeface="Calibri" pitchFamily="34" charset="-122"/>
                <a:cs typeface="Calibri" pitchFamily="34" charset="-120"/>
              </a:rPr>
              <a:t>Example of BSA instruction execution. Adapted from M. Morris Mano, Computer System Architecture, Fig. 5-10.</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3.14  Input-Output and Interrupt</a:t>
            </a:r>
            <a:endParaRPr lang="en-US" sz="3000" dirty="0"/>
          </a:p>
        </p:txBody>
      </p:sp>
      <p:sp>
        <p:nvSpPr>
          <p:cNvPr id="4" name="Text 1"/>
          <p:cNvSpPr txBox="1"/>
          <p:nvPr/>
        </p:nvSpPr>
        <p:spPr>
          <a:xfrm>
            <a:off x="914400" y="1417320"/>
            <a:ext cx="5486400" cy="365760"/>
          </a:xfrm>
          <a:prstGeom prst="rect">
            <a:avLst/>
          </a:prstGeom>
          <a:noFill/>
          <a:ln/>
        </p:spPr>
        <p:txBody>
          <a:bodyPr wrap="square" lIns="0" tIns="0" rIns="0" bIns="0" rtlCol="0" anchor="ctr"/>
          <a:lstStyle/>
          <a:p>
            <a:pPr marL="0" indent="0">
              <a:buNone/>
            </a:pPr>
            <a:r>
              <a:rPr lang="en-US" sz="2000" b="1" dirty="0">
                <a:solidFill>
                  <a:srgbClr val="1565C0"/>
                </a:solidFill>
                <a:latin typeface="Calibri" pitchFamily="34" charset="0"/>
                <a:ea typeface="Calibri" pitchFamily="34" charset="-122"/>
                <a:cs typeface="Calibri" pitchFamily="34" charset="-120"/>
              </a:rPr>
              <a:t>IN SIMPLE TERMS</a:t>
            </a:r>
            <a:endParaRPr lang="en-US" sz="2000" dirty="0"/>
          </a:p>
        </p:txBody>
      </p:sp>
      <p:sp>
        <p:nvSpPr>
          <p:cNvPr id="5" name="Text 2"/>
          <p:cNvSpPr txBox="1"/>
          <p:nvPr/>
        </p:nvSpPr>
        <p:spPr>
          <a:xfrm>
            <a:off x="914400" y="1920240"/>
            <a:ext cx="10362895" cy="3566160"/>
          </a:xfrm>
          <a:prstGeom prst="roundRect">
            <a:avLst>
              <a:gd name="adj" fmla="val 3846"/>
            </a:avLst>
          </a:prstGeom>
          <a:solidFill>
            <a:srgbClr val="FFF3E0"/>
          </a:solidFill>
          <a:ln w="31750">
            <a:solidFill>
              <a:srgbClr val="FF8F00"/>
            </a:solidFill>
          </a:ln>
        </p:spPr>
        <p:txBody>
          <a:bodyPr wrap="square" lIns="304800" tIns="457200" rIns="457200" bIns="304800" rtlCol="0" anchor="ctr"/>
          <a:lstStyle/>
          <a:p>
            <a:pPr marL="0" indent="0" algn="l">
              <a:buNone/>
            </a:pPr>
            <a:r>
              <a:rPr lang="en-US" sz="3400" dirty="0">
                <a:solidFill>
                  <a:srgbClr val="262626"/>
                </a:solidFill>
                <a:latin typeface="Calibri" pitchFamily="34" charset="0"/>
                <a:ea typeface="Calibri" pitchFamily="34" charset="-122"/>
                <a:cs typeface="Calibri" pitchFamily="34" charset="-120"/>
              </a:rPr>
              <a:t>Devices raise a flag when ready. With interrupts enabled, the computer finishes the current instruction, saves where it was, runs the device’s service program and then comes back.</a:t>
            </a:r>
            <a:endParaRPr lang="en-US" sz="3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The I/O model</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3.14</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The picture is a terminal: a keyboard feeding INPR and a printer fed by OUTR</a:t>
            </a:r>
            <a:endParaRPr lang="en-US" sz="3200" dirty="0"/>
          </a:p>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Each has a ready flag that the </a:t>
            </a:r>
            <a:r>
              <a:rPr lang="en-US" sz="3200" b="1" dirty="0">
                <a:solidFill>
                  <a:srgbClr val="262626"/>
                </a:solidFill>
                <a:latin typeface="Calibri" pitchFamily="34" charset="0"/>
                <a:ea typeface="Calibri" pitchFamily="34" charset="-122"/>
                <a:cs typeface="Calibri" pitchFamily="34" charset="-120"/>
              </a:rPr>
              <a:t>device itself</a:t>
            </a:r>
            <a:r>
              <a:rPr lang="en-US" sz="3200" dirty="0">
                <a:solidFill>
                  <a:srgbClr val="262626"/>
                </a:solidFill>
                <a:latin typeface="Calibri" pitchFamily="34" charset="0"/>
                <a:ea typeface="Calibri" pitchFamily="34" charset="-122"/>
                <a:cs typeface="Calibri" pitchFamily="34" charset="-120"/>
              </a:rPr>
              <a:t> sets</a:t>
            </a:r>
            <a:endParaRPr lang="en-US" sz="3200" dirty="0"/>
          </a:p>
          <a:p>
            <a:pPr marL="304800" indent="-304800" algn="l">
              <a:spcAft>
                <a:spcPts val="1000"/>
              </a:spcAft>
              <a:buSzPct val="100000"/>
              <a:buChar char="•"/>
            </a:pPr>
            <a:r>
              <a:rPr lang="en-US" sz="3200" b="1" dirty="0">
                <a:solidFill>
                  <a:srgbClr val="262626"/>
                </a:solidFill>
                <a:latin typeface="Calibri" pitchFamily="34" charset="0"/>
                <a:ea typeface="Calibri" pitchFamily="34" charset="-122"/>
                <a:cs typeface="Calibri" pitchFamily="34" charset="-120"/>
              </a:rPr>
              <a:t>FGI</a:t>
            </a:r>
            <a:r>
              <a:rPr lang="en-US" sz="3200" dirty="0">
                <a:solidFill>
                  <a:srgbClr val="262626"/>
                </a:solidFill>
                <a:latin typeface="Calibri" pitchFamily="34" charset="0"/>
                <a:ea typeface="Calibri" pitchFamily="34" charset="-122"/>
                <a:cs typeface="Calibri" pitchFamily="34" charset="-120"/>
              </a:rPr>
              <a:t> = 1: the input device has put a character in INPR</a:t>
            </a:r>
            <a:endParaRPr lang="en-US" sz="3200" dirty="0"/>
          </a:p>
          <a:p>
            <a:pPr marL="304800" indent="-304800" algn="l">
              <a:spcAft>
                <a:spcPts val="1000"/>
              </a:spcAft>
              <a:buSzPct val="100000"/>
              <a:buChar char="•"/>
            </a:pPr>
            <a:r>
              <a:rPr lang="en-US" sz="3200" b="1" dirty="0">
                <a:solidFill>
                  <a:srgbClr val="262626"/>
                </a:solidFill>
                <a:latin typeface="Calibri" pitchFamily="34" charset="0"/>
                <a:ea typeface="Calibri" pitchFamily="34" charset="-122"/>
                <a:cs typeface="Calibri" pitchFamily="34" charset="-120"/>
              </a:rPr>
              <a:t>FGO</a:t>
            </a:r>
            <a:r>
              <a:rPr lang="en-US" sz="3200" dirty="0">
                <a:solidFill>
                  <a:srgbClr val="262626"/>
                </a:solidFill>
                <a:latin typeface="Calibri" pitchFamily="34" charset="0"/>
                <a:ea typeface="Calibri" pitchFamily="34" charset="-122"/>
                <a:cs typeface="Calibri" pitchFamily="34" charset="-120"/>
              </a:rPr>
              <a:t> = 1: the output device has finished and can take another character</a:t>
            </a:r>
            <a:endParaRPr lang="en-US" sz="3200" dirty="0"/>
          </a:p>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The CPU only </a:t>
            </a:r>
            <a:r>
              <a:rPr lang="en-US" sz="3200" b="1" dirty="0">
                <a:solidFill>
                  <a:srgbClr val="262626"/>
                </a:solidFill>
                <a:latin typeface="Calibri" pitchFamily="34" charset="0"/>
                <a:ea typeface="Calibri" pitchFamily="34" charset="-122"/>
                <a:cs typeface="Calibri" pitchFamily="34" charset="-120"/>
              </a:rPr>
              <a:t>clears</a:t>
            </a:r>
            <a:r>
              <a:rPr lang="en-US" sz="3200" dirty="0">
                <a:solidFill>
                  <a:srgbClr val="262626"/>
                </a:solidFill>
                <a:latin typeface="Calibri" pitchFamily="34" charset="0"/>
                <a:ea typeface="Calibri" pitchFamily="34" charset="-122"/>
                <a:cs typeface="Calibri" pitchFamily="34" charset="-120"/>
              </a:rPr>
              <a:t> these flags; it never sets them</a:t>
            </a:r>
            <a:endParaRPr lang="en-US" sz="32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Input-output configuration</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3.14</a:t>
            </a:r>
            <a:endParaRPr lang="en-US" sz="1600" dirty="0"/>
          </a:p>
        </p:txBody>
      </p:sp>
      <p:pic>
        <p:nvPicPr>
          <p:cNvPr id="5" name="Image 0" descr="/home/claude/figs/3.14_io-and-interrupt_fig1.png"/>
          <p:cNvPicPr>
            <a:picLocks noChangeAspect="1"/>
          </p:cNvPicPr>
          <p:nvPr/>
        </p:nvPicPr>
        <p:blipFill>
          <a:blip r:embed="rId3"/>
          <a:stretch>
            <a:fillRect/>
          </a:stretch>
        </p:blipFill>
        <p:spPr>
          <a:xfrm>
            <a:off x="274320" y="1033434"/>
            <a:ext cx="11643055" cy="4882572"/>
          </a:xfrm>
          <a:prstGeom prst="rect">
            <a:avLst/>
          </a:prstGeom>
        </p:spPr>
      </p:pic>
      <p:sp>
        <p:nvSpPr>
          <p:cNvPr id="6" name="Text 2"/>
          <p:cNvSpPr txBox="1"/>
          <p:nvPr/>
        </p:nvSpPr>
        <p:spPr>
          <a:xfrm>
            <a:off x="411480" y="6355080"/>
            <a:ext cx="10424160" cy="457200"/>
          </a:xfrm>
          <a:prstGeom prst="rect">
            <a:avLst/>
          </a:prstGeom>
          <a:noFill/>
          <a:ln/>
        </p:spPr>
        <p:txBody>
          <a:bodyPr wrap="square" lIns="0" tIns="0" rIns="0" bIns="0" rtlCol="0" anchor="t"/>
          <a:lstStyle/>
          <a:p>
            <a:pPr marL="0" indent="0" algn="ctr">
              <a:buNone/>
            </a:pPr>
            <a:r>
              <a:rPr lang="en-US" sz="1400" dirty="0">
                <a:solidFill>
                  <a:srgbClr val="546E7A"/>
                </a:solidFill>
                <a:latin typeface="Calibri" pitchFamily="34" charset="0"/>
                <a:ea typeface="Calibri" pitchFamily="34" charset="-122"/>
                <a:cs typeface="Calibri" pitchFamily="34" charset="-120"/>
              </a:rPr>
              <a:t>Input-output configuration. Adapted from M. Morris Mano, Computer System Architecture, Fig. 5-12.</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RTL for the I/O instructions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3.14</a:t>
            </a:r>
            <a:endParaRPr lang="en-US" sz="1600" dirty="0"/>
          </a:p>
        </p:txBody>
      </p:sp>
      <p:sp>
        <p:nvSpPr>
          <p:cNvPr id="5" name="Text 2"/>
          <p:cNvSpPr txBox="1"/>
          <p:nvPr/>
        </p:nvSpPr>
        <p:spPr>
          <a:xfrm>
            <a:off x="548640" y="1280160"/>
            <a:ext cx="11094415" cy="3817620"/>
          </a:xfrm>
          <a:prstGeom prst="roundRect">
            <a:avLst>
              <a:gd name="adj" fmla="val 2395"/>
            </a:avLst>
          </a:prstGeom>
          <a:solidFill>
            <a:srgbClr val="F4F6F8"/>
          </a:solidFill>
          <a:ln w="25400">
            <a:solidFill>
              <a:srgbClr val="FF8F00"/>
            </a:solidFill>
          </a:ln>
        </p:spPr>
        <p:txBody>
          <a:bodyPr wrap="square" lIns="152400" tIns="279400" rIns="279400" bIns="152400" rtlCol="0" anchor="ctr"/>
          <a:lstStyle/>
          <a:p>
            <a:pPr marL="0" indent="0">
              <a:spcAft>
                <a:spcPts val="200"/>
              </a:spcAft>
              <a:buNone/>
            </a:pPr>
            <a:r>
              <a:rPr lang="en-US" sz="2200" dirty="0">
                <a:solidFill>
                  <a:srgbClr val="262626"/>
                </a:solidFill>
                <a:latin typeface="Courier New" pitchFamily="34" charset="0"/>
                <a:ea typeface="Courier New" pitchFamily="34" charset="-122"/>
                <a:cs typeface="Courier New" pitchFamily="34" charset="-120"/>
              </a:rPr>
              <a:t>p = D₇ I T₃   (opcode 111, I = 1, timing T₃)</a:t>
            </a:r>
            <a:endParaRPr lang="en-US" sz="2200" dirty="0"/>
          </a:p>
          <a:p>
            <a:pPr marL="0" indent="0">
              <a:buNone/>
            </a:pPr>
            <a:r>
              <a:rPr lang="en-US" sz="2200" dirty="0">
                <a:solidFill>
                  <a:srgbClr val="000000"/>
                </a:solidFill>
                <a:latin typeface="Courier New" pitchFamily="34" charset="0"/>
                <a:ea typeface="Courier New" pitchFamily="34" charset="-122"/>
                <a:cs typeface="Courier New" pitchFamily="34" charset="-120"/>
              </a:rPr>
              <a:t> </a:t>
            </a:r>
            <a:endParaRPr lang="en-US" sz="2200" dirty="0"/>
          </a:p>
          <a:p>
            <a:pPr marL="0" indent="0">
              <a:spcAft>
                <a:spcPts val="200"/>
              </a:spcAft>
              <a:buNone/>
            </a:pPr>
            <a:r>
              <a:rPr lang="en-US" sz="2200" dirty="0">
                <a:solidFill>
                  <a:srgbClr val="262626"/>
                </a:solidFill>
                <a:latin typeface="Courier New" pitchFamily="34" charset="0"/>
                <a:ea typeface="Courier New" pitchFamily="34" charset="-122"/>
                <a:cs typeface="Courier New" pitchFamily="34" charset="-120"/>
              </a:rPr>
              <a:t>pB₁₁ (INP):  AC(0–7) ← INPR,  FGI ← 0</a:t>
            </a:r>
            <a:endParaRPr lang="en-US" sz="2200" dirty="0"/>
          </a:p>
          <a:p>
            <a:pPr marL="0" indent="0">
              <a:spcAft>
                <a:spcPts val="200"/>
              </a:spcAft>
              <a:buNone/>
            </a:pPr>
            <a:r>
              <a:rPr lang="en-US" sz="2200" dirty="0">
                <a:solidFill>
                  <a:srgbClr val="262626"/>
                </a:solidFill>
                <a:latin typeface="Courier New" pitchFamily="34" charset="0"/>
                <a:ea typeface="Courier New" pitchFamily="34" charset="-122"/>
                <a:cs typeface="Courier New" pitchFamily="34" charset="-120"/>
              </a:rPr>
              <a:t>pB₁₀ (OUT):  OUTR ← AC(0–7),  FGO ← 0</a:t>
            </a:r>
            <a:endParaRPr lang="en-US" sz="2200" dirty="0"/>
          </a:p>
          <a:p>
            <a:pPr marL="0" indent="0">
              <a:spcAft>
                <a:spcPts val="200"/>
              </a:spcAft>
              <a:buNone/>
            </a:pPr>
            <a:r>
              <a:rPr lang="en-US" sz="2200" dirty="0">
                <a:solidFill>
                  <a:srgbClr val="262626"/>
                </a:solidFill>
                <a:latin typeface="Courier New" pitchFamily="34" charset="0"/>
                <a:ea typeface="Courier New" pitchFamily="34" charset="-122"/>
                <a:cs typeface="Courier New" pitchFamily="34" charset="-120"/>
              </a:rPr>
              <a:t>pB₉  (SKI):  if (FGI = 1) then (PC ← PC + 1)</a:t>
            </a:r>
            <a:endParaRPr lang="en-US" sz="2200" dirty="0"/>
          </a:p>
          <a:p>
            <a:pPr marL="0" indent="0">
              <a:spcAft>
                <a:spcPts val="200"/>
              </a:spcAft>
              <a:buNone/>
            </a:pPr>
            <a:r>
              <a:rPr lang="en-US" sz="2200" dirty="0">
                <a:solidFill>
                  <a:srgbClr val="262626"/>
                </a:solidFill>
                <a:latin typeface="Courier New" pitchFamily="34" charset="0"/>
                <a:ea typeface="Courier New" pitchFamily="34" charset="-122"/>
                <a:cs typeface="Courier New" pitchFamily="34" charset="-120"/>
              </a:rPr>
              <a:t>pB₈  (SKO):  if (FGO = 1) then (PC ← PC + 1)</a:t>
            </a:r>
            <a:endParaRPr lang="en-US" sz="2200" dirty="0"/>
          </a:p>
          <a:p>
            <a:pPr marL="0" indent="0">
              <a:spcAft>
                <a:spcPts val="200"/>
              </a:spcAft>
              <a:buNone/>
            </a:pPr>
            <a:r>
              <a:rPr lang="en-US" sz="2200" dirty="0">
                <a:solidFill>
                  <a:srgbClr val="262626"/>
                </a:solidFill>
                <a:latin typeface="Courier New" pitchFamily="34" charset="0"/>
                <a:ea typeface="Courier New" pitchFamily="34" charset="-122"/>
                <a:cs typeface="Courier New" pitchFamily="34" charset="-120"/>
              </a:rPr>
              <a:t>pB₇  (ION):  IEN ← 1</a:t>
            </a:r>
            <a:endParaRPr lang="en-US" sz="2200" dirty="0"/>
          </a:p>
          <a:p>
            <a:pPr marL="0" indent="0">
              <a:spcAft>
                <a:spcPts val="200"/>
              </a:spcAft>
              <a:buNone/>
            </a:pPr>
            <a:r>
              <a:rPr lang="en-US" sz="2200" dirty="0">
                <a:solidFill>
                  <a:srgbClr val="262626"/>
                </a:solidFill>
                <a:latin typeface="Courier New" pitchFamily="34" charset="0"/>
                <a:ea typeface="Courier New" pitchFamily="34" charset="-122"/>
                <a:cs typeface="Courier New" pitchFamily="34" charset="-120"/>
              </a:rPr>
              <a:t>pB₆  (IOF):  IEN ← 0</a:t>
            </a:r>
            <a:endParaRPr lang="en-US" sz="2200" dirty="0"/>
          </a:p>
          <a:p>
            <a:pPr marL="0" indent="0">
              <a:spcAft>
                <a:spcPts val="200"/>
              </a:spcAft>
              <a:buNone/>
            </a:pPr>
            <a:r>
              <a:rPr lang="en-US" sz="2200" dirty="0">
                <a:solidFill>
                  <a:srgbClr val="262626"/>
                </a:solidFill>
                <a:latin typeface="Courier New" pitchFamily="34" charset="0"/>
                <a:ea typeface="Courier New" pitchFamily="34" charset="-122"/>
                <a:cs typeface="Courier New" pitchFamily="34" charset="-120"/>
              </a:rPr>
              <a:t>all:  SC ← 0</a:t>
            </a:r>
            <a:endParaRPr lang="en-US" sz="2200" dirty="0"/>
          </a:p>
        </p:txBody>
      </p:sp>
      <p:sp>
        <p:nvSpPr>
          <p:cNvPr id="6" name="Text 3"/>
          <p:cNvSpPr txBox="1"/>
          <p:nvPr/>
        </p:nvSpPr>
        <p:spPr>
          <a:xfrm>
            <a:off x="640080" y="5417820"/>
            <a:ext cx="10911535" cy="891540"/>
          </a:xfrm>
          <a:prstGeom prst="rect">
            <a:avLst/>
          </a:prstGeom>
          <a:noFill/>
          <a:ln/>
        </p:spPr>
        <p:txBody>
          <a:bodyPr wrap="square" lIns="0" tIns="0" rIns="0" bIns="0" rtlCol="0" anchor="t"/>
          <a:lstStyle/>
          <a:p>
            <a:pPr marL="304800" indent="-304800" algn="l">
              <a:spcAft>
                <a:spcPts val="1000"/>
              </a:spcAft>
              <a:buSzPct val="100000"/>
              <a:buChar char="•"/>
            </a:pPr>
            <a:r>
              <a:rPr lang="en-US" sz="2800" dirty="0">
                <a:solidFill>
                  <a:srgbClr val="262626"/>
                </a:solidFill>
                <a:latin typeface="Calibri" pitchFamily="34" charset="0"/>
                <a:ea typeface="Calibri" pitchFamily="34" charset="-122"/>
                <a:cs typeface="Calibri" pitchFamily="34" charset="-120"/>
              </a:rPr>
              <a:t>All six execute in one state, T₃: no indirect-address detour</a:t>
            </a:r>
            <a:endParaRPr lang="en-US" sz="28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From polling to interrupts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3.14</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SKI and SKO let a program </a:t>
            </a:r>
            <a:r>
              <a:rPr lang="en-US" sz="3200" b="1" dirty="0">
                <a:solidFill>
                  <a:srgbClr val="262626"/>
                </a:solidFill>
                <a:latin typeface="Calibri" pitchFamily="34" charset="0"/>
                <a:ea typeface="Calibri" pitchFamily="34" charset="-122"/>
                <a:cs typeface="Calibri" pitchFamily="34" charset="-120"/>
              </a:rPr>
              <a:t>poll</a:t>
            </a:r>
            <a:r>
              <a:rPr lang="en-US" sz="3200" dirty="0">
                <a:solidFill>
                  <a:srgbClr val="262626"/>
                </a:solidFill>
                <a:latin typeface="Calibri" pitchFamily="34" charset="0"/>
                <a:ea typeface="Calibri" pitchFamily="34" charset="-122"/>
                <a:cs typeface="Calibri" pitchFamily="34" charset="-120"/>
              </a:rPr>
              <a:t>: loop on SKI until it skips, then INP</a:t>
            </a:r>
            <a:endParaRPr lang="en-US" sz="3200" dirty="0"/>
          </a:p>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Polling is exactly the problem interrupts exist to solve</a:t>
            </a:r>
            <a:endParaRPr lang="en-US" sz="3200" dirty="0"/>
          </a:p>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IEN (interrupt enable) and R (interrupt flip-flop) are checked at the boundary between instructions</a:t>
            </a:r>
            <a:endParaRPr lang="en-US" sz="3200" dirty="0"/>
          </a:p>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That is where SC would normally reset to 0 for the next fetch</a:t>
            </a:r>
            <a:endParaRPr lang="en-US" sz="32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Interrupt cycle flowchart</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3.14</a:t>
            </a:r>
            <a:endParaRPr lang="en-US" sz="1600" dirty="0"/>
          </a:p>
        </p:txBody>
      </p:sp>
      <p:pic>
        <p:nvPicPr>
          <p:cNvPr id="5" name="Image 0" descr="/home/claude/figs/3.14_io-and-interrupt_fig2.png"/>
          <p:cNvPicPr>
            <a:picLocks noChangeAspect="1"/>
          </p:cNvPicPr>
          <p:nvPr/>
        </p:nvPicPr>
        <p:blipFill>
          <a:blip r:embed="rId3"/>
          <a:stretch>
            <a:fillRect/>
          </a:stretch>
        </p:blipFill>
        <p:spPr>
          <a:xfrm>
            <a:off x="411480" y="621792"/>
            <a:ext cx="7284071" cy="5705856"/>
          </a:xfrm>
          <a:prstGeom prst="rect">
            <a:avLst/>
          </a:prstGeom>
        </p:spPr>
      </p:pic>
      <p:sp>
        <p:nvSpPr>
          <p:cNvPr id="6" name="Text 2"/>
          <p:cNvSpPr txBox="1"/>
          <p:nvPr/>
        </p:nvSpPr>
        <p:spPr>
          <a:xfrm>
            <a:off x="8061311" y="713232"/>
            <a:ext cx="3718904" cy="5522976"/>
          </a:xfrm>
          <a:prstGeom prst="roundRect">
            <a:avLst>
              <a:gd name="adj" fmla="val 2951"/>
            </a:avLst>
          </a:prstGeom>
          <a:solidFill>
            <a:srgbClr val="EAF2FB"/>
          </a:solidFill>
          <a:ln w="6350">
            <a:solidFill>
              <a:srgbClr val="EAF2FB"/>
            </a:solidFill>
          </a:ln>
        </p:spPr>
        <p:txBody>
          <a:bodyPr wrap="square" lIns="203200" tIns="279400" rIns="279400" bIns="203200" rtlCol="0" anchor="ctr"/>
          <a:lstStyle/>
          <a:p>
            <a:pPr marL="304800" indent="-304800" algn="l">
              <a:spcAft>
                <a:spcPts val="1000"/>
              </a:spcAft>
              <a:buSzPct val="100000"/>
              <a:buChar char="•"/>
            </a:pPr>
            <a:r>
              <a:rPr lang="en-US" sz="2400" dirty="0">
                <a:solidFill>
                  <a:srgbClr val="262626"/>
                </a:solidFill>
                <a:latin typeface="Calibri" pitchFamily="34" charset="0"/>
                <a:ea typeface="Calibri" pitchFamily="34" charset="-122"/>
                <a:cs typeface="Calibri" pitchFamily="34" charset="-120"/>
              </a:rPr>
              <a:t>IEN and R are checked between instructions</a:t>
            </a:r>
            <a:endParaRPr lang="en-US" sz="2400" dirty="0"/>
          </a:p>
          <a:p>
            <a:pPr marL="304800" indent="-304800" algn="l">
              <a:spcAft>
                <a:spcPts val="1000"/>
              </a:spcAft>
              <a:buSzPct val="100000"/>
              <a:buChar char="•"/>
            </a:pPr>
            <a:r>
              <a:rPr lang="en-US" sz="2400" dirty="0">
                <a:solidFill>
                  <a:srgbClr val="262626"/>
                </a:solidFill>
                <a:latin typeface="Calibri" pitchFamily="34" charset="0"/>
                <a:ea typeface="Calibri" pitchFamily="34" charset="-122"/>
                <a:cs typeface="Calibri" pitchFamily="34" charset="-120"/>
              </a:rPr>
              <a:t>Interrupt cycle saves PC at location 0 and sets PC to 1</a:t>
            </a:r>
            <a:endParaRPr lang="en-US" sz="2400" dirty="0"/>
          </a:p>
          <a:p>
            <a:pPr marL="304800" indent="-304800" algn="l">
              <a:spcAft>
                <a:spcPts val="1000"/>
              </a:spcAft>
              <a:buSzPct val="100000"/>
              <a:buChar char="•"/>
            </a:pPr>
            <a:r>
              <a:rPr lang="en-US" sz="2400" dirty="0">
                <a:solidFill>
                  <a:srgbClr val="262626"/>
                </a:solidFill>
                <a:latin typeface="Calibri" pitchFamily="34" charset="0"/>
                <a:ea typeface="Calibri" pitchFamily="34" charset="-122"/>
                <a:cs typeface="Calibri" pitchFamily="34" charset="-120"/>
              </a:rPr>
              <a:t>Location 1 holds a BUN to the service routine</a:t>
            </a:r>
            <a:endParaRPr lang="en-US" sz="2400" dirty="0"/>
          </a:p>
          <a:p>
            <a:pPr marL="304800" indent="-304800" algn="l">
              <a:spcAft>
                <a:spcPts val="1000"/>
              </a:spcAft>
              <a:buSzPct val="100000"/>
              <a:buChar char="•"/>
            </a:pPr>
            <a:r>
              <a:rPr lang="en-US" sz="2400" dirty="0">
                <a:solidFill>
                  <a:srgbClr val="262626"/>
                </a:solidFill>
                <a:latin typeface="Calibri" pitchFamily="34" charset="0"/>
                <a:ea typeface="Calibri" pitchFamily="34" charset="-122"/>
                <a:cs typeface="Calibri" pitchFamily="34" charset="-120"/>
              </a:rPr>
              <a:t>IEN and R are then cleared</a:t>
            </a:r>
            <a:endParaRPr lang="en-US" sz="2400" dirty="0"/>
          </a:p>
        </p:txBody>
      </p:sp>
      <p:sp>
        <p:nvSpPr>
          <p:cNvPr id="7" name="Text 3"/>
          <p:cNvSpPr txBox="1"/>
          <p:nvPr/>
        </p:nvSpPr>
        <p:spPr>
          <a:xfrm>
            <a:off x="411480" y="6355080"/>
            <a:ext cx="10424160" cy="457200"/>
          </a:xfrm>
          <a:prstGeom prst="rect">
            <a:avLst/>
          </a:prstGeom>
          <a:noFill/>
          <a:ln/>
        </p:spPr>
        <p:txBody>
          <a:bodyPr wrap="square" lIns="0" tIns="0" rIns="0" bIns="0" rtlCol="0" anchor="t"/>
          <a:lstStyle/>
          <a:p>
            <a:pPr marL="0" indent="0" algn="l">
              <a:buNone/>
            </a:pPr>
            <a:r>
              <a:rPr lang="en-US" sz="1400" dirty="0">
                <a:solidFill>
                  <a:srgbClr val="546E7A"/>
                </a:solidFill>
                <a:latin typeface="Calibri" pitchFamily="34" charset="0"/>
                <a:ea typeface="Calibri" pitchFamily="34" charset="-122"/>
                <a:cs typeface="Calibri" pitchFamily="34" charset="-120"/>
              </a:rPr>
              <a:t>Flowchart for interrupt cycle. Adapted from M. Morris Mano, Computer System Architecture, Fig. 5-13.</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When the interrupt is granted</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3.14</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The interrupt cycle saves the return address (the interrupted program’s PC) at fixed memory location 0</a:t>
            </a:r>
            <a:endParaRPr lang="en-US" sz="3200" dirty="0"/>
          </a:p>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It then sets PC to 1</a:t>
            </a:r>
            <a:endParaRPr lang="en-US" sz="3200" dirty="0"/>
          </a:p>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Location 1 is expected to hold a BUN to the interrupt-service routine</a:t>
            </a:r>
            <a:endParaRPr lang="en-US" sz="3200" dirty="0"/>
          </a:p>
          <a:p>
            <a:pPr marL="304800" indent="-304800" algn="l">
              <a:spcAft>
                <a:spcPts val="1000"/>
              </a:spcAft>
              <a:buSzPct val="100000"/>
              <a:buChar char="•"/>
            </a:pPr>
            <a:r>
              <a:rPr lang="en-US" sz="3200" dirty="0">
                <a:solidFill>
                  <a:srgbClr val="262626"/>
                </a:solidFill>
                <a:latin typeface="Calibri" pitchFamily="34" charset="0"/>
                <a:ea typeface="Calibri" pitchFamily="34" charset="-122"/>
                <a:cs typeface="Calibri" pitchFamily="34" charset="-120"/>
              </a:rPr>
              <a:t>Execution resumes there, with the way back already stored</a:t>
            </a:r>
            <a:endParaRPr lang="en-US" sz="32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11480" y="36576"/>
            <a:ext cx="9509760" cy="475488"/>
          </a:xfrm>
          <a:prstGeom prst="rect">
            <a:avLst/>
          </a:prstGeom>
          <a:noFill/>
          <a:ln/>
        </p:spPr>
        <p:txBody>
          <a:bodyPr wrap="square" lIns="0" tIns="0" rIns="0" bIns="0" rtlCol="0" anchor="ctr"/>
          <a:lstStyle/>
          <a:p>
            <a:pPr marL="0" indent="0" algn="l">
              <a:buNone/>
            </a:pPr>
            <a:r>
              <a:rPr lang="en-US" sz="2800" b="1" dirty="0">
                <a:solidFill>
                  <a:srgbClr val="FFFFFF"/>
                </a:solidFill>
                <a:latin typeface="Calibri" pitchFamily="34" charset="0"/>
                <a:ea typeface="Calibri" pitchFamily="34" charset="-122"/>
                <a:cs typeface="Calibri" pitchFamily="34" charset="-120"/>
              </a:rPr>
              <a:t>Demonstration of the interrupt cycle</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marL="0" indent="0" algn="r">
              <a:buNone/>
            </a:pPr>
            <a:r>
              <a:rPr lang="en-US" sz="1600" dirty="0">
                <a:solidFill>
                  <a:srgbClr val="FFFFFF"/>
                </a:solidFill>
                <a:latin typeface="Calibri" pitchFamily="34" charset="0"/>
                <a:ea typeface="Calibri" pitchFamily="34" charset="-122"/>
                <a:cs typeface="Calibri" pitchFamily="34" charset="-120"/>
              </a:rPr>
              <a:t>Topic 3.14</a:t>
            </a:r>
            <a:endParaRPr lang="en-US" sz="1600" dirty="0"/>
          </a:p>
        </p:txBody>
      </p:sp>
      <p:pic>
        <p:nvPicPr>
          <p:cNvPr id="5" name="Image 0" descr="/home/claude/figs/3.14_io-and-interrupt_fig3.png"/>
          <p:cNvPicPr>
            <a:picLocks noChangeAspect="1"/>
          </p:cNvPicPr>
          <p:nvPr/>
        </p:nvPicPr>
        <p:blipFill>
          <a:blip r:embed="rId3"/>
          <a:stretch>
            <a:fillRect/>
          </a:stretch>
        </p:blipFill>
        <p:spPr>
          <a:xfrm>
            <a:off x="389992" y="621792"/>
            <a:ext cx="11411712" cy="5705856"/>
          </a:xfrm>
          <a:prstGeom prst="rect">
            <a:avLst/>
          </a:prstGeom>
        </p:spPr>
      </p:pic>
      <p:sp>
        <p:nvSpPr>
          <p:cNvPr id="6" name="Text 2"/>
          <p:cNvSpPr txBox="1"/>
          <p:nvPr/>
        </p:nvSpPr>
        <p:spPr>
          <a:xfrm>
            <a:off x="411480" y="6355080"/>
            <a:ext cx="10424160" cy="457200"/>
          </a:xfrm>
          <a:prstGeom prst="rect">
            <a:avLst/>
          </a:prstGeom>
          <a:noFill/>
          <a:ln/>
        </p:spPr>
        <p:txBody>
          <a:bodyPr wrap="square" lIns="0" tIns="0" rIns="0" bIns="0" rtlCol="0" anchor="t"/>
          <a:lstStyle/>
          <a:p>
            <a:pPr marL="0" indent="0" algn="ctr">
              <a:buNone/>
            </a:pPr>
            <a:r>
              <a:rPr lang="en-US" sz="1400" dirty="0">
                <a:solidFill>
                  <a:srgbClr val="546E7A"/>
                </a:solidFill>
                <a:latin typeface="Calibri" pitchFamily="34" charset="0"/>
                <a:ea typeface="Calibri" pitchFamily="34" charset="-122"/>
                <a:cs typeface="Calibri" pitchFamily="34" charset="-120"/>
              </a:rPr>
              <a:t>Demonstration of the interrupt cycle. Adapted from M. Morris Mano, Computer System Architecture, Fig. 5-14.</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Unit 3 summary</a:t>
            </a:r>
            <a:endParaRPr lang="en-US" sz="3000" dirty="0"/>
          </a:p>
        </p:txBody>
      </p:sp>
      <p:sp>
        <p:nvSpPr>
          <p:cNvPr id="4" name="Text 1"/>
          <p:cNvSpPr txBox="1"/>
          <p:nvPr/>
        </p:nvSpPr>
        <p:spPr>
          <a:xfrm>
            <a:off x="640080" y="1280160"/>
            <a:ext cx="10911535" cy="4937760"/>
          </a:xfrm>
          <a:prstGeom prst="rect">
            <a:avLst/>
          </a:prstGeom>
          <a:noFill/>
          <a:ln/>
        </p:spPr>
        <p:txBody>
          <a:bodyPr wrap="square" lIns="0" tIns="0" rIns="0" bIns="0" rtlCol="0" anchor="t"/>
          <a:lstStyle/>
          <a:p>
            <a:pPr marL="304800" indent="-304800" algn="l">
              <a:spcAft>
                <a:spcPts val="1000"/>
              </a:spcAft>
              <a:buSzPct val="100000"/>
              <a:buChar char="•"/>
            </a:pPr>
            <a:r>
              <a:rPr lang="en-US" sz="2400" b="1" dirty="0">
                <a:solidFill>
                  <a:srgbClr val="262626"/>
                </a:solidFill>
                <a:latin typeface="Calibri" pitchFamily="34" charset="0"/>
                <a:ea typeface="Calibri" pitchFamily="34" charset="-122"/>
                <a:cs typeface="Calibri" pitchFamily="34" charset="-120"/>
              </a:rPr>
              <a:t>RTL</a:t>
            </a:r>
            <a:r>
              <a:rPr lang="en-US" sz="2400" dirty="0">
                <a:solidFill>
                  <a:srgbClr val="262626"/>
                </a:solidFill>
                <a:latin typeface="Calibri" pitchFamily="34" charset="0"/>
                <a:ea typeface="Calibri" pitchFamily="34" charset="-122"/>
                <a:cs typeface="Calibri" pitchFamily="34" charset="-120"/>
              </a:rPr>
              <a:t> writes register transfers as R2 ← R1; a control condition before a colon makes a transfer conditional</a:t>
            </a:r>
            <a:endParaRPr lang="en-US" sz="2400" dirty="0"/>
          </a:p>
          <a:p>
            <a:pPr marL="304800" indent="-304800" algn="l">
              <a:spcAft>
                <a:spcPts val="1000"/>
              </a:spcAft>
              <a:buSzPct val="100000"/>
              <a:buChar char="•"/>
            </a:pPr>
            <a:r>
              <a:rPr lang="en-US" sz="2400" dirty="0">
                <a:solidFill>
                  <a:srgbClr val="262626"/>
                </a:solidFill>
                <a:latin typeface="Calibri" pitchFamily="34" charset="0"/>
                <a:ea typeface="Calibri" pitchFamily="34" charset="-122"/>
                <a:cs typeface="Calibri" pitchFamily="34" charset="-120"/>
              </a:rPr>
              <a:t>A shared </a:t>
            </a:r>
            <a:r>
              <a:rPr lang="en-US" sz="2400" b="1" dirty="0">
                <a:solidFill>
                  <a:srgbClr val="262626"/>
                </a:solidFill>
                <a:latin typeface="Calibri" pitchFamily="34" charset="0"/>
                <a:ea typeface="Calibri" pitchFamily="34" charset="-122"/>
                <a:cs typeface="Calibri" pitchFamily="34" charset="-120"/>
              </a:rPr>
              <a:t>bus</a:t>
            </a:r>
            <a:r>
              <a:rPr lang="en-US" sz="2400" dirty="0">
                <a:solidFill>
                  <a:srgbClr val="262626"/>
                </a:solidFill>
                <a:latin typeface="Calibri" pitchFamily="34" charset="0"/>
                <a:ea typeface="Calibri" pitchFamily="34" charset="-122"/>
                <a:cs typeface="Calibri" pitchFamily="34" charset="-120"/>
              </a:rPr>
              <a:t> (multiplexers or three-state buffers) lets many registers use one set of lines; memory uses AR, DR and M[AR]</a:t>
            </a:r>
            <a:endParaRPr lang="en-US" sz="2400" dirty="0"/>
          </a:p>
          <a:p>
            <a:pPr marL="304800" indent="-304800" algn="l">
              <a:spcAft>
                <a:spcPts val="1000"/>
              </a:spcAft>
              <a:buSzPct val="100000"/>
              <a:buChar char="•"/>
            </a:pPr>
            <a:r>
              <a:rPr lang="en-US" sz="2400" b="1" dirty="0">
                <a:solidFill>
                  <a:srgbClr val="262626"/>
                </a:solidFill>
                <a:latin typeface="Calibri" pitchFamily="34" charset="0"/>
                <a:ea typeface="Calibri" pitchFamily="34" charset="-122"/>
                <a:cs typeface="Calibri" pitchFamily="34" charset="-120"/>
              </a:rPr>
              <a:t>Arithmetic, logic and shift</a:t>
            </a:r>
            <a:r>
              <a:rPr lang="en-US" sz="2400" dirty="0">
                <a:solidFill>
                  <a:srgbClr val="262626"/>
                </a:solidFill>
                <a:latin typeface="Calibri" pitchFamily="34" charset="0"/>
                <a:ea typeface="Calibri" pitchFamily="34" charset="-122"/>
                <a:cs typeface="Calibri" pitchFamily="34" charset="-120"/>
              </a:rPr>
              <a:t> micro-operations combine into one </a:t>
            </a:r>
            <a:r>
              <a:rPr lang="en-US" sz="2400" b="1" dirty="0">
                <a:solidFill>
                  <a:srgbClr val="262626"/>
                </a:solidFill>
                <a:latin typeface="Calibri" pitchFamily="34" charset="0"/>
                <a:ea typeface="Calibri" pitchFamily="34" charset="-122"/>
                <a:cs typeface="Calibri" pitchFamily="34" charset="-120"/>
              </a:rPr>
              <a:t>ALU</a:t>
            </a:r>
            <a:r>
              <a:rPr lang="en-US" sz="2400" dirty="0">
                <a:solidFill>
                  <a:srgbClr val="262626"/>
                </a:solidFill>
                <a:latin typeface="Calibri" pitchFamily="34" charset="0"/>
                <a:ea typeface="Calibri" pitchFamily="34" charset="-122"/>
                <a:cs typeface="Calibri" pitchFamily="34" charset="-120"/>
              </a:rPr>
              <a:t>, chosen by a select code</a:t>
            </a:r>
            <a:endParaRPr lang="en-US" sz="2400" dirty="0"/>
          </a:p>
          <a:p>
            <a:pPr marL="304800" indent="-304800" algn="l">
              <a:spcAft>
                <a:spcPts val="1000"/>
              </a:spcAft>
              <a:buSzPct val="100000"/>
              <a:buChar char="•"/>
            </a:pPr>
            <a:r>
              <a:rPr lang="en-US" sz="2400" dirty="0">
                <a:solidFill>
                  <a:srgbClr val="262626"/>
                </a:solidFill>
                <a:latin typeface="Calibri" pitchFamily="34" charset="0"/>
                <a:ea typeface="Calibri" pitchFamily="34" charset="-122"/>
                <a:cs typeface="Calibri" pitchFamily="34" charset="-120"/>
              </a:rPr>
              <a:t>The </a:t>
            </a:r>
            <a:r>
              <a:rPr lang="en-US" sz="2400" b="1" dirty="0">
                <a:solidFill>
                  <a:srgbClr val="262626"/>
                </a:solidFill>
                <a:latin typeface="Calibri" pitchFamily="34" charset="0"/>
                <a:ea typeface="Calibri" pitchFamily="34" charset="-122"/>
                <a:cs typeface="Calibri" pitchFamily="34" charset="-120"/>
              </a:rPr>
              <a:t>Basic Computer</a:t>
            </a:r>
            <a:r>
              <a:rPr lang="en-US" sz="2400" dirty="0">
                <a:solidFill>
                  <a:srgbClr val="262626"/>
                </a:solidFill>
                <a:latin typeface="Calibri" pitchFamily="34" charset="0"/>
                <a:ea typeface="Calibri" pitchFamily="34" charset="-122"/>
                <a:cs typeface="Calibri" pitchFamily="34" charset="-120"/>
              </a:rPr>
              <a:t> has 16-bit instructions (I, opcode, address) and registers on one common bus</a:t>
            </a:r>
            <a:endParaRPr lang="en-US" sz="2400" dirty="0"/>
          </a:p>
          <a:p>
            <a:pPr marL="304800" indent="-304800" algn="l">
              <a:spcAft>
                <a:spcPts val="1000"/>
              </a:spcAft>
              <a:buSzPct val="100000"/>
              <a:buChar char="•"/>
            </a:pPr>
            <a:r>
              <a:rPr lang="en-US" sz="2400" dirty="0">
                <a:solidFill>
                  <a:srgbClr val="262626"/>
                </a:solidFill>
                <a:latin typeface="Calibri" pitchFamily="34" charset="0"/>
                <a:ea typeface="Calibri" pitchFamily="34" charset="-122"/>
                <a:cs typeface="Calibri" pitchFamily="34" charset="-120"/>
              </a:rPr>
              <a:t>The hardwired </a:t>
            </a:r>
            <a:r>
              <a:rPr lang="en-US" sz="2400" b="1" dirty="0">
                <a:solidFill>
                  <a:srgbClr val="262626"/>
                </a:solidFill>
                <a:latin typeface="Calibri" pitchFamily="34" charset="0"/>
                <a:ea typeface="Calibri" pitchFamily="34" charset="-122"/>
                <a:cs typeface="Calibri" pitchFamily="34" charset="-120"/>
              </a:rPr>
              <a:t>control unit</a:t>
            </a:r>
            <a:r>
              <a:rPr lang="en-US" sz="2400" dirty="0">
                <a:solidFill>
                  <a:srgbClr val="262626"/>
                </a:solidFill>
                <a:latin typeface="Calibri" pitchFamily="34" charset="0"/>
                <a:ea typeface="Calibri" pitchFamily="34" charset="-122"/>
                <a:cs typeface="Calibri" pitchFamily="34" charset="-120"/>
              </a:rPr>
              <a:t>: SC and decoders give T and D signals; each control signal is D AND T</a:t>
            </a:r>
            <a:endParaRPr lang="en-US" sz="2400" dirty="0"/>
          </a:p>
          <a:p>
            <a:pPr marL="304800" indent="-304800" algn="l">
              <a:spcAft>
                <a:spcPts val="1000"/>
              </a:spcAft>
              <a:buSzPct val="100000"/>
              <a:buChar char="•"/>
            </a:pPr>
            <a:r>
              <a:rPr lang="en-US" sz="2400" dirty="0">
                <a:solidFill>
                  <a:srgbClr val="262626"/>
                </a:solidFill>
                <a:latin typeface="Calibri" pitchFamily="34" charset="0"/>
                <a:ea typeface="Calibri" pitchFamily="34" charset="-122"/>
                <a:cs typeface="Calibri" pitchFamily="34" charset="-120"/>
              </a:rPr>
              <a:t>The </a:t>
            </a:r>
            <a:r>
              <a:rPr lang="en-US" sz="2400" b="1" dirty="0">
                <a:solidFill>
                  <a:srgbClr val="262626"/>
                </a:solidFill>
                <a:latin typeface="Calibri" pitchFamily="34" charset="0"/>
                <a:ea typeface="Calibri" pitchFamily="34" charset="-122"/>
                <a:cs typeface="Calibri" pitchFamily="34" charset="-120"/>
              </a:rPr>
              <a:t>instruction cycle</a:t>
            </a:r>
            <a:r>
              <a:rPr lang="en-US" sz="2400" dirty="0">
                <a:solidFill>
                  <a:srgbClr val="262626"/>
                </a:solidFill>
                <a:latin typeface="Calibri" pitchFamily="34" charset="0"/>
                <a:ea typeface="Calibri" pitchFamily="34" charset="-122"/>
                <a:cs typeface="Calibri" pitchFamily="34" charset="-120"/>
              </a:rPr>
              <a:t> is fetch, decode, execute; I/O flags and the </a:t>
            </a:r>
            <a:r>
              <a:rPr lang="en-US" sz="2400" b="1" dirty="0">
                <a:solidFill>
                  <a:srgbClr val="262626"/>
                </a:solidFill>
                <a:latin typeface="Calibri" pitchFamily="34" charset="0"/>
                <a:ea typeface="Calibri" pitchFamily="34" charset="-122"/>
                <a:cs typeface="Calibri" pitchFamily="34" charset="-120"/>
              </a:rPr>
              <a:t>interrupt</a:t>
            </a:r>
            <a:r>
              <a:rPr lang="en-US" sz="2400" dirty="0">
                <a:solidFill>
                  <a:srgbClr val="262626"/>
                </a:solidFill>
                <a:latin typeface="Calibri" pitchFamily="34" charset="0"/>
                <a:ea typeface="Calibri" pitchFamily="34" charset="-122"/>
                <a:cs typeface="Calibri" pitchFamily="34" charset="-120"/>
              </a:rPr>
              <a:t> let devices get the CPU’s attention</a:t>
            </a:r>
            <a:endParaRPr lang="en-US" sz="2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548640" y="73152"/>
            <a:ext cx="9326880" cy="768096"/>
          </a:xfrm>
          <a:prstGeom prst="rect">
            <a:avLst/>
          </a:prstGeom>
          <a:noFill/>
          <a:ln/>
        </p:spPr>
        <p:txBody>
          <a:bodyPr wrap="square" lIns="0" tIns="0" rIns="0" bIns="0"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Unit 3: key applications</a:t>
            </a:r>
            <a:endParaRPr lang="en-US" sz="3000" dirty="0"/>
          </a:p>
        </p:txBody>
      </p:sp>
      <p:sp>
        <p:nvSpPr>
          <p:cNvPr id="4" name="Text 1"/>
          <p:cNvSpPr txBox="1"/>
          <p:nvPr/>
        </p:nvSpPr>
        <p:spPr>
          <a:xfrm>
            <a:off x="640080" y="1280160"/>
            <a:ext cx="10911535" cy="4937760"/>
          </a:xfrm>
          <a:prstGeom prst="rect">
            <a:avLst/>
          </a:prstGeom>
          <a:noFill/>
          <a:ln/>
        </p:spPr>
        <p:txBody>
          <a:bodyPr wrap="square" lIns="0" tIns="0" rIns="0" bIns="0" rtlCol="0" anchor="t"/>
          <a:lstStyle/>
          <a:p>
            <a:pPr marL="304800" indent="-304800" algn="l">
              <a:spcAft>
                <a:spcPts val="1000"/>
              </a:spcAft>
              <a:buSzPct val="100000"/>
              <a:buChar char="•"/>
            </a:pPr>
            <a:r>
              <a:rPr lang="en-US" sz="2200" b="1" dirty="0">
                <a:solidFill>
                  <a:srgbClr val="262626"/>
                </a:solidFill>
                <a:latin typeface="Calibri" pitchFamily="34" charset="0"/>
                <a:ea typeface="Calibri" pitchFamily="34" charset="-122"/>
                <a:cs typeface="Calibri" pitchFamily="34" charset="-120"/>
              </a:rPr>
              <a:t>3.1–3.3:</a:t>
            </a:r>
            <a:r>
              <a:rPr lang="en-US" sz="2200" dirty="0">
                <a:solidFill>
                  <a:srgbClr val="262626"/>
                </a:solidFill>
                <a:latin typeface="Calibri" pitchFamily="34" charset="0"/>
                <a:ea typeface="Calibri" pitchFamily="34" charset="-122"/>
                <a:cs typeface="Calibri" pitchFamily="34" charset="-120"/>
              </a:rPr>
              <a:t> RTL appears in datapath documents and in Verilog and VHDL; every register load uses a load-enable; CPU and system buses share wires with MUXes or three-state buffers</a:t>
            </a:r>
            <a:endParaRPr lang="en-US" sz="2200" dirty="0"/>
          </a:p>
          <a:p>
            <a:pPr marL="304800" indent="-304800" algn="l">
              <a:spcAft>
                <a:spcPts val="1000"/>
              </a:spcAft>
              <a:buSzPct val="100000"/>
              <a:buChar char="•"/>
            </a:pPr>
            <a:r>
              <a:rPr lang="en-US" sz="2200" b="1" dirty="0">
                <a:solidFill>
                  <a:srgbClr val="262626"/>
                </a:solidFill>
                <a:latin typeface="Calibri" pitchFamily="34" charset="0"/>
                <a:ea typeface="Calibri" pitchFamily="34" charset="-122"/>
                <a:cs typeface="Calibri" pitchFamily="34" charset="-120"/>
              </a:rPr>
              <a:t>3.4–3.7:</a:t>
            </a:r>
            <a:r>
              <a:rPr lang="en-US" sz="2200" dirty="0">
                <a:solidFill>
                  <a:srgbClr val="262626"/>
                </a:solidFill>
                <a:latin typeface="Calibri" pitchFamily="34" charset="0"/>
                <a:ea typeface="Calibri" pitchFamily="34" charset="-122"/>
                <a:cs typeface="Calibri" pitchFamily="34" charset="-120"/>
              </a:rPr>
              <a:t> add, subtract and compare go through one adder; PC ← PC + 1 is an increment; masks extract and set bit fields; shifts multiply, divide and mix bits; ALUs such as the 74181 select among all of these</a:t>
            </a:r>
            <a:endParaRPr lang="en-US" sz="2200" dirty="0"/>
          </a:p>
          <a:p>
            <a:pPr marL="304800" indent="-304800" algn="l">
              <a:spcAft>
                <a:spcPts val="1000"/>
              </a:spcAft>
              <a:buSzPct val="100000"/>
              <a:buChar char="•"/>
            </a:pPr>
            <a:r>
              <a:rPr lang="en-US" sz="2200" b="1" dirty="0">
                <a:solidFill>
                  <a:srgbClr val="262626"/>
                </a:solidFill>
                <a:latin typeface="Calibri" pitchFamily="34" charset="0"/>
                <a:ea typeface="Calibri" pitchFamily="34" charset="-122"/>
                <a:cs typeface="Calibri" pitchFamily="34" charset="-120"/>
              </a:rPr>
              <a:t>3.8–3.10:</a:t>
            </a:r>
            <a:r>
              <a:rPr lang="en-US" sz="2200" dirty="0">
                <a:solidFill>
                  <a:srgbClr val="262626"/>
                </a:solidFill>
                <a:latin typeface="Calibri" pitchFamily="34" charset="0"/>
                <a:ea typeface="Calibri" pitchFamily="34" charset="-122"/>
                <a:cs typeface="Calibri" pitchFamily="34" charset="-120"/>
              </a:rPr>
              <a:t> real instruction sets use a fixed opcode field; indirect addressing is the ancestor of pointers; BSA is the ancestor of CALL</a:t>
            </a:r>
            <a:endParaRPr lang="en-US" sz="2200" dirty="0"/>
          </a:p>
          <a:p>
            <a:pPr marL="304800" indent="-304800" algn="l">
              <a:spcAft>
                <a:spcPts val="1000"/>
              </a:spcAft>
              <a:buSzPct val="100000"/>
              <a:buChar char="•"/>
            </a:pPr>
            <a:r>
              <a:rPr lang="en-US" sz="2200" b="1" dirty="0">
                <a:solidFill>
                  <a:srgbClr val="262626"/>
                </a:solidFill>
                <a:latin typeface="Calibri" pitchFamily="34" charset="0"/>
                <a:ea typeface="Calibri" pitchFamily="34" charset="-122"/>
                <a:cs typeface="Calibri" pitchFamily="34" charset="-120"/>
              </a:rPr>
              <a:t>3.11–3.12:</a:t>
            </a:r>
            <a:r>
              <a:rPr lang="en-US" sz="2200" dirty="0">
                <a:solidFill>
                  <a:srgbClr val="262626"/>
                </a:solidFill>
                <a:latin typeface="Calibri" pitchFamily="34" charset="0"/>
                <a:ea typeface="Calibri" pitchFamily="34" charset="-122"/>
                <a:cs typeface="Calibri" pitchFamily="34" charset="-120"/>
              </a:rPr>
              <a:t> hardwired control (counter, decoder, AND gates); fetch, decode, execute is the baseline that pipelining overlaps</a:t>
            </a:r>
            <a:endParaRPr lang="en-US" sz="2200" dirty="0"/>
          </a:p>
          <a:p>
            <a:pPr marL="304800" indent="-304800" algn="l">
              <a:spcAft>
                <a:spcPts val="1000"/>
              </a:spcAft>
              <a:buSzPct val="100000"/>
              <a:buChar char="•"/>
            </a:pPr>
            <a:r>
              <a:rPr lang="en-US" sz="2200" b="1" dirty="0">
                <a:solidFill>
                  <a:srgbClr val="262626"/>
                </a:solidFill>
                <a:latin typeface="Calibri" pitchFamily="34" charset="0"/>
                <a:ea typeface="Calibri" pitchFamily="34" charset="-122"/>
                <a:cs typeface="Calibri" pitchFamily="34" charset="-120"/>
              </a:rPr>
              <a:t>3.13–3.14:</a:t>
            </a:r>
            <a:r>
              <a:rPr lang="en-US" sz="2200" dirty="0">
                <a:solidFill>
                  <a:srgbClr val="262626"/>
                </a:solidFill>
                <a:latin typeface="Calibri" pitchFamily="34" charset="0"/>
                <a:ea typeface="Calibri" pitchFamily="34" charset="-122"/>
                <a:cs typeface="Calibri" pitchFamily="34" charset="-120"/>
              </a:rPr>
              <a:t> DR staging and ISZ loop counters; interrupt vector tables and device ready flags</a:t>
            </a:r>
            <a:endParaRPr lang="en-US" sz="22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546E7A"/>
                </a:solidFill>
                <a:latin typeface="Calibri"/>
                <a:ea typeface="Calibri"/>
                <a:cs typeface="Calibri"/>
              </a:defRPr>
            </a:lvl1pPr>
          </a:lstStyle>
          <a:p>
            <a:pPr algn="r"/>
            <a:fld id="{F7021451-1387-4CA6-816F-3879F97B5CBC}" type="slidenum">
              <a:rPr lang="en-US" b="0"/>
              <a:t>98</a:t>
            </a:fld>
            <a:endParaRPr lang="en-US"/>
          </a:p>
        </p:txBody>
      </p:sp>
    </p:spTree>
  </p:cSld>
  <p:clrMapOvr>
    <a:masterClrMapping/>
  </p:clrMapOvr>
</p:sld>
</file>

<file path=ppt/theme/theme1.xml><?xml version="1.0" encoding="utf-8"?>
<a:theme xmlns:a="http://schemas.openxmlformats.org/drawingml/2006/main" name="Chandras Edu">
  <a:themeElements>
    <a:clrScheme name="Chandras Edu">
      <a:dk1>
        <a:srgbClr val="262626"/>
      </a:dk1>
      <a:lt1>
        <a:srgbClr val="FFFFFF"/>
      </a:lt1>
      <a:dk2>
        <a:srgbClr val="1565C0"/>
      </a:dk2>
      <a:lt2>
        <a:srgbClr val="F5F8FC"/>
      </a:lt2>
      <a:accent1>
        <a:srgbClr val="1565C0"/>
      </a:accent1>
      <a:accent2>
        <a:srgbClr val="FF8F00"/>
      </a:accent2>
      <a:accent3>
        <a:srgbClr val="546E7A"/>
      </a:accent3>
      <a:accent4>
        <a:srgbClr val="90CAF9"/>
      </a:accent4>
      <a:accent5>
        <a:srgbClr val="FFE0B2"/>
      </a:accent5>
      <a:accent6>
        <a:srgbClr val="2E7D32"/>
      </a:accent6>
      <a:hlink>
        <a:srgbClr val="1565C0"/>
      </a:hlink>
      <a:folHlink>
        <a:srgbClr val="546E7A"/>
      </a:folHlink>
    </a:clrScheme>
    <a:fontScheme name="Chandras Edu">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8679</Words>
  <Application>Microsoft Office PowerPoint</Application>
  <PresentationFormat>Widescreen</PresentationFormat>
  <Paragraphs>1306</Paragraphs>
  <Slides>98</Slides>
  <Notes>98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98</vt:i4>
      </vt:variant>
    </vt:vector>
  </HeadingPairs>
  <TitlesOfParts>
    <vt:vector size="102" baseType="lpstr">
      <vt:lpstr>Arial</vt:lpstr>
      <vt:lpstr>Calibri</vt:lpstr>
      <vt:lpstr>Courier New</vt:lpstr>
      <vt:lpstr>Chandras Edu</vt:lpstr>
      <vt:lpstr>Unit 3: Register Transfer, Micro-operations and Basic Computer Design</vt:lpstr>
      <vt:lpstr>Agenda</vt:lpstr>
      <vt:lpstr>3.1  Register Transfer Language</vt:lpstr>
      <vt:lpstr>What RTL is</vt:lpstr>
      <vt:lpstr>Register block diagram</vt:lpstr>
      <vt:lpstr>The transfer statement</vt:lpstr>
      <vt:lpstr>Control conditions and simultaneous transfers</vt:lpstr>
      <vt:lpstr>RTL symbols</vt:lpstr>
      <vt:lpstr>3.2  Register Transfer</vt:lpstr>
      <vt:lpstr>What the hardware needs</vt:lpstr>
      <vt:lpstr>Transfer from R1 to R2</vt:lpstr>
      <vt:lpstr>Why not just gate the clock?</vt:lpstr>
      <vt:lpstr>Timing</vt:lpstr>
      <vt:lpstr>3.3  Bus &amp; Memory Transfers</vt:lpstr>
      <vt:lpstr>The wiring problem</vt:lpstr>
      <vt:lpstr>Bus system for four registers</vt:lpstr>
      <vt:lpstr>Using the bus</vt:lpstr>
      <vt:lpstr>The three-state alternative</vt:lpstr>
      <vt:lpstr>Memory transfers</vt:lpstr>
      <vt:lpstr>Memory with AR and DR</vt:lpstr>
      <vt:lpstr>Memory RTL</vt:lpstr>
      <vt:lpstr>3.4  Arithmetic Micro-operations</vt:lpstr>
      <vt:lpstr>What is a micro-operation?</vt:lpstr>
      <vt:lpstr>Basic arithmetic micro-operations</vt:lpstr>
      <vt:lpstr>One circuit, four operations</vt:lpstr>
      <vt:lpstr>n-bit adder-subtractor</vt:lpstr>
      <vt:lpstr>4-bit binary incrementer</vt:lpstr>
      <vt:lpstr>4-bit arithmetic circuit</vt:lpstr>
      <vt:lpstr>Arithmetic circuit function table</vt:lpstr>
      <vt:lpstr>Overflow detection</vt:lpstr>
      <vt:lpstr>Worked example: overflow</vt:lpstr>
      <vt:lpstr>3.5  Logic Micro-operations</vt:lpstr>
      <vt:lpstr>Logic versus arithmetic</vt:lpstr>
      <vt:lpstr>The four basic logic micro-operations</vt:lpstr>
      <vt:lpstr>Hardware: one stage</vt:lpstr>
      <vt:lpstr>One stage of the logic circuit</vt:lpstr>
      <vt:lpstr>Selective bit manipulation with a mask</vt:lpstr>
      <vt:lpstr>Worked example: A = 1010 1100, B = 0000 1111</vt:lpstr>
      <vt:lpstr>Insert, and a free clear</vt:lpstr>
      <vt:lpstr>3.6  Shift Micro-operations</vt:lpstr>
      <vt:lpstr>Three kinds of shift</vt:lpstr>
      <vt:lpstr>Logical shift right (shr)</vt:lpstr>
      <vt:lpstr>Circular shift right (cir)</vt:lpstr>
      <vt:lpstr>Arithmetic shift</vt:lpstr>
      <vt:lpstr>A combinational shifter</vt:lpstr>
      <vt:lpstr>4-bit combinational shifter</vt:lpstr>
      <vt:lpstr>3.7  Arithmetic Logic Shift Unit</vt:lpstr>
      <vt:lpstr>The structure</vt:lpstr>
      <vt:lpstr>One stage of the ALU</vt:lpstr>
      <vt:lpstr>The select code</vt:lpstr>
      <vt:lpstr>ALU function table: arithmetic</vt:lpstr>
      <vt:lpstr>ALU function table: logic and shift</vt:lpstr>
      <vt:lpstr>3.8  Instruction Codes</vt:lpstr>
      <vt:lpstr>The Basic Computer</vt:lpstr>
      <vt:lpstr>The 16-bit instruction word</vt:lpstr>
      <vt:lpstr>Direct and indirect address</vt:lpstr>
      <vt:lpstr>Direct versus indirect addressing</vt:lpstr>
      <vt:lpstr>Recognising the instruction category</vt:lpstr>
      <vt:lpstr>3.9  Computer Registers</vt:lpstr>
      <vt:lpstr>The register set</vt:lpstr>
      <vt:lpstr>Control flip-flops</vt:lpstr>
      <vt:lpstr>Registers on one common bus</vt:lpstr>
      <vt:lpstr>3.10  Computer Instructions</vt:lpstr>
      <vt:lpstr>How opcode 111 splits in two</vt:lpstr>
      <vt:lpstr>Basic computer instruction formats</vt:lpstr>
      <vt:lpstr>Memory-reference instructions (7)</vt:lpstr>
      <vt:lpstr>Register-reference instructions (12)</vt:lpstr>
      <vt:lpstr>Input-output instructions (6)</vt:lpstr>
      <vt:lpstr>3.11  Timing and Control</vt:lpstr>
      <vt:lpstr>Hardwired control</vt:lpstr>
      <vt:lpstr>Generating timing signals</vt:lpstr>
      <vt:lpstr>Control unit of the Basic Computer</vt:lpstr>
      <vt:lpstr>Forming a control statement</vt:lpstr>
      <vt:lpstr>Example: LDA (D₂)</vt:lpstr>
      <vt:lpstr>Example of control timing signals</vt:lpstr>
      <vt:lpstr>3.12  Instruction Cycle</vt:lpstr>
      <vt:lpstr>One repeating loop</vt:lpstr>
      <vt:lpstr>Fetch and decode: T₀, T₁, T₂</vt:lpstr>
      <vt:lpstr>Instruction cycle flowchart</vt:lpstr>
      <vt:lpstr>After decoding at T₂</vt:lpstr>
      <vt:lpstr>3.13  Memory Reference Instructions</vt:lpstr>
      <vt:lpstr>Where execution starts</vt:lpstr>
      <vt:lpstr>Memory-reference RTL (1 of 2)</vt:lpstr>
      <vt:lpstr>Memory-reference RTL (2 of 2)</vt:lpstr>
      <vt:lpstr>Memory-reference flowchart</vt:lpstr>
      <vt:lpstr>Why DR shows up so often</vt:lpstr>
      <vt:lpstr>Two instructions worth slowing down on</vt:lpstr>
      <vt:lpstr>BSA instruction example</vt:lpstr>
      <vt:lpstr>3.14  Input-Output and Interrupt</vt:lpstr>
      <vt:lpstr>The I/O model</vt:lpstr>
      <vt:lpstr>Input-output configuration</vt:lpstr>
      <vt:lpstr>RTL for the I/O instructions</vt:lpstr>
      <vt:lpstr>From polling to interrupts</vt:lpstr>
      <vt:lpstr>Interrupt cycle flowchart</vt:lpstr>
      <vt:lpstr>When the interrupt is granted</vt:lpstr>
      <vt:lpstr>Demonstration of the interrupt cycle</vt:lpstr>
      <vt:lpstr>Unit 3 summary</vt:lpstr>
      <vt:lpstr>Unit 3: key applications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COA Unit 3</dc:title>
  <dc:subject>PptxGenJS Presentation</dc:subject>
  <dc:creator>CHANDRAS EDU</dc:creator>
  <cp:lastModifiedBy>Chandra Shaker Arrabotu</cp:lastModifiedBy>
  <cp:revision>1</cp:revision>
  <dcterms:created xsi:type="dcterms:W3CDTF">2026-10-23T17:45:32Z</dcterms:created>
  <dcterms:modified xsi:type="dcterms:W3CDTF">2026-10-23T18:13:47Z</dcterms:modified>
</cp:coreProperties>
</file>