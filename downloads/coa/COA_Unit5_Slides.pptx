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e62de7a-78c8-bcf0-f21b-aed2f92bb55b}">
          <p14:sldIdLst>
            <p14:sldId id="257"/>
          </p14:sldIdLst>
        </p14:section>
        <p14:section name="5.1 Input-Output Interface" id="{e6f197d0-74e2-5512-a19d-5f991467d071}">
          <p14:sldIdLst>
            <p14:sldId id="258"/>
            <p14:sldId id="259"/>
            <p14:sldId id="260"/>
            <p14:sldId id="261"/>
            <p14:sldId id="262"/>
            <p14:sldId id="263"/>
            <p14:sldId id="264"/>
          </p14:sldIdLst>
        </p14:section>
        <p14:section name="5.2 Modes of Transfer" id="{0e645385-84fe-0932-e06b-9363c9d71cbe}">
          <p14:sldIdLst>
            <p14:sldId id="265"/>
            <p14:sldId id="266"/>
            <p14:sldId id="267"/>
            <p14:sldId id="268"/>
            <p14:sldId id="269"/>
            <p14:sldId id="270"/>
            <p14:sldId id="271"/>
          </p14:sldIdLst>
        </p14:section>
        <p14:section name="5.3 Priority Interrupt" id="{b3e2f834-560b-8fcd-0346-d538ef20fed9}">
          <p14:sldIdLst>
            <p14:sldId id="272"/>
            <p14:sldId id="273"/>
            <p14:sldId id="274"/>
            <p14:sldId id="275"/>
            <p14:sldId id="276"/>
            <p14:sldId id="277"/>
            <p14:sldId id="278"/>
          </p14:sldIdLst>
        </p14:section>
        <p14:section name="5.4 Direct Memory Access" id="{8ab178fd-827c-e993-9290-79222bb81571}">
          <p14:sldIdLst>
            <p14:sldId id="279"/>
            <p14:sldId id="280"/>
            <p14:sldId id="281"/>
            <p14:sldId id="282"/>
            <p14:sldId id="283"/>
            <p14:sldId id="284"/>
            <p14:sldId id="285"/>
            <p14:sldId id="286"/>
            <p14:sldId id="287"/>
            <p14:sldId id="288"/>
          </p14:sldIdLst>
        </p14:section>
        <p14:section name="5.5 Memory Hierarchy" id="{4405b285-0fba-874d-986e-88bbf64c08a8}">
          <p14:sldIdLst>
            <p14:sldId id="289"/>
            <p14:sldId id="290"/>
            <p14:sldId id="291"/>
            <p14:sldId id="292"/>
            <p14:sldId id="293"/>
            <p14:sldId id="294"/>
            <p14:sldId id="295"/>
          </p14:sldIdLst>
        </p14:section>
        <p14:section name="5.6 Main Memory" id="{efa7f798-91a4-26c5-20be-1b6bf6f1a292}">
          <p14:sldIdLst>
            <p14:sldId id="296"/>
            <p14:sldId id="297"/>
            <p14:sldId id="298"/>
            <p14:sldId id="299"/>
            <p14:sldId id="300"/>
            <p14:sldId id="301"/>
            <p14:sldId id="302"/>
          </p14:sldIdLst>
        </p14:section>
        <p14:section name="5.7 Auxiliary Memory" id="{f2a68651-387c-519e-eb5e-1e8aacc0d8b8}">
          <p14:sldIdLst>
            <p14:sldId id="303"/>
            <p14:sldId id="304"/>
            <p14:sldId id="305"/>
            <p14:sldId id="306"/>
            <p14:sldId id="307"/>
            <p14:sldId id="308"/>
          </p14:sldIdLst>
        </p14:section>
        <p14:section name="5.8 Associative Memory" id="{c6ba7eb6-d6f1-d431-19ad-ce2f488ce69a}">
          <p14:sldIdLst>
            <p14:sldId id="309"/>
            <p14:sldId id="310"/>
            <p14:sldId id="311"/>
            <p14:sldId id="312"/>
            <p14:sldId id="313"/>
            <p14:sldId id="314"/>
            <p14:sldId id="315"/>
          </p14:sldIdLst>
        </p14:section>
        <p14:section name="5.9 Cache Memory" id="{212314c1-9733-3ca1-3dfd-d22cb35ac0d3}">
          <p14:sldIdLst>
            <p14:sldId id="316"/>
            <p14:sldId id="317"/>
            <p14:sldId id="318"/>
            <p14:sldId id="319"/>
            <p14:sldId id="320"/>
            <p14:sldId id="321"/>
            <p14:sldId id="322"/>
            <p14:sldId id="323"/>
            <p14:sldId id="324"/>
            <p14:sldId id="325"/>
            <p14:sldId id="326"/>
            <p14:sldId id="327"/>
            <p14:sldId id="328"/>
            <p14:sldId id="329"/>
          </p14:sldIdLst>
        </p14:section>
        <p14:section name="Unit summary" id="{1893e194-c61c-2c36-203f-1226e3683f56}">
          <p14:sldIdLst>
            <p14:sldId id="330"/>
          </p14:sldIdLst>
        </p14:section>
        <p14:section name="Unit summary (cont.)" id="{84103015-0e36-4ff7-2e34-9bd6d04bfe4e}">
          <p14:sldIdLst>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Unit 5. We first study how the CPU communicates with peripherals: the I/O interface, modes of transfer, priority interrupts and DMA. Then we study memory organisation: hierarchy, main, auxiliary, associative and cache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topics. The first four are about input-output organization, and the last five are about memory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5 starts with how the CPU talks to the outside world. Read the box aloud and ask what could go wrong if a fast CPU were wired directly to a slow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differences one by one. The interface unit is the hardware that resolves all four so the CPU does not need to know device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selects an interface and sends a function code on the control lines. The function code names one of the four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shared data, address and control lines, and how each interface sits between the bus and its device. Only the interface whose address appears on the bus responds.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ways of giving addresses to interface registers. Ask students which one needs special I/O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chip has two data registers (Port A and Port B), a control register and a status register, all reached through the bidirectional data bus. The CPU picks a register with chip select CS, register selects RS₁ and RS₀, and the read or write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row by row. When CS = 0 no register is selected and the chip leaves the data bus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an interface exists, the CPU must decide how to coordinate data movement. Each of the three modes trades simplicity against CPU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overview shows all three modes side by side. Programmed I/O is simplest but ties up the CPU, interrupt-initiated I/O frees the CPU between transfers, and DMA is fastest but needs a DMA controller. Programmed I/O: the CPU polls the flag and waits. Interrupt-initiated I/O: the device interrupts when it is ready. DMA: a controller moves a whole block. CPU effort falls from the first mode to the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polling loop. Work out the efficiency example on the board: the CPU checks the flag 10,000 times to get one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read the status, test the flag, repeat while F = 0, then read the data and store it. The boxes follow the program steps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is free between transfers. Ask how the CPU finds out which device interrupted in each of the two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 delegates the entire block transfer. The CPU only sets up the transfer and is interrupted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summarise the topic. Efficiency rises, and hardware needs rise, from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device can interrupt at any time, even at the same moment. This topic shows how the system decides who goes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software polling the order of testing is the priority, so priority can be changed just by editing the program. The cost is time, since every device above the winner must be tested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INTACK signal down the chain on the board. Stress that priority is decided by physical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INTACK from the CPU through PI and PO of each device. Each stage has a request flip-flop RF that is set by the device’s interrupt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rows are the whole logic of one stage. With PI = 1 and RF = 1 the device blocks INTACK and places its VAD on the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parallel method for four devices: disk, printer, reader, keyboard, with priority 0 to 3. Each device has its own wire to the central controller, which makes priority resolution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mask register lets software switch individual sources on or off without changing any hardware. IEN switches all of them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 removes the CPU from the data path for block transfers. Keep the three registers AR, WC and control/status in mind throughout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initialises all three registers, issues a start command and returns to its own program. The controller takes over from there, and the CPU is interrupted only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sits between the memory bus and the I/O bus. The CPU selects it with the DMA select DS and register select RS inputs, like any interface. It talks to the device through two lines: DMA request (device is ready) and DMA acknowledge (controller is transferring).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 and BG form the handshake that hands the bus from CPU to DMA and back. High impedance means the CPU disconnects from the bus electrically.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BR going active, BG answering, and the CPU bus lines going to high impedance while the DMA controller drives them. The CPU resumes when the controller releases the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is held off the bus only for the stolen cycle. Between steals it continues executing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stolen bus cycle moves exactly one word. Between the stolen cycles the CPU uses the bus as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trace the five steps for a block of three words. WC reaches zero after the third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a whole transfer. First the CPU writes the start address to AR, the word count to WC and the direction to the control register, then issues the start command. The CPU continues with its own program while the DMA transfers one stolen cycle per word: BR, BG, transfer, increment AR, decrement WC, release the bus. When WC = 0 the controller asserts an interrupt, and the CPU checks the status register and handles any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DMA needs the CPU only at the start and at the end. That is why it is essential for disk and network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memory type gives unlimited size, zero delay and zero cost. The hierarchy mixes several types to get a good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for the hierarchy is economics. Ask why we do not simply build everything from the fastest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figure from the slowest, cheapest, largest level at the bottom to the fastest, costliest, smallest level at the top. The I/O processor links auxiliary memory to main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from bottom to top. Each level holds a copy of what is currently needed from the level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columns: access time grows, cost per bit falls and capacity grows as we go down the hierarchy. This is why only a small amount of the fastest memory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ratios explain why a cache pays off. Cache mapping is covered in detail in the last topic of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Multiprogramming maximises throughput. While one program waits for the disk, another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memory talks directly to the CPU. It is made of semiconductor chips, mainly RAM and 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SRAM is simple and fast; DRAM is denser but needs refresh circuitry. Both lose their data when power is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would happen at power-on if all of main memory were RAM. Nothing would be there to start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on the next slide shows both chips. Notice the select inputs and the three-state buffers.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typical RAM chip with CS₁, CS₂′, RD, WR and the address input. Right: a ROM chip, which has no WR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designer gives each chip its own address range. No two ranges overlap, so every address selects exactly one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chips share the same bidirectional 8-bit data bus. Three-state buffers make sure only the selected chip drives the bus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Auxiliary memory trades speed for capacity and low cost. The CPU does not address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time for a mechanical device has two parts. Because seeking dominates, we move data in blocks rather than byte by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disk is a circular plate coated with magnetic material. Data is stored as magnetic spots along concentric tracks, and each track is divided into sectors. After the head seeks to the right track, the system waits for the correct sector to come under the head (rotational latency) and then transfers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types of disk unit exist. The main difference for students to remember is permanent versus removable.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Tape is sequential: to reach a record you must wind to it. The gaps give the tape room to stop and reach full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 is used for online active data and tape for archival backup and offline storage. Seek time and winding time explain the access-time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tasks need a table search. Ordinary RAM searches one word at a time, associative memory searches all words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the memory is addressed by content, not by address. Every cell has its own comparison logic, which is why it costs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parts: argument register A, key register K, the memory array and the match register M. The match register has one bit per stored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has m words of n cells each. Cell Cᵢⱼ stores bit j of word i. Each row of cells produces one bit Mᵢ of the match register, and all n cells in a row contribute to a single AND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 logic compares the argument bit with the stored bit only when its key bit is 1. The product of all terms gives the match bit for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register hides the six rightmost bits, so only the first three bits decide the match. Word 2 matches and Word 1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follows a search. Write can either use ordinary addressing or find a free slot using the tag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Cache is a small, fast memory between the CPU and main memory that cuts the average access time. It works because of locality of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habits of programs are why a small cache catches most requests. The block of adjacent words prepares for the next accesses.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 weights the hit time and the miss time by how often each happens. The next slide works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 three steps on the board. Then ask what happens to the average time if the hit ratio drops to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hit the word comes from the cache. On a miss it is fetched from main memory. The figure also shows the hit ratio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associative cache is built from an associative memory, as in the previous topic. The next slide shows it with octal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Associative mapping cache with all numbers in octal. The address is stored together with the data, and the CPU address is compared with every stored address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mapping is the simplest and fastest. Its weakness is that blocks with the same index compete for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index to one cache line, then compare the stored tag with the tag of the CPU address. A hit needs just this one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Set-associative mapping gives direct mapping a second chance when two blocks share an index. The two-way example doubles the storage per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index holds two tag–data pairs, so two words with the same index can stay in the cache together. This reduces conflict misses compared with direct mapping.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compare the three methods on lookup, conflict misses and cost. Direct mapping is cheapest and associative is costliest.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Replacement only matters for set-associative and associative caches. In direct mapping there is only one place a block can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Write-through is simple and consistent. Write-back saves bus traffic but needs the dirty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input-output half of the unit. Ask students to explain in one sentence why DMA is needed for disks.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memory half of the unit and finish with where these ideas are used. Leave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565C0"/>
          </a:solidFill>
          <a:ln/>
        </p:spPr>
      </p:sp>
      <p:sp>
        <p:nvSpPr>
          <p:cNvPr id="3" name="Text 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1200" dirty="0">
                <a:solidFill>
                  <a:srgbClr val="546E7A"/>
                </a:solidFill>
                <a:latin typeface="Calibri" pitchFamily="34" charset="0"/>
                <a:ea typeface="Calibri" pitchFamily="34" charset="-122"/>
                <a:cs typeface="Calibri" pitchFamily="34" charset="-120"/>
              </a:rPr>
              <a:t>CHANDRAS EDU  |  Computer Organization and Architecture  |  Unit 5</a:t>
            </a:r>
            <a:endParaRPr lang="en-US" sz="1200" dirty="0"/>
          </a:p>
        </p:txBody>
      </p:sp>
      <p:sp>
        <p:nvSpPr>
          <p:cNvPr id="4" name="Text 2"/>
          <p:cNvSpPr/>
          <p:nvPr>
            <p:ph idx="102" type="title" hasCustomPrompt="1"/>
          </p:nvPr>
        </p:nvSpPr>
        <p:spPr>
          <a:xfrm>
            <a:off x="548640" y="73152"/>
            <a:ext cx="9326880" cy="768096"/>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565C0"/>
          </a:solidFill>
          <a:ln/>
        </p:spPr>
      </p:sp>
      <p:sp>
        <p:nvSpPr>
          <p:cNvPr id="3" name="Text 1"/>
          <p:cNvSpPr/>
          <p:nvPr>
            <p:ph idx="101" type="title" hasCustomPrompt="1"/>
          </p:nvPr>
        </p:nvSpPr>
        <p:spPr>
          <a:xfrm>
            <a:off x="411480" y="36576"/>
            <a:ext cx="9509760" cy="475488"/>
          </a:xfrm>
          <a:prstGeom prst="rect">
            <a:avLst/>
          </a:prstGeom>
          <a:noFill/>
          <a:ln/>
        </p:spPr>
        <p:txBody>
          <a:bodyPr wrap="square" rtlCol="0"/>
          <a:lstStyle>
            <a:lvl1pPr algn="l" indent="0" marL="0">
              <a:buNone/>
              <a:defRPr lang="en-US" sz="2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p:nvPr>
            <p:ph idx="101" type="title" hasCustomPrompt="1"/>
          </p:nvPr>
        </p:nvSpPr>
        <p:spPr>
          <a:xfrm>
            <a:off x="2651760" y="2286000"/>
            <a:ext cx="8961120" cy="137160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4" name="Text 1"/>
          <p:cNvSpPr/>
          <p:nvPr>
            <p:ph idx="102" type="body" hasCustomPrompt="1"/>
          </p:nvPr>
        </p:nvSpPr>
        <p:spPr>
          <a:xfrm>
            <a:off x="2651760" y="3657600"/>
            <a:ext cx="8961120" cy="822960"/>
          </a:xfrm>
          <a:prstGeom prst="rect">
            <a:avLst/>
          </a:prstGeom>
          <a:noFill/>
          <a:ln/>
        </p:spPr>
        <p:txBody>
          <a:bodyPr wrap="square" rtlCol="0"/>
          <a:lstStyle>
            <a:lvl1pPr algn="l" indent="0" marL="0">
              <a:buNone/>
              <a:defRPr lang="en-US" sz="2400" dirty="0">
                <a:solidFill>
                  <a:srgbClr val="FFFFFF"/>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2651760" y="2286000"/>
            <a:ext cx="8961120" cy="13716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Unit 5: Input-Output and Memory Organization</a:t>
            </a:r>
            <a:endParaRPr lang="en-US" sz="4000" dirty="0"/>
          </a:p>
        </p:txBody>
      </p:sp>
      <p:sp>
        <p:nvSpPr>
          <p:cNvPr id="3" name="Text 1"/>
          <p:cNvSpPr/>
          <p:nvPr>
            <p:ph idx="102" type="body" hasCustomPrompt="1"/>
          </p:nvPr>
        </p:nvSpPr>
        <p:spPr>
          <a:xfrm>
            <a:off x="2651760" y="3657600"/>
            <a:ext cx="8961120" cy="822960"/>
          </a:xfrm>
          <a:prstGeom prst="rect">
            <a:avLst/>
          </a:prstGeom>
          <a:noFill/>
          <a:ln/>
        </p:spPr>
        <p:txBody>
          <a:bodyPr wrap="square" lIns="0" tIns="0" rIns="0" bIns="0" rtlCol="0" anchor="t"/>
          <a:lstStyle/>
          <a:p>
            <a:pPr algn="l" indent="0" marL="0">
              <a:buNone/>
            </a:pPr>
            <a:r>
              <a:rPr lang="en-US" sz="2400" dirty="0">
                <a:solidFill>
                  <a:srgbClr val="FFFFFF"/>
                </a:solidFill>
                <a:latin typeface="Calibri" pitchFamily="34" charset="0"/>
                <a:ea typeface="Calibri" pitchFamily="34" charset="-122"/>
                <a:cs typeface="Calibri" pitchFamily="34" charset="-120"/>
              </a:rPr>
              <a:t>Computer Organization and Architecture</a:t>
            </a:r>
            <a:endParaRPr lang="en-US" sz="2400" dirty="0"/>
          </a:p>
        </p:txBody>
      </p:sp>
      <p:sp>
        <p:nvSpPr>
          <p:cNvPr id="4" name="Text 2"/>
          <p:cNvSpPr txBox="1"/>
          <p:nvPr/>
        </p:nvSpPr>
        <p:spPr>
          <a:xfrm>
            <a:off x="2651760" y="5120640"/>
            <a:ext cx="5486400" cy="457200"/>
          </a:xfrm>
          <a:prstGeom prst="rect">
            <a:avLst/>
          </a:prstGeom>
          <a:noFill/>
          <a:ln/>
        </p:spPr>
        <p:txBody>
          <a:bodyPr wrap="square" lIns="0" tIns="0" rIns="0" bIns="0" rtlCol="0" anchor="ctr"/>
          <a:lstStyle/>
          <a:p>
            <a:pPr indent="0" marL="0">
              <a:buNone/>
            </a:pPr>
            <a:r>
              <a:rPr lang="en-US" sz="2400" b="1" dirty="0">
                <a:solidFill>
                  <a:srgbClr val="1565C0"/>
                </a:solidFill>
                <a:latin typeface="Calibri" pitchFamily="34" charset="0"/>
                <a:ea typeface="Calibri" pitchFamily="34" charset="-122"/>
                <a:cs typeface="Calibri" pitchFamily="34" charset="-120"/>
              </a:rPr>
              <a:t>CHANDRAS EDU</a:t>
            </a:r>
            <a:endParaRPr lang="en-US" sz="2400" dirty="0"/>
          </a:p>
        </p:txBody>
      </p:sp>
      <p:sp>
        <p:nvSpPr>
          <p:cNvPr id="5" name="Text 3"/>
          <p:cNvSpPr txBox="1"/>
          <p:nvPr/>
        </p:nvSpPr>
        <p:spPr>
          <a:xfrm>
            <a:off x="2651760" y="5577840"/>
            <a:ext cx="5486400" cy="365760"/>
          </a:xfrm>
          <a:prstGeom prst="rect">
            <a:avLst/>
          </a:prstGeom>
          <a:noFill/>
          <a:ln/>
        </p:spPr>
        <p:txBody>
          <a:bodyPr wrap="square" lIns="0" tIns="0" rIns="0" bIns="0" rtlCol="0" anchor="ctr"/>
          <a:lstStyle/>
          <a:p>
            <a:pPr indent="0" marL="0">
              <a:buNone/>
            </a:pPr>
            <a:r>
              <a:rPr lang="en-US" sz="1800" dirty="0">
                <a:solidFill>
                  <a:srgbClr val="546E7A"/>
                </a:solidFill>
                <a:latin typeface="Calibri" pitchFamily="34" charset="0"/>
                <a:ea typeface="Calibri" pitchFamily="34" charset="-122"/>
                <a:cs typeface="Calibri" pitchFamily="34" charset="-120"/>
              </a:rPr>
              <a:t>Never stop learning</a:t>
            </a:r>
            <a:endParaRPr lang="en-US" sz="1800" dirty="0"/>
          </a:p>
        </p:txBody>
      </p:sp>
      <p:sp>
        <p:nvSpPr>
          <p:cNvPr id="6" name="Shape 4"/>
          <p:cNvSpPr/>
          <p:nvPr/>
        </p:nvSpPr>
        <p:spPr>
          <a:xfrm>
            <a:off x="731520" y="2697480"/>
            <a:ext cx="1463040" cy="1463040"/>
          </a:xfrm>
          <a:prstGeom prst="roundRect">
            <a:avLst>
              <a:gd name="adj" fmla="val 7500"/>
            </a:avLst>
          </a:prstGeom>
          <a:solidFill>
            <a:srgbClr val="FF8F00"/>
          </a:solidFill>
          <a:ln w="6350">
            <a:solidFill>
              <a:srgbClr val="FF8F00"/>
            </a:solidFill>
            <a:prstDash val="solid"/>
          </a:ln>
        </p:spPr>
      </p:sp>
      <p:sp>
        <p:nvSpPr>
          <p:cNvPr id="7" name="Text 5"/>
          <p:cNvSpPr txBox="1"/>
          <p:nvPr/>
        </p:nvSpPr>
        <p:spPr>
          <a:xfrm>
            <a:off x="731520" y="2697480"/>
            <a:ext cx="1463040" cy="1463040"/>
          </a:xfrm>
          <a:prstGeom prst="rect">
            <a:avLst/>
          </a:prstGeom>
          <a:noFill/>
          <a:ln/>
        </p:spPr>
        <p:txBody>
          <a:bodyPr wrap="square" lIns="0" tIns="0" rIns="0" bIns="0" rtlCol="0" anchor="ctr"/>
          <a:lstStyle/>
          <a:p>
            <a:pPr algn="ctr" indent="0" marL="0">
              <a:buNone/>
            </a:pPr>
            <a:r>
              <a:rPr lang="en-US" sz="6000" b="1" dirty="0">
                <a:solidFill>
                  <a:srgbClr val="1F2937"/>
                </a:solidFill>
                <a:latin typeface="Calibri" pitchFamily="34" charset="0"/>
                <a:ea typeface="Calibri" pitchFamily="34" charset="-122"/>
                <a:cs typeface="Calibri" pitchFamily="34" charset="-120"/>
              </a:rPr>
              <a:t>5</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640080" y="1463040"/>
            <a:ext cx="5486400" cy="4572000"/>
          </a:xfrm>
          <a:prstGeom prst="rect">
            <a:avLst/>
          </a:prstGeom>
          <a:noFill/>
          <a:ln/>
        </p:spPr>
        <p:txBody>
          <a:bodyPr wrap="square" lIns="0" tIns="0" rIns="0" bIns="0" rtlCol="0" anchor="t"/>
          <a:lstStyle/>
          <a:p>
            <a:pPr indent="0" marL="0">
              <a:buNone/>
            </a:pPr>
            <a:r>
              <a:rPr lang="en-US" sz="2400" b="1" dirty="0">
                <a:solidFill>
                  <a:srgbClr val="1565C0"/>
                </a:solidFill>
                <a:latin typeface="Calibri" pitchFamily="34" charset="0"/>
                <a:ea typeface="Calibri" pitchFamily="34" charset="-122"/>
                <a:cs typeface="Calibri" pitchFamily="34" charset="-120"/>
              </a:rPr>
              <a:t>5.1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Input-Output Interface</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5.2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Modes of Transfer</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5.3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Priority Interrupt</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5.4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Direct Memory Access</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5.5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Memory Hierarchy</a:t>
            </a:r>
            <a:endParaRPr lang="en-US" sz="2400" dirty="0"/>
          </a:p>
        </p:txBody>
      </p:sp>
      <p:sp>
        <p:nvSpPr>
          <p:cNvPr id="5" name="Text 2"/>
          <p:cNvSpPr txBox="1"/>
          <p:nvPr/>
        </p:nvSpPr>
        <p:spPr>
          <a:xfrm>
            <a:off x="6309360" y="1463040"/>
            <a:ext cx="5486400" cy="4572000"/>
          </a:xfrm>
          <a:prstGeom prst="rect">
            <a:avLst/>
          </a:prstGeom>
          <a:noFill/>
          <a:ln/>
        </p:spPr>
        <p:txBody>
          <a:bodyPr wrap="square" lIns="0" tIns="0" rIns="0" bIns="0" rtlCol="0" anchor="t"/>
          <a:lstStyle/>
          <a:p>
            <a:pPr indent="0" marL="0">
              <a:buNone/>
            </a:pPr>
            <a:r>
              <a:rPr lang="en-US" sz="2400" b="1" dirty="0">
                <a:solidFill>
                  <a:srgbClr val="1565C0"/>
                </a:solidFill>
                <a:latin typeface="Calibri" pitchFamily="34" charset="0"/>
                <a:ea typeface="Calibri" pitchFamily="34" charset="-122"/>
                <a:cs typeface="Calibri" pitchFamily="34" charset="-120"/>
              </a:rPr>
              <a:t>5.6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Main Memory</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5.7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Auxiliary Memory</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5.8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Associative Memory</a:t>
            </a:r>
            <a:endParaRPr lang="en-US" sz="2400" dirty="0"/>
          </a:p>
          <a:p>
            <a:pPr indent="0" marL="0">
              <a:buNone/>
            </a:pPr>
            <a:r>
              <a:rPr lang="en-US" sz="2400" b="1" dirty="0">
                <a:solidFill>
                  <a:srgbClr val="1565C0"/>
                </a:solidFill>
                <a:latin typeface="Calibri" pitchFamily="34" charset="0"/>
                <a:ea typeface="Calibri" pitchFamily="34" charset="-122"/>
                <a:cs typeface="Calibri" pitchFamily="34" charset="-120"/>
              </a:rPr>
              <a:t>5.9   </a:t>
            </a:r>
            <a:pPr indent="0" marL="0">
              <a:spcAft>
                <a:spcPts val="1600"/>
              </a:spcAft>
              <a:buNone/>
            </a:pPr>
            <a:r>
              <a:rPr lang="en-US" sz="2400" dirty="0">
                <a:solidFill>
                  <a:srgbClr val="1F2937"/>
                </a:solidFill>
                <a:latin typeface="Calibri" pitchFamily="34" charset="0"/>
                <a:ea typeface="Calibri" pitchFamily="34" charset="-122"/>
                <a:cs typeface="Calibri" pitchFamily="34" charset="-120"/>
              </a:rPr>
              <a:t>Cache Memory</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5.1  Input-Output Interface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An interface is a translator between the fast, electronic CPU and a slower, different peripheral. It holds the data, commands and status in its own registers so the two sides can work at their own speeds.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an interface is needed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Peripherals differ from the CPU in four ways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Signal type: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electromechanical or electromagnetic devices versus a purely electronic CPU</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Speed:</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peripherals are far slower, so synchronisation is needed</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Data codes: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different word lengths or encoding, e.g. 7-bit ASCII in an 8-bit byte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Operating modes: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each peripheral has its own command set</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peripheral gets an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interface unit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between the CPU bus and the device controller</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I/O bus and the four commands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shared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I/O bus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carries data lines, address lines and control lines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Each interface monitors the address lines and activates when its own address appears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Control command: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activates the peripheral and sets its mode (e.g. rewind tape)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Status command: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reads the status register: ready or error?</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Data output command: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CPU data bus → interface buffer register</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Data input command: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interface buffer register → CPU data bus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I/O bus and devices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pic>
        <p:nvPicPr>
          <p:cNvPr id="5" name="Image 0" descr="/home/claude/figs5/5.1_input-output-interface_fig1.png">    </p:cNvPr>
          <p:cNvPicPr>
            <a:picLocks noChangeAspect="1"/>
          </p:cNvPicPr>
          <p:nvPr/>
        </p:nvPicPr>
        <p:blipFill>
          <a:blip r:embed="rId1"/>
          <a:stretch>
            <a:fillRect/>
          </a:stretch>
        </p:blipFill>
        <p:spPr>
          <a:xfrm>
            <a:off x="770382" y="621792"/>
            <a:ext cx="10650931"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Connection of I/O bus to input-output devices. Adapted from M. Morris Mano, Computer System Architecture, Fig. 11-1.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Isolated versus memory-mapped I/O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Isolated I/O:</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separate address spaces for memory and I/O</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Dedicated I/O read and I/O write lines; the CPU uses IN/OUT instructions; addresses cannot clash</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Memory-mapped I/O:</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interface registers occupy part of the memory address space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CPU uses ordinary load and store instructions: more flexible, but less memory address range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Advantage: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all memory-reference instructions (AND, OR, shift, compare…) can work directly on I/O data</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Interface unit registers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pic>
        <p:nvPicPr>
          <p:cNvPr id="5" name="Image 0" descr="/home/claude/figs5/5.1_input-output-interface_fig2.png">    </p:cNvPr>
          <p:cNvPicPr>
            <a:picLocks noChangeAspect="1"/>
          </p:cNvPicPr>
          <p:nvPr/>
        </p:nvPicPr>
        <p:blipFill>
          <a:blip r:embed="rId1"/>
          <a:stretch>
            <a:fillRect/>
          </a:stretch>
        </p:blipFill>
        <p:spPr>
          <a:xfrm>
            <a:off x="1816456" y="621792"/>
            <a:ext cx="8558784"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I/O interface unit registers and bus connections. Adapted from M. Morris Mano, Computer System Architecture, Fig. 11-2.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Register selection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5.1</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280160"/>
                <a:gridCol w="1280160"/>
                <a:gridCol w="1280160"/>
                <a:gridCol w="7223760"/>
              </a:tblGrid>
              <a:tr h="499872">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CS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RS</a:t>
                      </a:r>
                      <a:pPr algn="ctr" indent="0" marL="0">
                        <a:buNone/>
                      </a:pPr>
                      <a:r>
                        <a:rPr lang="en-US" sz="2200" b="1" dirty="0">
                          <a:solidFill>
                            <a:srgbClr val="FFFFFF"/>
                          </a:solidFill>
                          <a:latin typeface="Calibri" pitchFamily="34" charset="0"/>
                          <a:ea typeface="Calibri" pitchFamily="34" charset="-122"/>
                          <a:cs typeface="Calibri" pitchFamily="34" charset="-120"/>
                        </a:rPr>
                        <a:t>₁</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RS</a:t>
                      </a:r>
                      <a:pPr algn="ctr" indent="0" marL="0">
                        <a:buNone/>
                      </a:pPr>
                      <a:r>
                        <a:rPr lang="en-US" sz="2200" b="1" dirty="0">
                          <a:solidFill>
                            <a:srgbClr val="FFFFFF"/>
                          </a:solidFill>
                          <a:latin typeface="Calibri" pitchFamily="34" charset="0"/>
                          <a:ea typeface="Calibri" pitchFamily="34" charset="-122"/>
                          <a:cs typeface="Calibri" pitchFamily="34" charset="-120"/>
                        </a:rPr>
                        <a:t>₀</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Register selected</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18160">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None: data bus in high impedance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Port A register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Port B register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Control register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Status register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Register selection for the interface in the figure on the previous slide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5.2  Modes of Transfer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There are three ways to move I/O data: the CPU keeps checking (programmed I/O), the device taps the CPU on the shoulder when ready (interrupt), or a DMA controller moves whole blocks while the CPU does other work.</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Three modes of I/O data transfer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pic>
        <p:nvPicPr>
          <p:cNvPr id="26" name="Picture 25" descr="Three modes of I/O data transfer"/>
          <p:cNvPicPr>
            <a:picLocks noChangeAspect="1"/>
          </p:cNvPicPr>
          <p:nvPr/>
        </p:nvPicPr>
        <p:blipFill>
          <a:blip r:embed="rId4"/>
          <a:stretch>
            <a:fillRect/>
          </a:stretch>
        </p:blipFill>
        <p:spPr>
          <a:xfrm>
            <a:off x="274320" y="1265024"/>
            <a:ext cx="11643055" cy="4410248"/>
          </a:xfrm>
          <a:prstGeom prst="rect">
            <a:avLst/>
          </a:prstGeom>
        </p:spPr>
      </p:pic>
      <p:sp>
        <p:nvSpPr>
          <p:cNvPr id="7" name="Text 3"/>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The three modes of I/O data transfer — overview</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 1: programmed I/O (polling)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interface sets 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flag bit F</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when a new byte is ready; the CPU does everything else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Step 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read the status register</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Step 2:</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if F = 0, go back to step 1 (busy-wait)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Step 3:</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when F = 1, read the data register, store the byte in memory, clear the flag</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Efficiency problem:</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1 byte per 10,000 µs and 1 poll per µs means 10,000 checks per byte, 9,999 wasted</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Practical only for very fast devices or embedded systems with nothing else to do</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Programmed I/O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pic>
        <p:nvPicPr>
          <p:cNvPr id="5" name="Image 0" descr="/home/claude/figs5/5.2_modes-of-transfer_fig2.png">    </p:cNvPr>
          <p:cNvPicPr>
            <a:picLocks noChangeAspect="1"/>
          </p:cNvPicPr>
          <p:nvPr/>
        </p:nvPicPr>
        <p:blipFill>
          <a:blip r:embed="rId1"/>
          <a:stretch>
            <a:fillRect/>
          </a:stretch>
        </p:blipFill>
        <p:spPr>
          <a:xfrm>
            <a:off x="411480" y="621792"/>
            <a:ext cx="4856048" cy="5705856"/>
          </a:xfrm>
          <a:prstGeom prst="rect">
            <a:avLst/>
          </a:prstGeom>
        </p:spPr>
      </p:pic>
      <p:sp>
        <p:nvSpPr>
          <p:cNvPr id="6" name="Text 2"/>
          <p:cNvSpPr txBox="1"/>
          <p:nvPr/>
        </p:nvSpPr>
        <p:spPr>
          <a:xfrm>
            <a:off x="5633288" y="713232"/>
            <a:ext cx="6146928"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Read the status register</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If F = 0, go back and read it again (busy-wait)</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When F = 1, read the data register</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Store the byte in memory and clear the flag</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Flowchart for CPU program to input data (programmed I/O). Adapted from M. Morris Mano, Computer System Architecture, Fig. 11-11.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 2: interrupt-initiated I/O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interface may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interrupt</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CPU when data is ready; the CPU runs its main program meanwhile</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interface asserts the interrupt line INT</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At the end of the current instruction the CPU saves its PC on the stack and branches to the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interrupt service routine (ISR)</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The ISR reads the data register, stores the byte, clears the flag; the CPU then resumes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Non-vectored: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fixed branch address; the CPU then polls devices to find the interrupter</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Vectored: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device puts a vector (its ISR address or a pointer) on the data bus; no polling</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Mode 3: direct memory access (DMA)</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For high-speed devices (disk, network) one interrupt per byte is too much overhead</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DMA controller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handles the whole block</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CPU programs the controller: start address, byte count, direction</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2.</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CPU releases the bus and continues (if it has a cache or separate bus), or halts bus access briefly</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3.</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Controller transfers the block: address +1, count −1 per byte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4.</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At count zero the controller interrupts the CPU</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Comparison of the three I/O transfer modes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5.2</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560320"/>
                <a:gridCol w="2743200"/>
                <a:gridCol w="3017520"/>
                <a:gridCol w="2743200"/>
              </a:tblGrid>
              <a:tr h="438912">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Property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Programmed I/O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Interrupt-initiated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DMA</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CPU during transfer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Busy-waiting (polls)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Runs other code; ISR on interrupt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Continues; DMA owns bus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Hardware needed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only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 interrupt logic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 DMA controller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Transfer unit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1 byte per poll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1 byte per interrupt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Block (many bytes)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Suitable for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Slow/simple devices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Medium-speed devices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High-speed block devices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5720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CPU efficiency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Lowest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Good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Highest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5.3  Priority Interrupt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When several devices interrupt at once, the computer serves the most urgent first. The order is set either by a program checking devices in turn, by their position in a chain (daisy chain), or by a priority encoder.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priority problem and software polling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Each device gets a priority; if several interrupt together, the highest is served first</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Disks get high priority (a missed transfer can lose data); keyboards get low priority</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Two approaches: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software polling</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or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hardware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Software polling: all devices share one interrupt line and one common service routine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routine tests each device’s status flag, highest priority first; the first flag set is served</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Simple and flexible, but slow when there are many devices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Hardware priority: daisy chain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Devices form a serial chain; each has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Priority In (PI)</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and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Priority Out (PO)</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CPU sends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INTACK</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into Device 1 at its PI</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device with no pending interrupt passes it on: its PO feeds the next PI</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first device with a pending interrupt intercepts INTACK: PO = 0 and it puts its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vector address (VAD)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on the data bus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CPU reads VAD and jumps to that service routine</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Priority is by position: closest to the CPU is highest</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Daisy-chain priority interrupt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pic>
        <p:nvPicPr>
          <p:cNvPr id="5" name="Image 0" descr="/home/claude/figs5/5.3_priority-interrupt_fig1.png">    </p:cNvPr>
          <p:cNvPicPr>
            <a:picLocks noChangeAspect="1"/>
          </p:cNvPicPr>
          <p:nvPr/>
        </p:nvPicPr>
        <p:blipFill>
          <a:blip r:embed="rId1"/>
          <a:stretch>
            <a:fillRect/>
          </a:stretch>
        </p:blipFill>
        <p:spPr>
          <a:xfrm>
            <a:off x="389992" y="621792"/>
            <a:ext cx="11411712"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Daisy-chain priority interrupt (three devices). Adapted from M. Morris Mano, Computer System Architecture, Fig. 11-12.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One daisy-chain stage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RF is the request flip-flop, set by the device’s interrupt request.</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1463040"/>
                <a:gridCol w="1463040"/>
                <a:gridCol w="1463040"/>
                <a:gridCol w="6675120"/>
              </a:tblGrid>
              <a:tr h="530352">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PI</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RF</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PO</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VAD</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48640">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any</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Disabled: INTACK blocked</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48640">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Disabled: INTACK passed on</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48640">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Enabled: this device is served</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Parallel priority interrupt hardware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pic>
        <p:nvPicPr>
          <p:cNvPr id="5" name="Image 0" descr="/home/claude/figs5/5.3_priority-interrupt_fig2.png">    </p:cNvPr>
          <p:cNvPicPr>
            <a:picLocks noChangeAspect="1"/>
          </p:cNvPicPr>
          <p:nvPr/>
        </p:nvPicPr>
        <p:blipFill>
          <a:blip r:embed="rId1"/>
          <a:stretch>
            <a:fillRect/>
          </a:stretch>
        </p:blipFill>
        <p:spPr>
          <a:xfrm>
            <a:off x="411480" y="621792"/>
            <a:ext cx="7132320" cy="5705856"/>
          </a:xfrm>
          <a:prstGeom prst="rect">
            <a:avLst/>
          </a:prstGeom>
        </p:spPr>
      </p:pic>
      <p:sp>
        <p:nvSpPr>
          <p:cNvPr id="6" name="Text 2"/>
          <p:cNvSpPr txBox="1"/>
          <p:nvPr/>
        </p:nvSpPr>
        <p:spPr>
          <a:xfrm>
            <a:off x="7909560" y="713232"/>
            <a:ext cx="3870655" cy="5522976"/>
          </a:xfrm>
          <a:prstGeom prst="roundRect">
            <a:avLst>
              <a:gd name="adj" fmla="val 2835"/>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Four devices: disk, printer, reader, keyboard (priority 0 to 3)</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Each interrupt bit is ANDed with its mask bit</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The priority encoder outputs two bits, x and y, which form part of the vector address (VAD) of the highest-priority device</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I</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₀</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(disk) has the highest priority</a:t>
            </a:r>
            <a:endParaRPr lang="en-US" sz="20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Priority interrupt hardware (interrupt register, mask register, priority encoder). Adapted from M. Morris Mano, Computer System Architecture, Fig. 11-14.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Parallel method: components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Interrupt register: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one bit per device, set by its request, cleared by program</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Mask register: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one bit per device, set or cleared by program; masked (0) devices are ignored</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Priority encoder:</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takes I₀–I₃ and gives a 2-bit VAD for the highest-priority active device</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IST</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(interrupt status flip-flop): set when any unmasked interrupt is active</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IEN</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(interrupt enable): global switch; IST AND IEN = interrupt to the CPU</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INTACK</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from the CPU enables the VAD buffers so the winner’s address reaches the data bus</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5.4  Direct Memory Access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Instead of the CPU carrying every byte between a fast device and memory, a DMA controller borrows the memory bus and moves the data itself. The CPU only sets it up at the start and gets one interrupt at the end.</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DMA idea and its registers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In programmed and interrupt-initiated I/O every word flows through the CPU, a bottleneck for fast devices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DMA controller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takes temporary ownership of the memory bus; data flows directly between device and memory</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Address Register (AR):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starting memory address; +1 after each word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Word Count Register (WC):</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words to transfer; −1 after each word; at zero the CPU is interrupted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Control/Status Register: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direction and start command in; done and error status out</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DMA controller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pic>
        <p:nvPicPr>
          <p:cNvPr id="5" name="Image 0" descr="/home/claude/figs5/5.4_direct-memory-access_fig1.png">    </p:cNvPr>
          <p:cNvPicPr>
            <a:picLocks noChangeAspect="1"/>
          </p:cNvPicPr>
          <p:nvPr/>
        </p:nvPicPr>
        <p:blipFill>
          <a:blip r:embed="rId1"/>
          <a:stretch>
            <a:fillRect/>
          </a:stretch>
        </p:blipFill>
        <p:spPr>
          <a:xfrm>
            <a:off x="1816456" y="621792"/>
            <a:ext cx="8558784"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Block diagram of DMA controller. Adapted from M. Morris Mano, Computer System Architecture, Fig. 11-18.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Bus request and bus grant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DMA controller and the CPU share the memory bus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Bus Request (BR):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controller asks for the bus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Bus Grant (BG):</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CPU answers after finishing its current bus cycle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While BG is active the CPU puts its address, data and read/write lines in high impedance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controller transfers, then releases the bus; the CPU resumes normal operation</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CPU bus signals for DMA</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pic>
        <p:nvPicPr>
          <p:cNvPr id="5" name="Image 0" descr="/home/claude/figs5/5.4_direct-memory-access_fig2.png">    </p:cNvPr>
          <p:cNvPicPr>
            <a:picLocks noChangeAspect="1"/>
          </p:cNvPicPr>
          <p:nvPr/>
        </p:nvPicPr>
        <p:blipFill>
          <a:blip r:embed="rId1"/>
          <a:stretch>
            <a:fillRect/>
          </a:stretch>
        </p:blipFill>
        <p:spPr>
          <a:xfrm>
            <a:off x="274320" y="1070176"/>
            <a:ext cx="11643055" cy="4809088"/>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CPU bus signals for DMA transfer. Adapted from M. Morris Mano, Computer System Architecture, Fig. 11-17.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Burst transfer and cycle stealing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Burst transfer: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controller keeps the bus for a whole block in one go; fast, used for fast devices such as disks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Cycle stealing:</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controller takes the bus for one word at a time and gives it back</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Cycle stealing is the most common method: one stolen bus cycle per word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Effect on the CPU:</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slightly slowed (held off the bus for one cycle per steal) but it keeps executing between steals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Far more efficient than interrupt-initiated I/O for large blocks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DMA cycle stealing</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pic>
        <p:nvPicPr>
          <p:cNvPr id="5" name="Image 0" descr="/home/claude/figs5/5.4_direct-memory-access_fig3.png">    </p:cNvPr>
          <p:cNvPicPr>
            <a:picLocks noChangeAspect="1"/>
          </p:cNvPicPr>
          <p:nvPr/>
        </p:nvPicPr>
        <p:blipFill>
          <a:blip r:embed="rId1"/>
          <a:stretch>
            <a:fillRect/>
          </a:stretch>
        </p:blipFill>
        <p:spPr>
          <a:xfrm>
            <a:off x="274320" y="1571528"/>
            <a:ext cx="11643055" cy="3806383"/>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DMA cycle stealing — one bus cycle is stolen per word transferred</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Sequence for each stolen cycle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1.</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DMA controller asserts BR</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2.</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CPU finishes its current bus cycle and asserts BG</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3.</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controller transfers one word (address from AR, data to or from the device)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4.</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controller increments AR, decrements WC and releases the bus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5.</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CPU resumes; if WC ≠ 0, repeat from step 1 after the next device-ready signal</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DMA transfer in a computer system</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pic>
        <p:nvPicPr>
          <p:cNvPr id="5" name="Image 0" descr="/home/claude/figs5/5.4_direct-memory-access_fig4.png">    </p:cNvPr>
          <p:cNvPicPr>
            <a:picLocks noChangeAspect="1"/>
          </p:cNvPicPr>
          <p:nvPr/>
        </p:nvPicPr>
        <p:blipFill>
          <a:blip r:embed="rId1"/>
          <a:stretch>
            <a:fillRect/>
          </a:stretch>
        </p:blipFill>
        <p:spPr>
          <a:xfrm>
            <a:off x="1673809" y="621792"/>
            <a:ext cx="8844077"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DMA transfer in a computer system. Adapted from M. Morris Mano, Computer System Architecture, Fig. 11-19.</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DMA compared with the other modes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5.4</a:t>
            </a:r>
            <a:endParaRPr lang="en-US" sz="1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560320"/>
                <a:gridCol w="2651760"/>
                <a:gridCol w="2926080"/>
                <a:gridCol w="2926080"/>
              </a:tblGrid>
              <a:tr h="438912">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Property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Programmed I/O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Interrupt-initiated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DMA</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CPU during transfer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Busy-wait (polling)</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Runs other code; ISR per byte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Runs other code; 1 interrupt total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5720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Transfer unit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1 byte per poll</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1 byte per interrupt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Block (many bytes)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CPU involvement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Every byte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Every byte (ISR)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Initialise + completion only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Hardware needed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only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 interrupt logic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Interface + DMA controller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731520">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Best for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Slow/simple devices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Medium-speed devices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High-speed block devices (disk, network)</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Comparison of the three I/O transfer modes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5.5  Memory Hierarchy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Fast memory is expensive and small; cheap memory is slow and large. Computers combine several kinds (registers, cache, main memory, disk, tape) and keep the data needed right now in the fastest levels.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a hierarchy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No single technology gives unlimited capacity, zero access time and zero cost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memory hierarchy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uses several levels, each faster and costlier than the one below</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Going up: speed and cost per bit rise; practical capacity falls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Goal: the impression of fast, large, cheap memory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Keep the most-used data in the fast levels and the rest in slower ones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Memory hierarchy</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pic>
        <p:nvPicPr>
          <p:cNvPr id="5" name="Image 0" descr="/home/claude/figs5/5.5_memory-hierarchy_fig1.png">    </p:cNvPr>
          <p:cNvPicPr>
            <a:picLocks noChangeAspect="1"/>
          </p:cNvPicPr>
          <p:nvPr/>
        </p:nvPicPr>
        <p:blipFill>
          <a:blip r:embed="rId1"/>
          <a:stretch>
            <a:fillRect/>
          </a:stretch>
        </p:blipFill>
        <p:spPr>
          <a:xfrm>
            <a:off x="274320" y="675909"/>
            <a:ext cx="11643055" cy="5597623"/>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Memory hierarchy in a computer system. Adapted from M. Morris Mano, Computer System Architecture, Fig. 12-1.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five levels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Magnetic tape: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removable, sequential, very large, very slow; archival and backup</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Magnetic disk:</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random access, large, slower than main memory; primary auxiliary storage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Main memory (RAM/ROM):</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directly accessed by the CPU; ~100–700 ns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Cache memory:</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very small and fast (~10–100 ns); holds the active parts of programs and data</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CPU registers: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fastest; a few words inside the processor; one clock cycle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Typical characteristics at each level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743200"/>
                <a:gridCol w="3474720"/>
                <a:gridCol w="2468880"/>
                <a:gridCol w="2377440"/>
              </a:tblGrid>
              <a:tr h="499872">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Level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Typical access time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Relative cost/bit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Capacity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CPU registers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1 clock cycle (&lt;1 ns)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Highest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Bytes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Cache memory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~10–100 ns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High</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KB – MB</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Main memory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~100–700 ns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Medium</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MB – GB</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Magnetic disk</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~5–20 ms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Low</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GB – TB</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Magnetic tape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Seconds (sequential)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Lowest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TB+</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characteristics at each hierarchy level</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Cache and the access-time ratios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Cache is about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7× faster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than main memory (100 ns versus 700 ns)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Auxiliary memory (disk) is about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1000× slower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than main memory</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Block sizes: auxiliary memory 256–2048 words; cache 1–16 words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Cache sits between CPU and main memory; the CPU looks there first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Hit: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data found, obtained quickly.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Miss: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fetched from main memory, often a whole block</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This works because of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locality of reference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programs reuse recently used locations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Auxiliary memory, IOP and multiprogramming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CPU cannot access auxiliary memory directly; 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I/O processor (IOP)</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moves data using DMA</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CPU asks the IOP for data, then continues with another task</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IOP interrupts the CPU when the transfer is done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Multiprogramming:</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several programs at different levels at once: one running (using cache), others in main memory, others on disk</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memory management system (software + hardware) moves programs between levels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This keeps the CPU, IOP and I/O devices all busy</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5.6  Main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000" dirty="0">
                <a:solidFill>
                  <a:srgbClr val="1F2937"/>
                </a:solidFill>
                <a:latin typeface="Calibri" pitchFamily="34" charset="0"/>
                <a:ea typeface="Calibri" pitchFamily="34" charset="-122"/>
                <a:cs typeface="Calibri" pitchFamily="34" charset="-120"/>
              </a:rPr>
              <a:t>Main memory is built from RAM chips (read and write, lost at power-off) and ROM chips (read-only, kept at power-off). The address decides which chip answers: low address bits pick a byte inside a chip, high bits pick the chip.</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RAM: random access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Most of main memory is RAM, in two technologies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Static RAM (SRAM):</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each bit in a flip-flop; stable while powered; faster, more silicon per bit</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Dynamic RAM (DRAM):</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each bit as charge on a MOS capacitor; must be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refreshed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every few ms; higher density, lower power per bit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RAM is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volatile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contents are lost at power-off</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Used for programs and data that change while the computer runs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ROM: read-only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ROM is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non-volatile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it keeps its contents when power is off</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It holds programs that must always be present: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bootstrap loader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firmware, constant tables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At power-on the CPU sets its PC to the bootstrap loader address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bootstrap loads the OS from disk into RAM, then hands control to the OS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RAM and ROM chip structure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RAM chip has a cell array, a bidirectional data bus, and address, read and write inputs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Chip selects: CS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₁</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and CS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₂</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chip is active only when CS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₁</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1 and CS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₂</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 0</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Three-state bus buffers let several chips share one data bus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ROM chip is organised similarly but has no WR input: its data bus is output-only</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For the same chip area a ROM can hold more bits than a RAM, because its cells are simpler</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RAM and ROM chips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pic>
        <p:nvPicPr>
          <p:cNvPr id="5" name="Image 0" descr="/home/claude/figs5/5.6_main-memory_fig1.png">    </p:cNvPr>
          <p:cNvPicPr>
            <a:picLocks noChangeAspect="1"/>
          </p:cNvPicPr>
          <p:nvPr/>
        </p:nvPicPr>
        <p:blipFill>
          <a:blip r:embed="rId1"/>
          <a:stretch>
            <a:fillRect/>
          </a:stretch>
        </p:blipFill>
        <p:spPr>
          <a:xfrm>
            <a:off x="1600325" y="621792"/>
            <a:ext cx="8991046"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Typical RAM and ROM chips. Adapted from M. Morris Mano, Computer System Architecture, Figs. 12-2 and 12-3.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Memory address map</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Example: a 1 KB memory from four 128×8 RAM chips and one 512×8 ROM chip.</a:t>
            </a:r>
            <a:endParaRPr lang="en-US" sz="2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2377440"/>
                <a:gridCol w="3108960"/>
                <a:gridCol w="2926080"/>
                <a:gridCol w="2651760"/>
              </a:tblGrid>
              <a:tr h="499872">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Component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Hex address range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pPr algn="ctr" indent="0" marL="0">
                        <a:buNone/>
                      </a:pPr>
                      <a:r>
                        <a:rPr lang="en-US" sz="2200" b="1" dirty="0">
                          <a:solidFill>
                            <a:srgbClr val="FFFFFF"/>
                          </a:solidFill>
                          <a:latin typeface="Calibri" pitchFamily="34" charset="0"/>
                          <a:ea typeface="Calibri" pitchFamily="34" charset="-122"/>
                          <a:cs typeface="Calibri" pitchFamily="34" charset="-120"/>
                        </a:rPr>
                        <a:t>₉</a:t>
                      </a:r>
                      <a:pPr algn="ctr" indent="0" marL="0">
                        <a:buNone/>
                      </a:pPr>
                      <a:r>
                        <a:rPr lang="en-US" sz="2200" b="1" dirty="0">
                          <a:solidFill>
                            <a:srgbClr val="FFFFFF"/>
                          </a:solidFill>
                          <a:latin typeface="Calibri" pitchFamily="34" charset="0"/>
                          <a:ea typeface="Calibri" pitchFamily="34" charset="-122"/>
                          <a:cs typeface="Calibri" pitchFamily="34" charset="-120"/>
                        </a:rPr>
                        <a:t>–A</a:t>
                      </a:r>
                      <a:pPr algn="ctr" indent="0" marL="0">
                        <a:buNone/>
                      </a:pPr>
                      <a:r>
                        <a:rPr lang="en-US" sz="2200" b="1" dirty="0">
                          <a:solidFill>
                            <a:srgbClr val="FFFFFF"/>
                          </a:solidFill>
                          <a:latin typeface="Calibri" pitchFamily="34" charset="0"/>
                          <a:ea typeface="Calibri" pitchFamily="34" charset="-122"/>
                          <a:cs typeface="Calibri" pitchFamily="34" charset="-120"/>
                        </a:rPr>
                        <a:t>₈</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pPr algn="ctr" indent="0" marL="0">
                        <a:buNone/>
                      </a:pPr>
                      <a:r>
                        <a:rPr lang="en-US" sz="2200" b="1" dirty="0">
                          <a:solidFill>
                            <a:srgbClr val="FFFFFF"/>
                          </a:solidFill>
                          <a:latin typeface="Calibri" pitchFamily="34" charset="0"/>
                          <a:ea typeface="Calibri" pitchFamily="34" charset="-122"/>
                          <a:cs typeface="Calibri" pitchFamily="34" charset="-120"/>
                        </a:rPr>
                        <a:t>₁₀</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RAM 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0000–007F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RAM 2</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0080–00FF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RAM 3</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0100–017F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RAM 4</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0180–01FF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ROM</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0200–03FF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xx</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Memory address map for microcomputer example. Adapted from M. Morris Mano, Computer System Architecture, Table 12-1.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Memory connection to the CPU</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5.6</a:t>
            </a:r>
            <a:endParaRPr lang="en-US" sz="1600" dirty="0"/>
          </a:p>
        </p:txBody>
      </p:sp>
      <p:pic>
        <p:nvPicPr>
          <p:cNvPr id="5" name="Image 0" descr="/home/claude/figs5/5.6_main-memory_fig2.png">    </p:cNvPr>
          <p:cNvPicPr>
            <a:picLocks noChangeAspect="1"/>
          </p:cNvPicPr>
          <p:nvPr/>
        </p:nvPicPr>
        <p:blipFill>
          <a:blip r:embed="rId1"/>
          <a:stretch>
            <a:fillRect/>
          </a:stretch>
        </p:blipFill>
        <p:spPr>
          <a:xfrm>
            <a:off x="411480" y="621792"/>
            <a:ext cx="4564685" cy="5705856"/>
          </a:xfrm>
          <a:prstGeom prst="rect">
            <a:avLst/>
          </a:prstGeom>
        </p:spPr>
      </p:pic>
      <p:sp>
        <p:nvSpPr>
          <p:cNvPr id="6" name="Text 2"/>
          <p:cNvSpPr txBox="1"/>
          <p:nvPr/>
        </p:nvSpPr>
        <p:spPr>
          <a:xfrm>
            <a:off x="5341925" y="713232"/>
            <a:ext cx="6438290" cy="5522976"/>
          </a:xfrm>
          <a:prstGeom prst="roundRect">
            <a:avLst>
              <a:gd name="adj" fmla="val 1987"/>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Low-order lines 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₁</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₇</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select one of 128 bytes inside each RAM chip</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2 × 4 decoder on 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₈</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and 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₉</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picks one RAM chip when 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₁₀</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0</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₁₀</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1 enables the ROM</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Design rule: exactly one chip selected, all others in high impedance</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Memory connection to the CPU. Adapted from M. Morris Mano, Computer System Architecture, Fig. 12-4.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5.7  Auxiliary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Auxiliary memory (disk, tape) stores everything not needed right now. It is cheap and huge but slow, because a head must first move to the right place, so data is always moved in large blocks.</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General characteristics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Holds programs and data not needed right now: large, low cost, slow</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Five parameters: access mode, access time, transfer rate, capacity, cost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Seek time: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positioning the head over the right track; the dominant part, usually several ms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Transfer time: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reading or writing once the head is in place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Seek time ≫ transfer time, so data is organised in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records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Reads and writes use complete records, to spread the seek overhead</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Magnetic disk</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pic>
        <p:nvPicPr>
          <p:cNvPr id="5" name="Image 0" descr="/home/claude/figs5/5.7_auxiliary-memory_fig1.png">    </p:cNvPr>
          <p:cNvPicPr>
            <a:picLocks noChangeAspect="1"/>
          </p:cNvPicPr>
          <p:nvPr/>
        </p:nvPicPr>
        <p:blipFill>
          <a:blip r:embed="rId1"/>
          <a:stretch>
            <a:fillRect/>
          </a:stretch>
        </p:blipFill>
        <p:spPr>
          <a:xfrm>
            <a:off x="411480" y="621792"/>
            <a:ext cx="6916189" cy="5705856"/>
          </a:xfrm>
          <a:prstGeom prst="rect">
            <a:avLst/>
          </a:prstGeom>
        </p:spPr>
      </p:pic>
      <p:sp>
        <p:nvSpPr>
          <p:cNvPr id="6" name="Text 2"/>
          <p:cNvSpPr txBox="1"/>
          <p:nvPr/>
        </p:nvSpPr>
        <p:spPr>
          <a:xfrm>
            <a:off x="7693429" y="713232"/>
            <a:ext cx="4086786" cy="5522976"/>
          </a:xfrm>
          <a:prstGeom prst="roundRect">
            <a:avLst>
              <a:gd name="adj" fmla="val 2685"/>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Data is stored along concentric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tracks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Each track is divided into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sectors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smallest unit transferred</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disk is addressed by disk number, surface, sector number and track</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Seek moves the head; rotational latency waits for the sector</a:t>
            </a:r>
            <a:endParaRPr lang="en-US" sz="24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Magnetic disk: concentric tracks divided into sectors. Adapted from M. Morris Mano, Computer System Architecture, Fig. 12-5.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Hard disks and floppy disks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Hard disks: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permanently attached, metal surfaces, high speed and capacity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One movable head per surface is cheaper; one head per track is faster but costlier</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Floppy disks: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removable, flexible plastic coated with magnetic material</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Two standard sizes: 5.25-inch and 3.5-inch</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Used for software distribution and small data files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Magnetic tape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strip of plastic coated with magnetic material</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Bits are recorded across 7 or 9 parallel tracks, one character per column; one head per track</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Access is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sequential</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data only in the order stored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drive cannot stop and start between characters, so data is grouped in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records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separated by blank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inter-record gaps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tape stops in a gap and speeds up before the next record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Each record has an identification pattern at its start and end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Magnetic disk compared with tape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5.7</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Key difference: a disk gives random access to any sector; a tape gives sequential access only.</a:t>
            </a:r>
            <a:endParaRPr lang="en-US" sz="2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3728" y="2240280"/>
          <a:ext cx="11064240" cy="914400"/>
        </p:xfrm>
        <a:graphic>
          <a:graphicData uri="http://schemas.openxmlformats.org/drawingml/2006/table">
            <a:tbl>
              <a:tblPr/>
              <a:tblGrid>
                <a:gridCol w="2560320"/>
                <a:gridCol w="4297680"/>
                <a:gridCol w="4206240"/>
              </a:tblGrid>
              <a:tr h="499872">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Property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Magnetic disk</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Magnetic tape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Access mode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Random (sector addressable)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Sequential only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85344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Access time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Seek + rotational latency (ms)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Must wind to correct record (seconds)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Transfer unit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Sector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Record</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85344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Typical use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Active programs and data, OS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Backup, archival, removable storage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518160">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Removable?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Floppy yes; hard disk no</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Yes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7" name="Text 3"/>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Comparison of magnetic disk and tape</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5.8  Associative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normal memory is asked “what is at address 25?”. An associative memory is asked “where is the word that looks like this?” and checks every word at the same time.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Basic concept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Many tasks search a table: a symbol table, an account number, a cache block</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Ordinary RAM searches sequentially, one word at a time</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Associative memory</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(content-addressable memory, CAM) searches all words at once in hardware</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You supply a data pattern (the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argument</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not an address; every stored word is compared in parallel</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Matching words are flagged in the match register; read by addressing only those words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Costlier per bit than RAM; used where search time is critical: cache tag arrays, TLBs</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Associative memory block diagram</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pic>
        <p:nvPicPr>
          <p:cNvPr id="5" name="Image 0" descr="/home/claude/figs5/5.8_associative-memory_fig1.png">    </p:cNvPr>
          <p:cNvPicPr>
            <a:picLocks noChangeAspect="1"/>
          </p:cNvPicPr>
          <p:nvPr/>
        </p:nvPicPr>
        <p:blipFill>
          <a:blip r:embed="rId1"/>
          <a:stretch>
            <a:fillRect/>
          </a:stretch>
        </p:blipFill>
        <p:spPr>
          <a:xfrm>
            <a:off x="411480" y="621792"/>
            <a:ext cx="7953617" cy="5705856"/>
          </a:xfrm>
          <a:prstGeom prst="rect">
            <a:avLst/>
          </a:prstGeom>
        </p:spPr>
      </p:pic>
      <p:sp>
        <p:nvSpPr>
          <p:cNvPr id="6" name="Text 2"/>
          <p:cNvSpPr txBox="1"/>
          <p:nvPr/>
        </p:nvSpPr>
        <p:spPr>
          <a:xfrm>
            <a:off x="8730857" y="713232"/>
            <a:ext cx="3049358" cy="5522976"/>
          </a:xfrm>
          <a:prstGeom prst="roundRect">
            <a:avLst>
              <a:gd name="adj" fmla="val 3598"/>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Argument register A</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(n bits) holds the search pattern</a:t>
            </a:r>
            <a:endParaRPr lang="en-US" sz="2000" dirty="0"/>
          </a:p>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Key register K</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(n bits) is a mask: K</a:t>
            </a:r>
            <a:pPr algn="l" marL="304800" indent="-304800">
              <a:spcAft>
                <a:spcPts val="1000"/>
              </a:spcAft>
              <a:buSzPct val="100000"/>
              <a:buChar char="•"/>
            </a:pPr>
            <a:r>
              <a:rPr lang="en-US" sz="20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 1 compares bit j, K</a:t>
            </a:r>
            <a:pPr algn="l" marL="304800" indent="-304800">
              <a:spcAft>
                <a:spcPts val="1000"/>
              </a:spcAft>
              <a:buSzPct val="100000"/>
              <a:buChar char="•"/>
            </a:pPr>
            <a:r>
              <a:rPr lang="en-US" sz="20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 0 ignores it</a:t>
            </a:r>
            <a:endParaRPr lang="en-US" sz="2000" dirty="0"/>
          </a:p>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Memory array:</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m words × n bits of CAM cells</a:t>
            </a:r>
            <a:endParaRPr lang="en-US" sz="2000" dirty="0"/>
          </a:p>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Match register M</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(m bits): M</a:t>
            </a:r>
            <a:pPr algn="l" marL="304800" indent="-304800">
              <a:spcAft>
                <a:spcPts val="1000"/>
              </a:spcAft>
              <a:buSzPct val="100000"/>
              <a:buChar char="•"/>
            </a:pPr>
            <a:r>
              <a:rPr lang="en-US" sz="2000" baseline="-40000" dirty="0">
                <a:solidFill>
                  <a:srgbClr val="1F2937"/>
                </a:solidFill>
                <a:latin typeface="Calibri" pitchFamily="34" charset="0"/>
                <a:ea typeface="Calibri" pitchFamily="34" charset="-122"/>
                <a:cs typeface="Calibri" pitchFamily="34" charset="-120"/>
              </a:rPr>
              <a:t>i</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 1 if word i matched all unmasked bits</a:t>
            </a:r>
            <a:endParaRPr lang="en-US" sz="20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Block diagram of associative memory. Adapted from M. Morris Mano, Computer System Architecture, Fig. 12-6.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Associative memory cell array</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pic>
        <p:nvPicPr>
          <p:cNvPr id="5" name="Image 0" descr="/home/claude/figs5/5.8_associative-memory_fig2.png">    </p:cNvPr>
          <p:cNvPicPr>
            <a:picLocks noChangeAspect="1"/>
          </p:cNvPicPr>
          <p:nvPr/>
        </p:nvPicPr>
        <p:blipFill>
          <a:blip r:embed="rId1"/>
          <a:stretch>
            <a:fillRect/>
          </a:stretch>
        </p:blipFill>
        <p:spPr>
          <a:xfrm>
            <a:off x="1531163" y="621792"/>
            <a:ext cx="9129370"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Associative memory of m words, n cells per word. Adapted from M. Morris Mano, Computer System Architecture, Fig. 12-7.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Cell logic and match equations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sp>
        <p:nvSpPr>
          <p:cNvPr id="5" name="Text 2"/>
          <p:cNvSpPr txBox="1"/>
          <p:nvPr/>
        </p:nvSpPr>
        <p:spPr>
          <a:xfrm>
            <a:off x="548640" y="1280160"/>
            <a:ext cx="11094415" cy="1828800"/>
          </a:xfrm>
          <a:prstGeom prst="roundRect">
            <a:avLst>
              <a:gd name="adj" fmla="val 5000"/>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x</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A</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F</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ij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A</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′F</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ij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a:t>
            </a:r>
            <a:endParaRPr lang="en-US" sz="2400" dirty="0"/>
          </a:p>
          <a:p>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term</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x</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K</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j</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a:t>
            </a:r>
            <a:endParaRPr lang="en-US" sz="2400" dirty="0"/>
          </a:p>
          <a:p>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M</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i</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(x</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₁</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K</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₁</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′)(x</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₂</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K</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₂</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(x</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n</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 + K</a:t>
            </a:r>
            <a:pPr indent="0" marL="0">
              <a:spcAft>
                <a:spcPts val="400"/>
              </a:spcAft>
              <a:buNone/>
            </a:pPr>
            <a:r>
              <a:rPr lang="en-US" sz="2400" baseline="-40000" dirty="0">
                <a:solidFill>
                  <a:srgbClr val="1F2937"/>
                </a:solidFill>
                <a:latin typeface="Cambria Math" pitchFamily="34" charset="0"/>
                <a:ea typeface="Cambria Math" pitchFamily="34" charset="-122"/>
                <a:cs typeface="Cambria Math" pitchFamily="34" charset="-120"/>
              </a:rPr>
              <a:t>n</a:t>
            </a:r>
            <a:pPr indent="0" marL="0">
              <a:spcAft>
                <a:spcPts val="400"/>
              </a:spcAft>
              <a:buNone/>
            </a:pPr>
            <a:r>
              <a:rPr lang="en-US" sz="2400" dirty="0">
                <a:solidFill>
                  <a:srgbClr val="1F2937"/>
                </a:solidFill>
                <a:latin typeface="Cambria Math" pitchFamily="34" charset="0"/>
                <a:ea typeface="Cambria Math" pitchFamily="34" charset="-122"/>
                <a:cs typeface="Cambria Math" pitchFamily="34" charset="-120"/>
              </a:rPr>
              <a:t>′)</a:t>
            </a:r>
            <a:endParaRPr lang="en-US" sz="2400" dirty="0"/>
          </a:p>
        </p:txBody>
      </p:sp>
      <p:sp>
        <p:nvSpPr>
          <p:cNvPr id="6" name="Text 3"/>
          <p:cNvSpPr txBox="1"/>
          <p:nvPr/>
        </p:nvSpPr>
        <p:spPr>
          <a:xfrm>
            <a:off x="640080" y="3429000"/>
            <a:ext cx="10911535" cy="2697480"/>
          </a:xfrm>
          <a:prstGeom prst="rect">
            <a:avLst/>
          </a:prstGeom>
          <a:noFill/>
          <a:ln/>
        </p:spPr>
        <p:txBody>
          <a:bodyPr wrap="square" lIns="0" tIns="0" rIns="0" bIns="0" rtlCol="0" anchor="t"/>
          <a:lstStyle/>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Cell C</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ij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has a flip-flop F</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ij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for storage, plus read, write and match circuitry</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x</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 1 if A</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equals F</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ij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otherwise 0</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If K</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 0 then K</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 1, so term</a:t>
            </a:r>
            <a:pPr algn="l" marL="304800" indent="-304800">
              <a:spcAft>
                <a:spcPts val="1000"/>
              </a:spcAft>
              <a:buSzPct val="100000"/>
              <a:buChar char="•"/>
            </a:pPr>
            <a:r>
              <a:rPr lang="en-US" sz="2200" baseline="-40000" dirty="0">
                <a:solidFill>
                  <a:srgbClr val="1F2937"/>
                </a:solidFill>
                <a:latin typeface="Calibri" pitchFamily="34" charset="0"/>
                <a:ea typeface="Calibri" pitchFamily="34" charset="-122"/>
                <a:cs typeface="Calibri" pitchFamily="34" charset="-120"/>
              </a:rPr>
              <a:t>j</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 1 and bit j is ignored</a:t>
            </a:r>
            <a:endParaRPr lang="en-US" sz="2200" dirty="0"/>
          </a:p>
          <a:p>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Word i matches if and only if all n terms equal 1</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three-bit match</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A = 101 111100 and K = 111 000000: only the three leftmost bits are compared (K</a:t>
            </a:r>
            <a:pPr indent="0" marL="0">
              <a:buNone/>
            </a:pPr>
            <a:r>
              <a:rPr lang="en-US" sz="2200" baseline="-40000" dirty="0">
                <a:solidFill>
                  <a:srgbClr val="1F2937"/>
                </a:solidFill>
                <a:latin typeface="Calibri" pitchFamily="34" charset="0"/>
                <a:ea typeface="Calibri" pitchFamily="34" charset="-122"/>
                <a:cs typeface="Calibri" pitchFamily="34" charset="-120"/>
              </a:rPr>
              <a:t>j</a:t>
            </a:r>
            <a:pPr indent="0" marL="0">
              <a:buNone/>
            </a:pPr>
            <a:r>
              <a:rPr lang="en-US" sz="2200" dirty="0">
                <a:solidFill>
                  <a:srgbClr val="1F2937"/>
                </a:solidFill>
                <a:latin typeface="Calibri" pitchFamily="34" charset="0"/>
                <a:ea typeface="Calibri" pitchFamily="34" charset="-122"/>
                <a:cs typeface="Calibri" pitchFamily="34" charset="-120"/>
              </a:rPr>
              <a:t> = 1 for j = 1, 2, 3).</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3728" y="2240280"/>
          <a:ext cx="11064240" cy="914400"/>
        </p:xfrm>
        <a:graphic>
          <a:graphicData uri="http://schemas.openxmlformats.org/drawingml/2006/table">
            <a:tbl>
              <a:tblPr/>
              <a:tblGrid>
                <a:gridCol w="2011680"/>
                <a:gridCol w="2743200"/>
                <a:gridCol w="4480560"/>
                <a:gridCol w="1828800"/>
              </a:tblGrid>
              <a:tr h="530352">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Word</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Stored bits</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Three-bit match?</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M</a:t>
                      </a:r>
                      <a:pPr algn="ctr" indent="0" marL="0">
                        <a:buNone/>
                      </a:pPr>
                      <a:r>
                        <a:rPr lang="en-US" sz="2400" b="1" baseline="-40000" dirty="0">
                          <a:solidFill>
                            <a:srgbClr val="FFFFFF"/>
                          </a:solidFill>
                          <a:latin typeface="Calibri" pitchFamily="34" charset="0"/>
                          <a:ea typeface="Calibri" pitchFamily="34" charset="-122"/>
                          <a:cs typeface="Calibri" pitchFamily="34" charset="-120"/>
                        </a:rPr>
                        <a:t>i</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548640">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Word 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100 111100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100 ≠ 101: no match</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548640">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Word 2</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101 000001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400" dirty="0">
                          <a:solidFill>
                            <a:srgbClr val="1F2937"/>
                          </a:solidFill>
                          <a:latin typeface="Calibri" pitchFamily="34" charset="0"/>
                          <a:ea typeface="Calibri" pitchFamily="34" charset="-122"/>
                          <a:cs typeface="Calibri" pitchFamily="34" charset="-120"/>
                        </a:rPr>
                        <a:t>101 = 101: match</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Read and write 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Read: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after a search, M shows which words matched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If exactly one word matched, its data goes to the output automatically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If several matched, they are read one at a time by applying a read signal to each matched word line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Write: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address each location in turn (acting as a RAM), or scan the tag register for an unused location (tag bit = 0) and write there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5.9  Cache Memory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cache keeps copies of recently used words in a small, fast memory next to the CPU. Because programs reuse the same instructions and data again and again, most requests are found in the cache.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Locality of reference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Over a short interval, memory accesses stay in a small, localised region</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Instruction loops: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same instructions are fetched repeatedly</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Subroutine calls: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 subroutine’s instructions sit in one address range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Array and table accesses: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data in contiguous or nearby locations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Hit: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word is already in the cache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Miss: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fetch from main memory and load a block of adjacent words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Hit ratio and average access time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548640" y="1280160"/>
            <a:ext cx="11094415" cy="1544320"/>
          </a:xfrm>
          <a:prstGeom prst="roundRect">
            <a:avLst>
              <a:gd name="adj" fmla="val 5921"/>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h = hits / (hits + misses)</a:t>
            </a:r>
            <a:endParaRPr lang="en-US" sz="2800" dirty="0"/>
          </a:p>
          <a:p>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T</a:t>
            </a:r>
            <a:pPr indent="0" marL="0">
              <a:spcAft>
                <a:spcPts val="400"/>
              </a:spcAft>
              <a:buNone/>
            </a:pPr>
            <a:r>
              <a:rPr lang="en-US" sz="2800" baseline="-40000" dirty="0">
                <a:solidFill>
                  <a:srgbClr val="1F2937"/>
                </a:solidFill>
                <a:latin typeface="Courier New" pitchFamily="34" charset="0"/>
                <a:ea typeface="Courier New" pitchFamily="34" charset="-122"/>
                <a:cs typeface="Courier New" pitchFamily="34" charset="-120"/>
              </a:rPr>
              <a:t>avg</a:t>
            </a:r>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 = h · T</a:t>
            </a:r>
            <a:pPr indent="0" marL="0">
              <a:spcAft>
                <a:spcPts val="400"/>
              </a:spcAft>
              <a:buNone/>
            </a:pPr>
            <a:r>
              <a:rPr lang="en-US" sz="2800" baseline="-40000" dirty="0">
                <a:solidFill>
                  <a:srgbClr val="1F2937"/>
                </a:solidFill>
                <a:latin typeface="Courier New" pitchFamily="34" charset="0"/>
                <a:ea typeface="Courier New" pitchFamily="34" charset="-122"/>
                <a:cs typeface="Courier New" pitchFamily="34" charset="-120"/>
              </a:rPr>
              <a:t>c</a:t>
            </a:r>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 + (1 − h) · (T</a:t>
            </a:r>
            <a:pPr indent="0" marL="0">
              <a:spcAft>
                <a:spcPts val="400"/>
              </a:spcAft>
              <a:buNone/>
            </a:pPr>
            <a:r>
              <a:rPr lang="en-US" sz="2800" baseline="-40000" dirty="0">
                <a:solidFill>
                  <a:srgbClr val="1F2937"/>
                </a:solidFill>
                <a:latin typeface="Courier New" pitchFamily="34" charset="0"/>
                <a:ea typeface="Courier New" pitchFamily="34" charset="-122"/>
                <a:cs typeface="Courier New" pitchFamily="34" charset="-120"/>
              </a:rPr>
              <a:t>c</a:t>
            </a:r>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 + T</a:t>
            </a:r>
            <a:pPr indent="0" marL="0">
              <a:spcAft>
                <a:spcPts val="400"/>
              </a:spcAft>
              <a:buNone/>
            </a:pPr>
            <a:r>
              <a:rPr lang="en-US" sz="2800" baseline="-40000" dirty="0">
                <a:solidFill>
                  <a:srgbClr val="1F2937"/>
                </a:solidFill>
                <a:latin typeface="Courier New" pitchFamily="34" charset="0"/>
                <a:ea typeface="Courier New" pitchFamily="34" charset="-122"/>
                <a:cs typeface="Courier New" pitchFamily="34" charset="-120"/>
              </a:rPr>
              <a:t>m</a:t>
            </a:r>
            <a:pPr indent="0" marL="0">
              <a:spcAft>
                <a:spcPts val="400"/>
              </a:spcAft>
              <a:buNone/>
            </a:pPr>
            <a:r>
              <a:rPr lang="en-US" sz="2800" dirty="0">
                <a:solidFill>
                  <a:srgbClr val="1F2937"/>
                </a:solidFill>
                <a:latin typeface="Courier New" pitchFamily="34" charset="0"/>
                <a:ea typeface="Courier New" pitchFamily="34" charset="-122"/>
                <a:cs typeface="Courier New" pitchFamily="34" charset="-120"/>
              </a:rPr>
              <a:t>)</a:t>
            </a:r>
            <a:endParaRPr lang="en-US" sz="2800" dirty="0"/>
          </a:p>
        </p:txBody>
      </p:sp>
      <p:sp>
        <p:nvSpPr>
          <p:cNvPr id="6" name="Text 3"/>
          <p:cNvSpPr txBox="1"/>
          <p:nvPr/>
        </p:nvSpPr>
        <p:spPr>
          <a:xfrm>
            <a:off x="640080" y="3144520"/>
            <a:ext cx="10911535" cy="29819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c</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is the cache access time; T</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m</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is the main memory access time</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 a miss the cache is checked first, so a miss costs T</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c</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 T</a:t>
            </a:r>
            <a:pPr algn="l" marL="304800" indent="-304800">
              <a:spcAft>
                <a:spcPts val="1000"/>
              </a:spcAft>
              <a:buSzPct val="100000"/>
              <a:buChar char="•"/>
            </a:pPr>
            <a:r>
              <a:rPr lang="en-US" sz="2600" baseline="-40000" dirty="0">
                <a:solidFill>
                  <a:srgbClr val="1F2937"/>
                </a:solidFill>
                <a:latin typeface="Calibri" pitchFamily="34" charset="0"/>
                <a:ea typeface="Calibri" pitchFamily="34" charset="-122"/>
                <a:cs typeface="Calibri" pitchFamily="34" charset="-120"/>
              </a:rPr>
              <a:t>m</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Hit ratios of 0.9 and higher are common</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average access time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548640" y="1280160"/>
            <a:ext cx="11094415" cy="1935480"/>
          </a:xfrm>
          <a:prstGeom prst="roundRect">
            <a:avLst>
              <a:gd name="adj" fmla="val 4724"/>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T</a:t>
            </a:r>
            <a:pPr indent="0" marL="0">
              <a:spcAft>
                <a:spcPts val="400"/>
              </a:spcAft>
              <a:buNone/>
            </a:pPr>
            <a:r>
              <a:rPr lang="en-US" sz="2600" baseline="-40000" dirty="0">
                <a:solidFill>
                  <a:srgbClr val="1F2937"/>
                </a:solidFill>
                <a:latin typeface="Courier New" pitchFamily="34" charset="0"/>
                <a:ea typeface="Courier New" pitchFamily="34" charset="-122"/>
                <a:cs typeface="Courier New" pitchFamily="34" charset="-120"/>
              </a:rPr>
              <a:t>c</a:t>
            </a:r>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 = 100 ns,  T</a:t>
            </a:r>
            <a:pPr indent="0" marL="0">
              <a:spcAft>
                <a:spcPts val="400"/>
              </a:spcAft>
              <a:buNone/>
            </a:pPr>
            <a:r>
              <a:rPr lang="en-US" sz="2600" baseline="-40000" dirty="0">
                <a:solidFill>
                  <a:srgbClr val="1F2937"/>
                </a:solidFill>
                <a:latin typeface="Courier New" pitchFamily="34" charset="0"/>
                <a:ea typeface="Courier New" pitchFamily="34" charset="-122"/>
                <a:cs typeface="Courier New" pitchFamily="34" charset="-120"/>
              </a:rPr>
              <a:t>m</a:t>
            </a:r>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 = 1000 ns,  h = 0.9</a:t>
            </a:r>
            <a:endParaRPr lang="en-US" sz="2600" dirty="0"/>
          </a:p>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Miss cost = T</a:t>
            </a:r>
            <a:pPr indent="0" marL="0">
              <a:spcAft>
                <a:spcPts val="400"/>
              </a:spcAft>
              <a:buNone/>
            </a:pPr>
            <a:r>
              <a:rPr lang="en-US" sz="2600" baseline="-40000" dirty="0">
                <a:solidFill>
                  <a:srgbClr val="1F2937"/>
                </a:solidFill>
                <a:latin typeface="Courier New" pitchFamily="34" charset="0"/>
                <a:ea typeface="Courier New" pitchFamily="34" charset="-122"/>
                <a:cs typeface="Courier New" pitchFamily="34" charset="-120"/>
              </a:rPr>
              <a:t>c</a:t>
            </a:r>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 + T</a:t>
            </a:r>
            <a:pPr indent="0" marL="0">
              <a:spcAft>
                <a:spcPts val="400"/>
              </a:spcAft>
              <a:buNone/>
            </a:pPr>
            <a:r>
              <a:rPr lang="en-US" sz="2600" baseline="-40000" dirty="0">
                <a:solidFill>
                  <a:srgbClr val="1F2937"/>
                </a:solidFill>
                <a:latin typeface="Courier New" pitchFamily="34" charset="0"/>
                <a:ea typeface="Courier New" pitchFamily="34" charset="-122"/>
                <a:cs typeface="Courier New" pitchFamily="34" charset="-120"/>
              </a:rPr>
              <a:t>m</a:t>
            </a:r>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 = 1100 ns</a:t>
            </a:r>
            <a:endParaRPr lang="en-US" sz="2600" dirty="0"/>
          </a:p>
          <a:p>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T</a:t>
            </a:r>
            <a:pPr indent="0" marL="0">
              <a:spcAft>
                <a:spcPts val="400"/>
              </a:spcAft>
              <a:buNone/>
            </a:pPr>
            <a:r>
              <a:rPr lang="en-US" sz="2600" baseline="-40000" dirty="0">
                <a:solidFill>
                  <a:srgbClr val="1F2937"/>
                </a:solidFill>
                <a:latin typeface="Courier New" pitchFamily="34" charset="0"/>
                <a:ea typeface="Courier New" pitchFamily="34" charset="-122"/>
                <a:cs typeface="Courier New" pitchFamily="34" charset="-120"/>
              </a:rPr>
              <a:t>avg</a:t>
            </a:r>
            <a:pPr indent="0" marL="0">
              <a:spcAft>
                <a:spcPts val="400"/>
              </a:spcAft>
              <a:buNone/>
            </a:pPr>
            <a:r>
              <a:rPr lang="en-US" sz="2600" dirty="0">
                <a:solidFill>
                  <a:srgbClr val="1F2937"/>
                </a:solidFill>
                <a:latin typeface="Courier New" pitchFamily="34" charset="0"/>
                <a:ea typeface="Courier New" pitchFamily="34" charset="-122"/>
                <a:cs typeface="Courier New" pitchFamily="34" charset="-120"/>
              </a:rPr>
              <a:t> = 0.9 × 100 + 0.1 × 1100 = 200 ns</a:t>
            </a:r>
            <a:endParaRPr lang="en-US" sz="2600" dirty="0"/>
          </a:p>
        </p:txBody>
      </p:sp>
      <p:sp>
        <p:nvSpPr>
          <p:cNvPr id="6" name="Text 3"/>
          <p:cNvSpPr txBox="1"/>
          <p:nvPr/>
        </p:nvSpPr>
        <p:spPr>
          <a:xfrm>
            <a:off x="640080" y="3535680"/>
            <a:ext cx="10911535" cy="25908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Main memory alone takes 1000 ns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With the cache the average is 200 ns: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five times faster</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Cache hit and miss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pic>
        <p:nvPicPr>
          <p:cNvPr id="5" name="Image 0" descr="/home/claude/figs5/5.9_cache-memory_fig1.png">    </p:cNvPr>
          <p:cNvPicPr>
            <a:picLocks noChangeAspect="1"/>
          </p:cNvPicPr>
          <p:nvPr/>
        </p:nvPicPr>
        <p:blipFill>
          <a:blip r:embed="rId1"/>
          <a:stretch>
            <a:fillRect/>
          </a:stretch>
        </p:blipFill>
        <p:spPr>
          <a:xfrm>
            <a:off x="411480" y="621792"/>
            <a:ext cx="5705856" cy="5705856"/>
          </a:xfrm>
          <a:prstGeom prst="rect">
            <a:avLst/>
          </a:prstGeom>
        </p:spPr>
      </p:pic>
      <p:sp>
        <p:nvSpPr>
          <p:cNvPr id="6" name="Text 2"/>
          <p:cNvSpPr txBox="1"/>
          <p:nvPr/>
        </p:nvSpPr>
        <p:spPr>
          <a:xfrm>
            <a:off x="6483096" y="713232"/>
            <a:ext cx="5297119" cy="5522976"/>
          </a:xfrm>
          <a:prstGeom prst="roundRect">
            <a:avLst>
              <a:gd name="adj" fmla="val 2071"/>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Hit: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requested word is in the cache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Miss: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fetch it from main memory, loading a block of adjacent words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Hit ratio h = hits / (hits + misses)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Hit ratios of 0.9 and higher are common</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Cache hit / miss operation and hit ratio formula</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Mapping method 1: associative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mapping decides where a main memory block lives in the cache and where to look for it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Example used: 32K × 12 main memory, 512 × 12 cache, 15-bit CPU address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Advantage: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any block can go to any cache location: no conflict misses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Disadvantage: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associative search hardware is expensive; suited only to small caches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Associative mapping cache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pic>
        <p:nvPicPr>
          <p:cNvPr id="5" name="Image 0" descr="/home/claude/figs5/5.9_cache-memory_fig2.png">    </p:cNvPr>
          <p:cNvPicPr>
            <a:picLocks noChangeAspect="1"/>
          </p:cNvPicPr>
          <p:nvPr/>
        </p:nvPicPr>
        <p:blipFill>
          <a:blip r:embed="rId1"/>
          <a:stretch>
            <a:fillRect/>
          </a:stretch>
        </p:blipFill>
        <p:spPr>
          <a:xfrm>
            <a:off x="411480" y="621792"/>
            <a:ext cx="7780713" cy="5705856"/>
          </a:xfrm>
          <a:prstGeom prst="rect">
            <a:avLst/>
          </a:prstGeom>
        </p:spPr>
      </p:pic>
      <p:sp>
        <p:nvSpPr>
          <p:cNvPr id="6" name="Text 2"/>
          <p:cNvSpPr txBox="1"/>
          <p:nvPr/>
        </p:nvSpPr>
        <p:spPr>
          <a:xfrm>
            <a:off x="8557953" y="713232"/>
            <a:ext cx="3222262" cy="5522976"/>
          </a:xfrm>
          <a:prstGeom prst="roundRect">
            <a:avLst>
              <a:gd name="adj" fmla="val 3405"/>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The cache stores the full 15-bit address and the 12-bit data word together</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The CPU address is searched against all entries at once</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A match is a hit and the data is returned</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All numbers are in octal</a:t>
            </a:r>
            <a:endParaRPr lang="en-US" sz="20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Associative mapping cache (all numbers in octal). Adapted from M. Morris Mano, Computer System Architecture, Fig. 12-11.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Mapping method 2: direct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15-bit address splits into 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tag</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field (6 bits) and an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index</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field (9 bits)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index selects one of 512 cache lines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tag stored there is compared with the address tag to confirm a hit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Advantage: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fast; no search, only one tag comparison</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Disadvantage: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conflict misses: two addresses with the same index and different tags keep evicting each other</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With 8-word blocks, the 9-bit index = 6-bit block field + 3-bit word field; a miss loads a whole block of 8 words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Direct mapping cache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pic>
        <p:nvPicPr>
          <p:cNvPr id="5" name="Image 0" descr="/home/claude/figs5/5.9_cache-memory_fig3.png">    </p:cNvPr>
          <p:cNvPicPr>
            <a:picLocks noChangeAspect="1"/>
          </p:cNvPicPr>
          <p:nvPr/>
        </p:nvPicPr>
        <p:blipFill>
          <a:blip r:embed="rId1"/>
          <a:stretch>
            <a:fillRect/>
          </a:stretch>
        </p:blipFill>
        <p:spPr>
          <a:xfrm>
            <a:off x="1657960" y="621792"/>
            <a:ext cx="8875776"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Direct mapping cache organization. Adapted from M. Morris Mano, Computer System Architecture, Fig. 12-13.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Mapping method 3: set-associative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compromise: the cache is organised into sets of k locations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The index selects 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set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k tag–data pairs in it are searched associatively</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Two-way example: 512 sets, each with two tag–data pairs</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Cache word = 2 × (6 + 12) = 36 bits: a 512 × 36 cache holding 1024 words of main memory</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Advantage: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k words with the same index can coexist: fewer conflict misses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Disadvantage: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 little more complex than direct mapping; cost between direct and fully associative</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Two-way set-associative cache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pic>
        <p:nvPicPr>
          <p:cNvPr id="5" name="Image 0" descr="/home/claude/figs5/5.9_cache-memory_fig4.png">    </p:cNvPr>
          <p:cNvPicPr>
            <a:picLocks noChangeAspect="1"/>
          </p:cNvPicPr>
          <p:nvPr/>
        </p:nvPicPr>
        <p:blipFill>
          <a:blip r:embed="rId1"/>
          <a:stretch>
            <a:fillRect/>
          </a:stretch>
        </p:blipFill>
        <p:spPr>
          <a:xfrm>
            <a:off x="274320" y="828571"/>
            <a:ext cx="11643055" cy="5292298"/>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Two-way set-associative mapping cache. Adapted from M. Morris Mano, Computer System Architecture, Fig. 12-15.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Comparison of the three mapping methods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468880"/>
                <a:gridCol w="2926080"/>
                <a:gridCol w="2743200"/>
                <a:gridCol w="2926080"/>
              </a:tblGrid>
              <a:tr h="469392">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Property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Associative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Direct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Set-associative (k = 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792480">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Address partition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Full 15-bit address stored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Tag (6b) + Index (9b)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Tag (6b) + Index (9b)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92480">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Lookup method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Parallel associative search</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Index → compare 1 tag</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Index → compare k tags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792480">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Conflict misses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None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High (1 block per index)</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Low (k blocks per index)</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87680">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Hardware cost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Highest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Lowest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Moderate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6144768"/>
            <a:ext cx="11094415" cy="2743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Comparison of the three mapping methods (32K × 12 memory, 512 × 12 cache, 15-bit address)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Replacement algorithms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When a miss finds the target line or set full, a block must be evicted</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Random:</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choose any block; simple hardware, acceptable performance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FIFO (first-in, first-out):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evict the block that has been in the set longest; a few extra bits per line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LRU (least recently used):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evict the block used least recently; best hit ratio in practice; usage order tracked per set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Write policies and the valid bit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5.9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Write-through:</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write to cache and main memory together; memory always up to date (DMA gets current data); more bus traffic</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Write-back (copy-back):</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write to cache only; mark the block with 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dirty bit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update memory when the block is evicted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Write-back means fewer bus writes, but main memory can be stale</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Each cache word has 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valid bit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cleared at power-up: every first access is a miss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valid bit is set to 1 when a block is loaded, so old data is never supplied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5 summary (1 of 2)</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5.1 I/O interface:</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resolves four CPU–peripheral differences; four command types; isolated or memory-mapped addressing</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5.2 Modes of transfer:</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programmed I/O polls a flag; interrupt-initiated I/O lets the device interrupt; DMA moves whole blocks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5.3 Priority interrupt: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highest priority first, by software polling, daisy chain or parallel hardware (interrupt register, mask register, priority encoder)</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5.4 DMA:</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controller (AR, WC, control/status) moves a block by BR/BG cycle stealing and interrupts once at WC = 0</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5.5 Memory hierarchy: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registers, cache, main memory, auxiliary memory; fast and costly at the top, large and cheap at the bottom</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5 summary (2 of 2)</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5.6 Main memory: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SRAM, DRAM (needs refresh) and ROM (non-volatile); the address map makes each address select exactly one chip</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5.7 Auxiliary memory: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disk (random access, tracks and sectors) and tape (sequential); seek time dominates</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5.8 Associative memory: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searches all words in parallel using A, K and M; match logic in every cell</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5.9 Cache memory:</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works by locality of reference; associative, direct or set-associative mapping; random, FIFO or LRU replacement; write-through or write-back</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Key applications:</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DMA for disk and network I/O; ROM bootstrap loader starts the OS; associative memory in cache tag arrays and TLBs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theme/theme1.xml><?xml version="1.0" encoding="utf-8"?>
<a:theme xmlns:a="http://schemas.openxmlformats.org/drawingml/2006/main" name="Chandras Edu">
  <a:themeElements>
    <a:clrScheme name="Chandras Edu">
      <a:dk1>
        <a:srgbClr val="1F2937"/>
      </a:dk1>
      <a:lt1>
        <a:srgbClr val="FFFFFF"/>
      </a:lt1>
      <a:dk2>
        <a:srgbClr val="1565C0"/>
      </a:dk2>
      <a:lt2>
        <a:srgbClr val="F5F8FC"/>
      </a:lt2>
      <a:accent1>
        <a:srgbClr val="1565C0"/>
      </a:accent1>
      <a:accent2>
        <a:srgbClr val="FF8F00"/>
      </a:accent2>
      <a:accent3>
        <a:srgbClr val="546E7A"/>
      </a:accent3>
      <a:accent4>
        <a:srgbClr val="90CAF9"/>
      </a:accent4>
      <a:accent5>
        <a:srgbClr val="FFE0B2"/>
      </a:accent5>
      <a:accent6>
        <a:srgbClr val="2E7D32"/>
      </a:accent6>
      <a:hlink>
        <a:srgbClr val="1565C0"/>
      </a:hlink>
      <a:folHlink>
        <a:srgbClr val="546E7A"/>
      </a:folHlink>
    </a:clrScheme>
    <a:fontScheme name="Chandras 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 Unit 5</dc:title>
  <dc:subject>PptxGenJS Presentation</dc:subject>
  <dc:creator>CHANDRAS EDU</dc:creator>
  <cp:lastModifiedBy>CHANDRAS EDU</cp:lastModifiedBy>
  <cp:revision>1</cp:revision>
  <dcterms:created xsi:type="dcterms:W3CDTF">2026-10-24T12:29:37Z</dcterms:created>
  <dcterms:modified xsi:type="dcterms:W3CDTF">2026-10-24T12:29:37Z</dcterms:modified>
</cp:coreProperties>
</file>