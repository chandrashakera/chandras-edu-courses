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42F68C-99AB-FEE6-8F63-45B0623F8FB6}">
          <p14:sldIdLst>
            <p14:sldId id="256"/>
            <p14:sldId id="257"/>
          </p14:sldIdLst>
        </p14:section>
        <p14:section name="2.1 Combinational Circuits" id="{01097574-9F5D-8C18-3B43-3854E265937E}">
          <p14:sldIdLst>
            <p14:sldId id="258"/>
            <p14:sldId id="259"/>
            <p14:sldId id="260"/>
          </p14:sldIdLst>
        </p14:section>
        <p14:section name="2.2 Analysis Procedure" id="{F34F007D-F6FB-0DE2-355E-36B0657A91CF}">
          <p14:sldIdLst>
            <p14:sldId id="261"/>
            <p14:sldId id="262"/>
            <p14:sldId id="263"/>
            <p14:sldId id="264"/>
            <p14:sldId id="265"/>
            <p14:sldId id="266"/>
          </p14:sldIdLst>
        </p14:section>
        <p14:section name="2.3 Design Procedure" id="{FBA67945-006A-E6BC-97A3-EC9D764DD994}">
          <p14:sldIdLst>
            <p14:sldId id="267"/>
            <p14:sldId id="268"/>
            <p14:sldId id="269"/>
            <p14:sldId id="270"/>
            <p14:sldId id="271"/>
            <p14:sldId id="272"/>
            <p14:sldId id="273"/>
          </p14:sldIdLst>
        </p14:section>
        <p14:section name="2.4 Binary Adder" id="{B277C056-40E4-113B-8AC9-2A0C7FBBB5DD}">
          <p14:sldIdLst>
            <p14:sldId id="274"/>
            <p14:sldId id="275"/>
            <p14:sldId id="276"/>
            <p14:sldId id="277"/>
            <p14:sldId id="278"/>
            <p14:sldId id="279"/>
            <p14:sldId id="280"/>
            <p14:sldId id="281"/>
            <p14:sldId id="282"/>
          </p14:sldIdLst>
        </p14:section>
        <p14:section name="2.5 Binary Subtractor" id="{26699981-E940-7014-6A26-E8DECAA15831}">
          <p14:sldIdLst>
            <p14:sldId id="283"/>
            <p14:sldId id="284"/>
            <p14:sldId id="285"/>
            <p14:sldId id="286"/>
            <p14:sldId id="287"/>
            <p14:sldId id="288"/>
            <p14:sldId id="289"/>
            <p14:sldId id="290"/>
            <p14:sldId id="291"/>
          </p14:sldIdLst>
        </p14:section>
        <p14:section name="2.6 Decimal (BCD) Adder" id="{400FE7F3-9A0D-5873-D39C-2B270038CEF3}">
          <p14:sldIdLst>
            <p14:sldId id="292"/>
            <p14:sldId id="293"/>
            <p14:sldId id="294"/>
            <p14:sldId id="295"/>
            <p14:sldId id="296"/>
            <p14:sldId id="297"/>
            <p14:sldId id="298"/>
          </p14:sldIdLst>
        </p14:section>
        <p14:section name="2.7 Binary Multiplier" id="{27E2EA54-21BE-90F2-1775-851293FD9410}">
          <p14:sldIdLst>
            <p14:sldId id="299"/>
            <p14:sldId id="300"/>
            <p14:sldId id="301"/>
          </p14:sldIdLst>
        </p14:section>
        <p14:section name="2.8 Magnitude Comparator" id="{7E79E31E-68D6-F5FD-10B9-74C4070B5731}">
          <p14:sldIdLst>
            <p14:sldId id="302"/>
            <p14:sldId id="303"/>
            <p14:sldId id="304"/>
            <p14:sldId id="305"/>
            <p14:sldId id="306"/>
            <p14:sldId id="307"/>
            <p14:sldId id="308"/>
            <p14:sldId id="309"/>
          </p14:sldIdLst>
        </p14:section>
        <p14:section name="2.9 Decoders" id="{4882F190-1DA3-2325-F5A7-7A83A2A110C7}">
          <p14:sldIdLst>
            <p14:sldId id="310"/>
            <p14:sldId id="311"/>
            <p14:sldId id="312"/>
            <p14:sldId id="313"/>
            <p14:sldId id="314"/>
            <p14:sldId id="315"/>
            <p14:sldId id="316"/>
          </p14:sldIdLst>
        </p14:section>
        <p14:section name="2.10 Encoders" id="{C2958ED2-A28A-C7D2-8BBA-BFA0AF0EBCFD}">
          <p14:sldIdLst>
            <p14:sldId id="317"/>
            <p14:sldId id="318"/>
            <p14:sldId id="319"/>
            <p14:sldId id="320"/>
            <p14:sldId id="321"/>
            <p14:sldId id="322"/>
            <p14:sldId id="323"/>
          </p14:sldIdLst>
        </p14:section>
        <p14:section name="2.11 Multiplexers" id="{05BF7CB4-A2C7-8835-3905-525025EA3C48}">
          <p14:sldIdLst>
            <p14:sldId id="324"/>
            <p14:sldId id="325"/>
            <p14:sldId id="326"/>
            <p14:sldId id="327"/>
            <p14:sldId id="328"/>
            <p14:sldId id="329"/>
            <p14:sldId id="330"/>
            <p14:sldId id="331"/>
            <p14:sldId id="332"/>
          </p14:sldIdLst>
        </p14:section>
        <p14:section name="2.12 Sequential Circuits" id="{99F7EFB1-1BB7-B2E0-61CD-1E0507E7C688}">
          <p14:sldIdLst>
            <p14:sldId id="333"/>
            <p14:sldId id="334"/>
            <p14:sldId id="335"/>
          </p14:sldIdLst>
        </p14:section>
        <p14:section name="2.13 Latches" id="{C362032A-39BB-9A80-4372-6F2B8D9E7D92}">
          <p14:sldIdLst>
            <p14:sldId id="336"/>
            <p14:sldId id="337"/>
            <p14:sldId id="338"/>
            <p14:sldId id="339"/>
            <p14:sldId id="340"/>
            <p14:sldId id="341"/>
          </p14:sldIdLst>
        </p14:section>
        <p14:section name="2.14 Flip-Flops" id="{9D71F0B3-17FF-4B3C-9126-4DFB194E5ADD}">
          <p14:sldIdLst>
            <p14:sldId id="342"/>
            <p14:sldId id="343"/>
            <p14:sldId id="344"/>
            <p14:sldId id="345"/>
            <p14:sldId id="346"/>
            <p14:sldId id="347"/>
            <p14:sldId id="348"/>
            <p14:sldId id="349"/>
            <p14:sldId id="350"/>
          </p14:sldIdLst>
        </p14:section>
        <p14:section name="2.15 Analysis of Clocked Sequential Circuits" id="{4D005CA7-BB45-FE96-D3E7-227A7EE0DDD1}">
          <p14:sldIdLst>
            <p14:sldId id="351"/>
            <p14:sldId id="352"/>
            <p14:sldId id="353"/>
            <p14:sldId id="354"/>
            <p14:sldId id="355"/>
          </p14:sldIdLst>
        </p14:section>
        <p14:section name="2.16 Registers" id="{C3A76910-8A3B-4E49-3B2A-285FFCC38A9A}">
          <p14:sldIdLst>
            <p14:sldId id="356"/>
            <p14:sldId id="357"/>
            <p14:sldId id="358"/>
            <p14:sldId id="359"/>
            <p14:sldId id="360"/>
          </p14:sldIdLst>
        </p14:section>
        <p14:section name="2.17 Shift Registers" id="{45C871EA-4F24-CA88-562F-93FAD16CC7BC}">
          <p14:sldIdLst>
            <p14:sldId id="361"/>
            <p14:sldId id="362"/>
            <p14:sldId id="363"/>
            <p14:sldId id="364"/>
            <p14:sldId id="365"/>
            <p14:sldId id="366"/>
            <p14:sldId id="367"/>
            <p14:sldId id="368"/>
            <p14:sldId id="369"/>
            <p14:sldId id="370"/>
          </p14:sldIdLst>
        </p14:section>
        <p14:section name="2.18 Ripple Counters" id="{2EB7183B-306C-C460-F14B-AA4BF737A9C8}">
          <p14:sldIdLst>
            <p14:sldId id="371"/>
            <p14:sldId id="372"/>
            <p14:sldId id="373"/>
            <p14:sldId id="374"/>
            <p14:sldId id="375"/>
            <p14:sldId id="376"/>
            <p14:sldId id="377"/>
          </p14:sldIdLst>
        </p14:section>
        <p14:section name="2.19 Synchronous Counters" id="{0613E714-5C76-0474-FF1B-64E76771FD92}">
          <p14:sldIdLst>
            <p14:sldId id="378"/>
            <p14:sldId id="379"/>
            <p14:sldId id="380"/>
            <p14:sldId id="381"/>
            <p14:sldId id="382"/>
            <p14:sldId id="383"/>
            <p14:sldId id="384"/>
            <p14:sldId id="385"/>
          </p14:sldIdLst>
        </p14:section>
        <p14:section name="2.20 Other Counters" id="{55C5E317-3C3A-CD9C-7F08-C5CBBBA17753}">
          <p14:sldIdLst>
            <p14:sldId id="386"/>
            <p14:sldId id="387"/>
            <p14:sldId id="388"/>
            <p14:sldId id="389"/>
            <p14:sldId id="390"/>
            <p14:sldId id="391"/>
            <p14:sldId id="392"/>
          </p14:sldIdLst>
        </p14:section>
        <p14:section name="Unit summary" id="{5D121151-E38D-17BB-4790-06FC14A9206C}">
          <p14:sldIdLst>
            <p14:sldId id="393"/>
          </p14:sldIdLst>
        </p14:section>
        <p14:section name="Unit summary (cont.)" id="{9B0AC372-4F56-C7B3-A383-C12305966F1D}">
          <p14:sldIdLst>
            <p14:sldId id="3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01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Unit 2. We build combinational circuits first: adders, subtractors, multipliers, comparators, decoders, encoders and multiplexers. Then we add memory with latches and flip-flops and build registers and counters.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topics in two groups. Topics 2.1 to 2.11 are combinational logic, and topics 2.12 to 2.20 are sequential logic.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builds real circuits from gates. All of them share one property, and this topic names it.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inputs always give the same output. A circuit with feedback can get stuck or keep changing, and that is memory, which a combinational circuit must not have.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combinational circuit has this shape: n inputs in, m outputs out. Each output is a Boolean function of the inputs, with no feedback.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means starting from a circuit diagram and finding what it does. You use it whenever someone hands you a circuit you did not design.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Labelling first is slower but far less error-prone. Ask students why naming the in-between signals helps.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for Worked Example 1: F = A′B + AB′. Follow the two AND gates into the OR 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each row from the equation. The result is the XOR function, here made from three kinds of gates instead of one XOR gate.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Circuit for Worked Example 2: F = AB + C. Label the AND gate output w₁ first.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give the final expression. Notice that C alone can make F equal 1, whatever A and B 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is the opposite of analysis: start from a description and end with a logic diagram. Every circuit in this unit was built with this same procedure.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in the notes: two inputs A, B with F = 1 when exactly one input is 1. The 1-rows give F = A′B + AB′, which is already simplest because the two minterms are diagonal on the K-map. The result is the same circuit as in the analysis topic, equivalent to one XOR gate.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boxes in order. The same four steps apply to every circuit in this unit.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NOT gates, two AND gates and one OR gate give the same function as a single XOR gate. The function is common enough to have its own gate symbol.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is 1 for the rows with two or three 1s. Next the K-map groups the minterms.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overlapping pairs give F = AB + AC + BC. All three pairs share cell m7, and a 1-cell can belong to more than one group.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AND gates, one per term in F, feed a single three-input OR gate: 4 gates in total. Ask which gate produces which of the terms AB, AC and BC.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 is one of the most basic operations in a computer. We build an adder in three steps: half adder, full adder, and a chain of full adders.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equations can be read straight off the truth table: the sum column is XOR and the carry column is AND. Check each row of the table against S = A ⊕ B and C = A · 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XOR gate makes the sum and one AND gate makes the carry. Trace the inputs A and B to both gates: each input drives the XOR and the AND.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carry-out is 1 whenever at least two of the three inputs are 1: a majority function. The extra carry-in is what lets full adders be chained.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avoids wiring the equations from scratch. No three-input gate is needed.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adder built from two half adders and one OR gate. Follow A and B into HA₁, then S₁ and C_in into HA₂.</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two 4-bit numbers takes four full adders. C₀ is the carry into the first stage and C₄ is the final carry-out.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full adders, each carry-out feeding the next carry-in. C₀ is the carry into the very first (rightmost) stage, normally tied to 0; C₄ is the final carry-out.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position has two 1s, so no carry is generated at any stage. Try 0111 + 0011 to see carries ripple.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subtraction like addition: half subtractor, full subtractor, then a trick that lets one circuit do both operations.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is exactly XOR, the same as a half adder sum. The borrow is 1 only when A = 0 and B = 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XOR gate makes the difference, one NOT + AND gate makes the borrow. Notice that only the borrow needs the inverter on 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is the same equation as the full adder sum. The borrow equation is similar to the carry equation, with A inverted.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HS₁ computes A−B and HS₂ then subtracts B_in from that result. B₁ and B₂ can never both be 1, so OR-ing them gives the correct borrow-out.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full adders and four XOR gates serve both operations. Only the single control bit M changes.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 line that flips this gate also becomes the first stage’s carry-in. For the XOR gate: M = 0 passes B and M = 1 gives B′.</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 0 adds, M = 1 subtracts; V = C₃ ⊕ C₄ flags overflow. Same four full adders as the ripple carry adder, with one XOR gate added in front of each B input.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hardware, both operations. The discarded carry-out of 1 is normal during subtraction when A ≥ B, and it is not an overflow.</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BCD adder reuses the binary adder and adds one correction step. BCD uses the patterns 0000–1001 for digits 0–9, and 1010–1111 never occur.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+ 9 = 18 is 10010 in binary, which is not valid BCD. The next two slides list every sum from 0 to 19.</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binary sum Z and the correct BCD sum S match column for column up to 9. Notice the output carry stays 0 for all of these rows.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carry is 1 exactly when the correction is needed and carries into the next decade. Compare the last column with the raw sum: it is lower by 10 in every row from 10 to 19.</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adder adds 0110 if Output carry = 1, or 0000 if it is 0. The Output carry wire connects straight to the 4 and 2 bit positions of the constant; the other two positions are tied low. S is always valid BCD, and Output carry is the carry into the next decade.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 alone is 15, so the Z₈Z₄ term triggers the correction. The correction adder then adds 0110 to 1111.</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shows why the adder’s own carry K must be part of the condition. Ask students what the answer would be if only Z were checked.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binary multiplier is a grid of AND gates plus adders: the two building blocks from the previous topics wired in a new arrangement.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P₀ is just A₀B₀. Column P₁ adds two bits with a half adder, and column P₂ adds A₁B₁ to that carry with another half adder; the final carry becomes P₃.</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AND gate per partial-product bit and two half adders sum the columns. Verify with A = 11 (3), B = 11 (3): A₁B₀ = 1 and A₀B₁ = 1 give P₁ = 0 with a carry; A₁B₁ = 1 plus the carry gives P₂ = 0 and P₃ = 1. The product 1001 is 9 = 3 × 3. Wider multipliers follow the same pattern.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magnitude comparator reports which of two binary numbers is larger, using three mutually exclusive outputs. Exactly one of them is 1.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read off directly, with no K-map needed. Exactly one output is 1 for any pair of inputs.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incoming cascade already says GT or LT, a stage passes it through unchanged. Only if it says EQ does the stage’s own bit comparison decide.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CMP₁ compares A₁ with B₁ and outputs (GT, EQ, LT). Its EQ output is the x₁ signal. CMP₀ applies the rule: if CMP₁ already decided, pass that decision through; only if CMP₁ says EQ does CMP₀ decide.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cascade line carries the full running (GT, EQ, LT) decision from every bit compared so far. The cascade entering CMP₃ is fixed at (0, 1, 0). Every earlier stage’s outputs are consumed internally by the next stage.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textbook builds the same 4-bit comparator directly from gates. The x terms are XNOR outputs, one for each bit position.</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XNOR gates produce x₃…x₀, which feed the AND and OR gates for A = B, A &gt; B and A &lt; B. The three output gates correspond to the three equations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from bit 3 to bit 0. A difference only counts at the first position where the bits differ.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decoder converts n input lines into up to 2ⁿ output lines, with at most one output active. It is used from memory addressing to instruction decoding.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output is a minterm of the inputs. This is the hardware form of the minterm step from the K-map topic.</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2-to-4 decoder with enable: each output AND gate also receives E, so all outputs are 0 when E = 0. Compare with the plain decoder: the only change is the third input on each AND gate.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3-to-8 decoder selects exactly one of eight outputs. Here input 101 (5) activates only D₅.</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sum-of-products idea built directly in hardware. A decoder with enable is also exactly what a demultiplexer is.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 = Σm(1,2) = D₁ + D₂ from a 2-to-4 decoder and one OR gate. Only two of the four outputs are used; the others are left unconnected.</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F(A,B,C) = Σm(1,3,5,6): decoder outputs D₁, D₃, D₅ and D₆ feed one four-input OR gate. The decoder-plus-OR approach trades gate-minimisation effort for a mechanical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encoder is the inverse of a decoder. It has up to 2ⁿ inputs, exactly one of them active, and produces the n-bit code of the active input.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plain encoder reads each output straight from which inputs include that bit position in their index. The worked example shows D₅ active: only A₂ and A₀ are 1.</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input and output of the 8-to-3 encoder is drawn individually. Each output is an OR of four input lines.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resolves conflicts: once D₃ is 1, the lower inputs genuinely do not matter, which is why the table has X entries. Ask students what would happen to a plain encoder with D₂ and D₁ both active.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from the bottom up: D₃ wins whatever the other inputs are. The valid flag V is 0 only in the first row.</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block, the priority encoder looks like a plain encoder with one extra output pin, V. The gate-level circuit comes next.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Four-input priority encoder: A₁ = D₃ + D₂, A₀ = D₃ + D₂′D₁, V = D₃ + D₂ + D₁ + D₀. A₁ is 1 whenever D₃ or D₂ is active. D₁ sets A₀ only if D₂ is not active (D₂′), since D₂ outranks it. V is built from two 2-input OR gates feeding a third, and is 1 when any input is active.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a decoder routes one input to many outputs, a multiplexer does the reverse. This simple idea can implement almost any Boolean function.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select lines as an address that picks which input is connected to the output at that instant. Compare this with a decoder, which does the opposite.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term matching the current select value can be 1, so Y never mixes inputs. This is why the MUX can be read as a sum of minterms.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4-to-1 MUX: the 2-bit select address S₁S₀ (entering the top) picks which of I₀–I₃ reaches the output Y. Try S₁S₀ = 10: the output is I₂.</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Gate-level view: four AND gates, each enabled by one select combination, feed one OR gate. Only one AND gate can pass its data input at a time.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constants are ground and supply voltage in real hardware. The MUX’s internal structure is the entire circuit.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Tying constants to the four data inputs, with A and B as the select lines, turns the MUX itself into an XOR circuit: no AND, OR or XOR gates anywhere. Constants are ground and supply voltage in real hardware.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decoder with an enable pin can be used as a demultiplexer for free, and vice versa. Both circuits have the same structure; only the role of the extra input differs.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1-to-4 DEMUX: the select address S₁S₀ picks which single output D is routed to; every other output stays 0. Try S₁S₀ = 01: D appears at Y₁ and all other outputs are 0.</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was combinational. A CPU cannot be built from combinational logic alone, because a program counter has to remember which instruction comes next.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count is irrelevant. What makes a circuit sequential is the feedback path that stores state.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and the next state both come from the combinational block, and the present state loops back from memory to influence the next computation. Hide the present-state feedback line and the diagram becomes combinational.</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latch is the simplest sequential circuit: a single stored bit built from ordinary gates cross-wired so each output feeds the other gate.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 latch with two cross-coupled NOR gates. Top gate: Q = NOR(R, Q′). Bottom gate: Q′ = NOR(S, Q).</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cross-coupled NOR gates give two stable states, which is exactly what is needed to remember one bit. S = R = 1 is the forbidden combination.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Set, the latch still remembers the 1 even though neither input asserts it any more. Hold is the state in which both inputs are 0.</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glitch on D while EN is high passes straight through to Q. Gated is not the same as clocked: EN is a level, not an edge.</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AND gates gate D and D′ with EN before they reach the SR core. While EN = 0 neither AND gate passes anything, so the SR core holds.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flip-flop is edge-triggered. That single change is what makes reliable counters, registers and an entire CPU datapath possible.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master is already locked when Q changes, there is no race however long either clock phase lasts. Ask students why one latch alone would race-around.</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two latches: while CLK = 1 the master is transparent and the slave is latched; while CLK = 0 the master is locked and the slave copies Y to Q. The inverter in the clock path gives the slave the opposite phase.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 (Set/Reset), D (single data line), JK (no forbidden state) and T (Toggle). The CLK triangle at bottom-left is present on all four, and every type has the same Q and Q′ outputs.</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CLK = 0, both steering gates output 1 regardless of S/R, so the cross-coupled pair simply holds its last state. While CLK = 1, S and R can set or reset the latch, which is why this simple design still race-arounds if CLK stays high too long and why the master–slave structure is needed in practice.</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excitation table in the direction needed for design: given the transition you want, what inputs are required. D and T have no don’t-cares.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 entries are what makes counter design simple, as the synchronous counter topic shows. Compare with the D and T tables on the previous slide, which have none.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D relative to the active clock edge: the window before the edge is the setup time and the window after it is the hold time. Setup time and hold time together form a window around the clock edge.</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 skew can make a flip-flop sample data before it is stable, even if the design looks correct on paper. This is why designs budget margin instead of assuming perfect timing.</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Sequential circuits have their own analysis procedure. It leads from a flip-flop circuit back to equations, a state table and a state diagram.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 X ⊕ Q, and the flip-flop’s own Q feeds straight back as one of the XOR’s inputs. The output Y is simply Q.</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value reaches the D input is exactly what the flip-flop holds after the next clock edge. Next we tabulate every present state and input.</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row like this: in state Q = 0, when X = 1 arrives the next state becomes 1, and the output Y was 0. The table has four rows for one flip-flop and one input.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 0 keeps the circuit in its current state and X = 1 always flips it. Each circle’s output Y is shown attached to the state, since Y depends only on the present state. One circle per state, and a directed arrow for every present-state/input combination, labelled with the input. From state 0, an X = 0 self-loop stays at 0 and an X = 1 arrow leaves for state 1. State 1 behaves as the mirror image. This circuit is a T flip-flop in disguise: D = X ⊕ Q is the T characteristic equation with T renamed X.</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flip-flop stores one bit. Several flip-flops sharing one clock form a register that can hold and move multi-bit data.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circuit behind every named register in a CPU, shown down at flip-flop level. The LOAD control comes next.</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 flip-flops share one clock, and each has its own data input. An active-low Clear input resets the register.</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 0 selects input 0 (Q fed back, hold); LOAD = 1 selects input 1 (new data I, load). Every bit repeats this exact circuit.</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MUX decides, clock by clock, whether new data is allowed in at all. Ask students what Q would be if LOAD stayed 0 throughout.</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shift register is a chain of flip-flops where each stage’s D input is the previous stage’s Q. Serial or parallel refers only to how data enters and leaves.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letter is how data enters and the second is how it leaves. The next slide shows the basic chain.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 feeds the next D on every clock edge. The serial input enters the first stage and the serial output leaves the last stage.</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enters at Din and exits one bit at a time from the last stage, Q₃. After four clocks, the first bit entered has reached Q₃.</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chain and serial input, but every stage’s Q is also a separate pin. After four clocks the bits Q₀–Q₃ are read together.</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Leaving SHIFT/LOAD′ at 0 after the load clock keeps reloading the same data instead of shifting. PIPO is the same as a plain register.</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PISO cell. SHIFT/LOAD′ = 1 selects Q(n−1), shifting in from the previous stage; 0 selects In, loading this stage’s parallel bit directly. The final stage’s Q is the serial output.</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ties the very first stage’s shift input low when there is no earlier stage to shift from. I₀–I₃ are the four parallel-load pins, and every MUX shares the same SHIFT/LOAD′ control line and CLK.</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Parallel-in, parallel-out: no connections between stages. All four bits load together on the clock edge.</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PISO and PIPO need this control line. SISO and SIPO do not, since they have no parallel-load path.</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counter cycles through a fixed sequence of binary states on every clock pulse. In a ripple counter only the first flip-flop gets the external clock.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successive Q is half the frequency of the previous one, so a ripple counter is also a divide-by-2ⁿ circuit. The sequence is plain binary counting.</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Three-bit ripple up-counter: negative-edge T flip-flops (bubble on the clock input), each clocked by the previous Q. Follow the clock from the external pin to FF0, then from Q₀ to FF1 and from Q₁ to FF2.</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falls exactly when Q rises, so driving the next stage from Q′ flips which transition ripples the carry forward. Check each of the four rows of the table against this rule.</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Three-bit ripple down-counter: the same chain, each stage clocked by the previous Q′. Sequence: 111 → 110 → 101 → 100 → 011 → 010 → 001 → 000 → 111 … Compare the wiring with the up-counter: only the source of each clock changes.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 never settles at 1010; it flashes through it as a reset trigger. The trigger uses the bit pattern of the target count, not the number 10.</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Mod-10 ripple counter: a NAND gate detects 1010 (Q₃ = Q₁ = 1) and clears all four stages. Q₃ and Q₁ tap off the main chain and CLR′ runs along the bottom into every CLR pin.</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flip-flop shares one common clock, so all stages update at the same instant. That removes the accumulated ripple delay but needs extra logic for each stage’s inputs.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steps generalise to any finite state machine. Example: a 3-bit up-counter with JK flip-flops, state A B C with A the MSB.</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gives the present state, the next state and the J, K values that produce the transition. The X entries are don’t-cares.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K-map for JA: the 1 at m3 groups with don’t-care m7, giving JA = BC. Both J and K for flip-flop A end up equal to BC.</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K-map for KA: the 1 at m7 groups with don’t-care m3, giving KA = BC. The groups use the don’t-care cells.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clock triangles tap one CLK line: that single shared bus is the structural difference from the ripple counter. Compare this with the ripple counter, where each stage had its own clock.</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Three-bit synchronous up-counter: J and K of each flip-flop are tied together; all clocks share CLK. FF(C) always toggles, FF(B) takes C, and FF(A) takes the AND of B and C.</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Three-bit synchronous down-counter: inverters supply C′ and B′; the AND gate forms B′C′. Same three flip-flops and shared clock as the up-counter.</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ring and Johnson counters are built directly from a shift register. A decade counter is a general building block that we meet at the end. Read the box aloud and ask students to restate it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ring counter needs an explicit preset pulse before the first clock. It is the basis of LED chaser displays.</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Four-bit ring counter: Q₃ feeds back to D₀. Pre-load 1000 and watch the single 1 move one place per clock.</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state differs from its neighbour in one bit, which avoids decoding glitches. Identifying a state needs a 2-input gate per state.</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Four-bit Johnson counter: Q₃′ feeds back to D₀. Start from 0000 and watch the band of 1s grow and then shrink.</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compare the two counters on states, feedback, start-up and decoding. Ask which counter needs more decoding.</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Decade counter: counts 0000 to 1001, with a carry output at 9 for the next decade. A decade counter is any counter with 10 states that wraps 9 → 0: the ripple version adds a NAND reset gate, and a synchronous version needs no reset gate. The 7490 is a ripple decade counter, and the 74160/74162 family is synchronous with parallel load.</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combinational logic topics. Ask students which building block they would use to select one of eight memory chips.</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sequential logic topics and finish with where these blocks are used. Leave time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565C0"/>
          </a:solidFill>
          <a:ln/>
        </p:spPr>
      </p:sp>
      <p:sp>
        <p:nvSpPr>
          <p:cNvPr id="3" name="Text 1"/>
          <p:cNvSpPr/>
          <p:nvPr/>
        </p:nvSpPr>
        <p:spPr>
          <a:xfrm>
            <a:off x="548640" y="6473952"/>
            <a:ext cx="7315200" cy="274320"/>
          </a:xfrm>
          <a:prstGeom prst="rect">
            <a:avLst/>
          </a:prstGeom>
          <a:noFill/>
          <a:ln/>
        </p:spPr>
        <p:txBody>
          <a:bodyPr wrap="square" lIns="0" tIns="0" rIns="0" bIns="0" rtlCol="0" anchor="ctr"/>
          <a:lstStyle/>
          <a:p>
            <a:pPr marL="0" indent="0" algn="l">
              <a:buNone/>
            </a:pPr>
            <a:r>
              <a:rPr lang="en-US" sz="1200" dirty="0">
                <a:solidFill>
                  <a:srgbClr val="546E7A"/>
                </a:solidFill>
                <a:latin typeface="Calibri" pitchFamily="34" charset="0"/>
                <a:ea typeface="Calibri" pitchFamily="34" charset="-122"/>
                <a:cs typeface="Calibri" pitchFamily="34" charset="-120"/>
              </a:rPr>
              <a:t>CHANDRAS EDU  |  Computer Organization and Architecture  |  Unit 2</a:t>
            </a:r>
            <a:endParaRPr lang="en-US" sz="1200" dirty="0"/>
          </a:p>
        </p:txBody>
      </p:sp>
      <p:sp>
        <p:nvSpPr>
          <p:cNvPr id="4" name="Text 2"/>
          <p:cNvSpPr>
            <a:spLocks noGrp="1"/>
          </p:cNvSpPr>
          <p:nvPr>
            <p:ph type="title" idx="102" hasCustomPrompt="1"/>
          </p:nvPr>
        </p:nvSpPr>
        <p:spPr>
          <a:xfrm>
            <a:off x="548640" y="73152"/>
            <a:ext cx="9326880" cy="768096"/>
          </a:xfrm>
          <a:prstGeom prst="rect">
            <a:avLst/>
          </a:prstGeom>
          <a:noFill/>
          <a:ln/>
        </p:spPr>
        <p:txBody>
          <a:bodyPr wrap="square" rtlCol="0"/>
          <a:lstStyle>
            <a:lvl1pPr marL="0" indent="0" algn="l">
              <a:buNone/>
              <a:defRPr lang="en-US" sz="3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565C0"/>
          </a:solidFill>
          <a:ln/>
        </p:spPr>
      </p:sp>
      <p:sp>
        <p:nvSpPr>
          <p:cNvPr id="3" name="Text 1"/>
          <p:cNvSpPr>
            <a:spLocks noGrp="1"/>
          </p:cNvSpPr>
          <p:nvPr>
            <p:ph type="title" idx="101" hasCustomPrompt="1"/>
          </p:nvPr>
        </p:nvSpPr>
        <p:spPr>
          <a:xfrm>
            <a:off x="411480" y="36576"/>
            <a:ext cx="9509760" cy="475488"/>
          </a:xfrm>
          <a:prstGeom prst="rect">
            <a:avLst/>
          </a:prstGeom>
          <a:noFill/>
          <a:ln/>
        </p:spPr>
        <p:txBody>
          <a:bodyPr wrap="square" rtlCol="0"/>
          <a:lstStyle>
            <a:lvl1pPr marL="0" indent="0" algn="l">
              <a:buNone/>
              <a:defRPr lang="en-US" sz="28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a:spLocks noGrp="1"/>
          </p:cNvSpPr>
          <p:nvPr>
            <p:ph type="title" idx="101" hasCustomPrompt="1"/>
          </p:nvPr>
        </p:nvSpPr>
        <p:spPr>
          <a:xfrm>
            <a:off x="2651760" y="2286000"/>
            <a:ext cx="8961120" cy="137160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
        <p:nvSpPr>
          <p:cNvPr id="4" name="Text 1"/>
          <p:cNvSpPr>
            <a:spLocks noGrp="1"/>
          </p:cNvSpPr>
          <p:nvPr>
            <p:ph type="body" idx="102" hasCustomPrompt="1"/>
          </p:nvPr>
        </p:nvSpPr>
        <p:spPr>
          <a:xfrm>
            <a:off x="2651760" y="3657600"/>
            <a:ext cx="8961120" cy="822960"/>
          </a:xfrm>
          <a:prstGeom prst="rect">
            <a:avLst/>
          </a:prstGeom>
          <a:noFill/>
          <a:ln/>
        </p:spPr>
        <p:txBody>
          <a:bodyPr wrap="square" rtlCol="0"/>
          <a:lstStyle>
            <a:lvl1pPr marL="0" indent="0" algn="l">
              <a:buNone/>
              <a:defRPr lang="en-US" sz="2400" dirty="0">
                <a:solidFill>
                  <a:srgbClr val="FFFFFF"/>
                </a:solidFill>
                <a:latin typeface="Calibri" pitchFamily="34" charset="0"/>
                <a:ea typeface="Calibri" pitchFamily="34" charset="-122"/>
                <a:cs typeface="Calibri" pitchFamily="34" charset="-120"/>
              </a:defRPr>
            </a:lvl1pPr>
          </a:lstStyle>
          <a:p>
            <a:pPr marL="0" indent="0" algn="l">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2651760" y="2286000"/>
            <a:ext cx="8961120" cy="13716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Unit 2: Combinational and Sequential Logic</a:t>
            </a:r>
            <a:endParaRPr lang="en-US" sz="4000" dirty="0"/>
          </a:p>
        </p:txBody>
      </p:sp>
      <p:sp>
        <p:nvSpPr>
          <p:cNvPr id="3" name="Text 1"/>
          <p:cNvSpPr>
            <a:spLocks noGrp="1"/>
          </p:cNvSpPr>
          <p:nvPr>
            <p:ph type="body" idx="102" hasCustomPrompt="1"/>
          </p:nvPr>
        </p:nvSpPr>
        <p:spPr>
          <a:xfrm>
            <a:off x="2651760" y="3657600"/>
            <a:ext cx="8961120" cy="822960"/>
          </a:xfrm>
          <a:prstGeom prst="rect">
            <a:avLst/>
          </a:prstGeom>
          <a:noFill/>
          <a:ln/>
        </p:spPr>
        <p:txBody>
          <a:bodyPr wrap="square" lIns="0" tIns="0" rIns="0" bIns="0" rtlCol="0" anchor="t"/>
          <a:lstStyle/>
          <a:p>
            <a:pPr marL="0" indent="0" algn="l">
              <a:buNone/>
            </a:pPr>
            <a:r>
              <a:rPr lang="en-US" sz="2400" dirty="0">
                <a:solidFill>
                  <a:srgbClr val="FFFFFF"/>
                </a:solidFill>
                <a:latin typeface="Calibri" pitchFamily="34" charset="0"/>
                <a:ea typeface="Calibri" pitchFamily="34" charset="-122"/>
                <a:cs typeface="Calibri" pitchFamily="34" charset="-120"/>
              </a:rPr>
              <a:t>Computer Organization and Architecture</a:t>
            </a:r>
            <a:endParaRPr lang="en-US" sz="2400" dirty="0"/>
          </a:p>
        </p:txBody>
      </p:sp>
      <p:sp>
        <p:nvSpPr>
          <p:cNvPr id="4" name="Text 2"/>
          <p:cNvSpPr txBox="1"/>
          <p:nvPr/>
        </p:nvSpPr>
        <p:spPr>
          <a:xfrm>
            <a:off x="2651760" y="5120640"/>
            <a:ext cx="5486400" cy="457200"/>
          </a:xfrm>
          <a:prstGeom prst="rect">
            <a:avLst/>
          </a:prstGeom>
          <a:noFill/>
          <a:ln/>
        </p:spPr>
        <p:txBody>
          <a:bodyPr wrap="square" lIns="0" tIns="0" rIns="0" bIns="0"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CHANDRAS EDU</a:t>
            </a:r>
            <a:endParaRPr lang="en-US" sz="2400" dirty="0"/>
          </a:p>
        </p:txBody>
      </p:sp>
      <p:sp>
        <p:nvSpPr>
          <p:cNvPr id="5" name="Text 3"/>
          <p:cNvSpPr txBox="1"/>
          <p:nvPr/>
        </p:nvSpPr>
        <p:spPr>
          <a:xfrm>
            <a:off x="2651760" y="5577840"/>
            <a:ext cx="5486400" cy="365760"/>
          </a:xfrm>
          <a:prstGeom prst="rect">
            <a:avLst/>
          </a:prstGeom>
          <a:noFill/>
          <a:ln/>
        </p:spPr>
        <p:txBody>
          <a:bodyPr wrap="square" lIns="0" tIns="0" rIns="0" bIns="0" rtlCol="0" anchor="ctr"/>
          <a:lstStyle/>
          <a:p>
            <a:pPr marL="0" indent="0">
              <a:buNone/>
            </a:pPr>
            <a:r>
              <a:rPr lang="en-US" sz="1800" dirty="0">
                <a:solidFill>
                  <a:srgbClr val="546E7A"/>
                </a:solidFill>
                <a:latin typeface="Calibri" pitchFamily="34" charset="0"/>
                <a:ea typeface="Calibri" pitchFamily="34" charset="-122"/>
                <a:cs typeface="Calibri" pitchFamily="34" charset="-120"/>
              </a:rPr>
              <a:t>Never stop learning</a:t>
            </a:r>
            <a:endParaRPr lang="en-US" sz="1800" dirty="0"/>
          </a:p>
        </p:txBody>
      </p:sp>
      <p:sp>
        <p:nvSpPr>
          <p:cNvPr id="6" name="Shape 4"/>
          <p:cNvSpPr/>
          <p:nvPr/>
        </p:nvSpPr>
        <p:spPr>
          <a:xfrm>
            <a:off x="731520" y="2697480"/>
            <a:ext cx="1463040" cy="1463040"/>
          </a:xfrm>
          <a:prstGeom prst="roundRect">
            <a:avLst>
              <a:gd name="adj" fmla="val 7500"/>
            </a:avLst>
          </a:prstGeom>
          <a:solidFill>
            <a:srgbClr val="FF8F00"/>
          </a:solidFill>
          <a:ln w="6350">
            <a:solidFill>
              <a:srgbClr val="FF8F00"/>
            </a:solidFill>
            <a:prstDash val="solid"/>
          </a:ln>
        </p:spPr>
      </p:sp>
      <p:sp>
        <p:nvSpPr>
          <p:cNvPr id="7" name="Text 5"/>
          <p:cNvSpPr txBox="1"/>
          <p:nvPr/>
        </p:nvSpPr>
        <p:spPr>
          <a:xfrm>
            <a:off x="731520" y="2697480"/>
            <a:ext cx="1463040" cy="1463040"/>
          </a:xfrm>
          <a:prstGeom prst="rect">
            <a:avLst/>
          </a:prstGeom>
          <a:noFill/>
          <a:ln/>
        </p:spPr>
        <p:txBody>
          <a:bodyPr wrap="square" lIns="0" tIns="0" rIns="0" bIns="0" rtlCol="0" anchor="ctr"/>
          <a:lstStyle/>
          <a:p>
            <a:pPr marL="0" indent="0" algn="ctr">
              <a:buNone/>
            </a:pPr>
            <a:r>
              <a:rPr lang="en-US" sz="6000" b="1" dirty="0">
                <a:solidFill>
                  <a:srgbClr val="1F2937"/>
                </a:solidFill>
                <a:latin typeface="Calibri" pitchFamily="34" charset="0"/>
                <a:ea typeface="Calibri" pitchFamily="34" charset="-122"/>
                <a:cs typeface="Calibri" pitchFamily="34" charset="-120"/>
              </a:rPr>
              <a:t>2</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640080" y="1280160"/>
            <a:ext cx="5577840" cy="5029200"/>
          </a:xfrm>
          <a:prstGeom prst="rect">
            <a:avLst/>
          </a:prstGeom>
          <a:noFill/>
          <a:ln/>
        </p:spPr>
        <p:txBody>
          <a:bodyPr wrap="square" lIns="0" tIns="0" rIns="0" bIns="0" rtlCol="0" anchor="t"/>
          <a:lstStyle/>
          <a:p>
            <a:pPr marL="0" indent="0">
              <a:buNone/>
            </a:pPr>
            <a:r>
              <a:rPr lang="en-US" sz="2000" b="1" dirty="0">
                <a:solidFill>
                  <a:srgbClr val="1565C0"/>
                </a:solidFill>
                <a:latin typeface="Calibri" pitchFamily="34" charset="0"/>
                <a:ea typeface="Calibri" pitchFamily="34" charset="-122"/>
                <a:cs typeface="Calibri" pitchFamily="34" charset="-120"/>
              </a:rPr>
              <a:t>2.1   </a:t>
            </a:r>
            <a:r>
              <a:rPr lang="en-US" sz="2000" dirty="0">
                <a:solidFill>
                  <a:srgbClr val="1F2937"/>
                </a:solidFill>
                <a:latin typeface="Calibri" pitchFamily="34" charset="0"/>
                <a:ea typeface="Calibri" pitchFamily="34" charset="-122"/>
                <a:cs typeface="Calibri" pitchFamily="34" charset="-120"/>
              </a:rPr>
              <a:t>Combinational Circuits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2.2   </a:t>
            </a:r>
            <a:r>
              <a:rPr lang="en-US" sz="2000" dirty="0">
                <a:solidFill>
                  <a:srgbClr val="1F2937"/>
                </a:solidFill>
                <a:latin typeface="Calibri" pitchFamily="34" charset="0"/>
                <a:ea typeface="Calibri" pitchFamily="34" charset="-122"/>
                <a:cs typeface="Calibri" pitchFamily="34" charset="-120"/>
              </a:rPr>
              <a:t>Analysis Procedure</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2.3   </a:t>
            </a:r>
            <a:r>
              <a:rPr lang="en-US" sz="2000" dirty="0">
                <a:solidFill>
                  <a:srgbClr val="1F2937"/>
                </a:solidFill>
                <a:latin typeface="Calibri" pitchFamily="34" charset="0"/>
                <a:ea typeface="Calibri" pitchFamily="34" charset="-122"/>
                <a:cs typeface="Calibri" pitchFamily="34" charset="-120"/>
              </a:rPr>
              <a:t>Design Procedure</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2.4   </a:t>
            </a:r>
            <a:r>
              <a:rPr lang="en-US" sz="2000" dirty="0">
                <a:solidFill>
                  <a:srgbClr val="1F2937"/>
                </a:solidFill>
                <a:latin typeface="Calibri" pitchFamily="34" charset="0"/>
                <a:ea typeface="Calibri" pitchFamily="34" charset="-122"/>
                <a:cs typeface="Calibri" pitchFamily="34" charset="-120"/>
              </a:rPr>
              <a:t>Binary Adder</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2.5   </a:t>
            </a:r>
            <a:r>
              <a:rPr lang="en-US" sz="2000" dirty="0">
                <a:solidFill>
                  <a:srgbClr val="1F2937"/>
                </a:solidFill>
                <a:latin typeface="Calibri" pitchFamily="34" charset="0"/>
                <a:ea typeface="Calibri" pitchFamily="34" charset="-122"/>
                <a:cs typeface="Calibri" pitchFamily="34" charset="-120"/>
              </a:rPr>
              <a:t>Binary Subtractor</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2.6   </a:t>
            </a:r>
            <a:r>
              <a:rPr lang="en-US" sz="2000" dirty="0">
                <a:solidFill>
                  <a:srgbClr val="1F2937"/>
                </a:solidFill>
                <a:latin typeface="Calibri" pitchFamily="34" charset="0"/>
                <a:ea typeface="Calibri" pitchFamily="34" charset="-122"/>
                <a:cs typeface="Calibri" pitchFamily="34" charset="-120"/>
              </a:rPr>
              <a:t>Decimal (BCD) Adder</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2.7   </a:t>
            </a:r>
            <a:r>
              <a:rPr lang="en-US" sz="2000" dirty="0">
                <a:solidFill>
                  <a:srgbClr val="1F2937"/>
                </a:solidFill>
                <a:latin typeface="Calibri" pitchFamily="34" charset="0"/>
                <a:ea typeface="Calibri" pitchFamily="34" charset="-122"/>
                <a:cs typeface="Calibri" pitchFamily="34" charset="-120"/>
              </a:rPr>
              <a:t>Binary Multiplier</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2.8   </a:t>
            </a:r>
            <a:r>
              <a:rPr lang="en-US" sz="2000" dirty="0">
                <a:solidFill>
                  <a:srgbClr val="1F2937"/>
                </a:solidFill>
                <a:latin typeface="Calibri" pitchFamily="34" charset="0"/>
                <a:ea typeface="Calibri" pitchFamily="34" charset="-122"/>
                <a:cs typeface="Calibri" pitchFamily="34" charset="-120"/>
              </a:rPr>
              <a:t>Magnitude Comparator</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2.9   </a:t>
            </a:r>
            <a:r>
              <a:rPr lang="en-US" sz="2000" dirty="0">
                <a:solidFill>
                  <a:srgbClr val="1F2937"/>
                </a:solidFill>
                <a:latin typeface="Calibri" pitchFamily="34" charset="0"/>
                <a:ea typeface="Calibri" pitchFamily="34" charset="-122"/>
                <a:cs typeface="Calibri" pitchFamily="34" charset="-120"/>
              </a:rPr>
              <a:t>Decoders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2.10   </a:t>
            </a:r>
            <a:r>
              <a:rPr lang="en-US" sz="2000" dirty="0">
                <a:solidFill>
                  <a:srgbClr val="1F2937"/>
                </a:solidFill>
                <a:latin typeface="Calibri" pitchFamily="34" charset="0"/>
                <a:ea typeface="Calibri" pitchFamily="34" charset="-122"/>
                <a:cs typeface="Calibri" pitchFamily="34" charset="-120"/>
              </a:rPr>
              <a:t>Encoders</a:t>
            </a:r>
            <a:endParaRPr lang="en-US" sz="2000" dirty="0"/>
          </a:p>
        </p:txBody>
      </p:sp>
      <p:sp>
        <p:nvSpPr>
          <p:cNvPr id="5" name="Text 2"/>
          <p:cNvSpPr txBox="1"/>
          <p:nvPr/>
        </p:nvSpPr>
        <p:spPr>
          <a:xfrm>
            <a:off x="6309360" y="1280160"/>
            <a:ext cx="5577840" cy="5029200"/>
          </a:xfrm>
          <a:prstGeom prst="rect">
            <a:avLst/>
          </a:prstGeom>
          <a:noFill/>
          <a:ln/>
        </p:spPr>
        <p:txBody>
          <a:bodyPr wrap="square" lIns="0" tIns="0" rIns="0" bIns="0" rtlCol="0" anchor="t"/>
          <a:lstStyle/>
          <a:p>
            <a:pPr marL="0" indent="0">
              <a:buNone/>
            </a:pPr>
            <a:r>
              <a:rPr lang="en-US" sz="2000" b="1" dirty="0">
                <a:solidFill>
                  <a:srgbClr val="1565C0"/>
                </a:solidFill>
                <a:latin typeface="Calibri" pitchFamily="34" charset="0"/>
                <a:ea typeface="Calibri" pitchFamily="34" charset="-122"/>
                <a:cs typeface="Calibri" pitchFamily="34" charset="-120"/>
              </a:rPr>
              <a:t>2.11   </a:t>
            </a:r>
            <a:r>
              <a:rPr lang="en-US" sz="2000" dirty="0">
                <a:solidFill>
                  <a:srgbClr val="1F2937"/>
                </a:solidFill>
                <a:latin typeface="Calibri" pitchFamily="34" charset="0"/>
                <a:ea typeface="Calibri" pitchFamily="34" charset="-122"/>
                <a:cs typeface="Calibri" pitchFamily="34" charset="-120"/>
              </a:rPr>
              <a:t>Multiplexers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2.12   </a:t>
            </a:r>
            <a:r>
              <a:rPr lang="en-US" sz="2000" dirty="0">
                <a:solidFill>
                  <a:srgbClr val="1F2937"/>
                </a:solidFill>
                <a:latin typeface="Calibri" pitchFamily="34" charset="0"/>
                <a:ea typeface="Calibri" pitchFamily="34" charset="-122"/>
                <a:cs typeface="Calibri" pitchFamily="34" charset="-120"/>
              </a:rPr>
              <a:t>Sequential Circuits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2.13   </a:t>
            </a:r>
            <a:r>
              <a:rPr lang="en-US" sz="2000" dirty="0">
                <a:solidFill>
                  <a:srgbClr val="1F2937"/>
                </a:solidFill>
                <a:latin typeface="Calibri" pitchFamily="34" charset="0"/>
                <a:ea typeface="Calibri" pitchFamily="34" charset="-122"/>
                <a:cs typeface="Calibri" pitchFamily="34" charset="-120"/>
              </a:rPr>
              <a:t>Latches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2.14   </a:t>
            </a:r>
            <a:r>
              <a:rPr lang="en-US" sz="2000" dirty="0">
                <a:solidFill>
                  <a:srgbClr val="1F2937"/>
                </a:solidFill>
                <a:latin typeface="Calibri" pitchFamily="34" charset="0"/>
                <a:ea typeface="Calibri" pitchFamily="34" charset="-122"/>
                <a:cs typeface="Calibri" pitchFamily="34" charset="-120"/>
              </a:rPr>
              <a:t>Flip-Flops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2.15   </a:t>
            </a:r>
            <a:r>
              <a:rPr lang="en-US" sz="2000" dirty="0">
                <a:solidFill>
                  <a:srgbClr val="1F2937"/>
                </a:solidFill>
                <a:latin typeface="Calibri" pitchFamily="34" charset="0"/>
                <a:ea typeface="Calibri" pitchFamily="34" charset="-122"/>
                <a:cs typeface="Calibri" pitchFamily="34" charset="-120"/>
              </a:rPr>
              <a:t>Analysis of Clocked Sequential Circuits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2.16   </a:t>
            </a:r>
            <a:r>
              <a:rPr lang="en-US" sz="2000" dirty="0">
                <a:solidFill>
                  <a:srgbClr val="1F2937"/>
                </a:solidFill>
                <a:latin typeface="Calibri" pitchFamily="34" charset="0"/>
                <a:ea typeface="Calibri" pitchFamily="34" charset="-122"/>
                <a:cs typeface="Calibri" pitchFamily="34" charset="-120"/>
              </a:rPr>
              <a:t>Registers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2.17   </a:t>
            </a:r>
            <a:r>
              <a:rPr lang="en-US" sz="2000" dirty="0">
                <a:solidFill>
                  <a:srgbClr val="1F2937"/>
                </a:solidFill>
                <a:latin typeface="Calibri" pitchFamily="34" charset="0"/>
                <a:ea typeface="Calibri" pitchFamily="34" charset="-122"/>
                <a:cs typeface="Calibri" pitchFamily="34" charset="-120"/>
              </a:rPr>
              <a:t>Shift Registers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2.18   </a:t>
            </a:r>
            <a:r>
              <a:rPr lang="en-US" sz="2000" dirty="0">
                <a:solidFill>
                  <a:srgbClr val="1F2937"/>
                </a:solidFill>
                <a:latin typeface="Calibri" pitchFamily="34" charset="0"/>
                <a:ea typeface="Calibri" pitchFamily="34" charset="-122"/>
                <a:cs typeface="Calibri" pitchFamily="34" charset="-120"/>
              </a:rPr>
              <a:t>Ripple Counters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2.19   </a:t>
            </a:r>
            <a:r>
              <a:rPr lang="en-US" sz="2000" dirty="0">
                <a:solidFill>
                  <a:srgbClr val="1F2937"/>
                </a:solidFill>
                <a:latin typeface="Calibri" pitchFamily="34" charset="0"/>
                <a:ea typeface="Calibri" pitchFamily="34" charset="-122"/>
                <a:cs typeface="Calibri" pitchFamily="34" charset="-120"/>
              </a:rPr>
              <a:t>Synchronous Counters</a:t>
            </a:r>
            <a:endParaRPr lang="en-US" sz="2000" dirty="0"/>
          </a:p>
          <a:p>
            <a:pPr marL="0" indent="0">
              <a:buNone/>
            </a:pPr>
            <a:r>
              <a:rPr lang="en-US" sz="2000" b="1" dirty="0">
                <a:solidFill>
                  <a:srgbClr val="1565C0"/>
                </a:solidFill>
                <a:latin typeface="Calibri" pitchFamily="34" charset="0"/>
                <a:ea typeface="Calibri" pitchFamily="34" charset="-122"/>
                <a:cs typeface="Calibri" pitchFamily="34" charset="-120"/>
              </a:rPr>
              <a:t>2.20   </a:t>
            </a:r>
            <a:r>
              <a:rPr lang="en-US" sz="2000" dirty="0">
                <a:solidFill>
                  <a:srgbClr val="1F2937"/>
                </a:solidFill>
                <a:latin typeface="Calibri" pitchFamily="34" charset="0"/>
                <a:ea typeface="Calibri" pitchFamily="34" charset="-122"/>
                <a:cs typeface="Calibri" pitchFamily="34" charset="-120"/>
              </a:rPr>
              <a:t>Other Counters</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  Combinational Circuits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combinational circuit has no memory: its outputs depend only on the inputs right now.</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Combinational circuits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a:t>
            </a:r>
            <a:r>
              <a:rPr lang="en-US" sz="2400" b="1" dirty="0">
                <a:solidFill>
                  <a:srgbClr val="1F2937"/>
                </a:solidFill>
                <a:latin typeface="Calibri" pitchFamily="34" charset="0"/>
                <a:ea typeface="Calibri" pitchFamily="34" charset="-122"/>
                <a:cs typeface="Calibri" pitchFamily="34" charset="-120"/>
              </a:rPr>
              <a:t>combinational circuit</a:t>
            </a:r>
            <a:r>
              <a:rPr lang="en-US" sz="2400" dirty="0">
                <a:solidFill>
                  <a:srgbClr val="1F2937"/>
                </a:solidFill>
                <a:latin typeface="Calibri" pitchFamily="34" charset="0"/>
                <a:ea typeface="Calibri" pitchFamily="34" charset="-122"/>
                <a:cs typeface="Calibri" pitchFamily="34" charset="-120"/>
              </a:rPr>
              <a:t> is a group of logic gates whose output depends </a:t>
            </a:r>
            <a:r>
              <a:rPr lang="en-US" sz="2400" b="1" dirty="0">
                <a:solidFill>
                  <a:srgbClr val="1F2937"/>
                </a:solidFill>
                <a:latin typeface="Calibri" pitchFamily="34" charset="0"/>
                <a:ea typeface="Calibri" pitchFamily="34" charset="-122"/>
                <a:cs typeface="Calibri" pitchFamily="34" charset="-120"/>
              </a:rPr>
              <a:t>only on the current inputs</a:t>
            </a:r>
            <a:r>
              <a:rPr lang="en-US" sz="2400" dirty="0">
                <a:solidFill>
                  <a:srgbClr val="1F2937"/>
                </a:solidFill>
                <a:latin typeface="Calibri" pitchFamily="34" charset="0"/>
                <a:ea typeface="Calibri" pitchFamily="34" charset="-122"/>
                <a:cs typeface="Calibri" pitchFamily="34" charset="-120"/>
              </a:rPr>
              <a:t>: never on past inputs and never on a clock</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It has </a:t>
            </a:r>
            <a:r>
              <a:rPr lang="en-US" sz="2400" b="1" dirty="0">
                <a:solidFill>
                  <a:srgbClr val="1F2937"/>
                </a:solidFill>
                <a:latin typeface="Calibri" pitchFamily="34" charset="0"/>
                <a:ea typeface="Calibri" pitchFamily="34" charset="-122"/>
                <a:cs typeface="Calibri" pitchFamily="34" charset="-120"/>
              </a:rPr>
              <a:t>no feedback</a:t>
            </a:r>
            <a:r>
              <a:rPr lang="en-US" sz="2400" dirty="0">
                <a:solidFill>
                  <a:srgbClr val="1F2937"/>
                </a:solidFill>
                <a:latin typeface="Calibri" pitchFamily="34" charset="0"/>
                <a:ea typeface="Calibri" pitchFamily="34" charset="-122"/>
                <a:cs typeface="Calibri" pitchFamily="34" charset="-120"/>
              </a:rPr>
              <a:t>; no gate output loops back to an earlier gate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If flip-flops store the circuit’s past output and feed it back, it is a </a:t>
            </a:r>
            <a:r>
              <a:rPr lang="en-US" sz="2400" b="1" dirty="0">
                <a:solidFill>
                  <a:srgbClr val="1F2937"/>
                </a:solidFill>
                <a:latin typeface="Calibri" pitchFamily="34" charset="0"/>
                <a:ea typeface="Calibri" pitchFamily="34" charset="-122"/>
                <a:cs typeface="Calibri" pitchFamily="34" charset="-120"/>
              </a:rPr>
              <a:t>sequential circuit</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output settles shortly after the inputs change: </a:t>
            </a:r>
            <a:r>
              <a:rPr lang="en-US" sz="2400" b="1" dirty="0">
                <a:solidFill>
                  <a:srgbClr val="1F2937"/>
                </a:solidFill>
                <a:latin typeface="Calibri" pitchFamily="34" charset="0"/>
                <a:ea typeface="Calibri" pitchFamily="34" charset="-122"/>
                <a:cs typeface="Calibri" pitchFamily="34" charset="-120"/>
              </a:rPr>
              <a:t>propagation delay</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For n inputs there are </a:t>
            </a:r>
            <a:r>
              <a:rPr lang="en-US" sz="2400" b="1" dirty="0">
                <a:solidFill>
                  <a:srgbClr val="1F2937"/>
                </a:solidFill>
                <a:latin typeface="Calibri" pitchFamily="34" charset="0"/>
                <a:ea typeface="Calibri" pitchFamily="34" charset="-122"/>
                <a:cs typeface="Calibri" pitchFamily="34" charset="-120"/>
              </a:rPr>
              <a:t>2</a:t>
            </a:r>
            <a:r>
              <a:rPr lang="en-US" sz="2400" b="1" baseline="30000" dirty="0">
                <a:solidFill>
                  <a:srgbClr val="1F2937"/>
                </a:solidFill>
                <a:latin typeface="Calibri" pitchFamily="34" charset="0"/>
                <a:ea typeface="Calibri" pitchFamily="34" charset="-122"/>
                <a:cs typeface="Calibri" pitchFamily="34" charset="-120"/>
              </a:rPr>
              <a:t>n</a:t>
            </a:r>
            <a:r>
              <a:rPr lang="en-US" sz="2400" dirty="0">
                <a:solidFill>
                  <a:srgbClr val="1F2937"/>
                </a:solidFill>
                <a:latin typeface="Calibri" pitchFamily="34" charset="0"/>
                <a:ea typeface="Calibri" pitchFamily="34" charset="-122"/>
                <a:cs typeface="Calibri" pitchFamily="34" charset="-120"/>
              </a:rPr>
              <a:t> input combinations, so a truth table fully describes the circuit; 3 inputs give 2³ = 8 rows</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Every row needs a defined output</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n inputs, m outputs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a:t>
            </a:r>
            <a:endParaRPr lang="en-US" sz="1600" dirty="0"/>
          </a:p>
        </p:txBody>
      </p:sp>
      <p:pic>
        <p:nvPicPr>
          <p:cNvPr id="5" name="Image 0" descr="/home/claude/figs2/2.1_combinational-circuits_fig1.png"/>
          <p:cNvPicPr>
            <a:picLocks noChangeAspect="1"/>
          </p:cNvPicPr>
          <p:nvPr/>
        </p:nvPicPr>
        <p:blipFill>
          <a:blip r:embed="rId3"/>
          <a:stretch>
            <a:fillRect/>
          </a:stretch>
        </p:blipFill>
        <p:spPr>
          <a:xfrm>
            <a:off x="274320" y="747465"/>
            <a:ext cx="11643055" cy="5384913"/>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The general shape every combinational circuit takes — n inputs in, m outputs out, decided purely by the present input combination.</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2.2  Analysis Procedure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Analysis goes from circuit to function: name every gate output, write its expression, then substitute until only the inputs remain.</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analysis procedure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1. Label</a:t>
            </a:r>
            <a:r>
              <a:rPr lang="en-US" sz="3000" dirty="0">
                <a:solidFill>
                  <a:srgbClr val="1F2937"/>
                </a:solidFill>
                <a:latin typeface="Calibri" pitchFamily="34" charset="0"/>
                <a:ea typeface="Calibri" pitchFamily="34" charset="-122"/>
                <a:cs typeface="Calibri" pitchFamily="34" charset="-120"/>
              </a:rPr>
              <a:t> every gate output with a variable name, from the inputs toward the output</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2. Write</a:t>
            </a:r>
            <a:r>
              <a:rPr lang="en-US" sz="3000" dirty="0">
                <a:solidFill>
                  <a:srgbClr val="1F2937"/>
                </a:solidFill>
                <a:latin typeface="Calibri" pitchFamily="34" charset="0"/>
                <a:ea typeface="Calibri" pitchFamily="34" charset="-122"/>
                <a:cs typeface="Calibri" pitchFamily="34" charset="-120"/>
              </a:rPr>
              <a:t> the Boolean expression for each labelled signal</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3. Substitute</a:t>
            </a:r>
            <a:r>
              <a:rPr lang="en-US" sz="3000" dirty="0">
                <a:solidFill>
                  <a:srgbClr val="1F2937"/>
                </a:solidFill>
                <a:latin typeface="Calibri" pitchFamily="34" charset="0"/>
                <a:ea typeface="Calibri" pitchFamily="34" charset="-122"/>
                <a:cs typeface="Calibri" pitchFamily="34" charset="-120"/>
              </a:rPr>
              <a:t> until the final output uses only the original inputs</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4. Tabulate:</a:t>
            </a:r>
            <a:r>
              <a:rPr lang="en-US" sz="3000" dirty="0">
                <a:solidFill>
                  <a:srgbClr val="1F2937"/>
                </a:solidFill>
                <a:latin typeface="Calibri" pitchFamily="34" charset="0"/>
                <a:ea typeface="Calibri" pitchFamily="34" charset="-122"/>
                <a:cs typeface="Calibri" pitchFamily="34" charset="-120"/>
              </a:rPr>
              <a:t> build the truth table by evaluating the final expression for all 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 input combinations, if needed</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Most common mistake: skipping step 1 and writing the final expression straight from the diagram</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Worked example 1: a 2-input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pic>
        <p:nvPicPr>
          <p:cNvPr id="5" name="Image 0" descr="/home/claude/figs2/2.2_analysis-procedure_fig1.png"/>
          <p:cNvPicPr>
            <a:picLocks noChangeAspect="1"/>
          </p:cNvPicPr>
          <p:nvPr/>
        </p:nvPicPr>
        <p:blipFill>
          <a:blip r:embed="rId3"/>
          <a:stretch>
            <a:fillRect/>
          </a:stretch>
        </p:blipFill>
        <p:spPr>
          <a:xfrm>
            <a:off x="710032" y="621792"/>
            <a:ext cx="10771632"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Circuit for Worked Example 1: F = A′B + AB′.</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Example 1: checking all four input combinations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F = A′B + AB′. </a:t>
            </a:r>
            <a:r>
              <a:rPr lang="en-US" sz="2200" b="1" dirty="0">
                <a:solidFill>
                  <a:srgbClr val="1F2937"/>
                </a:solidFill>
                <a:latin typeface="Calibri" pitchFamily="34" charset="0"/>
                <a:ea typeface="Calibri" pitchFamily="34" charset="-122"/>
                <a:cs typeface="Calibri" pitchFamily="34" charset="-120"/>
              </a:rPr>
              <a:t>F is 1 exactly when A and B differ:</a:t>
            </a:r>
            <a:r>
              <a:rPr lang="en-US" sz="2200" dirty="0">
                <a:solidFill>
                  <a:srgbClr val="1F2937"/>
                </a:solidFill>
                <a:latin typeface="Calibri" pitchFamily="34" charset="0"/>
                <a:ea typeface="Calibri" pitchFamily="34" charset="-122"/>
                <a:cs typeface="Calibri" pitchFamily="34" charset="-120"/>
              </a:rPr>
              <a:t> the XOR function, built here from AND, OR and NOT gates.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066648" y="2240280"/>
          <a:ext cx="1005840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F = A′B + AB′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Worked example 2: a 3-input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pic>
        <p:nvPicPr>
          <p:cNvPr id="5" name="Image 0" descr="/home/claude/figs2/2.2_analysis-procedure_fig2.png"/>
          <p:cNvPicPr>
            <a:picLocks noChangeAspect="1"/>
          </p:cNvPicPr>
          <p:nvPr/>
        </p:nvPicPr>
        <p:blipFill>
          <a:blip r:embed="rId3"/>
          <a:stretch>
            <a:fillRect/>
          </a:stretch>
        </p:blipFill>
        <p:spPr>
          <a:xfrm>
            <a:off x="274320" y="888111"/>
            <a:ext cx="11643055" cy="5136642"/>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Circuit for Worked Example 2: F = AB + 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Example 2: F = AB + 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a:t>
            </a:r>
            <a:endParaRPr lang="en-US" sz="1600" dirty="0"/>
          </a:p>
        </p:txBody>
      </p:sp>
      <p:sp>
        <p:nvSpPr>
          <p:cNvPr id="5" name="Text 2"/>
          <p:cNvSpPr txBox="1"/>
          <p:nvPr/>
        </p:nvSpPr>
        <p:spPr>
          <a:xfrm>
            <a:off x="548640" y="1280160"/>
            <a:ext cx="11094415" cy="1935480"/>
          </a:xfrm>
          <a:prstGeom prst="roundRect">
            <a:avLst>
              <a:gd name="adj" fmla="val 4724"/>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Step 1: label the AND gate output   w1 = AB</a:t>
            </a:r>
            <a:endParaRPr lang="en-US" sz="2600" dirty="0"/>
          </a:p>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Step 2: the OR gate combines w1 and C   F = w1 + C</a:t>
            </a:r>
            <a:endParaRPr lang="en-US" sz="2600" dirty="0"/>
          </a:p>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Step 3: substitute   F = AB + C</a:t>
            </a:r>
            <a:endParaRPr lang="en-US" sz="2600" dirty="0"/>
          </a:p>
        </p:txBody>
      </p:sp>
      <p:sp>
        <p:nvSpPr>
          <p:cNvPr id="6" name="Text 3"/>
          <p:cNvSpPr txBox="1"/>
          <p:nvPr/>
        </p:nvSpPr>
        <p:spPr>
          <a:xfrm>
            <a:off x="640080" y="3535680"/>
            <a:ext cx="10911535" cy="259080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 is 1 whenever C is 1, or whenever both A and B are 1</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Labelling w1 first made this easier than reading the whole expression at once</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2.3  Design Procedure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Design goes from words to circuit: truth table, simplify, draw, then check the drawing gives the same truth table.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design procedure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1. Specification:</a:t>
            </a:r>
            <a:r>
              <a:rPr lang="en-US" sz="3000" dirty="0">
                <a:solidFill>
                  <a:srgbClr val="1F2937"/>
                </a:solidFill>
                <a:latin typeface="Calibri" pitchFamily="34" charset="0"/>
                <a:ea typeface="Calibri" pitchFamily="34" charset="-122"/>
                <a:cs typeface="Calibri" pitchFamily="34" charset="-120"/>
              </a:rPr>
              <a:t> state the problem; decide the number of inputs and outputs and give each a letter symbol</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2. Truth table:</a:t>
            </a:r>
            <a:r>
              <a:rPr lang="en-US" sz="3000" dirty="0">
                <a:solidFill>
                  <a:srgbClr val="1F2937"/>
                </a:solidFill>
                <a:latin typeface="Calibri" pitchFamily="34" charset="0"/>
                <a:ea typeface="Calibri" pitchFamily="34" charset="-122"/>
                <a:cs typeface="Calibri" pitchFamily="34" charset="-120"/>
              </a:rPr>
              <a:t> the required output for every input combination</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3. Simplify:</a:t>
            </a:r>
            <a:r>
              <a:rPr lang="en-US" sz="3000" dirty="0">
                <a:solidFill>
                  <a:srgbClr val="1F2937"/>
                </a:solidFill>
                <a:latin typeface="Calibri" pitchFamily="34" charset="0"/>
                <a:ea typeface="Calibri" pitchFamily="34" charset="-122"/>
                <a:cs typeface="Calibri" pitchFamily="34" charset="-120"/>
              </a:rPr>
              <a:t> the simplified Boolean function for each output, by K-map or algebra</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4. Draw and verify:</a:t>
            </a:r>
            <a:r>
              <a:rPr lang="en-US" sz="3000" dirty="0">
                <a:solidFill>
                  <a:srgbClr val="1F2937"/>
                </a:solidFill>
                <a:latin typeface="Calibri" pitchFamily="34" charset="0"/>
                <a:ea typeface="Calibri" pitchFamily="34" charset="-122"/>
                <a:cs typeface="Calibri" pitchFamily="34" charset="-120"/>
              </a:rPr>
              <a:t> draw the logic diagram and re-derive its truth table to compare with step 2</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The four-step design procedure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pic>
        <p:nvPicPr>
          <p:cNvPr id="5" name="Image 0" descr="/home/claude/figs2/2.3_design-procedure_fig1.png"/>
          <p:cNvPicPr>
            <a:picLocks noChangeAspect="1"/>
          </p:cNvPicPr>
          <p:nvPr/>
        </p:nvPicPr>
        <p:blipFill>
          <a:blip r:embed="rId3"/>
          <a:stretch>
            <a:fillRect/>
          </a:stretch>
        </p:blipFill>
        <p:spPr>
          <a:xfrm>
            <a:off x="411480" y="621792"/>
            <a:ext cx="7301287" cy="5669280"/>
          </a:xfrm>
          <a:prstGeom prst="rect">
            <a:avLst/>
          </a:prstGeom>
        </p:spPr>
      </p:pic>
      <p:sp>
        <p:nvSpPr>
          <p:cNvPr id="6" name="Text 2"/>
          <p:cNvSpPr txBox="1"/>
          <p:nvPr/>
        </p:nvSpPr>
        <p:spPr>
          <a:xfrm>
            <a:off x="8078527" y="713232"/>
            <a:ext cx="3701689" cy="5486400"/>
          </a:xfrm>
          <a:prstGeom prst="roundRect">
            <a:avLst>
              <a:gd name="adj" fmla="val 2964"/>
            </a:avLst>
          </a:prstGeom>
          <a:solidFill>
            <a:srgbClr val="E3F0FB"/>
          </a:solidFill>
          <a:ln w="6350">
            <a:solidFill>
              <a:srgbClr val="E3F0FB"/>
            </a:solidFill>
          </a:ln>
        </p:spPr>
        <p:txBody>
          <a:bodyPr wrap="square" lIns="203200" tIns="279400" rIns="279400" bIns="203200" rtlCol="0" anchor="ctr"/>
          <a:lstStyle/>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 Specification:</a:t>
            </a:r>
            <a:r>
              <a:rPr lang="en-US" sz="2200" dirty="0">
                <a:solidFill>
                  <a:srgbClr val="1F2937"/>
                </a:solidFill>
                <a:latin typeface="Calibri" pitchFamily="34" charset="0"/>
                <a:ea typeface="Calibri" pitchFamily="34" charset="-122"/>
                <a:cs typeface="Calibri" pitchFamily="34" charset="-120"/>
              </a:rPr>
              <a:t> inputs, outputs and a letter symbol for each</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 Truth table:</a:t>
            </a:r>
            <a:r>
              <a:rPr lang="en-US" sz="2200" dirty="0">
                <a:solidFill>
                  <a:srgbClr val="1F2937"/>
                </a:solidFill>
                <a:latin typeface="Calibri" pitchFamily="34" charset="0"/>
                <a:ea typeface="Calibri" pitchFamily="34" charset="-122"/>
                <a:cs typeface="Calibri" pitchFamily="34" charset="-120"/>
              </a:rPr>
              <a:t> the required output for every input combination</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3. Simplify:</a:t>
            </a:r>
            <a:r>
              <a:rPr lang="en-US" sz="2200" dirty="0">
                <a:solidFill>
                  <a:srgbClr val="1F2937"/>
                </a:solidFill>
                <a:latin typeface="Calibri" pitchFamily="34" charset="0"/>
                <a:ea typeface="Calibri" pitchFamily="34" charset="-122"/>
                <a:cs typeface="Calibri" pitchFamily="34" charset="-120"/>
              </a:rPr>
              <a:t> K-map or algebra</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4. Draw and verify:</a:t>
            </a:r>
            <a:r>
              <a:rPr lang="en-US" sz="2200" dirty="0">
                <a:solidFill>
                  <a:srgbClr val="1F2937"/>
                </a:solidFill>
                <a:latin typeface="Calibri" pitchFamily="34" charset="0"/>
                <a:ea typeface="Calibri" pitchFamily="34" charset="-122"/>
                <a:cs typeface="Calibri" pitchFamily="34" charset="-120"/>
              </a:rPr>
              <a:t> re-derive the truth table and compare</a:t>
            </a:r>
            <a:endParaRPr lang="en-US" sz="2200" dirty="0"/>
          </a:p>
        </p:txBody>
      </p:sp>
      <p:sp>
        <p:nvSpPr>
          <p:cNvPr id="7" name="Text 3"/>
          <p:cNvSpPr txBox="1"/>
          <p:nvPr/>
        </p:nvSpPr>
        <p:spPr>
          <a:xfrm>
            <a:off x="411480" y="6327648"/>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The four-step design procedure, applied to every combinational circuit in this unit.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Example 1: the same circuit, and the XOR gate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pic>
        <p:nvPicPr>
          <p:cNvPr id="5" name="Image 0" descr="/home/claude/figs2/2.3_design-procedure_fig2.png"/>
          <p:cNvPicPr>
            <a:picLocks noChangeAspect="1"/>
          </p:cNvPicPr>
          <p:nvPr/>
        </p:nvPicPr>
        <p:blipFill>
          <a:blip r:embed="rId3"/>
          <a:stretch>
            <a:fillRect/>
          </a:stretch>
        </p:blipFill>
        <p:spPr>
          <a:xfrm>
            <a:off x="274320" y="1377315"/>
            <a:ext cx="11643055" cy="4158234"/>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Same circuit as in Analysis Procedure — and the single XOR gate it's equivalent to</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Example 2: 3-input majority function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F = 1 when 2 or more inputs are 1: F(A,B,C) = Σm(3,5,6,7).</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529688" y="1874520"/>
          <a:ext cx="7132320" cy="3895344"/>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32816">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F</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minterm</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m2</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m3</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m4</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m5</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m6</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m7</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Majority function: K-map</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pic>
        <p:nvPicPr>
          <p:cNvPr id="5" name="Image 0" descr="/home/claude/figs2/2.3_design-procedure_fig3.png"/>
          <p:cNvPicPr>
            <a:picLocks noChangeAspect="1"/>
          </p:cNvPicPr>
          <p:nvPr/>
        </p:nvPicPr>
        <p:blipFill>
          <a:blip r:embed="rId3"/>
          <a:stretch>
            <a:fillRect/>
          </a:stretch>
        </p:blipFill>
        <p:spPr>
          <a:xfrm>
            <a:off x="426568" y="621792"/>
            <a:ext cx="1133856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K-map for the majority function: three overlapping pairs give F = AB + AC + BC.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Majority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2.3</a:t>
            </a:r>
            <a:endParaRPr lang="en-US" sz="1600" dirty="0"/>
          </a:p>
        </p:txBody>
      </p:sp>
      <p:pic>
        <p:nvPicPr>
          <p:cNvPr id="5" name="Image 0" descr="/home/claude/figs2/2.3_design-procedure_fig4.png"/>
          <p:cNvPicPr>
            <a:picLocks noChangeAspect="1"/>
          </p:cNvPicPr>
          <p:nvPr/>
        </p:nvPicPr>
        <p:blipFill>
          <a:blip r:embed="rId3"/>
          <a:stretch>
            <a:fillRect/>
          </a:stretch>
        </p:blipFill>
        <p:spPr>
          <a:xfrm>
            <a:off x="684262" y="621792"/>
            <a:ext cx="10823171"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Majority circuit: three AND gates feeding one three-input OR gate.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2.4  Binary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half adder adds two bits; a full adder also adds the carry from the bit before; chaining full adders adds whole numbers.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Half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S = A ⊕ B     C = A · B. A half adder has no carry-in, so it works only for the lowest bit.</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2072488" y="2240280"/>
          <a:ext cx="8046720" cy="246888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 (Sum)</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C (Carry)</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Half adder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pic>
        <p:nvPicPr>
          <p:cNvPr id="5" name="Image 0" descr="/home/claude/figs2/2.4_binary-adder_fig1.png"/>
          <p:cNvPicPr>
            <a:picLocks noChangeAspect="1"/>
          </p:cNvPicPr>
          <p:nvPr/>
        </p:nvPicPr>
        <p:blipFill>
          <a:blip r:embed="rId3"/>
          <a:stretch>
            <a:fillRect/>
          </a:stretch>
        </p:blipFill>
        <p:spPr>
          <a:xfrm>
            <a:off x="426568" y="621792"/>
            <a:ext cx="1133856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Half adder — one XOR gate makes the sum, one AND gate makes the carry.</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Full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S = A ⊕ B ⊕ C</a:t>
            </a:r>
            <a:r>
              <a:rPr lang="en-US" sz="2200" baseline="-40000" dirty="0">
                <a:solidFill>
                  <a:srgbClr val="1F2937"/>
                </a:solidFill>
                <a:latin typeface="Calibri" pitchFamily="34" charset="0"/>
                <a:ea typeface="Calibri" pitchFamily="34" charset="-122"/>
                <a:cs typeface="Calibri" pitchFamily="34" charset="-120"/>
              </a:rPr>
              <a:t>in</a:t>
            </a:r>
            <a:r>
              <a:rPr lang="en-US" sz="2200" dirty="0">
                <a:solidFill>
                  <a:srgbClr val="1F2937"/>
                </a:solidFill>
                <a:latin typeface="Calibri" pitchFamily="34" charset="0"/>
                <a:ea typeface="Calibri" pitchFamily="34" charset="-122"/>
                <a:cs typeface="Calibri" pitchFamily="34" charset="-120"/>
              </a:rPr>
              <a:t>     C</a:t>
            </a:r>
            <a:r>
              <a:rPr lang="en-US" sz="2200" baseline="-40000" dirty="0">
                <a:solidFill>
                  <a:srgbClr val="1F2937"/>
                </a:solidFill>
                <a:latin typeface="Calibri" pitchFamily="34" charset="0"/>
                <a:ea typeface="Calibri" pitchFamily="34" charset="-122"/>
                <a:cs typeface="Calibri" pitchFamily="34" charset="-120"/>
              </a:rPr>
              <a:t>out</a:t>
            </a:r>
            <a:r>
              <a:rPr lang="en-US" sz="2200" dirty="0">
                <a:solidFill>
                  <a:srgbClr val="1F2937"/>
                </a:solidFill>
                <a:latin typeface="Calibri" pitchFamily="34" charset="0"/>
                <a:ea typeface="Calibri" pitchFamily="34" charset="-122"/>
                <a:cs typeface="Calibri" pitchFamily="34" charset="-120"/>
              </a:rPr>
              <a:t> = AB + BC</a:t>
            </a:r>
            <a:r>
              <a:rPr lang="en-US" sz="2200" baseline="-40000" dirty="0">
                <a:solidFill>
                  <a:srgbClr val="1F2937"/>
                </a:solidFill>
                <a:latin typeface="Calibri" pitchFamily="34" charset="0"/>
                <a:ea typeface="Calibri" pitchFamily="34" charset="-122"/>
                <a:cs typeface="Calibri" pitchFamily="34" charset="-120"/>
              </a:rPr>
              <a:t>in</a:t>
            </a:r>
            <a:r>
              <a:rPr lang="en-US" sz="2200" dirty="0">
                <a:solidFill>
                  <a:srgbClr val="1F2937"/>
                </a:solidFill>
                <a:latin typeface="Calibri" pitchFamily="34" charset="0"/>
                <a:ea typeface="Calibri" pitchFamily="34" charset="-122"/>
                <a:cs typeface="Calibri" pitchFamily="34" charset="-120"/>
              </a:rPr>
              <a:t> + AC</a:t>
            </a:r>
            <a:r>
              <a:rPr lang="en-US" sz="2200" baseline="-40000" dirty="0">
                <a:solidFill>
                  <a:srgbClr val="1F2937"/>
                </a:solidFill>
                <a:latin typeface="Calibri" pitchFamily="34" charset="0"/>
                <a:ea typeface="Calibri" pitchFamily="34" charset="-122"/>
                <a:cs typeface="Calibri" pitchFamily="34" charset="-120"/>
              </a:rPr>
              <a:t>in</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621128" y="1874520"/>
          <a:ext cx="6949440" cy="3895344"/>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32816">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out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Building the full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Reuse two half adders plus one OR gate</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HA₁</a:t>
            </a:r>
            <a:r>
              <a:rPr lang="en-US" sz="3000" dirty="0">
                <a:solidFill>
                  <a:srgbClr val="1F2937"/>
                </a:solidFill>
                <a:latin typeface="Calibri" pitchFamily="34" charset="0"/>
                <a:ea typeface="Calibri" pitchFamily="34" charset="-122"/>
                <a:cs typeface="Calibri" pitchFamily="34" charset="-120"/>
              </a:rPr>
              <a:t> adds A and B: partial sum S₁ and carry C₁</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HA₂</a:t>
            </a:r>
            <a:r>
              <a:rPr lang="en-US" sz="3000" dirty="0">
                <a:solidFill>
                  <a:srgbClr val="1F2937"/>
                </a:solidFill>
                <a:latin typeface="Calibri" pitchFamily="34" charset="0"/>
                <a:ea typeface="Calibri" pitchFamily="34" charset="-122"/>
                <a:cs typeface="Calibri" pitchFamily="34" charset="-120"/>
              </a:rPr>
              <a:t> adds S₁ and C</a:t>
            </a:r>
            <a:r>
              <a:rPr lang="en-US" sz="3000" baseline="-40000" dirty="0">
                <a:solidFill>
                  <a:srgbClr val="1F2937"/>
                </a:solidFill>
                <a:latin typeface="Calibri" pitchFamily="34" charset="0"/>
                <a:ea typeface="Calibri" pitchFamily="34" charset="-122"/>
                <a:cs typeface="Calibri" pitchFamily="34" charset="-120"/>
              </a:rPr>
              <a:t>in</a:t>
            </a:r>
            <a:r>
              <a:rPr lang="en-US" sz="3000" dirty="0">
                <a:solidFill>
                  <a:srgbClr val="1F2937"/>
                </a:solidFill>
                <a:latin typeface="Calibri" pitchFamily="34" charset="0"/>
                <a:ea typeface="Calibri" pitchFamily="34" charset="-122"/>
                <a:cs typeface="Calibri" pitchFamily="34" charset="-120"/>
              </a:rPr>
              <a:t>: final sum S and a second carry C₂</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C₁ and C₂ can never both be 1, so OR-ing them gives the correct C</a:t>
            </a:r>
            <a:r>
              <a:rPr lang="en-US" sz="3000" baseline="-40000" dirty="0">
                <a:solidFill>
                  <a:srgbClr val="1F2937"/>
                </a:solidFill>
                <a:latin typeface="Calibri" pitchFamily="34" charset="0"/>
                <a:ea typeface="Calibri" pitchFamily="34" charset="-122"/>
                <a:cs typeface="Calibri" pitchFamily="34" charset="-120"/>
              </a:rPr>
              <a:t>out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Full adder from two half adders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pic>
        <p:nvPicPr>
          <p:cNvPr id="5" name="Image 0" descr="/home/claude/figs2/2.4_binary-adder_fig2.png"/>
          <p:cNvPicPr>
            <a:picLocks noChangeAspect="1"/>
          </p:cNvPicPr>
          <p:nvPr/>
        </p:nvPicPr>
        <p:blipFill>
          <a:blip r:embed="rId3"/>
          <a:stretch>
            <a:fillRect/>
          </a:stretch>
        </p:blipFill>
        <p:spPr>
          <a:xfrm>
            <a:off x="274320" y="976968"/>
            <a:ext cx="11643055" cy="4925908"/>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 full adder built from two half adders and one OR gate. Adapted from M. Morris Mano and Michael D. Ciletti, Digital Design, Fig. 4.8.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ripple carry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r>
              <a:rPr lang="en-US" sz="3000" b="1" dirty="0">
                <a:solidFill>
                  <a:srgbClr val="1F2937"/>
                </a:solidFill>
                <a:latin typeface="Calibri" pitchFamily="34" charset="0"/>
                <a:ea typeface="Calibri" pitchFamily="34" charset="-122"/>
                <a:cs typeface="Calibri" pitchFamily="34" charset="-120"/>
              </a:rPr>
              <a:t>binary adder</a:t>
            </a:r>
            <a:r>
              <a:rPr lang="en-US" sz="3000" dirty="0">
                <a:solidFill>
                  <a:srgbClr val="1F2937"/>
                </a:solidFill>
                <a:latin typeface="Calibri" pitchFamily="34" charset="0"/>
                <a:ea typeface="Calibri" pitchFamily="34" charset="-122"/>
                <a:cs typeface="Calibri" pitchFamily="34" charset="-120"/>
              </a:rPr>
              <a:t> adds two multi-bit numbers: connect full adders in a chain</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Each stage’s carry-out feeds the next stage’s carry-in</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carry made at the lowest bit can ripple through every stage: a </a:t>
            </a:r>
            <a:r>
              <a:rPr lang="en-US" sz="3000" b="1" dirty="0">
                <a:solidFill>
                  <a:srgbClr val="1F2937"/>
                </a:solidFill>
                <a:latin typeface="Calibri" pitchFamily="34" charset="0"/>
                <a:ea typeface="Calibri" pitchFamily="34" charset="-122"/>
                <a:cs typeface="Calibri" pitchFamily="34" charset="-120"/>
              </a:rPr>
              <a:t>ripple carry adder</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Adding two n-bit numbers needs n full adders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lowest stage can use a full adder with its carry-in tied to 0, which keeps every stage identical</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4-bit ripple carry adder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pic>
        <p:nvPicPr>
          <p:cNvPr id="5" name="Image 0" descr="/home/claude/figs2/2.4_binary-adder_fig3.png"/>
          <p:cNvPicPr>
            <a:picLocks noChangeAspect="1"/>
          </p:cNvPicPr>
          <p:nvPr/>
        </p:nvPicPr>
        <p:blipFill>
          <a:blip r:embed="rId3"/>
          <a:stretch>
            <a:fillRect/>
          </a:stretch>
        </p:blipFill>
        <p:spPr>
          <a:xfrm>
            <a:off x="274320" y="1518818"/>
            <a:ext cx="11643055" cy="3842208"/>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 4-bit ripple carry adder — four full adders, each carry-out feeding the next carry-in. C₀ is the carry into the very first (rightmost) stage, normally tied to 0; C₄ is the final carry-out.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A = 1001 (9) + B = 0110 (6)</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Work right to left. The result is 01111₂ = 15; bit 4 is the final carry-out C₄ = 0. Check: 9 + 6 = 15 ✓</a:t>
            </a:r>
            <a:endParaRPr lang="en-US" sz="2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706728" y="2240280"/>
          <a:ext cx="8778240" cy="2316480"/>
        </p:xfrm>
        <a:graphic>
          <a:graphicData uri="http://schemas.openxmlformats.org/drawingml/2006/table">
            <a:tbl>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463296">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Bit position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6329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Carry into this bit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6329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A</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329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B</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63296">
                <a:tc>
                  <a:txBody>
                    <a:bodyPr/>
                    <a:lstStyle/>
                    <a:p>
                      <a:pPr marL="0" indent="0" algn="l">
                        <a:buNone/>
                      </a:pPr>
                      <a:r>
                        <a:rPr lang="en-US" sz="2200" b="1" dirty="0">
                          <a:solidFill>
                            <a:srgbClr val="1F2937"/>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2.5  Binary Subtractor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Subtraction is addition in disguise: invert B and add 1, so one adder with an XOR on each B input can do both.</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Half subtractor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D = A ⊕ B     B</a:t>
            </a:r>
            <a:r>
              <a:rPr lang="en-US" sz="2200" baseline="-40000" dirty="0">
                <a:solidFill>
                  <a:srgbClr val="1F2937"/>
                </a:solidFill>
                <a:latin typeface="Calibri" pitchFamily="34" charset="0"/>
                <a:ea typeface="Calibri" pitchFamily="34" charset="-122"/>
                <a:cs typeface="Calibri" pitchFamily="34" charset="-120"/>
              </a:rPr>
              <a:t>out</a:t>
            </a:r>
            <a:r>
              <a:rPr lang="en-US" sz="2200" dirty="0">
                <a:solidFill>
                  <a:srgbClr val="1F2937"/>
                </a:solidFill>
                <a:latin typeface="Calibri" pitchFamily="34" charset="0"/>
                <a:ea typeface="Calibri" pitchFamily="34" charset="-122"/>
                <a:cs typeface="Calibri" pitchFamily="34" charset="-120"/>
              </a:rPr>
              <a:t> = A′B. A borrow of 1 means this position could not subtract on its own and had to borrow from the next position.</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798168" y="2240280"/>
          <a:ext cx="8595360" cy="246888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 (Difference)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r>
                        <a:rPr lang="en-US" sz="2400" b="1" baseline="-40000" dirty="0">
                          <a:solidFill>
                            <a:srgbClr val="FFFFFF"/>
                          </a:solidFill>
                          <a:latin typeface="Calibri" pitchFamily="34" charset="0"/>
                          <a:ea typeface="Calibri" pitchFamily="34" charset="-122"/>
                          <a:cs typeface="Calibri" pitchFamily="34" charset="-120"/>
                        </a:rPr>
                        <a:t>out</a:t>
                      </a:r>
                      <a:r>
                        <a:rPr lang="en-US" sz="2400" b="1" dirty="0">
                          <a:solidFill>
                            <a:srgbClr val="FFFFFF"/>
                          </a:solidFill>
                          <a:latin typeface="Calibri" pitchFamily="34" charset="0"/>
                          <a:ea typeface="Calibri" pitchFamily="34" charset="-122"/>
                          <a:cs typeface="Calibri" pitchFamily="34" charset="-120"/>
                        </a:rPr>
                        <a:t> (Borrow)</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Half subtractor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pic>
        <p:nvPicPr>
          <p:cNvPr id="5" name="Image 0" descr="/home/claude/figs2/2.5_binary-subtractor_fig1.png"/>
          <p:cNvPicPr>
            <a:picLocks noChangeAspect="1"/>
          </p:cNvPicPr>
          <p:nvPr/>
        </p:nvPicPr>
        <p:blipFill>
          <a:blip r:embed="rId3"/>
          <a:stretch>
            <a:fillRect/>
          </a:stretch>
        </p:blipFill>
        <p:spPr>
          <a:xfrm>
            <a:off x="426568" y="621792"/>
            <a:ext cx="1133856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Half subtractor — one XOR gate makes the difference, one NOT + AND gate makes the borrow.</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Full subtractor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D = A ⊕ B ⊕ B</a:t>
            </a:r>
            <a:r>
              <a:rPr lang="en-US" sz="2200" baseline="-40000" dirty="0">
                <a:solidFill>
                  <a:srgbClr val="1F2937"/>
                </a:solidFill>
                <a:latin typeface="Calibri" pitchFamily="34" charset="0"/>
                <a:ea typeface="Calibri" pitchFamily="34" charset="-122"/>
                <a:cs typeface="Calibri" pitchFamily="34" charset="-120"/>
              </a:rPr>
              <a:t>in</a:t>
            </a:r>
            <a:r>
              <a:rPr lang="en-US" sz="2200" dirty="0">
                <a:solidFill>
                  <a:srgbClr val="1F2937"/>
                </a:solidFill>
                <a:latin typeface="Calibri" pitchFamily="34" charset="0"/>
                <a:ea typeface="Calibri" pitchFamily="34" charset="-122"/>
                <a:cs typeface="Calibri" pitchFamily="34" charset="-120"/>
              </a:rPr>
              <a:t>     B</a:t>
            </a:r>
            <a:r>
              <a:rPr lang="en-US" sz="2200" baseline="-40000" dirty="0">
                <a:solidFill>
                  <a:srgbClr val="1F2937"/>
                </a:solidFill>
                <a:latin typeface="Calibri" pitchFamily="34" charset="0"/>
                <a:ea typeface="Calibri" pitchFamily="34" charset="-122"/>
                <a:cs typeface="Calibri" pitchFamily="34" charset="-120"/>
              </a:rPr>
              <a:t>out</a:t>
            </a:r>
            <a:r>
              <a:rPr lang="en-US" sz="2200" dirty="0">
                <a:solidFill>
                  <a:srgbClr val="1F2937"/>
                </a:solidFill>
                <a:latin typeface="Calibri" pitchFamily="34" charset="0"/>
                <a:ea typeface="Calibri" pitchFamily="34" charset="-122"/>
                <a:cs typeface="Calibri" pitchFamily="34" charset="-120"/>
              </a:rPr>
              <a:t> = A′B + A′B</a:t>
            </a:r>
            <a:r>
              <a:rPr lang="en-US" sz="2200" baseline="-40000" dirty="0">
                <a:solidFill>
                  <a:srgbClr val="1F2937"/>
                </a:solidFill>
                <a:latin typeface="Calibri" pitchFamily="34" charset="0"/>
                <a:ea typeface="Calibri" pitchFamily="34" charset="-122"/>
                <a:cs typeface="Calibri" pitchFamily="34" charset="-120"/>
              </a:rPr>
              <a:t>in</a:t>
            </a:r>
            <a:r>
              <a:rPr lang="en-US" sz="2200" dirty="0">
                <a:solidFill>
                  <a:srgbClr val="1F2937"/>
                </a:solidFill>
                <a:latin typeface="Calibri" pitchFamily="34" charset="0"/>
                <a:ea typeface="Calibri" pitchFamily="34" charset="-122"/>
                <a:cs typeface="Calibri" pitchFamily="34" charset="-120"/>
              </a:rPr>
              <a:t> + BB</a:t>
            </a:r>
            <a:r>
              <a:rPr lang="en-US" sz="2200" baseline="-40000" dirty="0">
                <a:solidFill>
                  <a:srgbClr val="1F2937"/>
                </a:solidFill>
                <a:latin typeface="Calibri" pitchFamily="34" charset="0"/>
                <a:ea typeface="Calibri" pitchFamily="34" charset="-122"/>
                <a:cs typeface="Calibri" pitchFamily="34" charset="-120"/>
              </a:rPr>
              <a:t>in</a:t>
            </a:r>
            <a:endParaRPr lang="en-US" sz="2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2621128" y="1874520"/>
          <a:ext cx="6949440" cy="3895344"/>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32816">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a:t>
                      </a:r>
                      <a:r>
                        <a:rPr lang="en-US" sz="2000" b="1" baseline="-40000" dirty="0">
                          <a:solidFill>
                            <a:srgbClr val="FFFFFF"/>
                          </a:solidFill>
                          <a:latin typeface="Calibri" pitchFamily="34" charset="0"/>
                          <a:ea typeface="Calibri" pitchFamily="34" charset="-122"/>
                          <a:cs typeface="Calibri" pitchFamily="34" charset="-120"/>
                        </a:rPr>
                        <a:t>out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Full subtractor from two half subtractors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pic>
        <p:nvPicPr>
          <p:cNvPr id="5" name="Image 0" descr="/home/claude/figs2/2.5_binary-subtractor_fig2.png"/>
          <p:cNvPicPr>
            <a:picLocks noChangeAspect="1"/>
          </p:cNvPicPr>
          <p:nvPr/>
        </p:nvPicPr>
        <p:blipFill>
          <a:blip r:embed="rId3"/>
          <a:stretch>
            <a:fillRect/>
          </a:stretch>
        </p:blipFill>
        <p:spPr>
          <a:xfrm>
            <a:off x="274320" y="976968"/>
            <a:ext cx="11643055" cy="4925908"/>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 full subtractor built from two half subtractors and one OR gate — HS₁ computes A−B, HS₂ then subtracts Bᵢₙ from that result.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Combined adder–subtractor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2’s complement turns subtraction into addition: </a:t>
            </a:r>
            <a:r>
              <a:rPr lang="en-US" sz="2800" b="1" dirty="0">
                <a:solidFill>
                  <a:srgbClr val="1F2937"/>
                </a:solidFill>
                <a:latin typeface="Calibri" pitchFamily="34" charset="0"/>
                <a:ea typeface="Calibri" pitchFamily="34" charset="-122"/>
                <a:cs typeface="Calibri" pitchFamily="34" charset="-120"/>
              </a:rPr>
              <a:t>A − B = A + B′ + 1</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One line </a:t>
            </a:r>
            <a:r>
              <a:rPr lang="en-US" sz="2800" b="1" dirty="0">
                <a:solidFill>
                  <a:srgbClr val="1F2937"/>
                </a:solidFill>
                <a:latin typeface="Calibri" pitchFamily="34" charset="0"/>
                <a:ea typeface="Calibri" pitchFamily="34" charset="-122"/>
                <a:cs typeface="Calibri" pitchFamily="34" charset="-120"/>
              </a:rPr>
              <a:t>M</a:t>
            </a:r>
            <a:r>
              <a:rPr lang="en-US" sz="2800" dirty="0">
                <a:solidFill>
                  <a:srgbClr val="1F2937"/>
                </a:solidFill>
                <a:latin typeface="Calibri" pitchFamily="34" charset="0"/>
                <a:ea typeface="Calibri" pitchFamily="34" charset="-122"/>
                <a:cs typeface="Calibri" pitchFamily="34" charset="-120"/>
              </a:rPr>
              <a:t> (0 = add, 1 = subtract) controls both operations</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One </a:t>
            </a:r>
            <a:r>
              <a:rPr lang="en-US" sz="2800" b="1" dirty="0">
                <a:solidFill>
                  <a:srgbClr val="1F2937"/>
                </a:solidFill>
                <a:latin typeface="Calibri" pitchFamily="34" charset="0"/>
                <a:ea typeface="Calibri" pitchFamily="34" charset="-122"/>
                <a:cs typeface="Calibri" pitchFamily="34" charset="-120"/>
              </a:rPr>
              <a:t>XOR gate</a:t>
            </a:r>
            <a:r>
              <a:rPr lang="en-US" sz="2800" dirty="0">
                <a:solidFill>
                  <a:srgbClr val="1F2937"/>
                </a:solidFill>
                <a:latin typeface="Calibri" pitchFamily="34" charset="0"/>
                <a:ea typeface="Calibri" pitchFamily="34" charset="-122"/>
                <a:cs typeface="Calibri" pitchFamily="34" charset="-120"/>
              </a:rPr>
              <a:t> in front of every bit of B; M also feeds the first stage’s carry-in</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M = 0:</a:t>
            </a:r>
            <a:r>
              <a:rPr lang="en-US" sz="2800" dirty="0">
                <a:solidFill>
                  <a:srgbClr val="1F2937"/>
                </a:solidFill>
                <a:latin typeface="Calibri" pitchFamily="34" charset="0"/>
                <a:ea typeface="Calibri" pitchFamily="34" charset="-122"/>
                <a:cs typeface="Calibri" pitchFamily="34" charset="-120"/>
              </a:rPr>
              <a:t> B passes unchanged, carry-in 0: computes A + B</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M = 1:</a:t>
            </a:r>
            <a:r>
              <a:rPr lang="en-US" sz="2800" dirty="0">
                <a:solidFill>
                  <a:srgbClr val="1F2937"/>
                </a:solidFill>
                <a:latin typeface="Calibri" pitchFamily="34" charset="0"/>
                <a:ea typeface="Calibri" pitchFamily="34" charset="-122"/>
                <a:cs typeface="Calibri" pitchFamily="34" charset="-120"/>
              </a:rPr>
              <a:t> B is inverted, carry-in 1: computes A + B′ + 1 = A − B</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Overflow (signed): V = C₃ ⊕ C₄; the final carry matters only for unsigned numbers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One XOR gate per bit of B</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pic>
        <p:nvPicPr>
          <p:cNvPr id="5" name="Image 0" descr="/home/claude/figs2/2.5_binary-subtractor_fig3.png"/>
          <p:cNvPicPr>
            <a:picLocks noChangeAspect="1"/>
          </p:cNvPicPr>
          <p:nvPr/>
        </p:nvPicPr>
        <p:blipFill>
          <a:blip r:embed="rId3"/>
          <a:stretch>
            <a:fillRect/>
          </a:stretch>
        </p:blipFill>
        <p:spPr>
          <a:xfrm>
            <a:off x="274320" y="1471820"/>
            <a:ext cx="11643055" cy="3969223"/>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One XOR gate per bit of B — the same M line that flips this gate also becomes the first stage's carry-in.</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adder-subtractor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adder-subtractor: M = 0 adds, M = 1 subtracts; V = C₃ ⊕ C₄ flags overflow. Adapted from M. Morris Mano and Michael D. Ciletti, Digital Design, Fig. 4.13.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35</a:t>
            </a:fld>
            <a:endParaRPr lang="en-US"/>
          </a:p>
        </p:txBody>
      </p:sp>
      <p:pic>
        <p:nvPicPr>
          <p:cNvPr id="7" name="Picture 6">
            <a:extLst>
              <a:ext uri="{FF2B5EF4-FFF2-40B4-BE49-F238E27FC236}">
                <a16:creationId xmlns:a16="http://schemas.microsoft.com/office/drawing/2014/main" id="{E00CC323-DCDB-7E31-709A-AF16C82B121D}"/>
              </a:ext>
            </a:extLst>
          </p:cNvPr>
          <p:cNvPicPr>
            <a:picLocks noChangeAspect="1"/>
          </p:cNvPicPr>
          <p:nvPr/>
        </p:nvPicPr>
        <p:blipFill>
          <a:blip r:embed="rId3"/>
          <a:stretch>
            <a:fillRect/>
          </a:stretch>
        </p:blipFill>
        <p:spPr>
          <a:xfrm>
            <a:off x="411480" y="677746"/>
            <a:ext cx="11365992" cy="561688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A = 1001 (9), B = 0101 (5)</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2.5</a:t>
            </a:r>
            <a:endParaRPr lang="en-US" sz="1600" dirty="0"/>
          </a:p>
        </p:txBody>
      </p:sp>
      <p:sp>
        <p:nvSpPr>
          <p:cNvPr id="5" name="Text 2"/>
          <p:cNvSpPr txBox="1"/>
          <p:nvPr/>
        </p:nvSpPr>
        <p:spPr>
          <a:xfrm>
            <a:off x="548640" y="1280160"/>
            <a:ext cx="11094415" cy="1722120"/>
          </a:xfrm>
          <a:prstGeom prst="roundRect">
            <a:avLst>
              <a:gd name="adj" fmla="val 5310"/>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M = 0 (add):       1001 + 0101 = 01110 = 14   (9 + 5 ✓)</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M = 1 (subtract):  1001 + 1010 + 1 = 10100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                   drop the final carry → 0100 = 4   (9 − 5 ✓)</a:t>
            </a:r>
            <a:endParaRPr lang="en-US" sz="2200" dirty="0"/>
          </a:p>
        </p:txBody>
      </p:sp>
      <p:sp>
        <p:nvSpPr>
          <p:cNvPr id="6" name="Text 3"/>
          <p:cNvSpPr txBox="1"/>
          <p:nvPr/>
        </p:nvSpPr>
        <p:spPr>
          <a:xfrm>
            <a:off x="640080" y="3322320"/>
            <a:ext cx="10911535" cy="280416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B′ = 1010 when M = 1, and the carry-in to bit 0 is 1</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final carry-out is discarded: it is expected when A ≥ B</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2.6  Decimal (BCD) Adder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Add the two digits in binary; if the result is more than 9 (or a carry came out), add 6 to skip the six unused codes and pass a 1 to the next digit.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correction rule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Add two BCD digits (plus any carry-in) in a 4-bit binary adder: raw sum </a:t>
            </a:r>
            <a:r>
              <a:rPr lang="en-US" sz="3000" b="1" dirty="0">
                <a:solidFill>
                  <a:srgbClr val="1F2937"/>
                </a:solidFill>
                <a:latin typeface="Calibri" pitchFamily="34" charset="0"/>
                <a:ea typeface="Calibri" pitchFamily="34" charset="-122"/>
                <a:cs typeface="Calibri" pitchFamily="34" charset="-120"/>
              </a:rPr>
              <a:t>Z</a:t>
            </a:r>
            <a:r>
              <a:rPr lang="en-US" sz="3000" dirty="0">
                <a:solidFill>
                  <a:srgbClr val="1F2937"/>
                </a:solidFill>
                <a:latin typeface="Calibri" pitchFamily="34" charset="0"/>
                <a:ea typeface="Calibri" pitchFamily="34" charset="-122"/>
                <a:cs typeface="Calibri" pitchFamily="34" charset="-120"/>
              </a:rPr>
              <a:t> (0–19) and carry </a:t>
            </a:r>
            <a:r>
              <a:rPr lang="en-US" sz="3000" b="1" dirty="0">
                <a:solidFill>
                  <a:srgbClr val="1F2937"/>
                </a:solidFill>
                <a:latin typeface="Calibri" pitchFamily="34" charset="0"/>
                <a:ea typeface="Calibri" pitchFamily="34" charset="-122"/>
                <a:cs typeface="Calibri" pitchFamily="34" charset="-120"/>
              </a:rPr>
              <a:t>K</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If </a:t>
            </a:r>
            <a:r>
              <a:rPr lang="en-US" sz="3000" b="1" dirty="0">
                <a:solidFill>
                  <a:srgbClr val="1F2937"/>
                </a:solidFill>
                <a:latin typeface="Calibri" pitchFamily="34" charset="0"/>
                <a:ea typeface="Calibri" pitchFamily="34" charset="-122"/>
                <a:cs typeface="Calibri" pitchFamily="34" charset="-120"/>
              </a:rPr>
              <a:t>Z ≤ 9 and K = 0</a:t>
            </a:r>
            <a:r>
              <a:rPr lang="en-US" sz="3000" dirty="0">
                <a:solidFill>
                  <a:srgbClr val="1F2937"/>
                </a:solidFill>
                <a:latin typeface="Calibri" pitchFamily="34" charset="0"/>
                <a:ea typeface="Calibri" pitchFamily="34" charset="-122"/>
                <a:cs typeface="Calibri" pitchFamily="34" charset="-120"/>
              </a:rPr>
              <a:t>: already valid BCD; use it as is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If </a:t>
            </a:r>
            <a:r>
              <a:rPr lang="en-US" sz="3000" b="1" dirty="0">
                <a:solidFill>
                  <a:srgbClr val="1F2937"/>
                </a:solidFill>
                <a:latin typeface="Calibri" pitchFamily="34" charset="0"/>
                <a:ea typeface="Calibri" pitchFamily="34" charset="-122"/>
                <a:cs typeface="Calibri" pitchFamily="34" charset="-120"/>
              </a:rPr>
              <a:t>Z ≥ 10, or K = 1</a:t>
            </a:r>
            <a:r>
              <a:rPr lang="en-US" sz="3000" dirty="0">
                <a:solidFill>
                  <a:srgbClr val="1F2937"/>
                </a:solidFill>
                <a:latin typeface="Calibri" pitchFamily="34" charset="0"/>
                <a:ea typeface="Calibri" pitchFamily="34" charset="-122"/>
                <a:cs typeface="Calibri" pitchFamily="34" charset="-120"/>
              </a:rPr>
              <a:t>: add </a:t>
            </a:r>
            <a:r>
              <a:rPr lang="en-US" sz="3000" b="1" dirty="0">
                <a:solidFill>
                  <a:srgbClr val="1F2937"/>
                </a:solidFill>
                <a:latin typeface="Calibri" pitchFamily="34" charset="0"/>
                <a:ea typeface="Calibri" pitchFamily="34" charset="-122"/>
                <a:cs typeface="Calibri" pitchFamily="34" charset="-120"/>
              </a:rPr>
              <a:t>0110 (6)</a:t>
            </a:r>
            <a:r>
              <a:rPr lang="en-US" sz="3000" dirty="0">
                <a:solidFill>
                  <a:srgbClr val="1F2937"/>
                </a:solidFill>
                <a:latin typeface="Calibri" pitchFamily="34" charset="0"/>
                <a:ea typeface="Calibri" pitchFamily="34" charset="-122"/>
                <a:cs typeface="Calibri" pitchFamily="34" charset="-120"/>
              </a:rPr>
              <a:t>; the correction’s decade carry goes to the next decade</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Z ≥ 10 is detected by Z₈Z₄ + Z₈Z₂</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Output carry = K + Z₈Z₄ + Z₈Z₂</a:t>
            </a:r>
            <a:r>
              <a:rPr lang="en-US" sz="3000" dirty="0">
                <a:solidFill>
                  <a:srgbClr val="1F2937"/>
                </a:solidFill>
                <a:latin typeface="Calibri" pitchFamily="34" charset="0"/>
                <a:ea typeface="Calibri" pitchFamily="34" charset="-122"/>
                <a:cs typeface="Calibri" pitchFamily="34" charset="-120"/>
              </a:rPr>
              <a:t>: 1 means “add 6” and is also the carry into the next decade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Binary sum and BCD sum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Up to 9 the raw sum and the BCD digit are identical: no correction needed.</a:t>
            </a:r>
            <a:endParaRPr lang="en-US" sz="2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158088" y="1874520"/>
          <a:ext cx="9875520" cy="4425696"/>
        </p:xfrm>
        <a:graphic>
          <a:graphicData uri="http://schemas.openxmlformats.org/drawingml/2006/table">
            <a:tbl>
              <a:tblPr/>
              <a:tblGrid>
                <a:gridCol w="1645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02336">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Decimal</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K</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Z₈Z₄Z₂Z₁</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Output carry</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S₈S₄S₂S₁</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9"/>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Binary sum and BCD sum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From 10 onward the two diverge; adding 0110 brings S back into range every time.</a:t>
            </a:r>
            <a:endParaRPr lang="en-US" sz="2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158088" y="1874520"/>
          <a:ext cx="9875520" cy="4425696"/>
        </p:xfrm>
        <a:graphic>
          <a:graphicData uri="http://schemas.openxmlformats.org/drawingml/2006/table">
            <a:tbl>
              <a:tblPr/>
              <a:tblGrid>
                <a:gridCol w="1645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02336">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Decimal</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K</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Z₈Z₄Z₂Z₁</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Output carry</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S₈S₄S₂S₁</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1100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1101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1110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1111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17</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0111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18</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9"/>
                  </a:ext>
                </a:extLst>
              </a:tr>
              <a:tr h="402336">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19</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0011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Block diagram of a BCD adder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pic>
        <p:nvPicPr>
          <p:cNvPr id="5" name="Image 0" descr="/home/claude/figs2/2.6_decimal-adder_fig1.png"/>
          <p:cNvPicPr>
            <a:picLocks noChangeAspect="1"/>
          </p:cNvPicPr>
          <p:nvPr/>
        </p:nvPicPr>
        <p:blipFill>
          <a:blip r:embed="rId3"/>
          <a:stretch>
            <a:fillRect/>
          </a:stretch>
        </p:blipFill>
        <p:spPr>
          <a:xfrm>
            <a:off x="1930662" y="621792"/>
            <a:ext cx="8330371"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Block diagram of a BCD adder. Adapted from M. Morris Mano and Michael D. Ciletti, Digital Design, Fig. 4.14.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1: 8 + 7 (Z ≥ 10 case)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548640" y="1280160"/>
            <a:ext cx="11094415" cy="2504440"/>
          </a:xfrm>
          <a:prstGeom prst="roundRect">
            <a:avLst>
              <a:gd name="adj" fmla="val 3651"/>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A = 1000 (8), B = 0111 (7), C</a:t>
            </a:r>
            <a:r>
              <a:rPr lang="en-US" sz="2200" baseline="-40000" dirty="0">
                <a:solidFill>
                  <a:srgbClr val="1F2937"/>
                </a:solidFill>
                <a:latin typeface="Courier New" pitchFamily="34" charset="0"/>
                <a:ea typeface="Courier New" pitchFamily="34" charset="-122"/>
                <a:cs typeface="Courier New" pitchFamily="34" charset="-120"/>
              </a:rPr>
              <a:t>in</a:t>
            </a:r>
            <a:r>
              <a:rPr lang="en-US" sz="2200" dirty="0">
                <a:solidFill>
                  <a:srgbClr val="1F2937"/>
                </a:solidFill>
                <a:latin typeface="Courier New" pitchFamily="34" charset="0"/>
                <a:ea typeface="Courier New" pitchFamily="34" charset="-122"/>
                <a:cs typeface="Courier New" pitchFamily="34" charset="-120"/>
              </a:rPr>
              <a:t> = 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Binary adder: 1000 + 0111 = 1111 → Z = 1111 (15), K = 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Z₈Z₄ = 1 → Output carry = 0 + 1 + 1 = 1 (add 6)</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Correction adder: 1111 + 0110 = 1 0101</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S = 0101 (5), decade carry = 1</a:t>
            </a:r>
            <a:endParaRPr lang="en-US" sz="2200" dirty="0"/>
          </a:p>
        </p:txBody>
      </p:sp>
      <p:sp>
        <p:nvSpPr>
          <p:cNvPr id="6" name="Text 3"/>
          <p:cNvSpPr txBox="1"/>
          <p:nvPr/>
        </p:nvSpPr>
        <p:spPr>
          <a:xfrm>
            <a:off x="640080" y="4104640"/>
            <a:ext cx="10911535" cy="202184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Result: “1” and “5”, which is 15 in BCD; check 8 + 7 = 15 ✓</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2: 9 + 9 (K = 1 case)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2.6</a:t>
            </a:r>
            <a:endParaRPr lang="en-US" sz="1600" dirty="0"/>
          </a:p>
        </p:txBody>
      </p:sp>
      <p:sp>
        <p:nvSpPr>
          <p:cNvPr id="5" name="Text 2"/>
          <p:cNvSpPr txBox="1"/>
          <p:nvPr/>
        </p:nvSpPr>
        <p:spPr>
          <a:xfrm>
            <a:off x="548640" y="1280160"/>
            <a:ext cx="11094415" cy="2504440"/>
          </a:xfrm>
          <a:prstGeom prst="roundRect">
            <a:avLst>
              <a:gd name="adj" fmla="val 3651"/>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A = 1001 (9), B = 1001 (9), C</a:t>
            </a:r>
            <a:r>
              <a:rPr lang="en-US" sz="2200" baseline="-40000" dirty="0">
                <a:solidFill>
                  <a:srgbClr val="1F2937"/>
                </a:solidFill>
                <a:latin typeface="Courier New" pitchFamily="34" charset="0"/>
                <a:ea typeface="Courier New" pitchFamily="34" charset="-122"/>
                <a:cs typeface="Courier New" pitchFamily="34" charset="-120"/>
              </a:rPr>
              <a:t>in</a:t>
            </a:r>
            <a:r>
              <a:rPr lang="en-US" sz="2200" dirty="0">
                <a:solidFill>
                  <a:srgbClr val="1F2937"/>
                </a:solidFill>
                <a:latin typeface="Courier New" pitchFamily="34" charset="0"/>
                <a:ea typeface="Courier New" pitchFamily="34" charset="-122"/>
                <a:cs typeface="Courier New" pitchFamily="34" charset="-120"/>
              </a:rPr>
              <a:t> = 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Binary adder: 1001 + 1001 = 1 0010 → Z = 0010 (2), K = 1</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Z₈Z₄ = 0, Z₈Z₂ = 0, but K = 1 → Output carry = 1 (add 6)</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Correction adder: 0010 + 0110 = 1000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S = 1000 (8), decade carry = 1</a:t>
            </a:r>
            <a:endParaRPr lang="en-US" sz="2200" dirty="0"/>
          </a:p>
        </p:txBody>
      </p:sp>
      <p:sp>
        <p:nvSpPr>
          <p:cNvPr id="6" name="Text 3"/>
          <p:cNvSpPr txBox="1"/>
          <p:nvPr/>
        </p:nvSpPr>
        <p:spPr>
          <a:xfrm>
            <a:off x="640080" y="4104640"/>
            <a:ext cx="10911535" cy="202184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Result: “1” and “8”, which is 18 in BCD; check 9 + 9 = 18 ✓</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Z alone (0010) looks small: only checking K catches it</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2.7  Binary Multiplier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2.7</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Multiplying bits is just AND; the partial products are then added column by column with half and full adders.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2-bit × 2-bit multiplier: A = 10 (2), B = 11 (3)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2.7</a:t>
            </a:r>
            <a:endParaRPr lang="en-US" sz="1600" dirty="0"/>
          </a:p>
        </p:txBody>
      </p:sp>
      <p:sp>
        <p:nvSpPr>
          <p:cNvPr id="5" name="Text 2"/>
          <p:cNvSpPr txBox="1"/>
          <p:nvPr/>
        </p:nvSpPr>
        <p:spPr>
          <a:xfrm>
            <a:off x="548640" y="1280160"/>
            <a:ext cx="11094415" cy="2682240"/>
          </a:xfrm>
          <a:prstGeom prst="roundRect">
            <a:avLst>
              <a:gd name="adj" fmla="val 3409"/>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A1    A0</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    B1    B0</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A1B0  A0B0    ← PP0 = A·B0</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A1B1  A0B1          ← PP1 = A·B1, shifted left 1</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     P3    P2    P1   P0   = 0 1 1 0 = 6 ✓</a:t>
            </a:r>
            <a:endParaRPr lang="en-US" sz="2000" dirty="0"/>
          </a:p>
        </p:txBody>
      </p:sp>
      <p:sp>
        <p:nvSpPr>
          <p:cNvPr id="6" name="Text 3"/>
          <p:cNvSpPr txBox="1"/>
          <p:nvPr/>
        </p:nvSpPr>
        <p:spPr>
          <a:xfrm>
            <a:off x="640080" y="4282440"/>
            <a:ext cx="10911535" cy="1844040"/>
          </a:xfrm>
          <a:prstGeom prst="rect">
            <a:avLst/>
          </a:prstGeom>
          <a:noFill/>
          <a:ln/>
        </p:spPr>
        <p:txBody>
          <a:bodyPr wrap="square" lIns="0" tIns="0" rIns="0" bIns="0" rtlCol="0" anchor="t"/>
          <a:lstStyle/>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Each partial product is all zeros (multiplier bit 0) or a copy of the multiplicand (bit 1)</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Each partial product bit is the AND</a:t>
            </a:r>
            <a:r>
              <a:rPr lang="en-US" sz="2000" dirty="0">
                <a:solidFill>
                  <a:srgbClr val="1F2937"/>
                </a:solidFill>
                <a:latin typeface="Calibri" pitchFamily="34" charset="0"/>
                <a:ea typeface="Calibri" pitchFamily="34" charset="-122"/>
                <a:cs typeface="Calibri" pitchFamily="34" charset="-120"/>
              </a:rPr>
              <a:t> of a multiplicand bit and a multiplier bit</a:t>
            </a:r>
            <a:endParaRPr lang="en-US" sz="2000" dirty="0"/>
          </a:p>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m-bit × n-bit: product up to m + n bits; the AND array needs m × n gates</a:t>
            </a:r>
            <a:endParaRPr lang="en-US" sz="2000" dirty="0"/>
          </a:p>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Half adders where 2 bits share a column; full adders once 3 or more do</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Two-bit by two-bit binary multiplier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2.7</a:t>
            </a:r>
            <a:endParaRPr lang="en-US" sz="1600" dirty="0"/>
          </a:p>
        </p:txBody>
      </p:sp>
      <p:pic>
        <p:nvPicPr>
          <p:cNvPr id="5" name="Image 0" descr="/home/claude/figs2/2.7_binary-multiplier_fig1.png"/>
          <p:cNvPicPr>
            <a:picLocks noChangeAspect="1"/>
          </p:cNvPicPr>
          <p:nvPr/>
        </p:nvPicPr>
        <p:blipFill>
          <a:blip r:embed="rId3"/>
          <a:stretch>
            <a:fillRect/>
          </a:stretch>
        </p:blipFill>
        <p:spPr>
          <a:xfrm>
            <a:off x="1686408" y="621792"/>
            <a:ext cx="881888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Two-bit by two-bit binary multiplier. Adapted from M. Morris Mano and Michael D. Ciletti, Digital Design, Fig. 4.15.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2.8  Magnitude Comparator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Compare from the most significant bit down: the first bit position where the numbers differ decides which is larger.</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1-bit comparator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(A&gt;B) = AB′    (A&lt;B) = A′B    (A=B) = A′B′ + AB = (A ⊕ B)′ (the XNOR of A and B)</a:t>
            </a:r>
            <a:endParaRPr lang="en-US" sz="22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874520"/>
          <a:ext cx="877824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A&gt;B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A&lt;B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Cascading to n bits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Comparison starts at the </a:t>
            </a:r>
            <a:r>
              <a:rPr lang="en-US" sz="3000" b="1" dirty="0">
                <a:solidFill>
                  <a:srgbClr val="1F2937"/>
                </a:solidFill>
                <a:latin typeface="Calibri" pitchFamily="34" charset="0"/>
                <a:ea typeface="Calibri" pitchFamily="34" charset="-122"/>
                <a:cs typeface="Calibri" pitchFamily="34" charset="-120"/>
              </a:rPr>
              <a:t>most significant bit</a:t>
            </a:r>
            <a:r>
              <a:rPr lang="en-US" sz="3000" dirty="0">
                <a:solidFill>
                  <a:srgbClr val="1F2937"/>
                </a:solidFill>
                <a:latin typeface="Calibri" pitchFamily="34" charset="0"/>
                <a:ea typeface="Calibri" pitchFamily="34" charset="-122"/>
                <a:cs typeface="Calibri" pitchFamily="34" charset="-120"/>
              </a:rPr>
              <a:t>: if the MSBs differ, lower bits cannot change the outcome</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Only when a pair of bits is </a:t>
            </a:r>
            <a:r>
              <a:rPr lang="en-US" sz="3000" b="1" dirty="0">
                <a:solidFill>
                  <a:srgbClr val="1F2937"/>
                </a:solidFill>
                <a:latin typeface="Calibri" pitchFamily="34" charset="0"/>
                <a:ea typeface="Calibri" pitchFamily="34" charset="-122"/>
                <a:cs typeface="Calibri" pitchFamily="34" charset="-120"/>
              </a:rPr>
              <a:t>equal</a:t>
            </a:r>
            <a:r>
              <a:rPr lang="en-US" sz="3000" dirty="0">
                <a:solidFill>
                  <a:srgbClr val="1F2937"/>
                </a:solidFill>
                <a:latin typeface="Calibri" pitchFamily="34" charset="0"/>
                <a:ea typeface="Calibri" pitchFamily="34" charset="-122"/>
                <a:cs typeface="Calibri" pitchFamily="34" charset="-120"/>
              </a:rPr>
              <a:t> does the comparison continue to the next bit</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With x</a:t>
            </a:r>
            <a:r>
              <a:rPr lang="en-US" sz="3000" baseline="-40000" dirty="0">
                <a:solidFill>
                  <a:srgbClr val="1F2937"/>
                </a:solidFill>
                <a:latin typeface="Calibri" pitchFamily="34" charset="0"/>
                <a:ea typeface="Calibri" pitchFamily="34" charset="-122"/>
                <a:cs typeface="Calibri" pitchFamily="34" charset="-120"/>
              </a:rPr>
              <a:t>i</a:t>
            </a:r>
            <a:r>
              <a:rPr lang="en-US" sz="3000" dirty="0">
                <a:solidFill>
                  <a:srgbClr val="1F2937"/>
                </a:solidFill>
                <a:latin typeface="Calibri" pitchFamily="34" charset="0"/>
                <a:ea typeface="Calibri" pitchFamily="34" charset="-122"/>
                <a:cs typeface="Calibri" pitchFamily="34" charset="-120"/>
              </a:rPr>
              <a:t> = (A</a:t>
            </a:r>
            <a:r>
              <a:rPr lang="en-US" sz="3000" baseline="-40000" dirty="0">
                <a:solidFill>
                  <a:srgbClr val="1F2937"/>
                </a:solidFill>
                <a:latin typeface="Calibri" pitchFamily="34" charset="0"/>
                <a:ea typeface="Calibri" pitchFamily="34" charset="-122"/>
                <a:cs typeface="Calibri" pitchFamily="34" charset="-120"/>
              </a:rPr>
              <a:t>i</a:t>
            </a:r>
            <a:r>
              <a:rPr lang="en-US" sz="3000" dirty="0">
                <a:solidFill>
                  <a:srgbClr val="1F2937"/>
                </a:solidFill>
                <a:latin typeface="Calibri" pitchFamily="34" charset="0"/>
                <a:ea typeface="Calibri" pitchFamily="34" charset="-122"/>
                <a:cs typeface="Calibri" pitchFamily="34" charset="-120"/>
              </a:rPr>
              <a:t> = B</a:t>
            </a:r>
            <a:r>
              <a:rPr lang="en-US" sz="3000" baseline="-40000" dirty="0">
                <a:solidFill>
                  <a:srgbClr val="1F2937"/>
                </a:solidFill>
                <a:latin typeface="Calibri" pitchFamily="34" charset="0"/>
                <a:ea typeface="Calibri" pitchFamily="34" charset="-122"/>
                <a:cs typeface="Calibri" pitchFamily="34" charset="-120"/>
              </a:rPr>
              <a:t>i</a:t>
            </a:r>
            <a:r>
              <a:rPr lang="en-US" sz="3000" dirty="0">
                <a:solidFill>
                  <a:srgbClr val="1F2937"/>
                </a:solidFill>
                <a:latin typeface="Calibri" pitchFamily="34" charset="0"/>
                <a:ea typeface="Calibri" pitchFamily="34" charset="-122"/>
                <a:cs typeface="Calibri" pitchFamily="34" charset="-120"/>
              </a:rPr>
              <a:t>), for 2 bits: (A&gt;B) = A₁B₁′ + x₁A₀B₀′</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(A&lt;B) = A₁′B₁ + x₁A₀′B₀     (A=B) = x₁x₀</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Each stage passes a running (GT, EQ, LT) decision to the next; the first cascade input is (0, 1, 0), “equal so far”</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Only the last stage’s outputs are the overall result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Two-bit comparison as two cascaded stages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Two-bit comparison as two cascaded 1-bit stages, most significant bit first.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50</a:t>
            </a:fld>
            <a:endParaRPr lang="en-US"/>
          </a:p>
        </p:txBody>
      </p:sp>
      <p:pic>
        <p:nvPicPr>
          <p:cNvPr id="7" name="Picture 6">
            <a:extLst>
              <a:ext uri="{FF2B5EF4-FFF2-40B4-BE49-F238E27FC236}">
                <a16:creationId xmlns:a16="http://schemas.microsoft.com/office/drawing/2014/main" id="{1D1BAC6D-D756-0E25-59F6-1B5CCF993704}"/>
              </a:ext>
            </a:extLst>
          </p:cNvPr>
          <p:cNvPicPr>
            <a:picLocks noChangeAspect="1"/>
          </p:cNvPicPr>
          <p:nvPr/>
        </p:nvPicPr>
        <p:blipFill>
          <a:blip r:embed="rId3"/>
          <a:stretch>
            <a:fillRect/>
          </a:stretch>
        </p:blipFill>
        <p:spPr>
          <a:xfrm>
            <a:off x="2200174" y="1947070"/>
            <a:ext cx="7002379" cy="296385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comparison as a chain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comparison as a chain of 1-bit stages, each passing GT, EQ, LT to the next.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51</a:t>
            </a:fld>
            <a:endParaRPr lang="en-US"/>
          </a:p>
        </p:txBody>
      </p:sp>
      <p:pic>
        <p:nvPicPr>
          <p:cNvPr id="7" name="Picture 6">
            <a:extLst>
              <a:ext uri="{FF2B5EF4-FFF2-40B4-BE49-F238E27FC236}">
                <a16:creationId xmlns:a16="http://schemas.microsoft.com/office/drawing/2014/main" id="{BA5B0589-01F3-B89D-EEBF-7E782EEB8EB7}"/>
              </a:ext>
            </a:extLst>
          </p:cNvPr>
          <p:cNvPicPr>
            <a:picLocks noChangeAspect="1"/>
          </p:cNvPicPr>
          <p:nvPr/>
        </p:nvPicPr>
        <p:blipFill>
          <a:blip r:embed="rId3"/>
          <a:stretch>
            <a:fillRect/>
          </a:stretch>
        </p:blipFill>
        <p:spPr>
          <a:xfrm>
            <a:off x="530352" y="1945988"/>
            <a:ext cx="11247120" cy="316502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Four-bit comparator: gate-level equations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5" name="Text 2"/>
          <p:cNvSpPr txBox="1"/>
          <p:nvPr/>
        </p:nvSpPr>
        <p:spPr>
          <a:xfrm>
            <a:off x="548640" y="1280160"/>
            <a:ext cx="11094415" cy="1615440"/>
          </a:xfrm>
          <a:prstGeom prst="roundRect">
            <a:avLst>
              <a:gd name="adj" fmla="val 5660"/>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x</a:t>
            </a:r>
            <a:r>
              <a:rPr lang="en-US" sz="2000" baseline="-40000" dirty="0">
                <a:solidFill>
                  <a:srgbClr val="1F2937"/>
                </a:solidFill>
                <a:latin typeface="Courier New" pitchFamily="34" charset="0"/>
                <a:ea typeface="Courier New" pitchFamily="34" charset="-122"/>
                <a:cs typeface="Courier New" pitchFamily="34" charset="-120"/>
              </a:rPr>
              <a:t>i</a:t>
            </a:r>
            <a:r>
              <a:rPr lang="en-US" sz="2000" dirty="0">
                <a:solidFill>
                  <a:srgbClr val="1F2937"/>
                </a:solidFill>
                <a:latin typeface="Courier New" pitchFamily="34" charset="0"/>
                <a:ea typeface="Courier New" pitchFamily="34" charset="-122"/>
                <a:cs typeface="Courier New" pitchFamily="34" charset="-120"/>
              </a:rPr>
              <a:t> = A</a:t>
            </a:r>
            <a:r>
              <a:rPr lang="en-US" sz="2000" baseline="-40000" dirty="0">
                <a:solidFill>
                  <a:srgbClr val="1F2937"/>
                </a:solidFill>
                <a:latin typeface="Courier New" pitchFamily="34" charset="0"/>
                <a:ea typeface="Courier New" pitchFamily="34" charset="-122"/>
                <a:cs typeface="Courier New" pitchFamily="34" charset="-120"/>
              </a:rPr>
              <a:t>i</a:t>
            </a:r>
            <a:r>
              <a:rPr lang="en-US" sz="2000" dirty="0">
                <a:solidFill>
                  <a:srgbClr val="1F2937"/>
                </a:solidFill>
                <a:latin typeface="Courier New" pitchFamily="34" charset="0"/>
                <a:ea typeface="Courier New" pitchFamily="34" charset="-122"/>
                <a:cs typeface="Courier New" pitchFamily="34" charset="-120"/>
              </a:rPr>
              <a:t>B</a:t>
            </a:r>
            <a:r>
              <a:rPr lang="en-US" sz="2000" baseline="-40000" dirty="0">
                <a:solidFill>
                  <a:srgbClr val="1F2937"/>
                </a:solidFill>
                <a:latin typeface="Courier New" pitchFamily="34" charset="0"/>
                <a:ea typeface="Courier New" pitchFamily="34" charset="-122"/>
                <a:cs typeface="Courier New" pitchFamily="34" charset="-120"/>
              </a:rPr>
              <a:t>i</a:t>
            </a:r>
            <a:r>
              <a:rPr lang="en-US" sz="2000" dirty="0">
                <a:solidFill>
                  <a:srgbClr val="1F2937"/>
                </a:solidFill>
                <a:latin typeface="Courier New" pitchFamily="34" charset="0"/>
                <a:ea typeface="Courier New" pitchFamily="34" charset="-122"/>
                <a:cs typeface="Courier New" pitchFamily="34" charset="-120"/>
              </a:rPr>
              <a:t> + A</a:t>
            </a:r>
            <a:r>
              <a:rPr lang="en-US" sz="2000" baseline="-40000" dirty="0">
                <a:solidFill>
                  <a:srgbClr val="1F2937"/>
                </a:solidFill>
                <a:latin typeface="Courier New" pitchFamily="34" charset="0"/>
                <a:ea typeface="Courier New" pitchFamily="34" charset="-122"/>
                <a:cs typeface="Courier New" pitchFamily="34" charset="-120"/>
              </a:rPr>
              <a:t>i</a:t>
            </a:r>
            <a:r>
              <a:rPr lang="en-US" sz="2000" dirty="0">
                <a:solidFill>
                  <a:srgbClr val="1F2937"/>
                </a:solidFill>
                <a:latin typeface="Courier New" pitchFamily="34" charset="0"/>
                <a:ea typeface="Courier New" pitchFamily="34" charset="-122"/>
                <a:cs typeface="Courier New" pitchFamily="34" charset="-120"/>
              </a:rPr>
              <a:t>′B</a:t>
            </a:r>
            <a:r>
              <a:rPr lang="en-US" sz="2000" baseline="-40000" dirty="0">
                <a:solidFill>
                  <a:srgbClr val="1F2937"/>
                </a:solidFill>
                <a:latin typeface="Courier New" pitchFamily="34" charset="0"/>
                <a:ea typeface="Courier New" pitchFamily="34" charset="-122"/>
                <a:cs typeface="Courier New" pitchFamily="34" charset="-120"/>
              </a:rPr>
              <a:t>i</a:t>
            </a:r>
            <a:r>
              <a:rPr lang="en-US" sz="2000" dirty="0">
                <a:solidFill>
                  <a:srgbClr val="1F2937"/>
                </a:solidFill>
                <a:latin typeface="Courier New" pitchFamily="34" charset="0"/>
                <a:ea typeface="Courier New" pitchFamily="34" charset="-122"/>
                <a:cs typeface="Courier New" pitchFamily="34" charset="-120"/>
              </a:rPr>
              <a:t>′   (XNOR: 1 when bit i of A and B are equal)</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(A = B) = x₃x₂x₁x₀</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(A &gt; B) = A₃B₃′ + x₃A₂B₂′ + x₃x₂A₁B₁′ + x₃x₂x₁A₀B₀′</a:t>
            </a:r>
            <a:endParaRPr lang="en-US" sz="2000" dirty="0"/>
          </a:p>
        </p:txBody>
      </p:sp>
      <p:sp>
        <p:nvSpPr>
          <p:cNvPr id="6" name="Text 3"/>
          <p:cNvSpPr txBox="1"/>
          <p:nvPr/>
        </p:nvSpPr>
        <p:spPr>
          <a:xfrm>
            <a:off x="640080" y="3215640"/>
            <a:ext cx="10911535" cy="291084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&lt; B) is the same as (A &gt; B) with A and B swapped in each term</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magnitude comparator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pic>
        <p:nvPicPr>
          <p:cNvPr id="5" name="Image 0" descr="/home/claude/figs2/2.8_magnitude-comparator_fig3.png"/>
          <p:cNvPicPr>
            <a:picLocks noChangeAspect="1"/>
          </p:cNvPicPr>
          <p:nvPr/>
        </p:nvPicPr>
        <p:blipFill>
          <a:blip r:embed="rId3"/>
          <a:stretch>
            <a:fillRect/>
          </a:stretch>
        </p:blipFill>
        <p:spPr>
          <a:xfrm>
            <a:off x="2115289" y="621792"/>
            <a:ext cx="7961117"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magnitude comparator. Adapted from M. Morris Mano and Michael D. Ciletti, Digital Design, Fig. 4.17.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A = 1011 (11), B = 1010 (10)</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2.8</a:t>
            </a:r>
            <a:endParaRPr lang="en-US" sz="1600" dirty="0"/>
          </a:p>
        </p:txBody>
      </p:sp>
      <p:sp>
        <p:nvSpPr>
          <p:cNvPr id="5" name="Text 2"/>
          <p:cNvSpPr txBox="1"/>
          <p:nvPr/>
        </p:nvSpPr>
        <p:spPr>
          <a:xfrm>
            <a:off x="548640" y="1280160"/>
            <a:ext cx="11094415" cy="2504440"/>
          </a:xfrm>
          <a:prstGeom prst="roundRect">
            <a:avLst>
              <a:gd name="adj" fmla="val 3651"/>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Bit 3: A3=1, B3=1 → equal, still equal to bit 2</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Bit 2: A2=0, B2=0 → equal, still equal to bit 1</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Bit 1: A1=1, B1=1 → equal, still equal to bit 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Bit 0: A0=1, B0=0 → A0 &gt; B0, every higher bit tied</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Result: A &gt; B   (11 &gt; 10) ✓</a:t>
            </a:r>
            <a:endParaRPr lang="en-US" sz="2200" dirty="0"/>
          </a:p>
        </p:txBody>
      </p:sp>
      <p:sp>
        <p:nvSpPr>
          <p:cNvPr id="6" name="Text 3"/>
          <p:cNvSpPr txBox="1"/>
          <p:nvPr/>
        </p:nvSpPr>
        <p:spPr>
          <a:xfrm>
            <a:off x="640080" y="4104640"/>
            <a:ext cx="10911535" cy="202184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Decided entirely by the least significant bit, because every bit above it matched</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2.9  Decoders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decoder turns a binary number into “one wire high”: input 101 lights up output 5 and nothing else.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2-to-4 decoder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D₀ = A₁′A₀′   D₁ = A₁′A₀   D₂ = A₁A₀′   D₃ = A₁A₀. A decoder is a physical implementation of minterm generation: each output </a:t>
            </a:r>
            <a:r>
              <a:rPr lang="en-US" sz="2200" b="1" dirty="0">
                <a:solidFill>
                  <a:srgbClr val="1F2937"/>
                </a:solidFill>
                <a:latin typeface="Calibri" pitchFamily="34" charset="0"/>
                <a:ea typeface="Calibri" pitchFamily="34" charset="-122"/>
                <a:cs typeface="Calibri" pitchFamily="34" charset="-120"/>
              </a:rPr>
              <a:t>is</a:t>
            </a:r>
            <a:r>
              <a:rPr lang="en-US" sz="2200" dirty="0">
                <a:solidFill>
                  <a:srgbClr val="1F2937"/>
                </a:solidFill>
                <a:latin typeface="Calibri" pitchFamily="34" charset="0"/>
                <a:ea typeface="Calibri" pitchFamily="34" charset="-122"/>
                <a:cs typeface="Calibri" pitchFamily="34" charset="-120"/>
              </a:rPr>
              <a:t> one minterm.</a:t>
            </a:r>
            <a:endParaRPr lang="en-US" sz="2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981048" y="2240280"/>
          <a:ext cx="8229600" cy="246888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D₂</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D₃</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2-to-4 decoder with enable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pic>
        <p:nvPicPr>
          <p:cNvPr id="5" name="Image 0" descr="/home/claude/figs2/2.9_decoders_fig1.png"/>
          <p:cNvPicPr>
            <a:picLocks noChangeAspect="1"/>
          </p:cNvPicPr>
          <p:nvPr/>
        </p:nvPicPr>
        <p:blipFill>
          <a:blip r:embed="rId3"/>
          <a:stretch>
            <a:fillRect/>
          </a:stretch>
        </p:blipFill>
        <p:spPr>
          <a:xfrm>
            <a:off x="411480" y="621792"/>
            <a:ext cx="7559040" cy="5669280"/>
          </a:xfrm>
          <a:prstGeom prst="rect">
            <a:avLst/>
          </a:prstGeom>
        </p:spPr>
      </p:pic>
      <p:sp>
        <p:nvSpPr>
          <p:cNvPr id="6" name="Text 2"/>
          <p:cNvSpPr txBox="1"/>
          <p:nvPr/>
        </p:nvSpPr>
        <p:spPr>
          <a:xfrm>
            <a:off x="8336280" y="713232"/>
            <a:ext cx="3443935" cy="5486400"/>
          </a:xfrm>
          <a:prstGeom prst="roundRect">
            <a:avLst>
              <a:gd name="adj" fmla="val 3186"/>
            </a:avLst>
          </a:prstGeom>
          <a:solidFill>
            <a:srgbClr val="E3F0FB"/>
          </a:solidFill>
          <a:ln w="6350">
            <a:solidFill>
              <a:srgbClr val="E3F0FB"/>
            </a:solidFill>
          </a:ln>
        </p:spPr>
        <p:txBody>
          <a:bodyPr wrap="square" lIns="203200" tIns="279400" rIns="279400" bIns="203200" rtlCol="0" anchor="ctr"/>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Each output AND gate also receives 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 = 0 forces every output to 0</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 = 1: the address inputs select one output</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This makes a decoder useful as chip-select logic</a:t>
            </a:r>
            <a:endParaRPr lang="en-US" sz="2400" dirty="0"/>
          </a:p>
        </p:txBody>
      </p:sp>
      <p:sp>
        <p:nvSpPr>
          <p:cNvPr id="7" name="Text 3"/>
          <p:cNvSpPr txBox="1"/>
          <p:nvPr/>
        </p:nvSpPr>
        <p:spPr>
          <a:xfrm>
            <a:off x="411480" y="6327648"/>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2-to-4 decoder with enable: each output AND gate also receives E, so all outputs are 0 when E = 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3-to-8 decoder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pic>
        <p:nvPicPr>
          <p:cNvPr id="5" name="Image 0" descr="/home/claude/figs2/2.9_decoders_fig2.png"/>
          <p:cNvPicPr>
            <a:picLocks noChangeAspect="1"/>
          </p:cNvPicPr>
          <p:nvPr/>
        </p:nvPicPr>
        <p:blipFill>
          <a:blip r:embed="rId3"/>
          <a:stretch>
            <a:fillRect/>
          </a:stretch>
        </p:blipFill>
        <p:spPr>
          <a:xfrm>
            <a:off x="411480" y="621792"/>
            <a:ext cx="6564429" cy="5669280"/>
          </a:xfrm>
          <a:prstGeom prst="rect">
            <a:avLst/>
          </a:prstGeom>
        </p:spPr>
      </p:pic>
      <p:sp>
        <p:nvSpPr>
          <p:cNvPr id="6" name="Text 2"/>
          <p:cNvSpPr txBox="1"/>
          <p:nvPr/>
        </p:nvSpPr>
        <p:spPr>
          <a:xfrm>
            <a:off x="7341669" y="713232"/>
            <a:ext cx="4438546" cy="5486400"/>
          </a:xfrm>
          <a:prstGeom prst="roundRect">
            <a:avLst>
              <a:gd name="adj" fmla="val 2472"/>
            </a:avLst>
          </a:prstGeom>
          <a:solidFill>
            <a:srgbClr val="E3F0FB"/>
          </a:solidFill>
          <a:ln w="6350">
            <a:solidFill>
              <a:srgbClr val="E3F0FB"/>
            </a:solidFill>
          </a:ln>
        </p:spPr>
        <p:txBody>
          <a:bodyPr wrap="square" lIns="203200" tIns="279400" rIns="279400" bIns="203200" rtlCol="0" anchor="ctr"/>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Inputs A₂ A₁ A₀ activate exactly one of the outputs D₀–D₇</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Input 101 (5) activates only D₅</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Every other output stays at 0</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Each memory chip or bank is wired to one output, so only one is selected</a:t>
            </a:r>
            <a:endParaRPr lang="en-US" sz="2400" dirty="0"/>
          </a:p>
        </p:txBody>
      </p:sp>
      <p:sp>
        <p:nvSpPr>
          <p:cNvPr id="7" name="Text 3"/>
          <p:cNvSpPr txBox="1"/>
          <p:nvPr/>
        </p:nvSpPr>
        <p:spPr>
          <a:xfrm>
            <a:off x="411480" y="6327648"/>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A 3-to-8 decoder selects exactly one of eight outputs — here, input 101 (5) activates only D₅.</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Enable and implementing functions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An </a:t>
            </a:r>
            <a:r>
              <a:rPr lang="en-US" sz="3000" b="1" dirty="0">
                <a:solidFill>
                  <a:srgbClr val="1F2937"/>
                </a:solidFill>
                <a:latin typeface="Calibri" pitchFamily="34" charset="0"/>
                <a:ea typeface="Calibri" pitchFamily="34" charset="-122"/>
                <a:cs typeface="Calibri" pitchFamily="34" charset="-120"/>
              </a:rPr>
              <a:t>enable</a:t>
            </a:r>
            <a:r>
              <a:rPr lang="en-US" sz="3000" dirty="0">
                <a:solidFill>
                  <a:srgbClr val="1F2937"/>
                </a:solidFill>
                <a:latin typeface="Calibri" pitchFamily="34" charset="0"/>
                <a:ea typeface="Calibri" pitchFamily="34" charset="-122"/>
                <a:cs typeface="Calibri" pitchFamily="34" charset="-120"/>
              </a:rPr>
              <a:t> input E: when E = 0 every output is 0, so only the addressed chip’s select line goes active</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 = 0 silences the whole decoder; it does not choose a default output</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Every output is already a minterm, so any function is: feed n variables into an n-to-2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 decoder and </a:t>
            </a:r>
            <a:r>
              <a:rPr lang="en-US" sz="3000" b="1" dirty="0">
                <a:solidFill>
                  <a:srgbClr val="1F2937"/>
                </a:solidFill>
                <a:latin typeface="Calibri" pitchFamily="34" charset="0"/>
                <a:ea typeface="Calibri" pitchFamily="34" charset="-122"/>
                <a:cs typeface="Calibri" pitchFamily="34" charset="-120"/>
              </a:rPr>
              <a:t>OR</a:t>
            </a:r>
            <a:r>
              <a:rPr lang="en-US" sz="3000" dirty="0">
                <a:solidFill>
                  <a:srgbClr val="1F2937"/>
                </a:solidFill>
                <a:latin typeface="Calibri" pitchFamily="34" charset="0"/>
                <a:ea typeface="Calibri" pitchFamily="34" charset="-122"/>
                <a:cs typeface="Calibri" pitchFamily="34" charset="-120"/>
              </a:rPr>
              <a:t> the outputs for its minterms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Example: F(A,B) = Σm(1,2) = D₁ + D₂: one 2-input OR gate</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No AND gates and no K-map work are needed</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F(A,B) = Σm(1,2) from a decoder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pic>
        <p:nvPicPr>
          <p:cNvPr id="5" name="Image 0" descr="/home/claude/figs2/2.9_decoders_fig3.png"/>
          <p:cNvPicPr>
            <a:picLocks noChangeAspect="1"/>
          </p:cNvPicPr>
          <p:nvPr/>
        </p:nvPicPr>
        <p:blipFill>
          <a:blip r:embed="rId3"/>
          <a:stretch>
            <a:fillRect/>
          </a:stretch>
        </p:blipFill>
        <p:spPr>
          <a:xfrm>
            <a:off x="274320" y="684276"/>
            <a:ext cx="11643055" cy="5544312"/>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F(A,B) = Σm(1,2) = D₁ + D₂ from a 2-to-4 decoder and one OR gate.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F(A,B,C) = Σm(1,3,5,6)</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2.9</a:t>
            </a:r>
            <a:endParaRPr lang="en-US" sz="1600" dirty="0"/>
          </a:p>
        </p:txBody>
      </p:sp>
      <p:pic>
        <p:nvPicPr>
          <p:cNvPr id="5" name="Image 0" descr="/home/claude/figs2/2.9_decoders_fig4.png"/>
          <p:cNvPicPr>
            <a:picLocks noChangeAspect="1"/>
          </p:cNvPicPr>
          <p:nvPr/>
        </p:nvPicPr>
        <p:blipFill>
          <a:blip r:embed="rId3"/>
          <a:stretch>
            <a:fillRect/>
          </a:stretch>
        </p:blipFill>
        <p:spPr>
          <a:xfrm>
            <a:off x="411480" y="621792"/>
            <a:ext cx="7902633" cy="5669280"/>
          </a:xfrm>
          <a:prstGeom prst="rect">
            <a:avLst/>
          </a:prstGeom>
        </p:spPr>
      </p:pic>
      <p:sp>
        <p:nvSpPr>
          <p:cNvPr id="6" name="Text 2"/>
          <p:cNvSpPr txBox="1"/>
          <p:nvPr/>
        </p:nvSpPr>
        <p:spPr>
          <a:xfrm>
            <a:off x="8679873" y="713232"/>
            <a:ext cx="3100342" cy="5486400"/>
          </a:xfrm>
          <a:prstGeom prst="roundRect">
            <a:avLst>
              <a:gd name="adj" fmla="val 3539"/>
            </a:avLst>
          </a:prstGeom>
          <a:solidFill>
            <a:srgbClr val="E3F0FB"/>
          </a:solidFill>
          <a:ln w="6350">
            <a:solidFill>
              <a:srgbClr val="E3F0FB"/>
            </a:solidFill>
          </a:ln>
        </p:spPr>
        <p:txBody>
          <a:bodyPr wrap="square" lIns="203200" tIns="279400" rIns="279400" bIns="203200" rtlCol="0" anchor="ctr"/>
          <a:lstStyle/>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F = D₁ + D₃ + D₅ + D₆</a:t>
            </a:r>
            <a:endParaRPr lang="en-US" sz="2000" dirty="0"/>
          </a:p>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One four-input OR gate combines the four chosen outputs</a:t>
            </a:r>
            <a:endParaRPr lang="en-US" sz="2000" dirty="0"/>
          </a:p>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No K-map simplification is needed</a:t>
            </a:r>
            <a:endParaRPr lang="en-US" sz="2000" dirty="0"/>
          </a:p>
          <a:p>
            <a:pPr marL="304800" indent="-304800" algn="l">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The price is a full decoder, which uses more gates than a minimised circuit</a:t>
            </a:r>
            <a:endParaRPr lang="en-US" sz="2000" dirty="0"/>
          </a:p>
        </p:txBody>
      </p:sp>
      <p:sp>
        <p:nvSpPr>
          <p:cNvPr id="7" name="Text 3"/>
          <p:cNvSpPr txBox="1"/>
          <p:nvPr/>
        </p:nvSpPr>
        <p:spPr>
          <a:xfrm>
            <a:off x="411480" y="6327648"/>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F(A,B,C) = Σm(1,3,5,6): decoder outputs D₁, D₃, D₅ and D₆ feed one four-input OR gate.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2.10  Encoders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An encoder does the reverse: it reports which input wire is high as a binary number; a priority encoder picks the highest one if several are high.</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8-to-3 (octal-to-binary) encoder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sp>
        <p:nvSpPr>
          <p:cNvPr id="5" name="Text 2"/>
          <p:cNvSpPr txBox="1"/>
          <p:nvPr/>
        </p:nvSpPr>
        <p:spPr>
          <a:xfrm>
            <a:off x="548640" y="1280160"/>
            <a:ext cx="11094415" cy="1615440"/>
          </a:xfrm>
          <a:prstGeom prst="roundRect">
            <a:avLst>
              <a:gd name="adj" fmla="val 5660"/>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A0 = D1 + D3 + D5 + D7    (inputs whose index has bit 0 set)</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A1 = D2 + D3 + D6 + D7    (inputs whose index has bit 1 set)</a:t>
            </a:r>
            <a:endParaRPr lang="en-US" sz="2000" dirty="0"/>
          </a:p>
          <a:p>
            <a:pPr marL="0" indent="0">
              <a:spcAft>
                <a:spcPts val="400"/>
              </a:spcAft>
              <a:buNone/>
            </a:pPr>
            <a:r>
              <a:rPr lang="en-US" sz="2000" dirty="0">
                <a:solidFill>
                  <a:srgbClr val="1F2937"/>
                </a:solidFill>
                <a:latin typeface="Courier New" pitchFamily="34" charset="0"/>
                <a:ea typeface="Courier New" pitchFamily="34" charset="-122"/>
                <a:cs typeface="Courier New" pitchFamily="34" charset="-120"/>
              </a:rPr>
              <a:t>A2 = D4 + D5 + D6 + D7    (inputs whose index has bit 2 set)</a:t>
            </a:r>
            <a:endParaRPr lang="en-US" sz="2000" dirty="0"/>
          </a:p>
        </p:txBody>
      </p:sp>
      <p:sp>
        <p:nvSpPr>
          <p:cNvPr id="6" name="Text 3"/>
          <p:cNvSpPr txBox="1"/>
          <p:nvPr/>
        </p:nvSpPr>
        <p:spPr>
          <a:xfrm>
            <a:off x="640080" y="3215640"/>
            <a:ext cx="10911535" cy="291084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output is an OR of the four inputs whose index has that bit set: three 4-input OR gates, no AND gates, no K-maps</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Example: only D₅ active → A₂ = 1, A₁ = 0, A₀ = 1 → A₂A₁A₀ = 101 ✓</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Octal-to-binary encoder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pic>
        <p:nvPicPr>
          <p:cNvPr id="5" name="Image 0" descr="/home/claude/figs2/2.10_encoders_fig1.png"/>
          <p:cNvPicPr>
            <a:picLocks noChangeAspect="1"/>
          </p:cNvPicPr>
          <p:nvPr/>
        </p:nvPicPr>
        <p:blipFill>
          <a:blip r:embed="rId3"/>
          <a:stretch>
            <a:fillRect/>
          </a:stretch>
        </p:blipFill>
        <p:spPr>
          <a:xfrm>
            <a:off x="1734863" y="621792"/>
            <a:ext cx="8721969"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Octal-to-binary encoder</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priority problem and priority encoder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plain encoder assumes exactly </a:t>
            </a:r>
            <a:r>
              <a:rPr lang="en-US" sz="2800" b="1" dirty="0">
                <a:solidFill>
                  <a:srgbClr val="1F2937"/>
                </a:solidFill>
                <a:latin typeface="Calibri" pitchFamily="34" charset="0"/>
                <a:ea typeface="Calibri" pitchFamily="34" charset="-122"/>
                <a:cs typeface="Calibri" pitchFamily="34" charset="-120"/>
              </a:rPr>
              <a:t>one</a:t>
            </a:r>
            <a:r>
              <a:rPr lang="en-US" sz="2800" dirty="0">
                <a:solidFill>
                  <a:srgbClr val="1F2937"/>
                </a:solidFill>
                <a:latin typeface="Calibri" pitchFamily="34" charset="0"/>
                <a:ea typeface="Calibri" pitchFamily="34" charset="-122"/>
                <a:cs typeface="Calibri" pitchFamily="34" charset="-120"/>
              </a:rPr>
              <a:t> input is active; with two or more, the outputs become the OR of several codes: garbage</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a:t>
            </a:r>
            <a:r>
              <a:rPr lang="en-US" sz="2800" b="1" dirty="0">
                <a:solidFill>
                  <a:srgbClr val="1F2937"/>
                </a:solidFill>
                <a:latin typeface="Calibri" pitchFamily="34" charset="0"/>
                <a:ea typeface="Calibri" pitchFamily="34" charset="-122"/>
                <a:cs typeface="Calibri" pitchFamily="34" charset="-120"/>
              </a:rPr>
              <a:t>priority encoder</a:t>
            </a:r>
            <a:r>
              <a:rPr lang="en-US" sz="2800" dirty="0">
                <a:solidFill>
                  <a:srgbClr val="1F2937"/>
                </a:solidFill>
                <a:latin typeface="Calibri" pitchFamily="34" charset="0"/>
                <a:ea typeface="Calibri" pitchFamily="34" charset="-122"/>
                <a:cs typeface="Calibri" pitchFamily="34" charset="-120"/>
              </a:rPr>
              <a:t> outputs the code of the </a:t>
            </a:r>
            <a:r>
              <a:rPr lang="en-US" sz="2800" b="1" dirty="0">
                <a:solidFill>
                  <a:srgbClr val="1F2937"/>
                </a:solidFill>
                <a:latin typeface="Calibri" pitchFamily="34" charset="0"/>
                <a:ea typeface="Calibri" pitchFamily="34" charset="-122"/>
                <a:cs typeface="Calibri" pitchFamily="34" charset="-120"/>
              </a:rPr>
              <a:t>highest-priority</a:t>
            </a:r>
            <a:r>
              <a:rPr lang="en-US" sz="2800" dirty="0">
                <a:solidFill>
                  <a:srgbClr val="1F2937"/>
                </a:solidFill>
                <a:latin typeface="Calibri" pitchFamily="34" charset="0"/>
                <a:ea typeface="Calibri" pitchFamily="34" charset="-122"/>
                <a:cs typeface="Calibri" pitchFamily="34" charset="-120"/>
              </a:rPr>
              <a:t> input: conventionally the highest index</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V</a:t>
            </a:r>
            <a:r>
              <a:rPr lang="en-US" sz="2800" dirty="0">
                <a:solidFill>
                  <a:srgbClr val="1F2937"/>
                </a:solidFill>
                <a:latin typeface="Calibri" pitchFamily="34" charset="0"/>
                <a:ea typeface="Calibri" pitchFamily="34" charset="-122"/>
                <a:cs typeface="Calibri" pitchFamily="34" charset="-120"/>
              </a:rPr>
              <a:t> is a valid-output flag: 0 only when no input is active, so A₁ = A₀ = 0 is not ambiguous</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Example: D₂ = D₁ = 1 (D₃ = D₀ = 0) → output </a:t>
            </a:r>
            <a:r>
              <a:rPr lang="en-US" sz="2800" b="1" dirty="0">
                <a:solidFill>
                  <a:srgbClr val="1F2937"/>
                </a:solidFill>
                <a:latin typeface="Calibri" pitchFamily="34" charset="0"/>
                <a:ea typeface="Calibri" pitchFamily="34" charset="-122"/>
                <a:cs typeface="Calibri" pitchFamily="34" charset="-120"/>
              </a:rPr>
              <a:t>10 (2)</a:t>
            </a:r>
            <a:r>
              <a:rPr lang="en-US" sz="2800" dirty="0">
                <a:solidFill>
                  <a:srgbClr val="1F2937"/>
                </a:solidFill>
                <a:latin typeface="Calibri" pitchFamily="34" charset="0"/>
                <a:ea typeface="Calibri" pitchFamily="34" charset="-122"/>
                <a:cs typeface="Calibri" pitchFamily="34" charset="-120"/>
              </a:rPr>
              <a:t>; D₁ is ignored</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Highest index wins, not lowest: always check the convention of a chip or textbook</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4-input priority encoder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X means don’t care: once D₃ is 1, D₂, D₁, D₀ do not matter.</a:t>
            </a:r>
            <a:endParaRPr lang="en-US" sz="2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1615288" y="1874520"/>
          <a:ext cx="896112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D₃</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D₂</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D₀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V</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4-input priority encoder block</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pic>
        <p:nvPicPr>
          <p:cNvPr id="5" name="Image 0" descr="/home/claude/figs2/2.10_encoders_fig2.png"/>
          <p:cNvPicPr>
            <a:picLocks noChangeAspect="1"/>
          </p:cNvPicPr>
          <p:nvPr/>
        </p:nvPicPr>
        <p:blipFill>
          <a:blip r:embed="rId3"/>
          <a:stretch>
            <a:fillRect/>
          </a:stretch>
        </p:blipFill>
        <p:spPr>
          <a:xfrm>
            <a:off x="274320" y="836745"/>
            <a:ext cx="11643055" cy="5239375"/>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4-input priority encoder block</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Four-input priority encoder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2.10</a:t>
            </a:r>
            <a:endParaRPr lang="en-US" sz="1600" dirty="0"/>
          </a:p>
        </p:txBody>
      </p:sp>
      <p:pic>
        <p:nvPicPr>
          <p:cNvPr id="5" name="Image 0" descr="/home/claude/figs2/2.10_encoders_fig3.png"/>
          <p:cNvPicPr>
            <a:picLocks noChangeAspect="1"/>
          </p:cNvPicPr>
          <p:nvPr/>
        </p:nvPicPr>
        <p:blipFill>
          <a:blip r:embed="rId3"/>
          <a:stretch>
            <a:fillRect/>
          </a:stretch>
        </p:blipFill>
        <p:spPr>
          <a:xfrm>
            <a:off x="2044786" y="621792"/>
            <a:ext cx="8102124" cy="5636260"/>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Four-input priority encoder: A₁ = D₃ + D₂, A₀ = D₃ + D₂′D₁, V = D₃ + D₂ + D₁ + D₀. Adapted from M. Morris Mano and Michael D. Ciletti, Digital Design, Fig. 4.23.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2.11  Multiplexers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multiplexer is a selector switch: the select lines choose which one of several inputs is passed to the single output.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a multiplexer does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r>
              <a:rPr lang="en-US" sz="3000" b="1" dirty="0">
                <a:solidFill>
                  <a:srgbClr val="1F2937"/>
                </a:solidFill>
                <a:latin typeface="Calibri" pitchFamily="34" charset="0"/>
                <a:ea typeface="Calibri" pitchFamily="34" charset="-122"/>
                <a:cs typeface="Calibri" pitchFamily="34" charset="-120"/>
              </a:rPr>
              <a:t>multiplexer (MUX)</a:t>
            </a:r>
            <a:r>
              <a:rPr lang="en-US" sz="3000" dirty="0">
                <a:solidFill>
                  <a:srgbClr val="1F2937"/>
                </a:solidFill>
                <a:latin typeface="Calibri" pitchFamily="34" charset="0"/>
                <a:ea typeface="Calibri" pitchFamily="34" charset="-122"/>
                <a:cs typeface="Calibri" pitchFamily="34" charset="-120"/>
              </a:rPr>
              <a:t> selects one of 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 input lines and routes it to a single output, using n </a:t>
            </a:r>
            <a:r>
              <a:rPr lang="en-US" sz="3000" b="1" dirty="0">
                <a:solidFill>
                  <a:srgbClr val="1F2937"/>
                </a:solidFill>
                <a:latin typeface="Calibri" pitchFamily="34" charset="0"/>
                <a:ea typeface="Calibri" pitchFamily="34" charset="-122"/>
                <a:cs typeface="Calibri" pitchFamily="34" charset="-120"/>
              </a:rPr>
              <a:t>select lines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select lines act as an address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2-to-1 MUX has 1 select line; a 4-to-1 MUX has 2</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An n-select-line MUX handles exactly 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 inputs: never more, never fewer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4-to-1 multiplexer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Y = S₁′S₀′I₀ + S₁′S₀I₁ + S₁S₀′I₂ + S₁S₀I₃. Only one AND term is enabled at a time, so Y equals exactly one data input.</a:t>
            </a:r>
            <a:endParaRPr lang="en-US" sz="2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3124048" y="2240280"/>
          <a:ext cx="594360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Y</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I₀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I₁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I₂</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I₃</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4-to-1 MUX</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pic>
        <p:nvPicPr>
          <p:cNvPr id="5" name="Image 0" descr="/home/claude/figs2/2.11_multiplexers_fig1.png"/>
          <p:cNvPicPr>
            <a:picLocks noChangeAspect="1"/>
          </p:cNvPicPr>
          <p:nvPr/>
        </p:nvPicPr>
        <p:blipFill>
          <a:blip r:embed="rId3"/>
          <a:stretch>
            <a:fillRect/>
          </a:stretch>
        </p:blipFill>
        <p:spPr>
          <a:xfrm>
            <a:off x="2080108" y="621792"/>
            <a:ext cx="803148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 4-to-1 MUX — the 2-bit select address S₁S₀ (entering the top) picks which of I₀–I₃ reaches the output Y.</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Four-to-one-line multiplexer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pic>
        <p:nvPicPr>
          <p:cNvPr id="5" name="Image 0" descr="/home/claude/figs2/2.11_multiplexers_fig2.png"/>
          <p:cNvPicPr>
            <a:picLocks noChangeAspect="1"/>
          </p:cNvPicPr>
          <p:nvPr/>
        </p:nvPicPr>
        <p:blipFill>
          <a:blip r:embed="rId3"/>
          <a:stretch>
            <a:fillRect/>
          </a:stretch>
        </p:blipFill>
        <p:spPr>
          <a:xfrm>
            <a:off x="1800939" y="621792"/>
            <a:ext cx="8589818"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Four-to-one-line multiplexer. Adapted from M. Morris Mano and Michael D. Ciletti, Digital Design, Fig. 4.25.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Implementing Boolean functions with a MUX</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MUX equation has the shape of a </a:t>
            </a:r>
            <a:r>
              <a:rPr lang="en-US" sz="3000" b="1" dirty="0">
                <a:solidFill>
                  <a:srgbClr val="1F2937"/>
                </a:solidFill>
                <a:latin typeface="Calibri" pitchFamily="34" charset="0"/>
                <a:ea typeface="Calibri" pitchFamily="34" charset="-122"/>
                <a:cs typeface="Calibri" pitchFamily="34" charset="-120"/>
              </a:rPr>
              <a:t>sum of minterms</a:t>
            </a:r>
            <a:r>
              <a:rPr lang="en-US" sz="3000" dirty="0">
                <a:solidFill>
                  <a:srgbClr val="1F2937"/>
                </a:solidFill>
                <a:latin typeface="Calibri" pitchFamily="34" charset="0"/>
                <a:ea typeface="Calibri" pitchFamily="34" charset="-122"/>
                <a:cs typeface="Calibri" pitchFamily="34" charset="-120"/>
              </a:rPr>
              <a:t>: each term is a minterm of the select lines times a data input</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Tie each data input to 0 or 1 to match a truth table, and the MUX </a:t>
            </a:r>
            <a:r>
              <a:rPr lang="en-US" sz="3000" b="1" dirty="0">
                <a:solidFill>
                  <a:srgbClr val="1F2937"/>
                </a:solidFill>
                <a:latin typeface="Calibri" pitchFamily="34" charset="0"/>
                <a:ea typeface="Calibri" pitchFamily="34" charset="-122"/>
                <a:cs typeface="Calibri" pitchFamily="34" charset="-120"/>
              </a:rPr>
              <a:t>is</a:t>
            </a:r>
            <a:r>
              <a:rPr lang="en-US" sz="3000" dirty="0">
                <a:solidFill>
                  <a:srgbClr val="1F2937"/>
                </a:solidFill>
                <a:latin typeface="Calibri" pitchFamily="34" charset="0"/>
                <a:ea typeface="Calibri" pitchFamily="34" charset="-122"/>
                <a:cs typeface="Calibri" pitchFamily="34" charset="-120"/>
              </a:rPr>
              <a:t> the function</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An n-variable function needs a 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-to-1 MUX and no other gates</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Example: XOR</a:t>
            </a:r>
            <a:r>
              <a:rPr lang="en-US" sz="3000" dirty="0">
                <a:solidFill>
                  <a:srgbClr val="1F2937"/>
                </a:solidFill>
                <a:latin typeface="Calibri" pitchFamily="34" charset="0"/>
                <a:ea typeface="Calibri" pitchFamily="34" charset="-122"/>
                <a:cs typeface="Calibri" pitchFamily="34" charset="-120"/>
              </a:rPr>
              <a:t> with S₁ = A, S₀ = B: I₀ = 0, I₁ = 1, I₂ = 1, I₃ = 0</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Check: A = 1, B = 0 selects I₂ = 1, and 1 ⊕ 0 = 1 ✓</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XOR from a MUX</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pic>
        <p:nvPicPr>
          <p:cNvPr id="5" name="Image 0" descr="/home/claude/figs2/2.11_multiplexers_fig3.png"/>
          <p:cNvPicPr>
            <a:picLocks noChangeAspect="1"/>
          </p:cNvPicPr>
          <p:nvPr/>
        </p:nvPicPr>
        <p:blipFill>
          <a:blip r:embed="rId3"/>
          <a:stretch>
            <a:fillRect/>
          </a:stretch>
        </p:blipFill>
        <p:spPr>
          <a:xfrm>
            <a:off x="2103497" y="621792"/>
            <a:ext cx="7984702" cy="5636260"/>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Tying constants to the four data inputs, with A and B as the select lines, turns the MUX itself into an XOR circuit — no AND, OR, or XOR gates anywhere.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Demultiplexer: the inverse operation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r>
              <a:rPr lang="en-US" sz="3000" b="1" dirty="0">
                <a:solidFill>
                  <a:srgbClr val="1F2937"/>
                </a:solidFill>
                <a:latin typeface="Calibri" pitchFamily="34" charset="0"/>
                <a:ea typeface="Calibri" pitchFamily="34" charset="-122"/>
                <a:cs typeface="Calibri" pitchFamily="34" charset="-120"/>
              </a:rPr>
              <a:t>DEMUX</a:t>
            </a:r>
            <a:r>
              <a:rPr lang="en-US" sz="3000" dirty="0">
                <a:solidFill>
                  <a:srgbClr val="1F2937"/>
                </a:solidFill>
                <a:latin typeface="Calibri" pitchFamily="34" charset="0"/>
                <a:ea typeface="Calibri" pitchFamily="34" charset="-122"/>
                <a:cs typeface="Calibri" pitchFamily="34" charset="-120"/>
              </a:rPr>
              <a:t> routes one data input D to one of 2</a:t>
            </a:r>
            <a:r>
              <a:rPr lang="en-US" sz="3000" baseline="30000" dirty="0">
                <a:solidFill>
                  <a:srgbClr val="1F2937"/>
                </a:solidFill>
                <a:latin typeface="Calibri" pitchFamily="34" charset="0"/>
                <a:ea typeface="Calibri" pitchFamily="34" charset="-122"/>
                <a:cs typeface="Calibri" pitchFamily="34" charset="-120"/>
              </a:rPr>
              <a:t>n</a:t>
            </a:r>
            <a:r>
              <a:rPr lang="en-US" sz="3000" dirty="0">
                <a:solidFill>
                  <a:srgbClr val="1F2937"/>
                </a:solidFill>
                <a:latin typeface="Calibri" pitchFamily="34" charset="0"/>
                <a:ea typeface="Calibri" pitchFamily="34" charset="-122"/>
                <a:cs typeface="Calibri" pitchFamily="34" charset="-120"/>
              </a:rPr>
              <a:t> outputs, chosen by n select lines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All other outputs stay 0</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1-to-4 DEMUX: Y₀ = S₁′S₀′D   Y₁ = S₁′S₀D   Y₂ = S₁S₀′D   Y₃ = S₁S₀D</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MUX answers “which input do I read?”; a DEMUX answers “which destination gets this value?”</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demultiplexer </a:t>
            </a:r>
            <a:r>
              <a:rPr lang="en-US" sz="3000" b="1" dirty="0">
                <a:solidFill>
                  <a:srgbClr val="1F2937"/>
                </a:solidFill>
                <a:latin typeface="Calibri" pitchFamily="34" charset="0"/>
                <a:ea typeface="Calibri" pitchFamily="34" charset="-122"/>
                <a:cs typeface="Calibri" pitchFamily="34" charset="-120"/>
              </a:rPr>
              <a:t>is</a:t>
            </a:r>
            <a:r>
              <a:rPr lang="en-US" sz="3000" dirty="0">
                <a:solidFill>
                  <a:srgbClr val="1F2937"/>
                </a:solidFill>
                <a:latin typeface="Calibri" pitchFamily="34" charset="0"/>
                <a:ea typeface="Calibri" pitchFamily="34" charset="-122"/>
                <a:cs typeface="Calibri" pitchFamily="34" charset="-120"/>
              </a:rPr>
              <a:t> a decoder: D takes the place of the shared enable input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1-to-4 DEMUX</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2.11</a:t>
            </a:r>
            <a:endParaRPr lang="en-US" sz="1600" dirty="0"/>
          </a:p>
        </p:txBody>
      </p:sp>
      <p:pic>
        <p:nvPicPr>
          <p:cNvPr id="5" name="Image 0" descr="/home/claude/figs2/2.11_multiplexers_fig4.png"/>
          <p:cNvPicPr>
            <a:picLocks noChangeAspect="1"/>
          </p:cNvPicPr>
          <p:nvPr/>
        </p:nvPicPr>
        <p:blipFill>
          <a:blip r:embed="rId3"/>
          <a:stretch>
            <a:fillRect/>
          </a:stretch>
        </p:blipFill>
        <p:spPr>
          <a:xfrm>
            <a:off x="2080108" y="621792"/>
            <a:ext cx="803148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 1-to-4 DEMUX — the select address S₁S₀ picks which single output D is routed to; every other output stays 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2.12  Sequential Circuits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sequential circuit remembers: its output depends on what happened before (its state) as well as on the inputs now.</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Sequential circuits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Output depends on the present </a:t>
            </a:r>
            <a:r>
              <a:rPr lang="en-US" sz="2400" b="1" dirty="0">
                <a:solidFill>
                  <a:srgbClr val="1F2937"/>
                </a:solidFill>
                <a:latin typeface="Calibri" pitchFamily="34" charset="0"/>
                <a:ea typeface="Calibri" pitchFamily="34" charset="-122"/>
                <a:cs typeface="Calibri" pitchFamily="34" charset="-120"/>
              </a:rPr>
              <a:t>inputs</a:t>
            </a:r>
            <a:r>
              <a:rPr lang="en-US" sz="2400" dirty="0">
                <a:solidFill>
                  <a:srgbClr val="1F2937"/>
                </a:solidFill>
                <a:latin typeface="Calibri" pitchFamily="34" charset="0"/>
                <a:ea typeface="Calibri" pitchFamily="34" charset="-122"/>
                <a:cs typeface="Calibri" pitchFamily="34" charset="-120"/>
              </a:rPr>
              <a:t> and the current </a:t>
            </a:r>
            <a:r>
              <a:rPr lang="en-US" sz="2400" b="1" dirty="0">
                <a:solidFill>
                  <a:srgbClr val="1F2937"/>
                </a:solidFill>
                <a:latin typeface="Calibri" pitchFamily="34" charset="0"/>
                <a:ea typeface="Calibri" pitchFamily="34" charset="-122"/>
                <a:cs typeface="Calibri" pitchFamily="34" charset="-120"/>
              </a:rPr>
              <a:t>state</a:t>
            </a:r>
            <a:r>
              <a:rPr lang="en-US" sz="2400" dirty="0">
                <a:solidFill>
                  <a:srgbClr val="1F2937"/>
                </a:solidFill>
                <a:latin typeface="Calibri" pitchFamily="34" charset="0"/>
                <a:ea typeface="Calibri" pitchFamily="34" charset="-122"/>
                <a:cs typeface="Calibri" pitchFamily="34" charset="-120"/>
              </a:rPr>
              <a:t>: stored information about what happened before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State comes from feeding part of the output back through storage elements (latches or flip-flops)</a:t>
            </a:r>
            <a:endParaRPr lang="en-US" sz="2400" dirty="0"/>
          </a:p>
          <a:p>
            <a:pPr marL="304800" indent="-304800" algn="l">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Next State = f(Inputs, Present State)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combinational block computes the outputs and the next state; memory elements store the next state and feed it back as the present state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Remove the present-state feedback and the circuit collapses into a combinational one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smallest sequential circuit, the latch, stores one bit with gates and feedback alone</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General shape of a sequential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2.12</a:t>
            </a:r>
            <a:endParaRPr lang="en-US" sz="1600" dirty="0"/>
          </a:p>
        </p:txBody>
      </p:sp>
      <p:pic>
        <p:nvPicPr>
          <p:cNvPr id="5" name="Image 0" descr="/home/claude/figs2/2.12_sequential-circuits_fig1.png"/>
          <p:cNvPicPr>
            <a:picLocks noChangeAspect="1"/>
          </p:cNvPicPr>
          <p:nvPr/>
        </p:nvPicPr>
        <p:blipFill>
          <a:blip r:embed="rId3"/>
          <a:stretch>
            <a:fillRect/>
          </a:stretch>
        </p:blipFill>
        <p:spPr>
          <a:xfrm>
            <a:off x="274320" y="988752"/>
            <a:ext cx="11643055" cy="4902339"/>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The general shape of every sequential circuit — outputs and the next state both come from the combinational block, and the present state loops back from memory to influence the next computation.</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2.13  Latches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latch is two gates feeding each other, so it holds a 1 or a 0 by itself; Set and Reset change what it holds.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SR latch with cross-coupled NOR gates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pic>
        <p:nvPicPr>
          <p:cNvPr id="5" name="Image 0" descr="/home/claude/figs2/2.13_latches_fig1.png"/>
          <p:cNvPicPr>
            <a:picLocks noChangeAspect="1"/>
          </p:cNvPicPr>
          <p:nvPr/>
        </p:nvPicPr>
        <p:blipFill>
          <a:blip r:embed="rId3"/>
          <a:stretch>
            <a:fillRect/>
          </a:stretch>
        </p:blipFill>
        <p:spPr>
          <a:xfrm>
            <a:off x="274320" y="691206"/>
            <a:ext cx="11643055" cy="5530451"/>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SR latch with two cross-coupled NOR gates.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SR latch</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Q = NOR(R, Q′)     Q′ = NOR(S, Q). S = R = 1 forces both Q and Q′ to 0, breaking the complement relationship the latch depends on: always avoid it.</a:t>
            </a:r>
            <a:endParaRPr lang="en-US" sz="2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1981048" y="2240280"/>
          <a:ext cx="82296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Q</a:t>
                      </a:r>
                      <a:r>
                        <a:rPr lang="en-US" sz="2400" b="1" baseline="-40000" dirty="0">
                          <a:solidFill>
                            <a:srgbClr val="FFFFFF"/>
                          </a:solidFill>
                          <a:latin typeface="Calibri" pitchFamily="34" charset="0"/>
                          <a:ea typeface="Calibri" pitchFamily="34" charset="-122"/>
                          <a:cs typeface="Calibri" pitchFamily="34" charset="-120"/>
                        </a:rPr>
                        <a:t>next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State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Hold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Set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Reset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Invalid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Forbidden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tracing a sequence (start Q = 0)</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sp>
        <p:nvSpPr>
          <p:cNvPr id="5" name="Text 2"/>
          <p:cNvSpPr txBox="1"/>
          <p:nvPr/>
        </p:nvSpPr>
        <p:spPr>
          <a:xfrm>
            <a:off x="548640" y="1280160"/>
            <a:ext cx="11094415" cy="1935480"/>
          </a:xfrm>
          <a:prstGeom prst="roundRect">
            <a:avLst>
              <a:gd name="adj" fmla="val 4724"/>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Set   (S=1, R=0):  Q becomes 1</a:t>
            </a:r>
            <a:endParaRPr lang="en-US" sz="2600" dirty="0"/>
          </a:p>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Hold  (S=0, R=0):  Q stays 1</a:t>
            </a:r>
            <a:endParaRPr lang="en-US" sz="2600" dirty="0"/>
          </a:p>
          <a:p>
            <a:pPr marL="0" indent="0">
              <a:spcAft>
                <a:spcPts val="400"/>
              </a:spcAft>
              <a:buNone/>
            </a:pPr>
            <a:r>
              <a:rPr lang="en-US" sz="2600" dirty="0">
                <a:solidFill>
                  <a:srgbClr val="1F2937"/>
                </a:solidFill>
                <a:latin typeface="Courier New" pitchFamily="34" charset="0"/>
                <a:ea typeface="Courier New" pitchFamily="34" charset="-122"/>
                <a:cs typeface="Courier New" pitchFamily="34" charset="-120"/>
              </a:rPr>
              <a:t>Reset (S=0, R=1):  Q returns to 0</a:t>
            </a:r>
            <a:endParaRPr lang="en-US" sz="2600" dirty="0"/>
          </a:p>
        </p:txBody>
      </p:sp>
      <p:sp>
        <p:nvSpPr>
          <p:cNvPr id="6" name="Text 3"/>
          <p:cNvSpPr txBox="1"/>
          <p:nvPr/>
        </p:nvSpPr>
        <p:spPr>
          <a:xfrm>
            <a:off x="640080" y="3535680"/>
            <a:ext cx="10911535" cy="259080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In Hold the output stays at its last value while both inputs are 0</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That hold-in-between behaviour is the whole point: it is memory</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gated D latch</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Drive </a:t>
            </a:r>
            <a:r>
              <a:rPr lang="en-US" sz="3000" b="1" dirty="0">
                <a:solidFill>
                  <a:srgbClr val="1F2937"/>
                </a:solidFill>
                <a:latin typeface="Calibri" pitchFamily="34" charset="0"/>
                <a:ea typeface="Calibri" pitchFamily="34" charset="-122"/>
                <a:cs typeface="Calibri" pitchFamily="34" charset="-120"/>
              </a:rPr>
              <a:t>S = D</a:t>
            </a:r>
            <a:r>
              <a:rPr lang="en-US" sz="3000" dirty="0">
                <a:solidFill>
                  <a:srgbClr val="1F2937"/>
                </a:solidFill>
                <a:latin typeface="Calibri" pitchFamily="34" charset="0"/>
                <a:ea typeface="Calibri" pitchFamily="34" charset="-122"/>
                <a:cs typeface="Calibri" pitchFamily="34" charset="-120"/>
              </a:rPr>
              <a:t> and </a:t>
            </a:r>
            <a:r>
              <a:rPr lang="en-US" sz="3000" b="1" dirty="0">
                <a:solidFill>
                  <a:srgbClr val="1F2937"/>
                </a:solidFill>
                <a:latin typeface="Calibri" pitchFamily="34" charset="0"/>
                <a:ea typeface="Calibri" pitchFamily="34" charset="-122"/>
                <a:cs typeface="Calibri" pitchFamily="34" charset="-120"/>
              </a:rPr>
              <a:t>R = D′</a:t>
            </a:r>
            <a:r>
              <a:rPr lang="en-US" sz="3000" dirty="0">
                <a:solidFill>
                  <a:srgbClr val="1F2937"/>
                </a:solidFill>
                <a:latin typeface="Calibri" pitchFamily="34" charset="0"/>
                <a:ea typeface="Calibri" pitchFamily="34" charset="-122"/>
                <a:cs typeface="Calibri" pitchFamily="34" charset="-120"/>
              </a:rPr>
              <a:t>: S and R are always complements, so the forbidden state cannot happen </a:t>
            </a:r>
            <a:r>
              <a:rPr lang="en-US" sz="3000" b="1" dirty="0">
                <a:solidFill>
                  <a:srgbClr val="1F2937"/>
                </a:solidFill>
                <a:latin typeface="Calibri" pitchFamily="34" charset="0"/>
                <a:ea typeface="Calibri" pitchFamily="34" charset="-122"/>
                <a:cs typeface="Calibri" pitchFamily="34" charset="-120"/>
              </a:rPr>
              <a:t>by construction</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An </a:t>
            </a:r>
            <a:r>
              <a:rPr lang="en-US" sz="3000" b="1" dirty="0">
                <a:solidFill>
                  <a:srgbClr val="1F2937"/>
                </a:solidFill>
                <a:latin typeface="Calibri" pitchFamily="34" charset="0"/>
                <a:ea typeface="Calibri" pitchFamily="34" charset="-122"/>
                <a:cs typeface="Calibri" pitchFamily="34" charset="-120"/>
              </a:rPr>
              <a:t>Enable (EN)</a:t>
            </a:r>
            <a:r>
              <a:rPr lang="en-US" sz="3000" dirty="0">
                <a:solidFill>
                  <a:srgbClr val="1F2937"/>
                </a:solidFill>
                <a:latin typeface="Calibri" pitchFamily="34" charset="0"/>
                <a:ea typeface="Calibri" pitchFamily="34" charset="-122"/>
                <a:cs typeface="Calibri" pitchFamily="34" charset="-120"/>
              </a:rPr>
              <a:t> input, through two AND gates gating D and D′, controls when the latch updates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While EN = 1, Q follows D continuously: the latch is “transparent”</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When EN drops to 0, Q freezes at whatever D was last</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This is </a:t>
            </a:r>
            <a:r>
              <a:rPr lang="en-US" sz="3000" b="1" dirty="0">
                <a:solidFill>
                  <a:srgbClr val="1F2937"/>
                </a:solidFill>
                <a:latin typeface="Calibri" pitchFamily="34" charset="0"/>
                <a:ea typeface="Calibri" pitchFamily="34" charset="-122"/>
                <a:cs typeface="Calibri" pitchFamily="34" charset="-120"/>
              </a:rPr>
              <a:t>level-sensitive</a:t>
            </a:r>
            <a:r>
              <a:rPr lang="en-US" sz="3000" dirty="0">
                <a:solidFill>
                  <a:srgbClr val="1F2937"/>
                </a:solidFill>
                <a:latin typeface="Calibri" pitchFamily="34" charset="0"/>
                <a:ea typeface="Calibri" pitchFamily="34" charset="-122"/>
                <a:cs typeface="Calibri" pitchFamily="34" charset="-120"/>
              </a:rPr>
              <a:t> behaviour; a flip-flop (next topic) adds edge triggering on top</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Gated D latch</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2.13</a:t>
            </a:r>
            <a:endParaRPr lang="en-US" sz="1600" dirty="0"/>
          </a:p>
        </p:txBody>
      </p:sp>
      <p:pic>
        <p:nvPicPr>
          <p:cNvPr id="5" name="Image 0" descr="/home/claude/figs2/2.13_latches_fig2.png"/>
          <p:cNvPicPr>
            <a:picLocks noChangeAspect="1"/>
          </p:cNvPicPr>
          <p:nvPr/>
        </p:nvPicPr>
        <p:blipFill>
          <a:blip r:embed="rId3"/>
          <a:stretch>
            <a:fillRect/>
          </a:stretch>
        </p:blipFill>
        <p:spPr>
          <a:xfrm>
            <a:off x="1922628" y="621792"/>
            <a:ext cx="8346440"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Gated D latch</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2.14  Flip-Flops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flip-flop is a latch that changes only at the clock edge, so every flip-flop in a system updates at the same instant.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Latch versus flip-flop; race-around; master–slave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gated D latch is </a:t>
            </a:r>
            <a:r>
              <a:rPr lang="en-US" sz="2400" b="1" dirty="0">
                <a:solidFill>
                  <a:srgbClr val="1F2937"/>
                </a:solidFill>
                <a:latin typeface="Calibri" pitchFamily="34" charset="0"/>
                <a:ea typeface="Calibri" pitchFamily="34" charset="-122"/>
                <a:cs typeface="Calibri" pitchFamily="34" charset="-120"/>
              </a:rPr>
              <a:t>level-sensitive</a:t>
            </a:r>
            <a:r>
              <a:rPr lang="en-US" sz="2400" dirty="0">
                <a:solidFill>
                  <a:srgbClr val="1F2937"/>
                </a:solidFill>
                <a:latin typeface="Calibri" pitchFamily="34" charset="0"/>
                <a:ea typeface="Calibri" pitchFamily="34" charset="-122"/>
                <a:cs typeface="Calibri" pitchFamily="34" charset="-120"/>
              </a:rPr>
              <a:t>: Q tracks D the whole time EN is high</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a:t>
            </a:r>
            <a:r>
              <a:rPr lang="en-US" sz="2400" b="1" dirty="0">
                <a:solidFill>
                  <a:srgbClr val="1F2937"/>
                </a:solidFill>
                <a:latin typeface="Calibri" pitchFamily="34" charset="0"/>
                <a:ea typeface="Calibri" pitchFamily="34" charset="-122"/>
                <a:cs typeface="Calibri" pitchFamily="34" charset="-120"/>
              </a:rPr>
              <a:t>flip-flop</a:t>
            </a:r>
            <a:r>
              <a:rPr lang="en-US" sz="2400" dirty="0">
                <a:solidFill>
                  <a:srgbClr val="1F2937"/>
                </a:solidFill>
                <a:latin typeface="Calibri" pitchFamily="34" charset="0"/>
                <a:ea typeface="Calibri" pitchFamily="34" charset="-122"/>
                <a:cs typeface="Calibri" pitchFamily="34" charset="-120"/>
              </a:rPr>
              <a:t> is </a:t>
            </a:r>
            <a:r>
              <a:rPr lang="en-US" sz="2400" b="1" dirty="0">
                <a:solidFill>
                  <a:srgbClr val="1F2937"/>
                </a:solidFill>
                <a:latin typeface="Calibri" pitchFamily="34" charset="0"/>
                <a:ea typeface="Calibri" pitchFamily="34" charset="-122"/>
                <a:cs typeface="Calibri" pitchFamily="34" charset="-120"/>
              </a:rPr>
              <a:t>edge-triggered</a:t>
            </a:r>
            <a:r>
              <a:rPr lang="en-US" sz="2400" dirty="0">
                <a:solidFill>
                  <a:srgbClr val="1F2937"/>
                </a:solidFill>
                <a:latin typeface="Calibri" pitchFamily="34" charset="0"/>
                <a:ea typeface="Calibri" pitchFamily="34" charset="-122"/>
                <a:cs typeface="Calibri" pitchFamily="34" charset="-120"/>
              </a:rPr>
              <a:t>: it samples its inputs and updates Q only at the clock edge (↑ or ↓)</a:t>
            </a:r>
            <a:endParaRPr lang="en-US" sz="2400" dirty="0"/>
          </a:p>
          <a:p>
            <a:pPr marL="304800" indent="-304800" algn="l">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Race-around:</a:t>
            </a:r>
            <a:r>
              <a:rPr lang="en-US" sz="2400" dirty="0">
                <a:solidFill>
                  <a:srgbClr val="1F2937"/>
                </a:solidFill>
                <a:latin typeface="Calibri" pitchFamily="34" charset="0"/>
                <a:ea typeface="Calibri" pitchFamily="34" charset="-122"/>
                <a:cs typeface="Calibri" pitchFamily="34" charset="-120"/>
              </a:rPr>
              <a:t> a level-triggered JK latch with J = K = 1 toggles again and again while the clock stays high; the final state is unpredictable</a:t>
            </a:r>
            <a:endParaRPr lang="en-US" sz="2400" dirty="0"/>
          </a:p>
          <a:p>
            <a:pPr marL="304800" indent="-304800" algn="l">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Master–slave fix:</a:t>
            </a:r>
            <a:r>
              <a:rPr lang="en-US" sz="2400" dirty="0">
                <a:solidFill>
                  <a:srgbClr val="1F2937"/>
                </a:solidFill>
                <a:latin typeface="Calibri" pitchFamily="34" charset="0"/>
                <a:ea typeface="Calibri" pitchFamily="34" charset="-122"/>
                <a:cs typeface="Calibri" pitchFamily="34" charset="-120"/>
              </a:rPr>
              <a:t> two latches on opposite clock phases are never transparent together</a:t>
            </a:r>
            <a:endParaRPr lang="en-US" sz="2400" dirty="0"/>
          </a:p>
          <a:p>
            <a:pPr marL="304800" indent="-304800" algn="l">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CLK = 1:</a:t>
            </a:r>
            <a:r>
              <a:rPr lang="en-US" sz="2400" dirty="0">
                <a:solidFill>
                  <a:srgbClr val="1F2937"/>
                </a:solidFill>
                <a:latin typeface="Calibri" pitchFamily="34" charset="0"/>
                <a:ea typeface="Calibri" pitchFamily="34" charset="-122"/>
                <a:cs typeface="Calibri" pitchFamily="34" charset="-120"/>
              </a:rPr>
              <a:t> master absorbs J, K into Y; slave is latched and isolates Q</a:t>
            </a:r>
            <a:endParaRPr lang="en-US" sz="2400" dirty="0"/>
          </a:p>
          <a:p>
            <a:pPr marL="304800" indent="-304800" algn="l">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CLK = 0:</a:t>
            </a:r>
            <a:r>
              <a:rPr lang="en-US" sz="2400" dirty="0">
                <a:solidFill>
                  <a:srgbClr val="1F2937"/>
                </a:solidFill>
                <a:latin typeface="Calibri" pitchFamily="34" charset="0"/>
                <a:ea typeface="Calibri" pitchFamily="34" charset="-122"/>
                <a:cs typeface="Calibri" pitchFamily="34" charset="-120"/>
              </a:rPr>
              <a:t> master locks Y; slave becomes transparent and copies Q = Y: Q changes only on the falling edge</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Master–slave JK flip-flop</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pic>
        <p:nvPicPr>
          <p:cNvPr id="5" name="Image 0" descr="/home/claude/figs2/2.14_flip-flops_fig1.png"/>
          <p:cNvPicPr>
            <a:picLocks noChangeAspect="1"/>
          </p:cNvPicPr>
          <p:nvPr/>
        </p:nvPicPr>
        <p:blipFill>
          <a:blip r:embed="rId3"/>
          <a:stretch>
            <a:fillRect/>
          </a:stretch>
        </p:blipFill>
        <p:spPr>
          <a:xfrm>
            <a:off x="1168973" y="621792"/>
            <a:ext cx="9853749"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Master–slave JK flip-flop</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Flip-flop block symbols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pic>
        <p:nvPicPr>
          <p:cNvPr id="5" name="Image 0" descr="/home/claude/figs2/2.14_flip-flops_fig2.png"/>
          <p:cNvPicPr>
            <a:picLocks noChangeAspect="1"/>
          </p:cNvPicPr>
          <p:nvPr/>
        </p:nvPicPr>
        <p:blipFill>
          <a:blip r:embed="rId3"/>
          <a:stretch>
            <a:fillRect/>
          </a:stretch>
        </p:blipFill>
        <p:spPr>
          <a:xfrm>
            <a:off x="274320" y="2249155"/>
            <a:ext cx="11643055" cy="2381534"/>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SR (Set/Reset), D (single data line), JK (no forbidden state), and T (Toggle) — the CLK triangle at bottom-left is present on all four.</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Gate-level clocked SR flip-flop</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pic>
        <p:nvPicPr>
          <p:cNvPr id="5" name="Image 0" descr="/home/claude/figs2/2.14_flip-flops_fig3.png"/>
          <p:cNvPicPr>
            <a:picLocks noChangeAspect="1"/>
          </p:cNvPicPr>
          <p:nvPr/>
        </p:nvPicPr>
        <p:blipFill>
          <a:blip r:embed="rId3"/>
          <a:stretch>
            <a:fillRect/>
          </a:stretch>
        </p:blipFill>
        <p:spPr>
          <a:xfrm>
            <a:off x="274320" y="698519"/>
            <a:ext cx="11643055" cy="5355805"/>
          </a:xfrm>
          <a:prstGeom prst="rect">
            <a:avLst/>
          </a:prstGeom>
        </p:spPr>
      </p:pic>
      <p:sp>
        <p:nvSpPr>
          <p:cNvPr id="6" name="Text 2"/>
          <p:cNvSpPr txBox="1"/>
          <p:nvPr/>
        </p:nvSpPr>
        <p:spPr>
          <a:xfrm>
            <a:off x="411480" y="6167628"/>
            <a:ext cx="10424160" cy="617220"/>
          </a:xfrm>
          <a:prstGeom prst="rect">
            <a:avLst/>
          </a:prstGeom>
          <a:noFill/>
          <a:ln/>
        </p:spPr>
        <p:txBody>
          <a:bodyPr wrap="square" lIns="0" tIns="0" rIns="0" bIns="0" rtlCol="0" anchor="t"/>
          <a:lstStyle/>
          <a:p>
            <a:pPr marL="0" indent="0" algn="ctr">
              <a:buNone/>
            </a:pPr>
            <a:r>
              <a:rPr lang="en-US" sz="1200" dirty="0">
                <a:solidFill>
                  <a:srgbClr val="546E7A"/>
                </a:solidFill>
                <a:latin typeface="Calibri" pitchFamily="34" charset="0"/>
                <a:ea typeface="Calibri" pitchFamily="34" charset="-122"/>
                <a:cs typeface="Calibri" pitchFamily="34" charset="-120"/>
              </a:rPr>
              <a:t>While CLK=0, both steering gates output 1 regardless of S/R, so the cross-coupled pair simply holds its last state. While CLK=1, S and R (inverted by the steering NANDs) can set or reset the latch — which is exactly why this simple design still race-arounds if CLK stays high too long, and why the master-slave structure above is needed in practice.</a:t>
            </a:r>
            <a:endParaRPr lang="en-US" sz="1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Characteristic and excitation equations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The characteristic equation gives Q</a:t>
            </a:r>
            <a:r>
              <a:rPr lang="en-US" sz="2200" baseline="-40000" dirty="0">
                <a:solidFill>
                  <a:srgbClr val="1F2937"/>
                </a:solidFill>
                <a:latin typeface="Calibri" pitchFamily="34" charset="0"/>
                <a:ea typeface="Calibri" pitchFamily="34" charset="-122"/>
                <a:cs typeface="Calibri" pitchFamily="34" charset="-120"/>
              </a:rPr>
              <a:t>n+1</a:t>
            </a:r>
            <a:r>
              <a:rPr lang="en-US" sz="2200" dirty="0">
                <a:solidFill>
                  <a:srgbClr val="1F2937"/>
                </a:solidFill>
                <a:latin typeface="Calibri" pitchFamily="34" charset="0"/>
                <a:ea typeface="Calibri" pitchFamily="34" charset="-122"/>
                <a:cs typeface="Calibri" pitchFamily="34" charset="-120"/>
              </a:rPr>
              <a:t> from the inputs and Q</a:t>
            </a:r>
            <a:r>
              <a:rPr lang="en-US" sz="2200" baseline="-40000" dirty="0">
                <a:solidFill>
                  <a:srgbClr val="1F2937"/>
                </a:solidFill>
                <a:latin typeface="Calibri" pitchFamily="34" charset="0"/>
                <a:ea typeface="Calibri" pitchFamily="34" charset="-122"/>
                <a:cs typeface="Calibri" pitchFamily="34" charset="-120"/>
              </a:rPr>
              <a:t>n</a:t>
            </a:r>
            <a:r>
              <a:rPr lang="en-US" sz="2200" dirty="0">
                <a:solidFill>
                  <a:srgbClr val="1F2937"/>
                </a:solidFill>
                <a:latin typeface="Calibri" pitchFamily="34" charset="0"/>
                <a:ea typeface="Calibri" pitchFamily="34" charset="-122"/>
                <a:cs typeface="Calibri" pitchFamily="34" charset="-120"/>
              </a:rPr>
              <a:t>; the excitation table gives the inputs needed for a wanted transition.</a:t>
            </a:r>
            <a:endParaRPr lang="en-US" sz="22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1066648" y="2240280"/>
          <a:ext cx="100584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02336">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Type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Characteristic equation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Q</a:t>
                      </a:r>
                      <a:r>
                        <a:rPr lang="en-US" sz="1800" b="1" baseline="-40000" dirty="0">
                          <a:solidFill>
                            <a:srgbClr val="FFFFFF"/>
                          </a:solidFill>
                          <a:latin typeface="Calibri" pitchFamily="34" charset="0"/>
                          <a:ea typeface="Calibri" pitchFamily="34" charset="-122"/>
                          <a:cs typeface="Calibri" pitchFamily="34" charset="-120"/>
                        </a:rPr>
                        <a:t>n</a:t>
                      </a:r>
                      <a:r>
                        <a:rPr lang="en-US" sz="1800" b="1" dirty="0">
                          <a:solidFill>
                            <a:srgbClr val="FFFFFF"/>
                          </a:solidFill>
                          <a:latin typeface="Calibri" pitchFamily="34" charset="0"/>
                          <a:ea typeface="Calibri" pitchFamily="34" charset="-122"/>
                          <a:cs typeface="Calibri" pitchFamily="34" charset="-120"/>
                        </a:rPr>
                        <a:t> → Q</a:t>
                      </a:r>
                      <a:r>
                        <a:rPr lang="en-US" sz="1800" b="1" baseline="-40000" dirty="0">
                          <a:solidFill>
                            <a:srgbClr val="FFFFFF"/>
                          </a:solidFill>
                          <a:latin typeface="Calibri" pitchFamily="34" charset="0"/>
                          <a:ea typeface="Calibri" pitchFamily="34" charset="-122"/>
                          <a:cs typeface="Calibri" pitchFamily="34" charset="-120"/>
                        </a:rPr>
                        <a:t>n+1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Required input(s)</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02336">
                <a:tc rowSpan="4">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D</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rowSpan="4">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Q</a:t>
                      </a:r>
                      <a:r>
                        <a:rPr lang="en-US" sz="1800" baseline="-40000" dirty="0">
                          <a:solidFill>
                            <a:srgbClr val="1F2937"/>
                          </a:solidFill>
                          <a:latin typeface="Calibri" pitchFamily="34" charset="0"/>
                          <a:ea typeface="Calibri" pitchFamily="34" charset="-122"/>
                          <a:cs typeface="Calibri" pitchFamily="34" charset="-120"/>
                        </a:rPr>
                        <a:t>n+1</a:t>
                      </a:r>
                      <a:r>
                        <a:rPr lang="en-US" sz="1800" dirty="0">
                          <a:solidFill>
                            <a:srgbClr val="1F2937"/>
                          </a:solidFill>
                          <a:latin typeface="Calibri" pitchFamily="34" charset="0"/>
                          <a:ea typeface="Calibri" pitchFamily="34" charset="-122"/>
                          <a:cs typeface="Calibri" pitchFamily="34" charset="-120"/>
                        </a:rPr>
                        <a:t> = D</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D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D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D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D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rowSpan="4">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T</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rowSpan="4">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Q</a:t>
                      </a:r>
                      <a:r>
                        <a:rPr lang="en-US" sz="1800" baseline="-40000" dirty="0">
                          <a:solidFill>
                            <a:srgbClr val="1F2937"/>
                          </a:solidFill>
                          <a:latin typeface="Calibri" pitchFamily="34" charset="0"/>
                          <a:ea typeface="Calibri" pitchFamily="34" charset="-122"/>
                          <a:cs typeface="Calibri" pitchFamily="34" charset="-120"/>
                        </a:rPr>
                        <a:t>n+1</a:t>
                      </a:r>
                      <a:r>
                        <a:rPr lang="en-US" sz="1800" dirty="0">
                          <a:solidFill>
                            <a:srgbClr val="1F2937"/>
                          </a:solidFill>
                          <a:latin typeface="Calibri" pitchFamily="34" charset="0"/>
                          <a:ea typeface="Calibri" pitchFamily="34" charset="-122"/>
                          <a:cs typeface="Calibri" pitchFamily="34" charset="-120"/>
                        </a:rPr>
                        <a:t> = T ⊕ Q</a:t>
                      </a:r>
                      <a:r>
                        <a:rPr lang="en-US" sz="1800" baseline="-40000" dirty="0">
                          <a:solidFill>
                            <a:srgbClr val="1F2937"/>
                          </a:solidFill>
                          <a:latin typeface="Calibri" pitchFamily="34" charset="0"/>
                          <a:ea typeface="Calibri" pitchFamily="34" charset="-122"/>
                          <a:cs typeface="Calibri" pitchFamily="34" charset="-120"/>
                        </a:rPr>
                        <a:t>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T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T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T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T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Characteristic and excitation equations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X (don’t-care) entries in JK are what a later K-map step exploits to get a smaller circuit. SR has don’t-cares here too; D and T do not.</a:t>
            </a:r>
            <a:endParaRPr lang="en-US" sz="22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1066648" y="2240280"/>
          <a:ext cx="100584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02336">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Type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Characteristic equation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Q</a:t>
                      </a:r>
                      <a:r>
                        <a:rPr lang="en-US" sz="1800" b="1" baseline="-40000" dirty="0">
                          <a:solidFill>
                            <a:srgbClr val="FFFFFF"/>
                          </a:solidFill>
                          <a:latin typeface="Calibri" pitchFamily="34" charset="0"/>
                          <a:ea typeface="Calibri" pitchFamily="34" charset="-122"/>
                          <a:cs typeface="Calibri" pitchFamily="34" charset="-120"/>
                        </a:rPr>
                        <a:t>n</a:t>
                      </a:r>
                      <a:r>
                        <a:rPr lang="en-US" sz="1800" b="1" dirty="0">
                          <a:solidFill>
                            <a:srgbClr val="FFFFFF"/>
                          </a:solidFill>
                          <a:latin typeface="Calibri" pitchFamily="34" charset="0"/>
                          <a:ea typeface="Calibri" pitchFamily="34" charset="-122"/>
                          <a:cs typeface="Calibri" pitchFamily="34" charset="-120"/>
                        </a:rPr>
                        <a:t> → Q</a:t>
                      </a:r>
                      <a:r>
                        <a:rPr lang="en-US" sz="1800" b="1" baseline="-40000" dirty="0">
                          <a:solidFill>
                            <a:srgbClr val="FFFFFF"/>
                          </a:solidFill>
                          <a:latin typeface="Calibri" pitchFamily="34" charset="0"/>
                          <a:ea typeface="Calibri" pitchFamily="34" charset="-122"/>
                          <a:cs typeface="Calibri" pitchFamily="34" charset="-120"/>
                        </a:rPr>
                        <a:t>n+1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Required input(s)</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02336">
                <a:tc rowSpan="4">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JK</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rowSpan="4">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Q</a:t>
                      </a:r>
                      <a:r>
                        <a:rPr lang="en-US" sz="1800" baseline="-40000" dirty="0">
                          <a:solidFill>
                            <a:srgbClr val="1F2937"/>
                          </a:solidFill>
                          <a:latin typeface="Calibri" pitchFamily="34" charset="0"/>
                          <a:ea typeface="Calibri" pitchFamily="34" charset="-122"/>
                          <a:cs typeface="Calibri" pitchFamily="34" charset="-120"/>
                        </a:rPr>
                        <a:t>n+1</a:t>
                      </a:r>
                      <a:r>
                        <a:rPr lang="en-US" sz="1800" dirty="0">
                          <a:solidFill>
                            <a:srgbClr val="1F2937"/>
                          </a:solidFill>
                          <a:latin typeface="Calibri" pitchFamily="34" charset="0"/>
                          <a:ea typeface="Calibri" pitchFamily="34" charset="-122"/>
                          <a:cs typeface="Calibri" pitchFamily="34" charset="-120"/>
                        </a:rPr>
                        <a:t> = JQ</a:t>
                      </a:r>
                      <a:r>
                        <a:rPr lang="en-US" sz="1800" baseline="-40000" dirty="0">
                          <a:solidFill>
                            <a:srgbClr val="1F2937"/>
                          </a:solidFill>
                          <a:latin typeface="Calibri" pitchFamily="34" charset="0"/>
                          <a:ea typeface="Calibri" pitchFamily="34" charset="-122"/>
                          <a:cs typeface="Calibri" pitchFamily="34" charset="-120"/>
                        </a:rPr>
                        <a:t>n</a:t>
                      </a:r>
                      <a:r>
                        <a:rPr lang="en-US" sz="1800" dirty="0">
                          <a:solidFill>
                            <a:srgbClr val="1F2937"/>
                          </a:solidFill>
                          <a:latin typeface="Calibri" pitchFamily="34" charset="0"/>
                          <a:ea typeface="Calibri" pitchFamily="34" charset="-122"/>
                          <a:cs typeface="Calibri" pitchFamily="34" charset="-120"/>
                        </a:rPr>
                        <a:t>′ + K′Q</a:t>
                      </a:r>
                      <a:r>
                        <a:rPr lang="en-US" sz="1800" baseline="-40000" dirty="0">
                          <a:solidFill>
                            <a:srgbClr val="1F2937"/>
                          </a:solidFill>
                          <a:latin typeface="Calibri" pitchFamily="34" charset="0"/>
                          <a:ea typeface="Calibri" pitchFamily="34" charset="-122"/>
                          <a:cs typeface="Calibri" pitchFamily="34" charset="-120"/>
                        </a:rPr>
                        <a:t>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J = 0, K = X</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J = 1, K = X</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J = X, K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J = X, K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rowSpan="4">
                  <a:txBody>
                    <a:bodyPr/>
                    <a:lstStyle/>
                    <a:p>
                      <a:pPr marL="0" indent="0" algn="l">
                        <a:buNone/>
                      </a:pPr>
                      <a:r>
                        <a:rPr lang="en-US" sz="1800" b="1" dirty="0">
                          <a:solidFill>
                            <a:srgbClr val="1F2937"/>
                          </a:solidFill>
                          <a:latin typeface="Calibri" pitchFamily="34" charset="0"/>
                          <a:ea typeface="Calibri" pitchFamily="34" charset="-122"/>
                          <a:cs typeface="Calibri" pitchFamily="34" charset="-120"/>
                        </a:rPr>
                        <a:t>SR</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rowSpan="4">
                  <a:txBody>
                    <a:bodyPr/>
                    <a:lstStyle/>
                    <a:p>
                      <a:pPr marL="0" indent="0" algn="l">
                        <a:buNone/>
                      </a:pPr>
                      <a:r>
                        <a:rPr lang="en-US" sz="1800" dirty="0">
                          <a:solidFill>
                            <a:srgbClr val="1F2937"/>
                          </a:solidFill>
                          <a:latin typeface="Calibri" pitchFamily="34" charset="0"/>
                          <a:ea typeface="Calibri" pitchFamily="34" charset="-122"/>
                          <a:cs typeface="Calibri" pitchFamily="34" charset="-120"/>
                        </a:rPr>
                        <a:t>Q</a:t>
                      </a:r>
                      <a:r>
                        <a:rPr lang="en-US" sz="1800" baseline="-40000" dirty="0">
                          <a:solidFill>
                            <a:srgbClr val="1F2937"/>
                          </a:solidFill>
                          <a:latin typeface="Calibri" pitchFamily="34" charset="0"/>
                          <a:ea typeface="Calibri" pitchFamily="34" charset="-122"/>
                          <a:cs typeface="Calibri" pitchFamily="34" charset="-120"/>
                        </a:rPr>
                        <a:t>n+1</a:t>
                      </a:r>
                      <a:r>
                        <a:rPr lang="en-US" sz="1800" dirty="0">
                          <a:solidFill>
                            <a:srgbClr val="1F2937"/>
                          </a:solidFill>
                          <a:latin typeface="Calibri" pitchFamily="34" charset="0"/>
                          <a:ea typeface="Calibri" pitchFamily="34" charset="-122"/>
                          <a:cs typeface="Calibri" pitchFamily="34" charset="-120"/>
                        </a:rPr>
                        <a:t> = S + R′Q</a:t>
                      </a:r>
                      <a:r>
                        <a:rPr lang="en-US" sz="1800" baseline="-40000" dirty="0">
                          <a:solidFill>
                            <a:srgbClr val="1F2937"/>
                          </a:solidFill>
                          <a:latin typeface="Calibri" pitchFamily="34" charset="0"/>
                          <a:ea typeface="Calibri" pitchFamily="34" charset="-122"/>
                          <a:cs typeface="Calibri" pitchFamily="34" charset="-120"/>
                        </a:rPr>
                        <a:t>n</a:t>
                      </a:r>
                      <a:r>
                        <a:rPr lang="en-US" sz="1800" dirty="0">
                          <a:solidFill>
                            <a:srgbClr val="1F2937"/>
                          </a:solidFill>
                          <a:latin typeface="Calibri" pitchFamily="34" charset="0"/>
                          <a:ea typeface="Calibri" pitchFamily="34" charset="-122"/>
                          <a:cs typeface="Calibri" pitchFamily="34" charset="-120"/>
                        </a:rPr>
                        <a:t> (SR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S = 0, R = X</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0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S = 1, R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S = 0, R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02336">
                <a:tc vMerge="1">
                  <a:txBody>
                    <a:bodyPr/>
                    <a:lstStyle/>
                    <a:p>
                      <a:endParaRPr lang="en-US"/>
                    </a:p>
                  </a:txBody>
                  <a:tcPr/>
                </a:tc>
                <a:tc vMerge="1">
                  <a:txBody>
                    <a:bodyPr/>
                    <a:lstStyle/>
                    <a:p>
                      <a:endParaRPr lang="en-US"/>
                    </a:p>
                  </a:txBody>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1 → 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1F2937"/>
                          </a:solidFill>
                          <a:latin typeface="Calibri" pitchFamily="34" charset="0"/>
                          <a:ea typeface="Calibri" pitchFamily="34" charset="-122"/>
                          <a:cs typeface="Calibri" pitchFamily="34" charset="-120"/>
                        </a:rPr>
                        <a:t>S = X, R = 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Setup time, hold time and clock skew</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pic>
        <p:nvPicPr>
          <p:cNvPr id="5" name="Image 0" descr="/home/claude/figs2/2.14_flip-flops_fig4.png"/>
          <p:cNvPicPr>
            <a:picLocks noChangeAspect="1"/>
          </p:cNvPicPr>
          <p:nvPr/>
        </p:nvPicPr>
        <p:blipFill>
          <a:blip r:embed="rId3"/>
          <a:stretch>
            <a:fillRect/>
          </a:stretch>
        </p:blipFill>
        <p:spPr>
          <a:xfrm>
            <a:off x="274320" y="1094073"/>
            <a:ext cx="11643055" cy="472471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Setup time, hold time and clock skew</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Setup time, hold time and clock skew</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Setup time</a:t>
            </a:r>
            <a:r>
              <a:rPr lang="en-US" sz="2800" dirty="0">
                <a:solidFill>
                  <a:srgbClr val="1F2937"/>
                </a:solidFill>
                <a:latin typeface="Calibri" pitchFamily="34" charset="0"/>
                <a:ea typeface="Calibri" pitchFamily="34" charset="-122"/>
                <a:cs typeface="Calibri" pitchFamily="34" charset="-120"/>
              </a:rPr>
              <a:t> (t</a:t>
            </a:r>
            <a:r>
              <a:rPr lang="en-US" sz="2800" baseline="-40000" dirty="0">
                <a:solidFill>
                  <a:srgbClr val="1F2937"/>
                </a:solidFill>
                <a:latin typeface="Calibri" pitchFamily="34" charset="0"/>
                <a:ea typeface="Calibri" pitchFamily="34" charset="-122"/>
                <a:cs typeface="Calibri" pitchFamily="34" charset="-120"/>
              </a:rPr>
              <a:t>su</a:t>
            </a:r>
            <a:r>
              <a:rPr lang="en-US" sz="2800" dirty="0">
                <a:solidFill>
                  <a:srgbClr val="1F2937"/>
                </a:solidFill>
                <a:latin typeface="Calibri" pitchFamily="34" charset="0"/>
                <a:ea typeface="Calibri" pitchFamily="34" charset="-122"/>
                <a:cs typeface="Calibri" pitchFamily="34" charset="-120"/>
              </a:rPr>
              <a:t>): the minimum time D must be stable </a:t>
            </a:r>
            <a:r>
              <a:rPr lang="en-US" sz="2800" b="1" dirty="0">
                <a:solidFill>
                  <a:srgbClr val="1F2937"/>
                </a:solidFill>
                <a:latin typeface="Calibri" pitchFamily="34" charset="0"/>
                <a:ea typeface="Calibri" pitchFamily="34" charset="-122"/>
                <a:cs typeface="Calibri" pitchFamily="34" charset="-120"/>
              </a:rPr>
              <a:t>before</a:t>
            </a:r>
            <a:r>
              <a:rPr lang="en-US" sz="2800" dirty="0">
                <a:solidFill>
                  <a:srgbClr val="1F2937"/>
                </a:solidFill>
                <a:latin typeface="Calibri" pitchFamily="34" charset="0"/>
                <a:ea typeface="Calibri" pitchFamily="34" charset="-122"/>
                <a:cs typeface="Calibri" pitchFamily="34" charset="-120"/>
              </a:rPr>
              <a:t> the active clock edge</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Hold time</a:t>
            </a:r>
            <a:r>
              <a:rPr lang="en-US" sz="2800" dirty="0">
                <a:solidFill>
                  <a:srgbClr val="1F2937"/>
                </a:solidFill>
                <a:latin typeface="Calibri" pitchFamily="34" charset="0"/>
                <a:ea typeface="Calibri" pitchFamily="34" charset="-122"/>
                <a:cs typeface="Calibri" pitchFamily="34" charset="-120"/>
              </a:rPr>
              <a:t> (t</a:t>
            </a:r>
            <a:r>
              <a:rPr lang="en-US" sz="2800" baseline="-40000" dirty="0">
                <a:solidFill>
                  <a:srgbClr val="1F2937"/>
                </a:solidFill>
                <a:latin typeface="Calibri" pitchFamily="34" charset="0"/>
                <a:ea typeface="Calibri" pitchFamily="34" charset="-122"/>
                <a:cs typeface="Calibri" pitchFamily="34" charset="-120"/>
              </a:rPr>
              <a:t>h</a:t>
            </a:r>
            <a:r>
              <a:rPr lang="en-US" sz="2800" dirty="0">
                <a:solidFill>
                  <a:srgbClr val="1F2937"/>
                </a:solidFill>
                <a:latin typeface="Calibri" pitchFamily="34" charset="0"/>
                <a:ea typeface="Calibri" pitchFamily="34" charset="-122"/>
                <a:cs typeface="Calibri" pitchFamily="34" charset="-120"/>
              </a:rPr>
              <a:t>): the minimum time D must stay stable </a:t>
            </a:r>
            <a:r>
              <a:rPr lang="en-US" sz="2800" b="1" dirty="0">
                <a:solidFill>
                  <a:srgbClr val="1F2937"/>
                </a:solidFill>
                <a:latin typeface="Calibri" pitchFamily="34" charset="0"/>
                <a:ea typeface="Calibri" pitchFamily="34" charset="-122"/>
                <a:cs typeface="Calibri" pitchFamily="34" charset="-120"/>
              </a:rPr>
              <a:t>after</a:t>
            </a:r>
            <a:r>
              <a:rPr lang="en-US" sz="2800" dirty="0">
                <a:solidFill>
                  <a:srgbClr val="1F2937"/>
                </a:solidFill>
                <a:latin typeface="Calibri" pitchFamily="34" charset="0"/>
                <a:ea typeface="Calibri" pitchFamily="34" charset="-122"/>
                <a:cs typeface="Calibri" pitchFamily="34" charset="-120"/>
              </a:rPr>
              <a:t> the active clock edge</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Clock skew:</a:t>
            </a:r>
            <a:r>
              <a:rPr lang="en-US" sz="2800" dirty="0">
                <a:solidFill>
                  <a:srgbClr val="1F2937"/>
                </a:solidFill>
                <a:latin typeface="Calibri" pitchFamily="34" charset="0"/>
                <a:ea typeface="Calibri" pitchFamily="34" charset="-122"/>
                <a:cs typeface="Calibri" pitchFamily="34" charset="-120"/>
              </a:rPr>
              <a:t> the difference in clock arrival time at different flip-flops, from unequal interconnect delay; it eats into setup and hold margin</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Violating setup or hold risks </a:t>
            </a:r>
            <a:r>
              <a:rPr lang="en-US" sz="2800" b="1" dirty="0">
                <a:solidFill>
                  <a:srgbClr val="1F2937"/>
                </a:solidFill>
                <a:latin typeface="Calibri" pitchFamily="34" charset="0"/>
                <a:ea typeface="Calibri" pitchFamily="34" charset="-122"/>
                <a:cs typeface="Calibri" pitchFamily="34" charset="-120"/>
              </a:rPr>
              <a:t>metastability</a:t>
            </a:r>
            <a:r>
              <a:rPr lang="en-US" sz="2800" dirty="0">
                <a:solidFill>
                  <a:srgbClr val="1F2937"/>
                </a:solidFill>
                <a:latin typeface="Calibri" pitchFamily="34" charset="0"/>
                <a:ea typeface="Calibri" pitchFamily="34" charset="-122"/>
                <a:cs typeface="Calibri" pitchFamily="34" charset="-120"/>
              </a:rPr>
              <a:t>: the output hovers between 0 and 1 before resolving unpredictably</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Real designs budget setup and hold margin explicitly</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2.15  Analysis of Clocked Sequential Circuits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2.15</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To analyse a sequential circuit, write what each flip-flop input will be, then list every state and input to see where the circuit goes next.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Worked example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2.15</a:t>
            </a:r>
            <a:endParaRPr lang="en-US" sz="1600" dirty="0"/>
          </a:p>
        </p:txBody>
      </p:sp>
      <p:pic>
        <p:nvPicPr>
          <p:cNvPr id="5" name="Image 0" descr="/home/claude/figs2/2.15_analysis-of-sequential-circuits_fig1.png"/>
          <p:cNvPicPr>
            <a:picLocks noChangeAspect="1"/>
          </p:cNvPicPr>
          <p:nvPr/>
        </p:nvPicPr>
        <p:blipFill>
          <a:blip r:embed="rId3"/>
          <a:stretch>
            <a:fillRect/>
          </a:stretch>
        </p:blipFill>
        <p:spPr>
          <a:xfrm>
            <a:off x="274320" y="1394641"/>
            <a:ext cx="11643055" cy="4123582"/>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D = X ⊕ Q, and the flip-flop's own Q feeds straight back as one of the XOR's inputs.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Next-state and output equations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2.15</a:t>
            </a:r>
            <a:endParaRPr lang="en-US" sz="1600" dirty="0"/>
          </a:p>
        </p:txBody>
      </p:sp>
      <p:sp>
        <p:nvSpPr>
          <p:cNvPr id="5" name="Text 2"/>
          <p:cNvSpPr txBox="1"/>
          <p:nvPr/>
        </p:nvSpPr>
        <p:spPr>
          <a:xfrm>
            <a:off x="548640" y="1280160"/>
            <a:ext cx="11094415" cy="1402080"/>
          </a:xfrm>
          <a:prstGeom prst="roundRect">
            <a:avLst>
              <a:gd name="adj" fmla="val 6522"/>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400" dirty="0">
                <a:solidFill>
                  <a:srgbClr val="1F2937"/>
                </a:solidFill>
                <a:latin typeface="Courier New" pitchFamily="34" charset="0"/>
                <a:ea typeface="Courier New" pitchFamily="34" charset="-122"/>
                <a:cs typeface="Courier New" pitchFamily="34" charset="-120"/>
              </a:rPr>
              <a:t>Next-state equation:  D = X ⊕ Q</a:t>
            </a:r>
            <a:endParaRPr lang="en-US" sz="2400" dirty="0"/>
          </a:p>
          <a:p>
            <a:pPr marL="0" indent="0">
              <a:spcAft>
                <a:spcPts val="400"/>
              </a:spcAft>
              <a:buNone/>
            </a:pPr>
            <a:r>
              <a:rPr lang="en-US" sz="2400" dirty="0">
                <a:solidFill>
                  <a:srgbClr val="1F2937"/>
                </a:solidFill>
                <a:latin typeface="Courier New" pitchFamily="34" charset="0"/>
                <a:ea typeface="Courier New" pitchFamily="34" charset="-122"/>
                <a:cs typeface="Courier New" pitchFamily="34" charset="-120"/>
              </a:rPr>
              <a:t>Output equation:      Y = Q</a:t>
            </a:r>
            <a:endParaRPr lang="en-US" sz="2400" dirty="0"/>
          </a:p>
        </p:txBody>
      </p:sp>
      <p:sp>
        <p:nvSpPr>
          <p:cNvPr id="6" name="Text 3"/>
          <p:cNvSpPr txBox="1"/>
          <p:nvPr/>
        </p:nvSpPr>
        <p:spPr>
          <a:xfrm>
            <a:off x="640080" y="3002280"/>
            <a:ext cx="10911535" cy="312420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 is what Q becomes after the next clock edge</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Step 1: write the Boolean expression feeding each flip-flop input (next state) and each external output</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One D flip-flop (present state Q), one input X, one output Y</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Step 2: state table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2.15</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Every present-state/input combination appears exactly once. Y depends only on the present state: a </a:t>
            </a:r>
            <a:r>
              <a:rPr lang="en-US" sz="2200" b="1" dirty="0">
                <a:solidFill>
                  <a:srgbClr val="1F2937"/>
                </a:solidFill>
                <a:latin typeface="Calibri" pitchFamily="34" charset="0"/>
                <a:ea typeface="Calibri" pitchFamily="34" charset="-122"/>
                <a:cs typeface="Calibri" pitchFamily="34" charset="-120"/>
              </a:rPr>
              <a:t>Moore</a:t>
            </a:r>
            <a:r>
              <a:rPr lang="en-US" sz="2200" dirty="0">
                <a:solidFill>
                  <a:srgbClr val="1F2937"/>
                </a:solidFill>
                <a:latin typeface="Calibri" pitchFamily="34" charset="0"/>
                <a:ea typeface="Calibri" pitchFamily="34" charset="-122"/>
                <a:cs typeface="Calibri" pitchFamily="34" charset="-120"/>
              </a:rPr>
              <a:t> machine.</a:t>
            </a:r>
            <a:endParaRPr lang="en-US" sz="22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1249528" y="2240280"/>
          <a:ext cx="96926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Present State (Q)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Input (X)</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Next State (D)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Output (Y)</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Step 3: state diagram</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2.15</a:t>
            </a:r>
            <a:endParaRPr lang="en-US" sz="1600" dirty="0"/>
          </a:p>
        </p:txBody>
      </p:sp>
      <p:pic>
        <p:nvPicPr>
          <p:cNvPr id="5" name="Image 0" descr="/home/claude/figs2/2.15_analysis-of-sequential-circuits_fig2.png"/>
          <p:cNvPicPr>
            <a:picLocks noChangeAspect="1"/>
          </p:cNvPicPr>
          <p:nvPr/>
        </p:nvPicPr>
        <p:blipFill>
          <a:blip r:embed="rId3"/>
          <a:stretch>
            <a:fillRect/>
          </a:stretch>
        </p:blipFill>
        <p:spPr>
          <a:xfrm>
            <a:off x="274320" y="667766"/>
            <a:ext cx="11643055" cy="5544312"/>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State diagram — X=0 keeps the circuit in its current state, X=1 always flips it. Each circle's output Y is shown attached to the state, since Y depends only on present state here.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2.16  Registers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2.16</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register is a row of flip-flops that store a binary word together, all updated by the same clock.</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Registers and parallel load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An </a:t>
            </a:r>
            <a:r>
              <a:rPr lang="en-US" sz="2400" b="1" dirty="0">
                <a:solidFill>
                  <a:srgbClr val="1F2937"/>
                </a:solidFill>
                <a:latin typeface="Calibri" pitchFamily="34" charset="0"/>
                <a:ea typeface="Calibri" pitchFamily="34" charset="-122"/>
                <a:cs typeface="Calibri" pitchFamily="34" charset="-120"/>
              </a:rPr>
              <a:t>n-bit register</a:t>
            </a:r>
            <a:r>
              <a:rPr lang="en-US" sz="2400" dirty="0">
                <a:solidFill>
                  <a:srgbClr val="1F2937"/>
                </a:solidFill>
                <a:latin typeface="Calibri" pitchFamily="34" charset="0"/>
                <a:ea typeface="Calibri" pitchFamily="34" charset="-122"/>
                <a:cs typeface="Calibri" pitchFamily="34" charset="-120"/>
              </a:rPr>
              <a:t> is n D flip-flops, one per bit, all clocked together</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Each D input has its own data line: bits load independently and in parallel</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On every active clock edge it captures its data inputs and holds them until the next edge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plain register captures new data on </a:t>
            </a:r>
            <a:r>
              <a:rPr lang="en-US" sz="2400" b="1" dirty="0">
                <a:solidFill>
                  <a:srgbClr val="1F2937"/>
                </a:solidFill>
                <a:latin typeface="Calibri" pitchFamily="34" charset="0"/>
                <a:ea typeface="Calibri" pitchFamily="34" charset="-122"/>
                <a:cs typeface="Calibri" pitchFamily="34" charset="-120"/>
              </a:rPr>
              <a:t>every</a:t>
            </a:r>
            <a:r>
              <a:rPr lang="en-US" sz="2400" dirty="0">
                <a:solidFill>
                  <a:srgbClr val="1F2937"/>
                </a:solidFill>
                <a:latin typeface="Calibri" pitchFamily="34" charset="0"/>
                <a:ea typeface="Calibri" pitchFamily="34" charset="-122"/>
                <a:cs typeface="Calibri" pitchFamily="34" charset="-120"/>
              </a:rPr>
              <a:t> clock edge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Add a </a:t>
            </a:r>
            <a:r>
              <a:rPr lang="en-US" sz="2400" b="1" dirty="0">
                <a:solidFill>
                  <a:srgbClr val="1F2937"/>
                </a:solidFill>
                <a:latin typeface="Calibri" pitchFamily="34" charset="0"/>
                <a:ea typeface="Calibri" pitchFamily="34" charset="-122"/>
                <a:cs typeface="Calibri" pitchFamily="34" charset="-120"/>
              </a:rPr>
              <a:t>LOAD</a:t>
            </a:r>
            <a:r>
              <a:rPr lang="en-US" sz="2400" dirty="0">
                <a:solidFill>
                  <a:srgbClr val="1F2937"/>
                </a:solidFill>
                <a:latin typeface="Calibri" pitchFamily="34" charset="0"/>
                <a:ea typeface="Calibri" pitchFamily="34" charset="-122"/>
                <a:cs typeface="Calibri" pitchFamily="34" charset="-120"/>
              </a:rPr>
              <a:t> line and a 2-to-1 MUX at each D input: </a:t>
            </a:r>
            <a:r>
              <a:rPr lang="en-US" sz="2400" b="1" dirty="0">
                <a:solidFill>
                  <a:srgbClr val="1F2937"/>
                </a:solidFill>
                <a:latin typeface="Calibri" pitchFamily="34" charset="0"/>
                <a:ea typeface="Calibri" pitchFamily="34" charset="-122"/>
                <a:cs typeface="Calibri" pitchFamily="34" charset="-120"/>
              </a:rPr>
              <a:t>LOAD = 0</a:t>
            </a:r>
            <a:r>
              <a:rPr lang="en-US" sz="2400" dirty="0">
                <a:solidFill>
                  <a:srgbClr val="1F2937"/>
                </a:solidFill>
                <a:latin typeface="Calibri" pitchFamily="34" charset="0"/>
                <a:ea typeface="Calibri" pitchFamily="34" charset="-122"/>
                <a:cs typeface="Calibri" pitchFamily="34" charset="-120"/>
              </a:rPr>
              <a:t> selects Q (hold), </a:t>
            </a:r>
            <a:r>
              <a:rPr lang="en-US" sz="2400" b="1" dirty="0">
                <a:solidFill>
                  <a:srgbClr val="1F2937"/>
                </a:solidFill>
                <a:latin typeface="Calibri" pitchFamily="34" charset="0"/>
                <a:ea typeface="Calibri" pitchFamily="34" charset="-122"/>
                <a:cs typeface="Calibri" pitchFamily="34" charset="-120"/>
              </a:rPr>
              <a:t>LOAD = 1</a:t>
            </a:r>
            <a:r>
              <a:rPr lang="en-US" sz="2400" dirty="0">
                <a:solidFill>
                  <a:srgbClr val="1F2937"/>
                </a:solidFill>
                <a:latin typeface="Calibri" pitchFamily="34" charset="0"/>
                <a:ea typeface="Calibri" pitchFamily="34" charset="-122"/>
                <a:cs typeface="Calibri" pitchFamily="34" charset="-120"/>
              </a:rPr>
              <a:t> selects new data I (load)</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All bits share the same LOAD and clock: the register holds everything or loads everything</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register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2.16</a:t>
            </a:r>
            <a:endParaRPr lang="en-US" sz="1600" dirty="0"/>
          </a:p>
        </p:txBody>
      </p:sp>
      <p:pic>
        <p:nvPicPr>
          <p:cNvPr id="5" name="Image 0" descr="/home/claude/figs2/2.16_registers_fig1.png"/>
          <p:cNvPicPr>
            <a:picLocks noChangeAspect="1"/>
          </p:cNvPicPr>
          <p:nvPr/>
        </p:nvPicPr>
        <p:blipFill>
          <a:blip r:embed="rId3"/>
          <a:stretch>
            <a:fillRect/>
          </a:stretch>
        </p:blipFill>
        <p:spPr>
          <a:xfrm>
            <a:off x="411480" y="621792"/>
            <a:ext cx="4931728" cy="5636260"/>
          </a:xfrm>
          <a:prstGeom prst="rect">
            <a:avLst/>
          </a:prstGeom>
        </p:spPr>
      </p:pic>
      <p:sp>
        <p:nvSpPr>
          <p:cNvPr id="6" name="Text 2"/>
          <p:cNvSpPr txBox="1"/>
          <p:nvPr/>
        </p:nvSpPr>
        <p:spPr>
          <a:xfrm>
            <a:off x="5708968" y="713232"/>
            <a:ext cx="6071248" cy="5453380"/>
          </a:xfrm>
          <a:prstGeom prst="roundRect">
            <a:avLst>
              <a:gd name="adj" fmla="val 2012"/>
            </a:avLst>
          </a:prstGeom>
          <a:solidFill>
            <a:srgbClr val="E3F0FB"/>
          </a:solidFill>
          <a:ln w="6350">
            <a:solidFill>
              <a:srgbClr val="E3F0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Four D flip-flops share one clock</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flip-flop has its own dedicated data line</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An active-low Clear input resets the register</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 every active clock edge the register captures its inputs and holds them until the next edge</a:t>
            </a:r>
            <a:endParaRPr lang="en-US" sz="2600" dirty="0"/>
          </a:p>
        </p:txBody>
      </p:sp>
      <p:sp>
        <p:nvSpPr>
          <p:cNvPr id="7" name="Text 3"/>
          <p:cNvSpPr txBox="1"/>
          <p:nvPr/>
        </p:nvSpPr>
        <p:spPr>
          <a:xfrm>
            <a:off x="411480" y="6294628"/>
            <a:ext cx="10424160" cy="49022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Four-bit register: four D flip-flops sharing Clock, with an active-low Clear. Adapted from M. Morris Mano and Michael D. Ciletti, Digital Design, Fig. 6.1.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One bit of a register with parallel load</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2.16</a:t>
            </a:r>
            <a:endParaRPr lang="en-US" sz="1600" dirty="0"/>
          </a:p>
        </p:txBody>
      </p:sp>
      <p:pic>
        <p:nvPicPr>
          <p:cNvPr id="5" name="Image 0" descr="/home/claude/figs2/2.16_registers_fig2.png"/>
          <p:cNvPicPr>
            <a:picLocks noChangeAspect="1"/>
          </p:cNvPicPr>
          <p:nvPr/>
        </p:nvPicPr>
        <p:blipFill>
          <a:blip r:embed="rId3"/>
          <a:stretch>
            <a:fillRect/>
          </a:stretch>
        </p:blipFill>
        <p:spPr>
          <a:xfrm>
            <a:off x="996374" y="621792"/>
            <a:ext cx="10198947" cy="5636260"/>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One bit of a register with parallel load. LOAD=0 selects input 0 (Q fed back, hold); LOAD=1 selects input 1 (new data I, load). Every bit repeats this exact circuit.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hold, load, hold (Q = 0, I = 1 throughout)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2.16</a:t>
            </a:r>
            <a:endParaRPr lang="en-US" sz="1600" dirty="0"/>
          </a:p>
        </p:txBody>
      </p:sp>
      <p:sp>
        <p:nvSpPr>
          <p:cNvPr id="5" name="Text 2"/>
          <p:cNvSpPr txBox="1"/>
          <p:nvPr/>
        </p:nvSpPr>
        <p:spPr>
          <a:xfrm>
            <a:off x="548640" y="1280160"/>
            <a:ext cx="11094415" cy="1722120"/>
          </a:xfrm>
          <a:prstGeom prst="roundRect">
            <a:avLst>
              <a:gd name="adj" fmla="val 5310"/>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Clock 1: LOAD=0 → MUX selects Q(=0) → D=0 → Q stays 0   (hold)</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Clock 2: LOAD=1 → MUX selects I(=1) → D=1 → Q becomes 1  (load)</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Clock 3: LOAD=0 → MUX selects Q(=1) → D=1 → Q stays 1   (hold)</a:t>
            </a:r>
            <a:endParaRPr lang="en-US" sz="2200" dirty="0"/>
          </a:p>
        </p:txBody>
      </p:sp>
      <p:sp>
        <p:nvSpPr>
          <p:cNvPr id="6" name="Text 3"/>
          <p:cNvSpPr txBox="1"/>
          <p:nvPr/>
        </p:nvSpPr>
        <p:spPr>
          <a:xfrm>
            <a:off x="640080" y="3322320"/>
            <a:ext cx="10911535" cy="280416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 = 1 is present on every clock edge, but only Clock 2 captures it</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2.17  Shift Registers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A shift register passes its bits along one place per clock, like a bucket brigade for bits, so data can enter or leave one bit at a time.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Shift registers, SISO and SIPO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a:t>
            </a:r>
            <a:r>
              <a:rPr lang="en-US" sz="2600" b="1" dirty="0">
                <a:solidFill>
                  <a:srgbClr val="1F2937"/>
                </a:solidFill>
                <a:latin typeface="Calibri" pitchFamily="34" charset="0"/>
                <a:ea typeface="Calibri" pitchFamily="34" charset="-122"/>
                <a:cs typeface="Calibri" pitchFamily="34" charset="-120"/>
              </a:rPr>
              <a:t>shift register</a:t>
            </a:r>
            <a:r>
              <a:rPr lang="en-US" sz="2600" dirty="0">
                <a:solidFill>
                  <a:srgbClr val="1F2937"/>
                </a:solidFill>
                <a:latin typeface="Calibri" pitchFamily="34" charset="0"/>
                <a:ea typeface="Calibri" pitchFamily="34" charset="-122"/>
                <a:cs typeface="Calibri" pitchFamily="34" charset="-120"/>
              </a:rPr>
              <a:t> is a cascade of flip-flops sharing one clock; each stage’s D is the </a:t>
            </a:r>
            <a:r>
              <a:rPr lang="en-US" sz="2600" b="1" dirty="0">
                <a:solidFill>
                  <a:srgbClr val="1F2937"/>
                </a:solidFill>
                <a:latin typeface="Calibri" pitchFamily="34" charset="0"/>
                <a:ea typeface="Calibri" pitchFamily="34" charset="-122"/>
                <a:cs typeface="Calibri" pitchFamily="34" charset="-120"/>
              </a:rPr>
              <a:t>previous</a:t>
            </a:r>
            <a:r>
              <a:rPr lang="en-US" sz="2600" dirty="0">
                <a:solidFill>
                  <a:srgbClr val="1F2937"/>
                </a:solidFill>
                <a:latin typeface="Calibri" pitchFamily="34" charset="0"/>
                <a:ea typeface="Calibri" pitchFamily="34" charset="-122"/>
                <a:cs typeface="Calibri" pitchFamily="34" charset="-120"/>
              </a:rPr>
              <a:t> stage’s Q</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 every clock pulse every stored bit moves one position down the chain</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Serial/parallel describes only how data goes in and out; the shifting structure never changes</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SISO:</a:t>
            </a:r>
            <a:r>
              <a:rPr lang="en-US" sz="2600" dirty="0">
                <a:solidFill>
                  <a:srgbClr val="1F2937"/>
                </a:solidFill>
                <a:latin typeface="Calibri" pitchFamily="34" charset="0"/>
                <a:ea typeface="Calibri" pitchFamily="34" charset="-122"/>
                <a:cs typeface="Calibri" pitchFamily="34" charset="-120"/>
              </a:rPr>
              <a:t> in one bit at a time, out one bit at a time from the last stage: delay lines and buffering (output = input delayed by N clocks)</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SIPO:</a:t>
            </a:r>
            <a:r>
              <a:rPr lang="en-US" sz="2600" dirty="0">
                <a:solidFill>
                  <a:srgbClr val="1F2937"/>
                </a:solidFill>
                <a:latin typeface="Calibri" pitchFamily="34" charset="0"/>
                <a:ea typeface="Calibri" pitchFamily="34" charset="-122"/>
                <a:cs typeface="Calibri" pitchFamily="34" charset="-120"/>
              </a:rPr>
              <a:t> same chain, every stage’s Q tapped out: serial-to-parallel conversion, e.g. a UART receiver</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shift register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1.png"/>
          <p:cNvPicPr>
            <a:picLocks noChangeAspect="1"/>
          </p:cNvPicPr>
          <p:nvPr/>
        </p:nvPicPr>
        <p:blipFill>
          <a:blip r:embed="rId3"/>
          <a:stretch>
            <a:fillRect/>
          </a:stretch>
        </p:blipFill>
        <p:spPr>
          <a:xfrm>
            <a:off x="274320" y="1984540"/>
            <a:ext cx="11643055" cy="2910764"/>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shift register: each Q feeds the next D on every clock edge. Adapted from M. Morris Mano and Michael D. Ciletti, Digital Design, Fig. 6.3.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SISO: serial-in, serial-out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2.png"/>
          <p:cNvPicPr>
            <a:picLocks noChangeAspect="1"/>
          </p:cNvPicPr>
          <p:nvPr/>
        </p:nvPicPr>
        <p:blipFill>
          <a:blip r:embed="rId3"/>
          <a:stretch>
            <a:fillRect/>
          </a:stretch>
        </p:blipFill>
        <p:spPr>
          <a:xfrm>
            <a:off x="274320" y="1700733"/>
            <a:ext cx="11643055" cy="351139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SISO: serial-in, serial-out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SIPO: serial-in, parallel-out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3.png"/>
          <p:cNvPicPr>
            <a:picLocks noChangeAspect="1"/>
          </p:cNvPicPr>
          <p:nvPr/>
        </p:nvPicPr>
        <p:blipFill>
          <a:blip r:embed="rId3"/>
          <a:stretch>
            <a:fillRect/>
          </a:stretch>
        </p:blipFill>
        <p:spPr>
          <a:xfrm>
            <a:off x="274320" y="1331112"/>
            <a:ext cx="11643055" cy="4250639"/>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SIPO: serial-in, parallel-out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PISO and PIPO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PISO:</a:t>
            </a:r>
            <a:r>
              <a:rPr lang="en-US" sz="2600" dirty="0">
                <a:solidFill>
                  <a:srgbClr val="1F2937"/>
                </a:solidFill>
                <a:latin typeface="Calibri" pitchFamily="34" charset="0"/>
                <a:ea typeface="Calibri" pitchFamily="34" charset="-122"/>
                <a:cs typeface="Calibri" pitchFamily="34" charset="-120"/>
              </a:rPr>
              <a:t> a 2-to-1 MUX in front of each D chooses the previous stage’s Q (shift) or an external parallel bit In (load)</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One shared SHIFT/LOAD′ control line: </a:t>
            </a:r>
            <a:r>
              <a:rPr lang="en-US" sz="2600" b="1" dirty="0">
                <a:solidFill>
                  <a:srgbClr val="1F2937"/>
                </a:solidFill>
                <a:latin typeface="Calibri" pitchFamily="34" charset="0"/>
                <a:ea typeface="Calibri" pitchFamily="34" charset="-122"/>
                <a:cs typeface="Calibri" pitchFamily="34" charset="-120"/>
              </a:rPr>
              <a:t>1</a:t>
            </a:r>
            <a:r>
              <a:rPr lang="en-US" sz="2600" dirty="0">
                <a:solidFill>
                  <a:srgbClr val="1F2937"/>
                </a:solidFill>
                <a:latin typeface="Calibri" pitchFamily="34" charset="0"/>
                <a:ea typeface="Calibri" pitchFamily="34" charset="-122"/>
                <a:cs typeface="Calibri" pitchFamily="34" charset="-120"/>
              </a:rPr>
              <a:t> = shift, </a:t>
            </a:r>
            <a:r>
              <a:rPr lang="en-US" sz="2600" b="1" dirty="0">
                <a:solidFill>
                  <a:srgbClr val="1F2937"/>
                </a:solidFill>
                <a:latin typeface="Calibri" pitchFamily="34" charset="0"/>
                <a:ea typeface="Calibri" pitchFamily="34" charset="-122"/>
                <a:cs typeface="Calibri" pitchFamily="34" charset="-120"/>
              </a:rPr>
              <a:t>0</a:t>
            </a:r>
            <a:r>
              <a:rPr lang="en-US" sz="2600" dirty="0">
                <a:solidFill>
                  <a:srgbClr val="1F2937"/>
                </a:solidFill>
                <a:latin typeface="Calibri" pitchFamily="34" charset="0"/>
                <a:ea typeface="Calibri" pitchFamily="34" charset="-122"/>
                <a:cs typeface="Calibri" pitchFamily="34" charset="-120"/>
              </a:rPr>
              <a:t> = load</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Typical use: parallel-to-serial conversion, e.g. a UART transmitter loads a byte in one clock and shifts it out</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PIPO:</a:t>
            </a:r>
            <a:r>
              <a:rPr lang="en-US" sz="2600" dirty="0">
                <a:solidFill>
                  <a:srgbClr val="1F2937"/>
                </a:solidFill>
                <a:latin typeface="Calibri" pitchFamily="34" charset="0"/>
                <a:ea typeface="Calibri" pitchFamily="34" charset="-122"/>
                <a:cs typeface="Calibri" pitchFamily="34" charset="-120"/>
              </a:rPr>
              <a:t> all 4 bits load and read independently, with no connections between stages</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PIPO is functionally the plain register from the previous topic: the “no shifting” end of the family</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SISO and SIPO have no MUX and no control line: they only shift</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One PISO cell</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4.png"/>
          <p:cNvPicPr>
            <a:picLocks noChangeAspect="1"/>
          </p:cNvPicPr>
          <p:nvPr/>
        </p:nvPicPr>
        <p:blipFill>
          <a:blip r:embed="rId3"/>
          <a:stretch>
            <a:fillRect/>
          </a:stretch>
        </p:blipFill>
        <p:spPr>
          <a:xfrm>
            <a:off x="274320" y="1218550"/>
            <a:ext cx="11643055" cy="4442745"/>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One PISO cell. SHIFT/LOAD′=1 selects Qn-1 (shift in from the previous stage); =0 selects In (load this stage's parallel bit directly). The final stage's Q is the serial output.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4-bit PISO register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5.png"/>
          <p:cNvPicPr>
            <a:picLocks noChangeAspect="1"/>
          </p:cNvPicPr>
          <p:nvPr/>
        </p:nvPicPr>
        <p:blipFill>
          <a:blip r:embed="rId3"/>
          <a:stretch>
            <a:fillRect/>
          </a:stretch>
        </p:blipFill>
        <p:spPr>
          <a:xfrm>
            <a:off x="274320" y="1295149"/>
            <a:ext cx="11643055" cy="4289547"/>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SI (serial-in) ties the very first stage's shift input low when there's no earlier stage to shift from. I₀–I₃ are the four parallel-load pins, and every MUX shares the same SHIFT/LOAD′ control line and CLK.</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PIPO: parallel-in, parallel-out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pic>
        <p:nvPicPr>
          <p:cNvPr id="5" name="Image 0" descr="/home/claude/figs2/2.17_shift-registers_fig6.png"/>
          <p:cNvPicPr>
            <a:picLocks noChangeAspect="1"/>
          </p:cNvPicPr>
          <p:nvPr/>
        </p:nvPicPr>
        <p:blipFill>
          <a:blip r:embed="rId3"/>
          <a:stretch>
            <a:fillRect/>
          </a:stretch>
        </p:blipFill>
        <p:spPr>
          <a:xfrm>
            <a:off x="274320" y="1578520"/>
            <a:ext cx="11643055" cy="3755824"/>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Parallel-in, parallel-out: no connections between stages — all four bits load together on the clock edge.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Shift versus parallel-load operation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2.17</a:t>
            </a:r>
            <a:endParaRPr lang="en-US" sz="16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63296">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SHIFT/LOAD′</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Each stage’s D input becomes</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Result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798576">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1 (Shift)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Previous stage’s Q (serial-in for the first stage)</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Data moves one position per clock</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798576">
                <a:tc>
                  <a:txBody>
                    <a:bodyPr/>
                    <a:lstStyle/>
                    <a:p>
                      <a:pPr marL="0" indent="0" algn="ctr">
                        <a:buNone/>
                      </a:pPr>
                      <a:r>
                        <a:rPr lang="en-US" sz="2200" b="1" dirty="0">
                          <a:solidFill>
                            <a:srgbClr val="1F2937"/>
                          </a:solidFill>
                          <a:latin typeface="Calibri" pitchFamily="34" charset="0"/>
                          <a:ea typeface="Calibri" pitchFamily="34" charset="-122"/>
                          <a:cs typeface="Calibri" pitchFamily="34" charset="-120"/>
                        </a:rPr>
                        <a:t>0 (Load)</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External parallel bit I</a:t>
                      </a:r>
                      <a:r>
                        <a:rPr lang="en-US" sz="2200" baseline="-40000" dirty="0">
                          <a:solidFill>
                            <a:srgbClr val="1F2937"/>
                          </a:solidFill>
                          <a:latin typeface="Calibri" pitchFamily="34" charset="0"/>
                          <a:ea typeface="Calibri" pitchFamily="34" charset="-122"/>
                          <a:cs typeface="Calibri" pitchFamily="34" charset="-120"/>
                        </a:rPr>
                        <a:t>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All stages capture parallel data simultaneously</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2.18  Ripple Counters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In a ripple counter each flip-flop toggles the next one, so a count change ripples down the chain instead of happening all at once.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Asynchronous (ripple) up-counter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In an </a:t>
            </a:r>
            <a:r>
              <a:rPr lang="en-US" sz="2600" b="1" dirty="0">
                <a:solidFill>
                  <a:srgbClr val="1F2937"/>
                </a:solidFill>
                <a:latin typeface="Calibri" pitchFamily="34" charset="0"/>
                <a:ea typeface="Calibri" pitchFamily="34" charset="-122"/>
                <a:cs typeface="Calibri" pitchFamily="34" charset="-120"/>
              </a:rPr>
              <a:t>asynchronous (ripple)</a:t>
            </a:r>
            <a:r>
              <a:rPr lang="en-US" sz="2600" dirty="0">
                <a:solidFill>
                  <a:srgbClr val="1F2937"/>
                </a:solidFill>
                <a:latin typeface="Calibri" pitchFamily="34" charset="0"/>
                <a:ea typeface="Calibri" pitchFamily="34" charset="-122"/>
                <a:cs typeface="Calibri" pitchFamily="34" charset="-120"/>
              </a:rPr>
              <a:t> counter only the first flip-flop gets the external clock; every later stage is clocked by the </a:t>
            </a:r>
            <a:r>
              <a:rPr lang="en-US" sz="2600" b="1" dirty="0">
                <a:solidFill>
                  <a:srgbClr val="1F2937"/>
                </a:solidFill>
                <a:latin typeface="Calibri" pitchFamily="34" charset="0"/>
                <a:ea typeface="Calibri" pitchFamily="34" charset="-122"/>
                <a:cs typeface="Calibri" pitchFamily="34" charset="-120"/>
              </a:rPr>
              <a:t>previous stage’s output</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new count ripples through the chain one stage at a time</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3-bit up-counter:</a:t>
            </a:r>
            <a:r>
              <a:rPr lang="en-US" sz="2600" dirty="0">
                <a:solidFill>
                  <a:srgbClr val="1F2937"/>
                </a:solidFill>
                <a:latin typeface="Calibri" pitchFamily="34" charset="0"/>
                <a:ea typeface="Calibri" pitchFamily="34" charset="-122"/>
                <a:cs typeface="Calibri" pitchFamily="34" charset="-120"/>
              </a:rPr>
              <a:t> negative-edge </a:t>
            </a:r>
            <a:r>
              <a:rPr lang="en-US" sz="2600" b="1" dirty="0">
                <a:solidFill>
                  <a:srgbClr val="1F2937"/>
                </a:solidFill>
                <a:latin typeface="Calibri" pitchFamily="34" charset="0"/>
                <a:ea typeface="Calibri" pitchFamily="34" charset="-122"/>
                <a:cs typeface="Calibri" pitchFamily="34" charset="-120"/>
              </a:rPr>
              <a:t>T flip-flops</a:t>
            </a:r>
            <a:r>
              <a:rPr lang="en-US" sz="2600" dirty="0">
                <a:solidFill>
                  <a:srgbClr val="1F2937"/>
                </a:solidFill>
                <a:latin typeface="Calibri" pitchFamily="34" charset="0"/>
                <a:ea typeface="Calibri" pitchFamily="34" charset="-122"/>
                <a:cs typeface="Calibri" pitchFamily="34" charset="-120"/>
              </a:rPr>
              <a:t>, each with T = 1</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FF0 (LSB) toggles every clock; FF1 toggles when Q₀ falls; FF2 when Q₁ falls</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stage runs at half the frequency of the one before: binary counting</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Sequence: 000 → 001 → 010 → 011 → 100 → 101 → 110 → 111 → 000 …</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3-bit ripple up-counter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pic>
        <p:nvPicPr>
          <p:cNvPr id="5" name="Image 0" descr="/home/claude/figs2/2.18_ripple-counters_fig1.png"/>
          <p:cNvPicPr>
            <a:picLocks noChangeAspect="1"/>
          </p:cNvPicPr>
          <p:nvPr/>
        </p:nvPicPr>
        <p:blipFill>
          <a:blip r:embed="rId3"/>
          <a:stretch>
            <a:fillRect/>
          </a:stretch>
        </p:blipFill>
        <p:spPr>
          <a:xfrm>
            <a:off x="274320" y="1394641"/>
            <a:ext cx="11643055" cy="4123582"/>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Three-bit ripple up-counter: negative-edge T flip-flops (bubble on the clock input), each clocked by the previous Q.</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Up and down counter rules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Negative-edge + Q, or positive-edge + Q′, count up; the other two combinations count down.</a:t>
            </a:r>
            <a:endParaRPr lang="en-US" sz="22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609448" y="2240280"/>
          <a:ext cx="1097280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93776">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Clock triggering</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Next stage driven by</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Counter mode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Negative edge (↓)</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UP</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Negative edge (↓)</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DOWN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Positive edge (↑)</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DOWN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93776">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Positive edge (↑)</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937"/>
                          </a:solidFill>
                          <a:latin typeface="Calibri" pitchFamily="34" charset="0"/>
                          <a:ea typeface="Calibri" pitchFamily="34" charset="-122"/>
                          <a:cs typeface="Calibri" pitchFamily="34" charset="-120"/>
                        </a:rPr>
                        <a:t>Q′</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b="1" dirty="0">
                          <a:solidFill>
                            <a:srgbClr val="1F2937"/>
                          </a:solidFill>
                          <a:latin typeface="Calibri" pitchFamily="34" charset="0"/>
                          <a:ea typeface="Calibri" pitchFamily="34" charset="-122"/>
                          <a:cs typeface="Calibri" pitchFamily="34" charset="-120"/>
                        </a:rPr>
                        <a:t>UP</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3-bit ripple down-counter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pic>
        <p:nvPicPr>
          <p:cNvPr id="5" name="Image 0" descr="/home/claude/figs2/2.18_ripple-counters_fig2.png"/>
          <p:cNvPicPr>
            <a:picLocks noChangeAspect="1"/>
          </p:cNvPicPr>
          <p:nvPr/>
        </p:nvPicPr>
        <p:blipFill>
          <a:blip r:embed="rId3"/>
          <a:stretch>
            <a:fillRect/>
          </a:stretch>
        </p:blipFill>
        <p:spPr>
          <a:xfrm>
            <a:off x="274320" y="1152077"/>
            <a:ext cx="11643055" cy="4608709"/>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Three-bit ripple down-counter: the same chain, each stage clocked by the previous Q′.</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Modulo-10 (BCD) ripple counter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sp>
        <p:nvSpPr>
          <p:cNvPr id="5" name="Text 2"/>
          <p:cNvSpPr txBox="1"/>
          <p:nvPr/>
        </p:nvSpPr>
        <p:spPr>
          <a:xfrm>
            <a:off x="548640" y="1280160"/>
            <a:ext cx="11094415" cy="1722120"/>
          </a:xfrm>
          <a:prstGeom prst="roundRect">
            <a:avLst>
              <a:gd name="adj" fmla="val 5310"/>
            </a:avLst>
          </a:prstGeom>
          <a:solidFill>
            <a:srgbClr val="F4F6F8"/>
          </a:solidFill>
          <a:ln w="25400">
            <a:solidFill>
              <a:srgbClr val="FF8F00"/>
            </a:solidFill>
          </a:ln>
        </p:spPr>
        <p:txBody>
          <a:bodyPr wrap="square" lIns="152400" tIns="279400" rIns="279400" bIns="152400" rtlCol="0" anchor="ctr"/>
          <a:lstStyle/>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Required FFs:  2</a:t>
            </a:r>
            <a:r>
              <a:rPr lang="en-US" sz="2200" baseline="30000" dirty="0">
                <a:solidFill>
                  <a:srgbClr val="1F2937"/>
                </a:solidFill>
                <a:latin typeface="Courier New" pitchFamily="34" charset="0"/>
                <a:ea typeface="Courier New" pitchFamily="34" charset="-122"/>
                <a:cs typeface="Courier New" pitchFamily="34" charset="-120"/>
              </a:rPr>
              <a:t>n</a:t>
            </a:r>
            <a:r>
              <a:rPr lang="en-US" sz="2200" dirty="0">
                <a:solidFill>
                  <a:srgbClr val="1F2937"/>
                </a:solidFill>
                <a:latin typeface="Courier New" pitchFamily="34" charset="0"/>
                <a:ea typeface="Courier New" pitchFamily="34" charset="-122"/>
                <a:cs typeface="Courier New" pitchFamily="34" charset="-120"/>
              </a:rPr>
              <a:t> ≥ 10  ⟹  n = 4 flip-flops (Q3Q2Q1Q0)</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Reset state:   Q3Q2Q1Q0 = 1010  (Q3 = 1 and Q1 = 1)</a:t>
            </a:r>
            <a:endParaRPr lang="en-US" sz="2200" dirty="0"/>
          </a:p>
          <a:p>
            <a:pPr marL="0" indent="0">
              <a:spcAft>
                <a:spcPts val="400"/>
              </a:spcAft>
              <a:buNone/>
            </a:pPr>
            <a:r>
              <a:rPr lang="en-US" sz="2200" dirty="0">
                <a:solidFill>
                  <a:srgbClr val="1F2937"/>
                </a:solidFill>
                <a:latin typeface="Courier New" pitchFamily="34" charset="0"/>
                <a:ea typeface="Courier New" pitchFamily="34" charset="-122"/>
                <a:cs typeface="Courier New" pitchFamily="34" charset="-120"/>
              </a:rPr>
              <a:t>Clear logic:   CLR′ = (Q3 · Q1)′</a:t>
            </a:r>
            <a:endParaRPr lang="en-US" sz="2200" dirty="0"/>
          </a:p>
        </p:txBody>
      </p:sp>
      <p:sp>
        <p:nvSpPr>
          <p:cNvPr id="6" name="Text 3"/>
          <p:cNvSpPr txBox="1"/>
          <p:nvPr/>
        </p:nvSpPr>
        <p:spPr>
          <a:xfrm>
            <a:off x="640080" y="3322320"/>
            <a:ext cx="10911535" cy="2804160"/>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plain 4-bit ripple counter is mod-16; reset to 0000 the instant it would reach 1010</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NAND output CLR′ drops to 0 and asynchronously clears every stage</a:t>
            </a:r>
            <a:endParaRPr lang="en-US" sz="2400" dirty="0"/>
          </a:p>
          <a:p>
            <a:pPr marL="304800" indent="-304800" algn="l">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brief 1010 can glitch the outputs; a synchronous clear after 1001 avoids it</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Mod-10 ripple 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2.18</a:t>
            </a:r>
            <a:endParaRPr lang="en-US" sz="1600" dirty="0"/>
          </a:p>
        </p:txBody>
      </p:sp>
      <p:pic>
        <p:nvPicPr>
          <p:cNvPr id="5" name="Image 0" descr="/home/claude/figs2/2.18_ripple-counters_fig3.png"/>
          <p:cNvPicPr>
            <a:picLocks noChangeAspect="1"/>
          </p:cNvPicPr>
          <p:nvPr/>
        </p:nvPicPr>
        <p:blipFill>
          <a:blip r:embed="rId3"/>
          <a:stretch>
            <a:fillRect/>
          </a:stretch>
        </p:blipFill>
        <p:spPr>
          <a:xfrm>
            <a:off x="274320" y="1251308"/>
            <a:ext cx="11643055" cy="441024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Mod-10 ripple counter: a NAND gate detects 1010 (Q₃ = Q₁ = 1) and clears all four stages.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2.19  Synchronous Counters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1F2937"/>
                </a:solidFill>
                <a:latin typeface="Calibri" pitchFamily="34" charset="0"/>
                <a:ea typeface="Calibri" pitchFamily="34" charset="-122"/>
                <a:cs typeface="Calibri" pitchFamily="34" charset="-120"/>
              </a:rPr>
              <a:t>In a synchronous counter every flip-flop hears the same clock tick; gates decide which ones toggle, so all bits change together.</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Synchronous counters: design procedure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Every flip-flop uses the </a:t>
            </a:r>
            <a:r>
              <a:rPr lang="en-US" sz="2800" b="1" dirty="0">
                <a:solidFill>
                  <a:srgbClr val="1F2937"/>
                </a:solidFill>
                <a:latin typeface="Calibri" pitchFamily="34" charset="0"/>
                <a:ea typeface="Calibri" pitchFamily="34" charset="-122"/>
                <a:cs typeface="Calibri" pitchFamily="34" charset="-120"/>
              </a:rPr>
              <a:t>same clock</a:t>
            </a:r>
            <a:r>
              <a:rPr lang="en-US" sz="2800" dirty="0">
                <a:solidFill>
                  <a:srgbClr val="1F2937"/>
                </a:solidFill>
                <a:latin typeface="Calibri" pitchFamily="34" charset="0"/>
                <a:ea typeface="Calibri" pitchFamily="34" charset="-122"/>
                <a:cs typeface="Calibri" pitchFamily="34" charset="-120"/>
              </a:rPr>
              <a:t>; no ripple delay accumulates</a:t>
            </a:r>
            <a:endParaRPr lang="en-US" sz="2800" dirty="0"/>
          </a:p>
          <a:p>
            <a:pPr marL="304800" indent="-304800" algn="l">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Cost: extra combinational logic to compute each stage’s inputs</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1. State table:</a:t>
            </a:r>
            <a:r>
              <a:rPr lang="en-US" sz="2800" dirty="0">
                <a:solidFill>
                  <a:srgbClr val="1F2937"/>
                </a:solidFill>
                <a:latin typeface="Calibri" pitchFamily="34" charset="0"/>
                <a:ea typeface="Calibri" pitchFamily="34" charset="-122"/>
                <a:cs typeface="Calibri" pitchFamily="34" charset="-120"/>
              </a:rPr>
              <a:t> each present state → required next state</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 Excitation table:</a:t>
            </a:r>
            <a:r>
              <a:rPr lang="en-US" sz="2800" dirty="0">
                <a:solidFill>
                  <a:srgbClr val="1F2937"/>
                </a:solidFill>
                <a:latin typeface="Calibri" pitchFamily="34" charset="0"/>
                <a:ea typeface="Calibri" pitchFamily="34" charset="-122"/>
                <a:cs typeface="Calibri" pitchFamily="34" charset="-120"/>
              </a:rPr>
              <a:t> inputs each transition requires</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3. K-map minimisation:</a:t>
            </a:r>
            <a:r>
              <a:rPr lang="en-US" sz="2800" dirty="0">
                <a:solidFill>
                  <a:srgbClr val="1F2937"/>
                </a:solidFill>
                <a:latin typeface="Calibri" pitchFamily="34" charset="0"/>
                <a:ea typeface="Calibri" pitchFamily="34" charset="-122"/>
                <a:cs typeface="Calibri" pitchFamily="34" charset="-120"/>
              </a:rPr>
              <a:t> each flip-flop input is a function of the present state</a:t>
            </a:r>
            <a:endParaRPr lang="en-US" sz="2800" dirty="0"/>
          </a:p>
          <a:p>
            <a:pPr marL="304800" indent="-304800" algn="l">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4. Circuit:</a:t>
            </a:r>
            <a:r>
              <a:rPr lang="en-US" sz="2800" dirty="0">
                <a:solidFill>
                  <a:srgbClr val="1F2937"/>
                </a:solidFill>
                <a:latin typeface="Calibri" pitchFamily="34" charset="0"/>
                <a:ea typeface="Calibri" pitchFamily="34" charset="-122"/>
                <a:cs typeface="Calibri" pitchFamily="34" charset="-120"/>
              </a:rPr>
              <a:t> wire the simplified logic and tie every clock to one common line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3-bit up-counter with JK flip-flops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marL="0" indent="0">
              <a:buNone/>
            </a:pPr>
            <a:r>
              <a:rPr lang="en-US" sz="2200" dirty="0">
                <a:solidFill>
                  <a:srgbClr val="1F2937"/>
                </a:solidFill>
                <a:latin typeface="Calibri" pitchFamily="34" charset="0"/>
                <a:ea typeface="Calibri" pitchFamily="34" charset="-122"/>
                <a:cs typeface="Calibri" pitchFamily="34" charset="-120"/>
              </a:rPr>
              <a:t>Steps 1 and 2 combined: the required next state and the JK excitation values.</a:t>
            </a:r>
            <a:endParaRPr lang="en-US" sz="22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518008" y="1874520"/>
          <a:ext cx="111556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32816">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r>
                        <a:rPr lang="en-US" sz="2000" b="1" baseline="-40000" dirty="0">
                          <a:solidFill>
                            <a:srgbClr val="FFFFFF"/>
                          </a:solidFill>
                          <a:latin typeface="Calibri" pitchFamily="34" charset="0"/>
                          <a:ea typeface="Calibri" pitchFamily="34" charset="-122"/>
                          <a:cs typeface="Calibri" pitchFamily="34" charset="-120"/>
                        </a:rPr>
                        <a:t>n</a:t>
                      </a:r>
                      <a:r>
                        <a:rPr lang="en-US" sz="2000" b="1" dirty="0">
                          <a:solidFill>
                            <a:srgbClr val="FFFFFF"/>
                          </a:solidFill>
                          <a:latin typeface="Calibri" pitchFamily="34" charset="0"/>
                          <a:ea typeface="Calibri" pitchFamily="34" charset="-122"/>
                          <a:cs typeface="Calibri" pitchFamily="34" charset="-120"/>
                        </a:rPr>
                        <a:t>B</a:t>
                      </a:r>
                      <a:r>
                        <a:rPr lang="en-US" sz="2000" b="1" baseline="-40000" dirty="0">
                          <a:solidFill>
                            <a:srgbClr val="FFFFFF"/>
                          </a:solidFill>
                          <a:latin typeface="Calibri" pitchFamily="34" charset="0"/>
                          <a:ea typeface="Calibri" pitchFamily="34" charset="-122"/>
                          <a:cs typeface="Calibri" pitchFamily="34" charset="-120"/>
                        </a:rPr>
                        <a:t>n</a:t>
                      </a: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A</a:t>
                      </a:r>
                      <a:r>
                        <a:rPr lang="en-US" sz="2000" b="1" baseline="-40000" dirty="0">
                          <a:solidFill>
                            <a:srgbClr val="FFFFFF"/>
                          </a:solidFill>
                          <a:latin typeface="Calibri" pitchFamily="34" charset="0"/>
                          <a:ea typeface="Calibri" pitchFamily="34" charset="-122"/>
                          <a:cs typeface="Calibri" pitchFamily="34" charset="-120"/>
                        </a:rPr>
                        <a:t>n+1</a:t>
                      </a:r>
                      <a:r>
                        <a:rPr lang="en-US" sz="2000" b="1" dirty="0">
                          <a:solidFill>
                            <a:srgbClr val="FFFFFF"/>
                          </a:solidFill>
                          <a:latin typeface="Calibri" pitchFamily="34" charset="0"/>
                          <a:ea typeface="Calibri" pitchFamily="34" charset="-122"/>
                          <a:cs typeface="Calibri" pitchFamily="34" charset="-120"/>
                        </a:rPr>
                        <a:t>B</a:t>
                      </a:r>
                      <a:r>
                        <a:rPr lang="en-US" sz="2000" b="1" baseline="-40000" dirty="0">
                          <a:solidFill>
                            <a:srgbClr val="FFFFFF"/>
                          </a:solidFill>
                          <a:latin typeface="Calibri" pitchFamily="34" charset="0"/>
                          <a:ea typeface="Calibri" pitchFamily="34" charset="-122"/>
                          <a:cs typeface="Calibri" pitchFamily="34" charset="-120"/>
                        </a:rPr>
                        <a:t>n+1</a:t>
                      </a: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n+1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J</a:t>
                      </a:r>
                      <a:r>
                        <a:rPr lang="en-US" sz="2000" b="1" baseline="-40000" dirty="0">
                          <a:solidFill>
                            <a:srgbClr val="FFFFFF"/>
                          </a:solidFill>
                          <a:latin typeface="Calibri" pitchFamily="34" charset="0"/>
                          <a:ea typeface="Calibri" pitchFamily="34" charset="-122"/>
                          <a:cs typeface="Calibri" pitchFamily="34" charset="-120"/>
                        </a:rPr>
                        <a:t>A</a:t>
                      </a:r>
                      <a:r>
                        <a:rPr lang="en-US" sz="2000" b="1" dirty="0">
                          <a:solidFill>
                            <a:srgbClr val="FFFFFF"/>
                          </a:solidFill>
                          <a:latin typeface="Calibri" pitchFamily="34" charset="0"/>
                          <a:ea typeface="Calibri" pitchFamily="34" charset="-122"/>
                          <a:cs typeface="Calibri" pitchFamily="34" charset="-120"/>
                        </a:rPr>
                        <a:t>,K</a:t>
                      </a:r>
                      <a:r>
                        <a:rPr lang="en-US" sz="2000" b="1" baseline="-40000" dirty="0">
                          <a:solidFill>
                            <a:srgbClr val="FFFFFF"/>
                          </a:solidFill>
                          <a:latin typeface="Calibri" pitchFamily="34" charset="0"/>
                          <a:ea typeface="Calibri" pitchFamily="34" charset="-122"/>
                          <a:cs typeface="Calibri" pitchFamily="34" charset="-120"/>
                        </a:rPr>
                        <a:t>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J</a:t>
                      </a:r>
                      <a:r>
                        <a:rPr lang="en-US" sz="2000" b="1" baseline="-40000" dirty="0">
                          <a:solidFill>
                            <a:srgbClr val="FFFFFF"/>
                          </a:solidFill>
                          <a:latin typeface="Calibri" pitchFamily="34" charset="0"/>
                          <a:ea typeface="Calibri" pitchFamily="34" charset="-122"/>
                          <a:cs typeface="Calibri" pitchFamily="34" charset="-120"/>
                        </a:rPr>
                        <a:t>B</a:t>
                      </a:r>
                      <a:r>
                        <a:rPr lang="en-US" sz="2000" b="1" dirty="0">
                          <a:solidFill>
                            <a:srgbClr val="FFFFFF"/>
                          </a:solidFill>
                          <a:latin typeface="Calibri" pitchFamily="34" charset="0"/>
                          <a:ea typeface="Calibri" pitchFamily="34" charset="-122"/>
                          <a:cs typeface="Calibri" pitchFamily="34" charset="-120"/>
                        </a:rPr>
                        <a:t>,K</a:t>
                      </a:r>
                      <a:r>
                        <a:rPr lang="en-US" sz="2000" b="1" baseline="-40000" dirty="0">
                          <a:solidFill>
                            <a:srgbClr val="FFFFFF"/>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J</a:t>
                      </a:r>
                      <a:r>
                        <a:rPr lang="en-US" sz="2000" b="1" baseline="-40000" dirty="0">
                          <a:solidFill>
                            <a:srgbClr val="FFFFFF"/>
                          </a:solidFill>
                          <a:latin typeface="Calibri" pitchFamily="34" charset="0"/>
                          <a:ea typeface="Calibri" pitchFamily="34" charset="-122"/>
                          <a:cs typeface="Calibri" pitchFamily="34" charset="-120"/>
                        </a:rPr>
                        <a:t>C</a:t>
                      </a:r>
                      <a:r>
                        <a:rPr lang="en-US" sz="2000" b="1" dirty="0">
                          <a:solidFill>
                            <a:srgbClr val="FFFFFF"/>
                          </a:solidFill>
                          <a:latin typeface="Calibri" pitchFamily="34" charset="0"/>
                          <a:ea typeface="Calibri" pitchFamily="34" charset="-122"/>
                          <a:cs typeface="Calibri" pitchFamily="34" charset="-120"/>
                        </a:rPr>
                        <a:t>,K</a:t>
                      </a:r>
                      <a:r>
                        <a:rPr lang="en-US" sz="2000" b="1" baseline="-40000" dirty="0">
                          <a:solidFill>
                            <a:srgbClr val="FFFFFF"/>
                          </a:solidFill>
                          <a:latin typeface="Calibri" pitchFamily="34" charset="0"/>
                          <a:ea typeface="Calibri" pitchFamily="34" charset="-122"/>
                          <a:cs typeface="Calibri" pitchFamily="34" charset="-120"/>
                        </a:rPr>
                        <a:t>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011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011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111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 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32816">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111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000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1F2937"/>
                          </a:solidFill>
                          <a:latin typeface="Calibri" pitchFamily="34" charset="0"/>
                          <a:ea typeface="Calibri" pitchFamily="34" charset="-122"/>
                          <a:cs typeface="Calibri" pitchFamily="34" charset="-120"/>
                        </a:rPr>
                        <a:t>X,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K-map for J of flip-flop A</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pic>
        <p:nvPicPr>
          <p:cNvPr id="5" name="Image 0" descr="/home/claude/figs2/2.19_synchronous-counters_fig1.png"/>
          <p:cNvPicPr>
            <a:picLocks noChangeAspect="1"/>
          </p:cNvPicPr>
          <p:nvPr/>
        </p:nvPicPr>
        <p:blipFill>
          <a:blip r:embed="rId3"/>
          <a:stretch>
            <a:fillRect/>
          </a:stretch>
        </p:blipFill>
        <p:spPr>
          <a:xfrm>
            <a:off x="993496" y="621792"/>
            <a:ext cx="10204704"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K-map for J</a:t>
            </a:r>
            <a:r>
              <a:rPr lang="en-US" sz="1400" baseline="-40000" dirty="0">
                <a:solidFill>
                  <a:srgbClr val="546E7A"/>
                </a:solidFill>
                <a:latin typeface="Calibri" pitchFamily="34" charset="0"/>
                <a:ea typeface="Calibri" pitchFamily="34" charset="-122"/>
                <a:cs typeface="Calibri" pitchFamily="34" charset="-120"/>
              </a:rPr>
              <a:t>A</a:t>
            </a:r>
            <a:r>
              <a:rPr lang="en-US" sz="1400" dirty="0">
                <a:solidFill>
                  <a:srgbClr val="546E7A"/>
                </a:solidFill>
                <a:latin typeface="Calibri" pitchFamily="34" charset="0"/>
                <a:ea typeface="Calibri" pitchFamily="34" charset="-122"/>
                <a:cs typeface="Calibri" pitchFamily="34" charset="-120"/>
              </a:rPr>
              <a:t>: the 1 at m3 groups with don't-care m7, giving J</a:t>
            </a:r>
            <a:r>
              <a:rPr lang="en-US" sz="1400" baseline="-40000" dirty="0">
                <a:solidFill>
                  <a:srgbClr val="546E7A"/>
                </a:solidFill>
                <a:latin typeface="Calibri" pitchFamily="34" charset="0"/>
                <a:ea typeface="Calibri" pitchFamily="34" charset="-122"/>
                <a:cs typeface="Calibri" pitchFamily="34" charset="-120"/>
              </a:rPr>
              <a:t>A</a:t>
            </a:r>
            <a:r>
              <a:rPr lang="en-US" sz="1400" dirty="0">
                <a:solidFill>
                  <a:srgbClr val="546E7A"/>
                </a:solidFill>
                <a:latin typeface="Calibri" pitchFamily="34" charset="0"/>
                <a:ea typeface="Calibri" pitchFamily="34" charset="-122"/>
                <a:cs typeface="Calibri" pitchFamily="34" charset="-120"/>
              </a:rPr>
              <a:t> = BC.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K-map for K of flip-flop A</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pic>
        <p:nvPicPr>
          <p:cNvPr id="5" name="Image 0" descr="/home/claude/figs2/2.19_synchronous-counters_fig2.png"/>
          <p:cNvPicPr>
            <a:picLocks noChangeAspect="1"/>
          </p:cNvPicPr>
          <p:nvPr/>
        </p:nvPicPr>
        <p:blipFill>
          <a:blip r:embed="rId3"/>
          <a:stretch>
            <a:fillRect/>
          </a:stretch>
        </p:blipFill>
        <p:spPr>
          <a:xfrm>
            <a:off x="993496" y="621792"/>
            <a:ext cx="10204704"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K-map for K</a:t>
            </a:r>
            <a:r>
              <a:rPr lang="en-US" sz="1400" baseline="-40000" dirty="0">
                <a:solidFill>
                  <a:srgbClr val="546E7A"/>
                </a:solidFill>
                <a:latin typeface="Calibri" pitchFamily="34" charset="0"/>
                <a:ea typeface="Calibri" pitchFamily="34" charset="-122"/>
                <a:cs typeface="Calibri" pitchFamily="34" charset="-120"/>
              </a:rPr>
              <a:t>A</a:t>
            </a:r>
            <a:r>
              <a:rPr lang="en-US" sz="1400" dirty="0">
                <a:solidFill>
                  <a:srgbClr val="546E7A"/>
                </a:solidFill>
                <a:latin typeface="Calibri" pitchFamily="34" charset="0"/>
                <a:ea typeface="Calibri" pitchFamily="34" charset="-122"/>
                <a:cs typeface="Calibri" pitchFamily="34" charset="-120"/>
              </a:rPr>
              <a:t>: the 1 at m7 groups with don't-care m3, giving K</a:t>
            </a:r>
            <a:r>
              <a:rPr lang="en-US" sz="1400" baseline="-40000" dirty="0">
                <a:solidFill>
                  <a:srgbClr val="546E7A"/>
                </a:solidFill>
                <a:latin typeface="Calibri" pitchFamily="34" charset="0"/>
                <a:ea typeface="Calibri" pitchFamily="34" charset="-122"/>
                <a:cs typeface="Calibri" pitchFamily="34" charset="-120"/>
              </a:rPr>
              <a:t>A</a:t>
            </a:r>
            <a:r>
              <a:rPr lang="en-US" sz="1400" dirty="0">
                <a:solidFill>
                  <a:srgbClr val="546E7A"/>
                </a:solidFill>
                <a:latin typeface="Calibri" pitchFamily="34" charset="0"/>
                <a:ea typeface="Calibri" pitchFamily="34" charset="-122"/>
                <a:cs typeface="Calibri" pitchFamily="34" charset="-120"/>
              </a:rPr>
              <a:t> = BC.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Stages B and C; the circuit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Both maps group the same pair (BC = 11, both A rows): </a:t>
            </a:r>
            <a:r>
              <a:rPr lang="en-US" sz="2600" b="1" dirty="0">
                <a:solidFill>
                  <a:srgbClr val="1F2937"/>
                </a:solidFill>
                <a:latin typeface="Calibri" pitchFamily="34" charset="0"/>
                <a:ea typeface="Calibri" pitchFamily="34" charset="-122"/>
                <a:cs typeface="Calibri" pitchFamily="34" charset="-120"/>
              </a:rPr>
              <a:t>J</a:t>
            </a:r>
            <a:r>
              <a:rPr lang="en-US" sz="2600" b="1" baseline="-40000" dirty="0">
                <a:solidFill>
                  <a:srgbClr val="1F2937"/>
                </a:solidFill>
                <a:latin typeface="Calibri" pitchFamily="34" charset="0"/>
                <a:ea typeface="Calibri" pitchFamily="34" charset="-122"/>
                <a:cs typeface="Calibri" pitchFamily="34" charset="-120"/>
              </a:rPr>
              <a:t>A</a:t>
            </a:r>
            <a:r>
              <a:rPr lang="en-US" sz="2600" b="1" dirty="0">
                <a:solidFill>
                  <a:srgbClr val="1F2937"/>
                </a:solidFill>
                <a:latin typeface="Calibri" pitchFamily="34" charset="0"/>
                <a:ea typeface="Calibri" pitchFamily="34" charset="-122"/>
                <a:cs typeface="Calibri" pitchFamily="34" charset="-120"/>
              </a:rPr>
              <a:t> = K</a:t>
            </a:r>
            <a:r>
              <a:rPr lang="en-US" sz="2600" b="1" baseline="-40000" dirty="0">
                <a:solidFill>
                  <a:srgbClr val="1F2937"/>
                </a:solidFill>
                <a:latin typeface="Calibri" pitchFamily="34" charset="0"/>
                <a:ea typeface="Calibri" pitchFamily="34" charset="-122"/>
                <a:cs typeface="Calibri" pitchFamily="34" charset="-120"/>
              </a:rPr>
              <a:t>A</a:t>
            </a:r>
            <a:r>
              <a:rPr lang="en-US" sz="2600" b="1" dirty="0">
                <a:solidFill>
                  <a:srgbClr val="1F2937"/>
                </a:solidFill>
                <a:latin typeface="Calibri" pitchFamily="34" charset="0"/>
                <a:ea typeface="Calibri" pitchFamily="34" charset="-122"/>
                <a:cs typeface="Calibri" pitchFamily="34" charset="-120"/>
              </a:rPr>
              <a:t> = BC</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J</a:t>
            </a:r>
            <a:r>
              <a:rPr lang="en-US" sz="2600" b="1" baseline="-40000" dirty="0">
                <a:solidFill>
                  <a:srgbClr val="1F2937"/>
                </a:solidFill>
                <a:latin typeface="Calibri" pitchFamily="34" charset="0"/>
                <a:ea typeface="Calibri" pitchFamily="34" charset="-122"/>
                <a:cs typeface="Calibri" pitchFamily="34" charset="-120"/>
              </a:rPr>
              <a:t>C</a:t>
            </a:r>
            <a:r>
              <a:rPr lang="en-US" sz="2600" b="1" dirty="0">
                <a:solidFill>
                  <a:srgbClr val="1F2937"/>
                </a:solidFill>
                <a:latin typeface="Calibri" pitchFamily="34" charset="0"/>
                <a:ea typeface="Calibri" pitchFamily="34" charset="-122"/>
                <a:cs typeface="Calibri" pitchFamily="34" charset="-120"/>
              </a:rPr>
              <a:t> = 1, K</a:t>
            </a:r>
            <a:r>
              <a:rPr lang="en-US" sz="2600" b="1" baseline="-40000" dirty="0">
                <a:solidFill>
                  <a:srgbClr val="1F2937"/>
                </a:solidFill>
                <a:latin typeface="Calibri" pitchFamily="34" charset="0"/>
                <a:ea typeface="Calibri" pitchFamily="34" charset="-122"/>
                <a:cs typeface="Calibri" pitchFamily="34" charset="-120"/>
              </a:rPr>
              <a:t>C</a:t>
            </a:r>
            <a:r>
              <a:rPr lang="en-US" sz="2600" b="1" dirty="0">
                <a:solidFill>
                  <a:srgbClr val="1F2937"/>
                </a:solidFill>
                <a:latin typeface="Calibri" pitchFamily="34" charset="0"/>
                <a:ea typeface="Calibri" pitchFamily="34" charset="-122"/>
                <a:cs typeface="Calibri" pitchFamily="34" charset="-120"/>
              </a:rPr>
              <a:t> = 1:</a:t>
            </a:r>
            <a:r>
              <a:rPr lang="en-US" sz="2600" dirty="0">
                <a:solidFill>
                  <a:srgbClr val="1F2937"/>
                </a:solidFill>
                <a:latin typeface="Calibri" pitchFamily="34" charset="0"/>
                <a:ea typeface="Calibri" pitchFamily="34" charset="-122"/>
                <a:cs typeface="Calibri" pitchFamily="34" charset="-120"/>
              </a:rPr>
              <a:t> C toggles every clock, like the ripple counter’s LSB</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J</a:t>
            </a:r>
            <a:r>
              <a:rPr lang="en-US" sz="2600" b="1" baseline="-40000" dirty="0">
                <a:solidFill>
                  <a:srgbClr val="1F2937"/>
                </a:solidFill>
                <a:latin typeface="Calibri" pitchFamily="34" charset="0"/>
                <a:ea typeface="Calibri" pitchFamily="34" charset="-122"/>
                <a:cs typeface="Calibri" pitchFamily="34" charset="-120"/>
              </a:rPr>
              <a:t>B</a:t>
            </a:r>
            <a:r>
              <a:rPr lang="en-US" sz="2600" b="1" dirty="0">
                <a:solidFill>
                  <a:srgbClr val="1F2937"/>
                </a:solidFill>
                <a:latin typeface="Calibri" pitchFamily="34" charset="0"/>
                <a:ea typeface="Calibri" pitchFamily="34" charset="-122"/>
                <a:cs typeface="Calibri" pitchFamily="34" charset="-120"/>
              </a:rPr>
              <a:t> = C, K</a:t>
            </a:r>
            <a:r>
              <a:rPr lang="en-US" sz="2600" b="1" baseline="-40000" dirty="0">
                <a:solidFill>
                  <a:srgbClr val="1F2937"/>
                </a:solidFill>
                <a:latin typeface="Calibri" pitchFamily="34" charset="0"/>
                <a:ea typeface="Calibri" pitchFamily="34" charset="-122"/>
                <a:cs typeface="Calibri" pitchFamily="34" charset="-120"/>
              </a:rPr>
              <a:t>B</a:t>
            </a:r>
            <a:r>
              <a:rPr lang="en-US" sz="2600" b="1" dirty="0">
                <a:solidFill>
                  <a:srgbClr val="1F2937"/>
                </a:solidFill>
                <a:latin typeface="Calibri" pitchFamily="34" charset="0"/>
                <a:ea typeface="Calibri" pitchFamily="34" charset="-122"/>
                <a:cs typeface="Calibri" pitchFamily="34" charset="-120"/>
              </a:rPr>
              <a:t> = C:</a:t>
            </a:r>
            <a:r>
              <a:rPr lang="en-US" sz="2600" dirty="0">
                <a:solidFill>
                  <a:srgbClr val="1F2937"/>
                </a:solidFill>
                <a:latin typeface="Calibri" pitchFamily="34" charset="0"/>
                <a:ea typeface="Calibri" pitchFamily="34" charset="-122"/>
                <a:cs typeface="Calibri" pitchFamily="34" charset="-120"/>
              </a:rPr>
              <a:t> B toggles precisely when C is 1</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In each stage J and K are tied together: “toggle when this condition is true”</a:t>
            </a:r>
            <a:endParaRPr lang="en-US" sz="2600" dirty="0"/>
          </a:p>
          <a:p>
            <a:pPr marL="304800" indent="-304800" algn="l">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Down-counter:</a:t>
            </a:r>
            <a:r>
              <a:rPr lang="en-US" sz="2600" dirty="0">
                <a:solidFill>
                  <a:srgbClr val="1F2937"/>
                </a:solidFill>
                <a:latin typeface="Calibri" pitchFamily="34" charset="0"/>
                <a:ea typeface="Calibri" pitchFamily="34" charset="-122"/>
                <a:cs typeface="Calibri" pitchFamily="34" charset="-120"/>
              </a:rPr>
              <a:t> every toggle condition is the same with B and C inverted: J</a:t>
            </a:r>
            <a:r>
              <a:rPr lang="en-US" sz="2600" baseline="-40000" dirty="0">
                <a:solidFill>
                  <a:srgbClr val="1F2937"/>
                </a:solidFill>
                <a:latin typeface="Calibri" pitchFamily="34" charset="0"/>
                <a:ea typeface="Calibri" pitchFamily="34" charset="-122"/>
                <a:cs typeface="Calibri" pitchFamily="34" charset="-120"/>
              </a:rPr>
              <a:t>C</a:t>
            </a:r>
            <a:r>
              <a:rPr lang="en-US" sz="2600" dirty="0">
                <a:solidFill>
                  <a:srgbClr val="1F2937"/>
                </a:solidFill>
                <a:latin typeface="Calibri" pitchFamily="34" charset="0"/>
                <a:ea typeface="Calibri" pitchFamily="34" charset="-122"/>
                <a:cs typeface="Calibri" pitchFamily="34" charset="-120"/>
              </a:rPr>
              <a:t> = K</a:t>
            </a:r>
            <a:r>
              <a:rPr lang="en-US" sz="2600" baseline="-40000" dirty="0">
                <a:solidFill>
                  <a:srgbClr val="1F2937"/>
                </a:solidFill>
                <a:latin typeface="Calibri" pitchFamily="34" charset="0"/>
                <a:ea typeface="Calibri" pitchFamily="34" charset="-122"/>
                <a:cs typeface="Calibri" pitchFamily="34" charset="-120"/>
              </a:rPr>
              <a:t>C</a:t>
            </a:r>
            <a:r>
              <a:rPr lang="en-US" sz="2600" dirty="0">
                <a:solidFill>
                  <a:srgbClr val="1F2937"/>
                </a:solidFill>
                <a:latin typeface="Calibri" pitchFamily="34" charset="0"/>
                <a:ea typeface="Calibri" pitchFamily="34" charset="-122"/>
                <a:cs typeface="Calibri" pitchFamily="34" charset="-120"/>
              </a:rPr>
              <a:t> = 1; J</a:t>
            </a:r>
            <a:r>
              <a:rPr lang="en-US" sz="2600" baseline="-40000" dirty="0">
                <a:solidFill>
                  <a:srgbClr val="1F2937"/>
                </a:solidFill>
                <a:latin typeface="Calibri" pitchFamily="34" charset="0"/>
                <a:ea typeface="Calibri" pitchFamily="34" charset="-122"/>
                <a:cs typeface="Calibri" pitchFamily="34" charset="-120"/>
              </a:rPr>
              <a:t>B</a:t>
            </a:r>
            <a:r>
              <a:rPr lang="en-US" sz="2600" dirty="0">
                <a:solidFill>
                  <a:srgbClr val="1F2937"/>
                </a:solidFill>
                <a:latin typeface="Calibri" pitchFamily="34" charset="0"/>
                <a:ea typeface="Calibri" pitchFamily="34" charset="-122"/>
                <a:cs typeface="Calibri" pitchFamily="34" charset="-120"/>
              </a:rPr>
              <a:t> = K</a:t>
            </a:r>
            <a:r>
              <a:rPr lang="en-US" sz="2600" baseline="-40000" dirty="0">
                <a:solidFill>
                  <a:srgbClr val="1F2937"/>
                </a:solidFill>
                <a:latin typeface="Calibri" pitchFamily="34" charset="0"/>
                <a:ea typeface="Calibri" pitchFamily="34" charset="-122"/>
                <a:cs typeface="Calibri" pitchFamily="34" charset="-120"/>
              </a:rPr>
              <a:t>B</a:t>
            </a:r>
            <a:r>
              <a:rPr lang="en-US" sz="2600" dirty="0">
                <a:solidFill>
                  <a:srgbClr val="1F2937"/>
                </a:solidFill>
                <a:latin typeface="Calibri" pitchFamily="34" charset="0"/>
                <a:ea typeface="Calibri" pitchFamily="34" charset="-122"/>
                <a:cs typeface="Calibri" pitchFamily="34" charset="-120"/>
              </a:rPr>
              <a:t> = C′; J</a:t>
            </a:r>
            <a:r>
              <a:rPr lang="en-US" sz="2600" baseline="-40000" dirty="0">
                <a:solidFill>
                  <a:srgbClr val="1F2937"/>
                </a:solidFill>
                <a:latin typeface="Calibri" pitchFamily="34" charset="0"/>
                <a:ea typeface="Calibri" pitchFamily="34" charset="-122"/>
                <a:cs typeface="Calibri" pitchFamily="34" charset="-120"/>
              </a:rPr>
              <a:t>A</a:t>
            </a:r>
            <a:r>
              <a:rPr lang="en-US" sz="2600" dirty="0">
                <a:solidFill>
                  <a:srgbClr val="1F2937"/>
                </a:solidFill>
                <a:latin typeface="Calibri" pitchFamily="34" charset="0"/>
                <a:ea typeface="Calibri" pitchFamily="34" charset="-122"/>
                <a:cs typeface="Calibri" pitchFamily="34" charset="-120"/>
              </a:rPr>
              <a:t> = K</a:t>
            </a:r>
            <a:r>
              <a:rPr lang="en-US" sz="2600" baseline="-40000" dirty="0">
                <a:solidFill>
                  <a:srgbClr val="1F2937"/>
                </a:solidFill>
                <a:latin typeface="Calibri" pitchFamily="34" charset="0"/>
                <a:ea typeface="Calibri" pitchFamily="34" charset="-122"/>
                <a:cs typeface="Calibri" pitchFamily="34" charset="-120"/>
              </a:rPr>
              <a:t>A</a:t>
            </a:r>
            <a:r>
              <a:rPr lang="en-US" sz="2600" dirty="0">
                <a:solidFill>
                  <a:srgbClr val="1F2937"/>
                </a:solidFill>
                <a:latin typeface="Calibri" pitchFamily="34" charset="0"/>
                <a:ea typeface="Calibri" pitchFamily="34" charset="-122"/>
                <a:cs typeface="Calibri" pitchFamily="34" charset="-120"/>
              </a:rPr>
              <a:t> = B′C′</a:t>
            </a:r>
            <a:endParaRPr lang="en-US" sz="2600" dirty="0"/>
          </a:p>
          <a:p>
            <a:pPr marL="304800" indent="-304800" algn="l">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Two inverters feed an AND gate in place of the up-counter’s direct AND of B and C</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3-bit synchronous up-counter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pic>
        <p:nvPicPr>
          <p:cNvPr id="5" name="Image 0" descr="/home/claude/figs2/2.19_synchronous-counters_fig3.png"/>
          <p:cNvPicPr>
            <a:picLocks noChangeAspect="1"/>
          </p:cNvPicPr>
          <p:nvPr/>
        </p:nvPicPr>
        <p:blipFill>
          <a:blip r:embed="rId3"/>
          <a:stretch>
            <a:fillRect/>
          </a:stretch>
        </p:blipFill>
        <p:spPr>
          <a:xfrm>
            <a:off x="274320" y="1395297"/>
            <a:ext cx="11643055" cy="4122271"/>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Three-bit synchronous up-counter: J and K of each flip-flop are tied together; all clocks share CLK.</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3-bit synchronous down-counter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2.19</a:t>
            </a:r>
            <a:endParaRPr lang="en-US" sz="1600" dirty="0"/>
          </a:p>
        </p:txBody>
      </p:sp>
      <p:pic>
        <p:nvPicPr>
          <p:cNvPr id="5" name="Image 0" descr="/home/claude/figs2/2.19_synchronous-counters_fig4.png"/>
          <p:cNvPicPr>
            <a:picLocks noChangeAspect="1"/>
          </p:cNvPicPr>
          <p:nvPr/>
        </p:nvPicPr>
        <p:blipFill>
          <a:blip r:embed="rId3"/>
          <a:stretch>
            <a:fillRect/>
          </a:stretch>
        </p:blipFill>
        <p:spPr>
          <a:xfrm>
            <a:off x="274320" y="1395297"/>
            <a:ext cx="11643055" cy="4122271"/>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Three-bit synchronous down-counter: inverters supply C′ and B′; the AND gate forms B′C′.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2.20  Other Counters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200" dirty="0">
                <a:solidFill>
                  <a:srgbClr val="1F2937"/>
                </a:solidFill>
                <a:latin typeface="Calibri" pitchFamily="34" charset="0"/>
                <a:ea typeface="Calibri" pitchFamily="34" charset="-122"/>
                <a:cs typeface="Calibri" pitchFamily="34" charset="-120"/>
              </a:rPr>
              <a:t>A ring counter passes a single 1 around a loop of flip-flops; a Johnson counter feeds back the inverted bit, so it gets twice as many states from the same flip-flops.</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Ring counter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Feed the </a:t>
            </a:r>
            <a:r>
              <a:rPr lang="en-US" sz="3000" b="1" dirty="0">
                <a:solidFill>
                  <a:srgbClr val="1F2937"/>
                </a:solidFill>
                <a:latin typeface="Calibri" pitchFamily="34" charset="0"/>
                <a:ea typeface="Calibri" pitchFamily="34" charset="-122"/>
                <a:cs typeface="Calibri" pitchFamily="34" charset="-120"/>
              </a:rPr>
              <a:t>last</a:t>
            </a:r>
            <a:r>
              <a:rPr lang="en-US" sz="3000" dirty="0">
                <a:solidFill>
                  <a:srgbClr val="1F2937"/>
                </a:solidFill>
                <a:latin typeface="Calibri" pitchFamily="34" charset="0"/>
                <a:ea typeface="Calibri" pitchFamily="34" charset="-122"/>
                <a:cs typeface="Calibri" pitchFamily="34" charset="-120"/>
              </a:rPr>
              <a:t> stage’s output back to the first stage’s input of a shift register: no external serial data</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 states</a:t>
            </a:r>
            <a:r>
              <a:rPr lang="en-US" sz="3000" dirty="0">
                <a:solidFill>
                  <a:srgbClr val="1F2937"/>
                </a:solidFill>
                <a:latin typeface="Calibri" pitchFamily="34" charset="0"/>
                <a:ea typeface="Calibri" pitchFamily="34" charset="-122"/>
                <a:cs typeface="Calibri" pitchFamily="34" charset="-120"/>
              </a:rPr>
              <a:t> for N flip-flops: a single 1 (or single 0) circulates</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4-bit sequence, pre-loaded to 1000: 1000 → 0100 → 0010 → 0001 → 1000 …</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Must be pre-loaded:</a:t>
            </a:r>
            <a:r>
              <a:rPr lang="en-US" sz="3000" dirty="0">
                <a:solidFill>
                  <a:srgbClr val="1F2937"/>
                </a:solidFill>
                <a:latin typeface="Calibri" pitchFamily="34" charset="0"/>
                <a:ea typeface="Calibri" pitchFamily="34" charset="-122"/>
                <a:cs typeface="Calibri" pitchFamily="34" charset="-120"/>
              </a:rPr>
              <a:t> reset gives 0000, a stuck state (Q₃ = 0 feeds D₀ = 0 forever)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ring 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pic>
        <p:nvPicPr>
          <p:cNvPr id="5" name="Image 0" descr="/home/claude/figs2/2.20_other-counters_fig1.png"/>
          <p:cNvPicPr>
            <a:picLocks noChangeAspect="1"/>
          </p:cNvPicPr>
          <p:nvPr/>
        </p:nvPicPr>
        <p:blipFill>
          <a:blip r:embed="rId3"/>
          <a:stretch>
            <a:fillRect/>
          </a:stretch>
        </p:blipFill>
        <p:spPr>
          <a:xfrm>
            <a:off x="274320" y="1455282"/>
            <a:ext cx="11643055" cy="400230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ring counter: Q₃ feeds back to D₀.</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Johnson counter (twisted-ring counter)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Feed back the </a:t>
            </a:r>
            <a:r>
              <a:rPr lang="en-US" sz="3000" b="1" dirty="0">
                <a:solidFill>
                  <a:srgbClr val="1F2937"/>
                </a:solidFill>
                <a:latin typeface="Calibri" pitchFamily="34" charset="0"/>
                <a:ea typeface="Calibri" pitchFamily="34" charset="-122"/>
                <a:cs typeface="Calibri" pitchFamily="34" charset="-120"/>
              </a:rPr>
              <a:t>inverted</a:t>
            </a:r>
            <a:r>
              <a:rPr lang="en-US" sz="3000" dirty="0">
                <a:solidFill>
                  <a:srgbClr val="1F2937"/>
                </a:solidFill>
                <a:latin typeface="Calibri" pitchFamily="34" charset="0"/>
                <a:ea typeface="Calibri" pitchFamily="34" charset="-122"/>
                <a:cs typeface="Calibri" pitchFamily="34" charset="-120"/>
              </a:rPr>
              <a:t> last output: the circulating bit becomes a spreading and retreating band</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2N states</a:t>
            </a:r>
            <a:r>
              <a:rPr lang="en-US" sz="3000" dirty="0">
                <a:solidFill>
                  <a:srgbClr val="1F2937"/>
                </a:solidFill>
                <a:latin typeface="Calibri" pitchFamily="34" charset="0"/>
                <a:ea typeface="Calibri" pitchFamily="34" charset="-122"/>
                <a:cs typeface="Calibri" pitchFamily="34" charset="-120"/>
              </a:rPr>
              <a:t> for N flip-flops: twice the ring counter</a:t>
            </a:r>
            <a:endParaRPr lang="en-US" sz="3000" dirty="0"/>
          </a:p>
          <a:p>
            <a:pPr marL="304800" indent="-304800" algn="l">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4-bit sequence from reset (0000): 0000 → 1000 → 1100 → 1110 → 1111 → 0111 → 0011 → 0001 → 0000 …</a:t>
            </a:r>
            <a:endParaRPr lang="en-US" sz="3000" dirty="0"/>
          </a:p>
          <a:p>
            <a:pPr marL="304800" indent="-304800" algn="l">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Self-starting</a:t>
            </a:r>
            <a:r>
              <a:rPr lang="en-US" sz="3000" dirty="0">
                <a:solidFill>
                  <a:srgbClr val="1F2937"/>
                </a:solidFill>
                <a:latin typeface="Calibri" pitchFamily="34" charset="0"/>
                <a:ea typeface="Calibri" pitchFamily="34" charset="-122"/>
                <a:cs typeface="Calibri" pitchFamily="34" charset="-120"/>
              </a:rPr>
              <a:t> from 0000: Q₃′ = 1 feeds D₀ = 1 on the next clock</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Four-bit Johnson 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pic>
        <p:nvPicPr>
          <p:cNvPr id="5" name="Image 0" descr="/home/claude/figs2/2.20_other-counters_fig2.png"/>
          <p:cNvPicPr>
            <a:picLocks noChangeAspect="1"/>
          </p:cNvPicPr>
          <p:nvPr/>
        </p:nvPicPr>
        <p:blipFill>
          <a:blip r:embed="rId3"/>
          <a:stretch>
            <a:fillRect/>
          </a:stretch>
        </p:blipFill>
        <p:spPr>
          <a:xfrm>
            <a:off x="274320" y="1455282"/>
            <a:ext cx="11643055" cy="400230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Four-bit Johnson counter: Q₃′ feeds back to D₀.</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Ring counter versus Johnson counter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63296">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Feature</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Ring counter</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200" b="1" dirty="0">
                          <a:solidFill>
                            <a:srgbClr val="FFFFFF"/>
                          </a:solidFill>
                          <a:latin typeface="Calibri" pitchFamily="34" charset="0"/>
                          <a:ea typeface="Calibri" pitchFamily="34" charset="-122"/>
                          <a:cs typeface="Calibri" pitchFamily="34" charset="-120"/>
                        </a:rPr>
                        <a:t>Johnson counter</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6329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Number of states</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2N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6329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Feedback connection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D₀ = Q</a:t>
                      </a:r>
                      <a:r>
                        <a:rPr lang="en-US" sz="2200" baseline="-40000" dirty="0">
                          <a:solidFill>
                            <a:srgbClr val="1F2937"/>
                          </a:solidFill>
                          <a:latin typeface="Calibri" pitchFamily="34" charset="0"/>
                          <a:ea typeface="Calibri" pitchFamily="34" charset="-122"/>
                          <a:cs typeface="Calibri" pitchFamily="34" charset="-120"/>
                        </a:rPr>
                        <a:t>N-1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D₀ = Q′</a:t>
                      </a:r>
                      <a:r>
                        <a:rPr lang="en-US" sz="2200" baseline="-40000" dirty="0">
                          <a:solidFill>
                            <a:srgbClr val="1F2937"/>
                          </a:solidFill>
                          <a:latin typeface="Calibri" pitchFamily="34" charset="0"/>
                          <a:ea typeface="Calibri" pitchFamily="34" charset="-122"/>
                          <a:cs typeface="Calibri" pitchFamily="34" charset="-120"/>
                        </a:rPr>
                        <a:t>N-1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9857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Initialization</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Requires pre-loading (e.g., 1000)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Self-starting from reset (0000)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798576">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Decoding a state</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Single bit is already the decoded output</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200" dirty="0">
                          <a:solidFill>
                            <a:srgbClr val="1F2937"/>
                          </a:solidFill>
                          <a:latin typeface="Calibri" pitchFamily="34" charset="0"/>
                          <a:ea typeface="Calibri" pitchFamily="34" charset="-122"/>
                          <a:cs typeface="Calibri" pitchFamily="34" charset="-120"/>
                        </a:rPr>
                        <a:t>Needs a 2-input gate per state to decode</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Decade counter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2.20</a:t>
            </a:r>
            <a:endParaRPr lang="en-US" sz="1600" dirty="0"/>
          </a:p>
        </p:txBody>
      </p:sp>
      <p:pic>
        <p:nvPicPr>
          <p:cNvPr id="5" name="Image 0" descr="/home/claude/figs2/2.20_other-counters_fig3.png"/>
          <p:cNvPicPr>
            <a:picLocks noChangeAspect="1"/>
          </p:cNvPicPr>
          <p:nvPr/>
        </p:nvPicPr>
        <p:blipFill>
          <a:blip r:embed="rId3"/>
          <a:stretch>
            <a:fillRect/>
          </a:stretch>
        </p:blipFill>
        <p:spPr>
          <a:xfrm>
            <a:off x="274320" y="925333"/>
            <a:ext cx="11643055" cy="506219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Decade counter: counts 0000 to 1001, with a carry output at 9 for the next decade.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Unit 2 summary (1 of 2)</a:t>
            </a:r>
            <a:endParaRPr lang="en-US" sz="3000" dirty="0"/>
          </a:p>
        </p:txBody>
      </p:sp>
      <p:sp>
        <p:nvSpPr>
          <p:cNvPr id="4" name="Text 1"/>
          <p:cNvSpPr txBox="1"/>
          <p:nvPr/>
        </p:nvSpPr>
        <p:spPr>
          <a:xfrm>
            <a:off x="640080" y="1188720"/>
            <a:ext cx="10911535" cy="5120640"/>
          </a:xfrm>
          <a:prstGeom prst="rect">
            <a:avLst/>
          </a:prstGeom>
          <a:noFill/>
          <a:ln/>
        </p:spPr>
        <p:txBody>
          <a:bodyPr wrap="square" lIns="0" tIns="0" rIns="0" bIns="0" rtlCol="0" anchor="t"/>
          <a:lstStyle/>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2.1 Combinational circuits:</a:t>
            </a:r>
            <a:r>
              <a:rPr lang="en-US" sz="2200" dirty="0">
                <a:solidFill>
                  <a:srgbClr val="1F2937"/>
                </a:solidFill>
                <a:latin typeface="Calibri" pitchFamily="34" charset="0"/>
                <a:ea typeface="Calibri" pitchFamily="34" charset="-122"/>
                <a:cs typeface="Calibri" pitchFamily="34" charset="-120"/>
              </a:rPr>
              <a:t> output depends only on current inputs; no feedback</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2.2 Analysis:</a:t>
            </a:r>
            <a:r>
              <a:rPr lang="en-US" sz="2200" dirty="0">
                <a:solidFill>
                  <a:srgbClr val="1F2937"/>
                </a:solidFill>
                <a:latin typeface="Calibri" pitchFamily="34" charset="0"/>
                <a:ea typeface="Calibri" pitchFamily="34" charset="-122"/>
                <a:cs typeface="Calibri" pitchFamily="34" charset="-120"/>
              </a:rPr>
              <a:t> label gate outputs, write expressions, substitute, tabulate</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2.3 Design:</a:t>
            </a:r>
            <a:r>
              <a:rPr lang="en-US" sz="2200" dirty="0">
                <a:solidFill>
                  <a:srgbClr val="1F2937"/>
                </a:solidFill>
                <a:latin typeface="Calibri" pitchFamily="34" charset="0"/>
                <a:ea typeface="Calibri" pitchFamily="34" charset="-122"/>
                <a:cs typeface="Calibri" pitchFamily="34" charset="-120"/>
              </a:rPr>
              <a:t> specification, truth table, simplify, draw and verify</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2.4 Binary adder:</a:t>
            </a:r>
            <a:r>
              <a:rPr lang="en-US" sz="2200" dirty="0">
                <a:solidFill>
                  <a:srgbClr val="1F2937"/>
                </a:solidFill>
                <a:latin typeface="Calibri" pitchFamily="34" charset="0"/>
                <a:ea typeface="Calibri" pitchFamily="34" charset="-122"/>
                <a:cs typeface="Calibri" pitchFamily="34" charset="-120"/>
              </a:rPr>
              <a:t> half adder, full adder, ripple carry chain of full adders</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2.5 Binary subtractor:</a:t>
            </a:r>
            <a:r>
              <a:rPr lang="en-US" sz="2200" dirty="0">
                <a:solidFill>
                  <a:srgbClr val="1F2937"/>
                </a:solidFill>
                <a:latin typeface="Calibri" pitchFamily="34" charset="0"/>
                <a:ea typeface="Calibri" pitchFamily="34" charset="-122"/>
                <a:cs typeface="Calibri" pitchFamily="34" charset="-120"/>
              </a:rPr>
              <a:t> A − B = A + B′ + 1; XOR gates and M make an adder–subtractor</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2.6 BCD adder:</a:t>
            </a:r>
            <a:r>
              <a:rPr lang="en-US" sz="2200" dirty="0">
                <a:solidFill>
                  <a:srgbClr val="1F2937"/>
                </a:solidFill>
                <a:latin typeface="Calibri" pitchFamily="34" charset="0"/>
                <a:ea typeface="Calibri" pitchFamily="34" charset="-122"/>
                <a:cs typeface="Calibri" pitchFamily="34" charset="-120"/>
              </a:rPr>
              <a:t> binary add, then add 0110 when Output carry = K + Z₈Z₄ + Z₈Z₂</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2.7 Binary multiplier:</a:t>
            </a:r>
            <a:r>
              <a:rPr lang="en-US" sz="2200" dirty="0">
                <a:solidFill>
                  <a:srgbClr val="1F2937"/>
                </a:solidFill>
                <a:latin typeface="Calibri" pitchFamily="34" charset="0"/>
                <a:ea typeface="Calibri" pitchFamily="34" charset="-122"/>
                <a:cs typeface="Calibri" pitchFamily="34" charset="-120"/>
              </a:rPr>
              <a:t> AND gates for partial products, adders for the columns</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2.8 Magnitude comparator:</a:t>
            </a:r>
            <a:r>
              <a:rPr lang="en-US" sz="2200" dirty="0">
                <a:solidFill>
                  <a:srgbClr val="1F2937"/>
                </a:solidFill>
                <a:latin typeface="Calibri" pitchFamily="34" charset="0"/>
                <a:ea typeface="Calibri" pitchFamily="34" charset="-122"/>
                <a:cs typeface="Calibri" pitchFamily="34" charset="-120"/>
              </a:rPr>
              <a:t> compare from the MSB; the first differing bit decides</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2.9 Decoders:</a:t>
            </a:r>
            <a:r>
              <a:rPr lang="en-US" sz="2200" dirty="0">
                <a:solidFill>
                  <a:srgbClr val="1F2937"/>
                </a:solidFill>
                <a:latin typeface="Calibri" pitchFamily="34" charset="0"/>
                <a:ea typeface="Calibri" pitchFamily="34" charset="-122"/>
                <a:cs typeface="Calibri" pitchFamily="34" charset="-120"/>
              </a:rPr>
              <a:t> n inputs select one of 2</a:t>
            </a:r>
            <a:r>
              <a:rPr lang="en-US" sz="2200" baseline="30000" dirty="0">
                <a:solidFill>
                  <a:srgbClr val="1F2937"/>
                </a:solidFill>
                <a:latin typeface="Calibri" pitchFamily="34" charset="0"/>
                <a:ea typeface="Calibri" pitchFamily="34" charset="-122"/>
                <a:cs typeface="Calibri" pitchFamily="34" charset="-120"/>
              </a:rPr>
              <a:t>n</a:t>
            </a:r>
            <a:r>
              <a:rPr lang="en-US" sz="2200" dirty="0">
                <a:solidFill>
                  <a:srgbClr val="1F2937"/>
                </a:solidFill>
                <a:latin typeface="Calibri" pitchFamily="34" charset="0"/>
                <a:ea typeface="Calibri" pitchFamily="34" charset="-122"/>
                <a:cs typeface="Calibri" pitchFamily="34" charset="-120"/>
              </a:rPr>
              <a:t> outputs; each output is a minterm</a:t>
            </a:r>
            <a:endParaRPr lang="en-US" sz="2200" dirty="0"/>
          </a:p>
          <a:p>
            <a:pPr marL="304800" indent="-304800" algn="l">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2.10 Encoders:</a:t>
            </a:r>
            <a:r>
              <a:rPr lang="en-US" sz="2200" dirty="0">
                <a:solidFill>
                  <a:srgbClr val="1F2937"/>
                </a:solidFill>
                <a:latin typeface="Calibri" pitchFamily="34" charset="0"/>
                <a:ea typeface="Calibri" pitchFamily="34" charset="-122"/>
                <a:cs typeface="Calibri" pitchFamily="34" charset="-120"/>
              </a:rPr>
              <a:t> output the code of the active input; a priority encoder picks the highest</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Unit 2 summary (2 of 2)</a:t>
            </a:r>
            <a:endParaRPr lang="en-US" sz="3000" dirty="0"/>
          </a:p>
        </p:txBody>
      </p:sp>
      <p:sp>
        <p:nvSpPr>
          <p:cNvPr id="4" name="Text 1"/>
          <p:cNvSpPr txBox="1"/>
          <p:nvPr/>
        </p:nvSpPr>
        <p:spPr>
          <a:xfrm>
            <a:off x="640080" y="1188720"/>
            <a:ext cx="10911535" cy="5120640"/>
          </a:xfrm>
          <a:prstGeom prst="rect">
            <a:avLst/>
          </a:prstGeom>
          <a:noFill/>
          <a:ln/>
        </p:spPr>
        <p:txBody>
          <a:bodyPr wrap="square" lIns="0" tIns="0" rIns="0" bIns="0" rtlCol="0" anchor="t"/>
          <a:lstStyle/>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2.11 Multiplexers:</a:t>
            </a:r>
            <a:r>
              <a:rPr lang="en-US" sz="2000" dirty="0">
                <a:solidFill>
                  <a:srgbClr val="1F2937"/>
                </a:solidFill>
                <a:latin typeface="Calibri" pitchFamily="34" charset="0"/>
                <a:ea typeface="Calibri" pitchFamily="34" charset="-122"/>
                <a:cs typeface="Calibri" pitchFamily="34" charset="-120"/>
              </a:rPr>
              <a:t> select one of 2</a:t>
            </a:r>
            <a:r>
              <a:rPr lang="en-US" sz="2000" baseline="30000" dirty="0">
                <a:solidFill>
                  <a:srgbClr val="1F2937"/>
                </a:solidFill>
                <a:latin typeface="Calibri" pitchFamily="34" charset="0"/>
                <a:ea typeface="Calibri" pitchFamily="34" charset="-122"/>
                <a:cs typeface="Calibri" pitchFamily="34" charset="-120"/>
              </a:rPr>
              <a:t>n</a:t>
            </a:r>
            <a:r>
              <a:rPr lang="en-US" sz="2000" dirty="0">
                <a:solidFill>
                  <a:srgbClr val="1F2937"/>
                </a:solidFill>
                <a:latin typeface="Calibri" pitchFamily="34" charset="0"/>
                <a:ea typeface="Calibri" pitchFamily="34" charset="-122"/>
                <a:cs typeface="Calibri" pitchFamily="34" charset="-120"/>
              </a:rPr>
              <a:t> inputs; with constants on the inputs a MUX implements a function</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2.12 Sequential circuits:</a:t>
            </a:r>
            <a:r>
              <a:rPr lang="en-US" sz="2000" dirty="0">
                <a:solidFill>
                  <a:srgbClr val="1F2937"/>
                </a:solidFill>
                <a:latin typeface="Calibri" pitchFamily="34" charset="0"/>
                <a:ea typeface="Calibri" pitchFamily="34" charset="-122"/>
                <a:cs typeface="Calibri" pitchFamily="34" charset="-120"/>
              </a:rPr>
              <a:t> output depends on inputs and state; next state = f(inputs, present state)</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2.13 Latches:</a:t>
            </a:r>
            <a:r>
              <a:rPr lang="en-US" sz="2000" dirty="0">
                <a:solidFill>
                  <a:srgbClr val="1F2937"/>
                </a:solidFill>
                <a:latin typeface="Calibri" pitchFamily="34" charset="0"/>
                <a:ea typeface="Calibri" pitchFamily="34" charset="-122"/>
                <a:cs typeface="Calibri" pitchFamily="34" charset="-120"/>
              </a:rPr>
              <a:t> cross-coupled gates hold a bit; the gated D latch is level-sensitive</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2.14 Flip-flops:</a:t>
            </a:r>
            <a:r>
              <a:rPr lang="en-US" sz="2000" dirty="0">
                <a:solidFill>
                  <a:srgbClr val="1F2937"/>
                </a:solidFill>
                <a:latin typeface="Calibri" pitchFamily="34" charset="0"/>
                <a:ea typeface="Calibri" pitchFamily="34" charset="-122"/>
                <a:cs typeface="Calibri" pitchFamily="34" charset="-120"/>
              </a:rPr>
              <a:t> edge-triggered; characteristic and excitation tables; setup and hold time</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2.15 Analysis of sequential circuits:</a:t>
            </a:r>
            <a:r>
              <a:rPr lang="en-US" sz="2000" dirty="0">
                <a:solidFill>
                  <a:srgbClr val="1F2937"/>
                </a:solidFill>
                <a:latin typeface="Calibri" pitchFamily="34" charset="0"/>
                <a:ea typeface="Calibri" pitchFamily="34" charset="-122"/>
                <a:cs typeface="Calibri" pitchFamily="34" charset="-120"/>
              </a:rPr>
              <a:t> next-state equations, state table, state diagram</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2.16 Registers:</a:t>
            </a:r>
            <a:r>
              <a:rPr lang="en-US" sz="2000" dirty="0">
                <a:solidFill>
                  <a:srgbClr val="1F2937"/>
                </a:solidFill>
                <a:latin typeface="Calibri" pitchFamily="34" charset="0"/>
                <a:ea typeface="Calibri" pitchFamily="34" charset="-122"/>
                <a:cs typeface="Calibri" pitchFamily="34" charset="-120"/>
              </a:rPr>
              <a:t> D flip-flops sharing a clock; LOAD with a MUX gives hold or load</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2.17 Shift registers:</a:t>
            </a:r>
            <a:r>
              <a:rPr lang="en-US" sz="2000" dirty="0">
                <a:solidFill>
                  <a:srgbClr val="1F2937"/>
                </a:solidFill>
                <a:latin typeface="Calibri" pitchFamily="34" charset="0"/>
                <a:ea typeface="Calibri" pitchFamily="34" charset="-122"/>
                <a:cs typeface="Calibri" pitchFamily="34" charset="-120"/>
              </a:rPr>
              <a:t> SISO, SIPO, PISO and PIPO; SHIFT/LOAD′ picks shift or load</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2.18 Ripple counters:</a:t>
            </a:r>
            <a:r>
              <a:rPr lang="en-US" sz="2000" dirty="0">
                <a:solidFill>
                  <a:srgbClr val="1F2937"/>
                </a:solidFill>
                <a:latin typeface="Calibri" pitchFamily="34" charset="0"/>
                <a:ea typeface="Calibri" pitchFamily="34" charset="-122"/>
                <a:cs typeface="Calibri" pitchFamily="34" charset="-120"/>
              </a:rPr>
              <a:t> each stage clocks the next; mod-10 by NAND reset at 1010</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2.19 Synchronous counters:</a:t>
            </a:r>
            <a:r>
              <a:rPr lang="en-US" sz="2000" dirty="0">
                <a:solidFill>
                  <a:srgbClr val="1F2937"/>
                </a:solidFill>
                <a:latin typeface="Calibri" pitchFamily="34" charset="0"/>
                <a:ea typeface="Calibri" pitchFamily="34" charset="-122"/>
                <a:cs typeface="Calibri" pitchFamily="34" charset="-120"/>
              </a:rPr>
              <a:t> one shared clock; J and K from state table, excitation table and K-map</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2.20 Other counters:</a:t>
            </a:r>
            <a:r>
              <a:rPr lang="en-US" sz="2000" dirty="0">
                <a:solidFill>
                  <a:srgbClr val="1F2937"/>
                </a:solidFill>
                <a:latin typeface="Calibri" pitchFamily="34" charset="0"/>
                <a:ea typeface="Calibri" pitchFamily="34" charset="-122"/>
                <a:cs typeface="Calibri" pitchFamily="34" charset="-120"/>
              </a:rPr>
              <a:t> ring (N states), Johnson (2N states), decade counter</a:t>
            </a:r>
            <a:endParaRPr lang="en-US" sz="2000" dirty="0"/>
          </a:p>
          <a:p>
            <a:pPr marL="304800" indent="-304800" algn="l">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Key applications:</a:t>
            </a:r>
            <a:r>
              <a:rPr lang="en-US" sz="2000" dirty="0">
                <a:solidFill>
                  <a:srgbClr val="1F2937"/>
                </a:solidFill>
                <a:latin typeface="Calibri" pitchFamily="34" charset="0"/>
                <a:ea typeface="Calibri" pitchFamily="34" charset="-122"/>
                <a:cs typeface="Calibri" pitchFamily="34" charset="-120"/>
              </a:rPr>
              <a:t> adders in every ALU; decoders for memory address selection; MUXes for data routing; registers and counters in CPUs</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139</a:t>
            </a:fld>
            <a:endParaRPr lang="en-US"/>
          </a:p>
        </p:txBody>
      </p:sp>
    </p:spTree>
  </p:cSld>
  <p:clrMapOvr>
    <a:masterClrMapping/>
  </p:clrMapOvr>
</p:sld>
</file>

<file path=ppt/theme/theme1.xml><?xml version="1.0" encoding="utf-8"?>
<a:theme xmlns:a="http://schemas.openxmlformats.org/drawingml/2006/main" name="Chandras Edu">
  <a:themeElements>
    <a:clrScheme name="Chandras Edu">
      <a:dk1>
        <a:srgbClr val="1F2937"/>
      </a:dk1>
      <a:lt1>
        <a:srgbClr val="FFFFFF"/>
      </a:lt1>
      <a:dk2>
        <a:srgbClr val="1565C0"/>
      </a:dk2>
      <a:lt2>
        <a:srgbClr val="F5F8FC"/>
      </a:lt2>
      <a:accent1>
        <a:srgbClr val="1565C0"/>
      </a:accent1>
      <a:accent2>
        <a:srgbClr val="FF8F00"/>
      </a:accent2>
      <a:accent3>
        <a:srgbClr val="546E7A"/>
      </a:accent3>
      <a:accent4>
        <a:srgbClr val="90CAF9"/>
      </a:accent4>
      <a:accent5>
        <a:srgbClr val="FFE0B2"/>
      </a:accent5>
      <a:accent6>
        <a:srgbClr val="2E7D32"/>
      </a:accent6>
      <a:hlink>
        <a:srgbClr val="1565C0"/>
      </a:hlink>
      <a:folHlink>
        <a:srgbClr val="546E7A"/>
      </a:folHlink>
    </a:clrScheme>
    <a:fontScheme name="Chandras 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13665</Words>
  <Application>Microsoft Office PowerPoint</Application>
  <PresentationFormat>Widescreen</PresentationFormat>
  <Paragraphs>1693</Paragraphs>
  <Slides>139</Slides>
  <Notes>139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139</vt:i4>
      </vt:variant>
    </vt:vector>
  </HeadingPairs>
  <TitlesOfParts>
    <vt:vector size="143" baseType="lpstr">
      <vt:lpstr>Arial</vt:lpstr>
      <vt:lpstr>Calibri</vt:lpstr>
      <vt:lpstr>Courier New</vt:lpstr>
      <vt:lpstr>Chandras Edu</vt:lpstr>
      <vt:lpstr>Unit 2: Combinational and Sequential Logic</vt:lpstr>
      <vt:lpstr>Agenda</vt:lpstr>
      <vt:lpstr>2.1  Combinational Circuits</vt:lpstr>
      <vt:lpstr>Combinational circuits</vt:lpstr>
      <vt:lpstr>n inputs, m outputs</vt:lpstr>
      <vt:lpstr>2.2  Analysis Procedure</vt:lpstr>
      <vt:lpstr>The analysis procedure</vt:lpstr>
      <vt:lpstr>Worked example 1: a 2-input circuit</vt:lpstr>
      <vt:lpstr>Example 1: checking all four input combinations</vt:lpstr>
      <vt:lpstr>Worked example 2: a 3-input circuit</vt:lpstr>
      <vt:lpstr>Example 2: F = AB + C</vt:lpstr>
      <vt:lpstr>2.3  Design Procedure</vt:lpstr>
      <vt:lpstr>The design procedure</vt:lpstr>
      <vt:lpstr>The four-step design procedure</vt:lpstr>
      <vt:lpstr>Example 1: the same circuit, and the XOR gate</vt:lpstr>
      <vt:lpstr>Example 2: 3-input majority function</vt:lpstr>
      <vt:lpstr>Majority function: K-map</vt:lpstr>
      <vt:lpstr>Majority circuit</vt:lpstr>
      <vt:lpstr>2.4  Binary Adder</vt:lpstr>
      <vt:lpstr>Half adder</vt:lpstr>
      <vt:lpstr>Half adder</vt:lpstr>
      <vt:lpstr>Full adder</vt:lpstr>
      <vt:lpstr>Building the full adder</vt:lpstr>
      <vt:lpstr>Full adder from two half adders</vt:lpstr>
      <vt:lpstr>The ripple carry adder</vt:lpstr>
      <vt:lpstr>4-bit ripple carry adder</vt:lpstr>
      <vt:lpstr>Worked example: A = 1001 (9) + B = 0110 (6)</vt:lpstr>
      <vt:lpstr>2.5  Binary Subtractor</vt:lpstr>
      <vt:lpstr>Half subtractor</vt:lpstr>
      <vt:lpstr>Half subtractor</vt:lpstr>
      <vt:lpstr>Full subtractor</vt:lpstr>
      <vt:lpstr>Full subtractor from two half subtractors</vt:lpstr>
      <vt:lpstr>Combined adder–subtractor</vt:lpstr>
      <vt:lpstr>One XOR gate per bit of B</vt:lpstr>
      <vt:lpstr>Four-bit adder-subtractor</vt:lpstr>
      <vt:lpstr>Worked example: A = 1001 (9), B = 0101 (5)</vt:lpstr>
      <vt:lpstr>2.6  Decimal (BCD) Adder</vt:lpstr>
      <vt:lpstr>The correction rule</vt:lpstr>
      <vt:lpstr>Binary sum and BCD sum (1 of 2)</vt:lpstr>
      <vt:lpstr>Binary sum and BCD sum (2 of 2)</vt:lpstr>
      <vt:lpstr>Block diagram of a BCD adder</vt:lpstr>
      <vt:lpstr>Worked example 1: 8 + 7 (Z ≥ 10 case)</vt:lpstr>
      <vt:lpstr>Worked example 2: 9 + 9 (K = 1 case)</vt:lpstr>
      <vt:lpstr>2.7  Binary Multiplier</vt:lpstr>
      <vt:lpstr>2-bit × 2-bit multiplier: A = 10 (2), B = 11 (3)</vt:lpstr>
      <vt:lpstr>Two-bit by two-bit binary multiplier</vt:lpstr>
      <vt:lpstr>2.8  Magnitude Comparator</vt:lpstr>
      <vt:lpstr>1-bit comparator</vt:lpstr>
      <vt:lpstr>Cascading to n bits</vt:lpstr>
      <vt:lpstr>Two-bit comparison as two cascaded stages</vt:lpstr>
      <vt:lpstr>Four-bit comparison as a chain</vt:lpstr>
      <vt:lpstr>Four-bit comparator: gate-level equations</vt:lpstr>
      <vt:lpstr>Four-bit magnitude comparator</vt:lpstr>
      <vt:lpstr>Worked example: A = 1011 (11), B = 1010 (10)</vt:lpstr>
      <vt:lpstr>2.9  Decoders</vt:lpstr>
      <vt:lpstr>2-to-4 decoder</vt:lpstr>
      <vt:lpstr>2-to-4 decoder with enable</vt:lpstr>
      <vt:lpstr>3-to-8 decoder</vt:lpstr>
      <vt:lpstr>Enable and implementing functions</vt:lpstr>
      <vt:lpstr>F(A,B) = Σm(1,2) from a decoder</vt:lpstr>
      <vt:lpstr>F(A,B,C) = Σm(1,3,5,6)</vt:lpstr>
      <vt:lpstr>2.10  Encoders</vt:lpstr>
      <vt:lpstr>8-to-3 (octal-to-binary) encoder</vt:lpstr>
      <vt:lpstr>Octal-to-binary encoder</vt:lpstr>
      <vt:lpstr>The priority problem and priority encoder</vt:lpstr>
      <vt:lpstr>4-input priority encoder</vt:lpstr>
      <vt:lpstr>4-input priority encoder block</vt:lpstr>
      <vt:lpstr>Four-input priority encoder</vt:lpstr>
      <vt:lpstr>2.11  Multiplexers</vt:lpstr>
      <vt:lpstr>What a multiplexer does</vt:lpstr>
      <vt:lpstr>4-to-1 multiplexer</vt:lpstr>
      <vt:lpstr>4-to-1 MUX</vt:lpstr>
      <vt:lpstr>Four-to-one-line multiplexer</vt:lpstr>
      <vt:lpstr>Implementing Boolean functions with a MUX</vt:lpstr>
      <vt:lpstr>XOR from a MUX</vt:lpstr>
      <vt:lpstr>Demultiplexer: the inverse operation</vt:lpstr>
      <vt:lpstr>1-to-4 DEMUX</vt:lpstr>
      <vt:lpstr>2.12  Sequential Circuits</vt:lpstr>
      <vt:lpstr>Sequential circuits</vt:lpstr>
      <vt:lpstr>General shape of a sequential circuit</vt:lpstr>
      <vt:lpstr>2.13  Latches</vt:lpstr>
      <vt:lpstr>SR latch with cross-coupled NOR gates</vt:lpstr>
      <vt:lpstr>SR latch</vt:lpstr>
      <vt:lpstr>Worked example: tracing a sequence (start Q = 0)</vt:lpstr>
      <vt:lpstr>The gated D latch</vt:lpstr>
      <vt:lpstr>Gated D latch</vt:lpstr>
      <vt:lpstr>2.14  Flip-Flops</vt:lpstr>
      <vt:lpstr>Latch versus flip-flop; race-around; master–slave</vt:lpstr>
      <vt:lpstr>Master–slave JK flip-flop</vt:lpstr>
      <vt:lpstr>Flip-flop block symbols</vt:lpstr>
      <vt:lpstr>Gate-level clocked SR flip-flop</vt:lpstr>
      <vt:lpstr>Characteristic and excitation equations (1 of 2)</vt:lpstr>
      <vt:lpstr>Characteristic and excitation equations (2 of 2)</vt:lpstr>
      <vt:lpstr>Setup time, hold time and clock skew</vt:lpstr>
      <vt:lpstr>Setup time, hold time and clock skew</vt:lpstr>
      <vt:lpstr>2.15  Analysis of Clocked Sequential Circuits</vt:lpstr>
      <vt:lpstr>Worked example circuit</vt:lpstr>
      <vt:lpstr>Next-state and output equations</vt:lpstr>
      <vt:lpstr>Step 2: state table</vt:lpstr>
      <vt:lpstr>Step 3: state diagram</vt:lpstr>
      <vt:lpstr>2.16  Registers</vt:lpstr>
      <vt:lpstr>Registers and parallel load</vt:lpstr>
      <vt:lpstr>Four-bit register</vt:lpstr>
      <vt:lpstr>One bit of a register with parallel load</vt:lpstr>
      <vt:lpstr>Worked example: hold, load, hold (Q = 0, I = 1 throughout)</vt:lpstr>
      <vt:lpstr>2.17  Shift Registers</vt:lpstr>
      <vt:lpstr>Shift registers, SISO and SIPO</vt:lpstr>
      <vt:lpstr>Four-bit shift register</vt:lpstr>
      <vt:lpstr>SISO: serial-in, serial-out</vt:lpstr>
      <vt:lpstr>SIPO: serial-in, parallel-out</vt:lpstr>
      <vt:lpstr>PISO and PIPO</vt:lpstr>
      <vt:lpstr>One PISO cell</vt:lpstr>
      <vt:lpstr>4-bit PISO register</vt:lpstr>
      <vt:lpstr>PIPO: parallel-in, parallel-out</vt:lpstr>
      <vt:lpstr>Shift versus parallel-load operation</vt:lpstr>
      <vt:lpstr>2.18  Ripple Counters</vt:lpstr>
      <vt:lpstr>Asynchronous (ripple) up-counter</vt:lpstr>
      <vt:lpstr>3-bit ripple up-counter</vt:lpstr>
      <vt:lpstr>Up and down counter rules</vt:lpstr>
      <vt:lpstr>3-bit ripple down-counter</vt:lpstr>
      <vt:lpstr>Modulo-10 (BCD) ripple counter</vt:lpstr>
      <vt:lpstr>Mod-10 ripple counter</vt:lpstr>
      <vt:lpstr>2.19  Synchronous Counters</vt:lpstr>
      <vt:lpstr>Synchronous counters: design procedure</vt:lpstr>
      <vt:lpstr>3-bit up-counter with JK flip-flops</vt:lpstr>
      <vt:lpstr>K-map for J of flip-flop A</vt:lpstr>
      <vt:lpstr>K-map for K of flip-flop A</vt:lpstr>
      <vt:lpstr>Stages B and C; the circuit</vt:lpstr>
      <vt:lpstr>3-bit synchronous up-counter</vt:lpstr>
      <vt:lpstr>3-bit synchronous down-counter</vt:lpstr>
      <vt:lpstr>2.20  Other Counters</vt:lpstr>
      <vt:lpstr>Ring counter</vt:lpstr>
      <vt:lpstr>Four-bit ring counter</vt:lpstr>
      <vt:lpstr>Johnson counter (twisted-ring counter)</vt:lpstr>
      <vt:lpstr>Four-bit Johnson counter</vt:lpstr>
      <vt:lpstr>Ring counter versus Johnson counter</vt:lpstr>
      <vt:lpstr>Decade counter</vt:lpstr>
      <vt:lpstr>Unit 2 summary (1 of 2)</vt:lpstr>
      <vt:lpstr>Unit 2 summary (2 of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 Unit 2</dc:title>
  <dc:subject>PptxGenJS Presentation</dc:subject>
  <dc:creator>CHANDRAS EDU</dc:creator>
  <cp:lastModifiedBy>Chandra Shaker Arrabotu</cp:lastModifiedBy>
  <cp:revision>3</cp:revision>
  <cp:lastPrinted>2026-10-26T04:09:26Z</cp:lastPrinted>
  <dcterms:created xsi:type="dcterms:W3CDTF">2026-10-24T12:28:18Z</dcterms:created>
  <dcterms:modified xsi:type="dcterms:W3CDTF">2026-10-26T04:12:00Z</dcterms:modified>
</cp:coreProperties>
</file>